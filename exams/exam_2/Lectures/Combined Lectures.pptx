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9"/>
  </p:notesMasterIdLst>
  <p:sldIdLst>
    <p:sldId id="381" r:id="rId2"/>
    <p:sldId id="386" r:id="rId3"/>
    <p:sldId id="387" r:id="rId4"/>
    <p:sldId id="388" r:id="rId5"/>
    <p:sldId id="408" r:id="rId6"/>
    <p:sldId id="382" r:id="rId7"/>
    <p:sldId id="383" r:id="rId8"/>
    <p:sldId id="384" r:id="rId9"/>
    <p:sldId id="385" r:id="rId10"/>
    <p:sldId id="409" r:id="rId11"/>
    <p:sldId id="410" r:id="rId12"/>
    <p:sldId id="389" r:id="rId13"/>
    <p:sldId id="390" r:id="rId14"/>
    <p:sldId id="391" r:id="rId15"/>
    <p:sldId id="392" r:id="rId16"/>
    <p:sldId id="393" r:id="rId17"/>
    <p:sldId id="394" r:id="rId18"/>
    <p:sldId id="395" r:id="rId19"/>
    <p:sldId id="396" r:id="rId20"/>
    <p:sldId id="411" r:id="rId21"/>
    <p:sldId id="412" r:id="rId22"/>
    <p:sldId id="413" r:id="rId23"/>
    <p:sldId id="414" r:id="rId24"/>
    <p:sldId id="397" r:id="rId25"/>
    <p:sldId id="398" r:id="rId26"/>
    <p:sldId id="399" r:id="rId27"/>
    <p:sldId id="400" r:id="rId28"/>
    <p:sldId id="401" r:id="rId29"/>
    <p:sldId id="402" r:id="rId30"/>
    <p:sldId id="377" r:id="rId31"/>
    <p:sldId id="378" r:id="rId32"/>
    <p:sldId id="379" r:id="rId33"/>
    <p:sldId id="380" r:id="rId34"/>
    <p:sldId id="415" r:id="rId35"/>
    <p:sldId id="368" r:id="rId36"/>
    <p:sldId id="416" r:id="rId37"/>
    <p:sldId id="417" r:id="rId38"/>
    <p:sldId id="406" r:id="rId39"/>
    <p:sldId id="407" r:id="rId40"/>
    <p:sldId id="418" r:id="rId41"/>
    <p:sldId id="419" r:id="rId42"/>
    <p:sldId id="420" r:id="rId43"/>
    <p:sldId id="421" r:id="rId44"/>
    <p:sldId id="424" r:id="rId45"/>
    <p:sldId id="425" r:id="rId46"/>
    <p:sldId id="426" r:id="rId47"/>
    <p:sldId id="427" r:id="rId48"/>
    <p:sldId id="428" r:id="rId49"/>
    <p:sldId id="429" r:id="rId50"/>
    <p:sldId id="430" r:id="rId51"/>
    <p:sldId id="431" r:id="rId52"/>
    <p:sldId id="432" r:id="rId53"/>
    <p:sldId id="433" r:id="rId54"/>
    <p:sldId id="422" r:id="rId55"/>
    <p:sldId id="434" r:id="rId56"/>
    <p:sldId id="435" r:id="rId57"/>
    <p:sldId id="436" r:id="rId58"/>
    <p:sldId id="437" r:id="rId59"/>
    <p:sldId id="438" r:id="rId60"/>
    <p:sldId id="439" r:id="rId61"/>
    <p:sldId id="440" r:id="rId62"/>
    <p:sldId id="441" r:id="rId63"/>
    <p:sldId id="423" r:id="rId64"/>
    <p:sldId id="442" r:id="rId65"/>
    <p:sldId id="443" r:id="rId66"/>
    <p:sldId id="444" r:id="rId67"/>
    <p:sldId id="445" r:id="rId68"/>
    <p:sldId id="446" r:id="rId69"/>
    <p:sldId id="447" r:id="rId70"/>
    <p:sldId id="448" r:id="rId71"/>
    <p:sldId id="449" r:id="rId72"/>
    <p:sldId id="450" r:id="rId73"/>
    <p:sldId id="451" r:id="rId74"/>
    <p:sldId id="452" r:id="rId75"/>
    <p:sldId id="453" r:id="rId76"/>
    <p:sldId id="454" r:id="rId77"/>
    <p:sldId id="455" r:id="rId78"/>
    <p:sldId id="456" r:id="rId79"/>
    <p:sldId id="457" r:id="rId80"/>
    <p:sldId id="458" r:id="rId81"/>
    <p:sldId id="459" r:id="rId82"/>
    <p:sldId id="460" r:id="rId83"/>
    <p:sldId id="461" r:id="rId84"/>
    <p:sldId id="462" r:id="rId85"/>
    <p:sldId id="463" r:id="rId86"/>
    <p:sldId id="464" r:id="rId87"/>
    <p:sldId id="465" r:id="rId88"/>
    <p:sldId id="466" r:id="rId89"/>
    <p:sldId id="467" r:id="rId90"/>
    <p:sldId id="468" r:id="rId91"/>
    <p:sldId id="469" r:id="rId92"/>
    <p:sldId id="470" r:id="rId93"/>
    <p:sldId id="471" r:id="rId94"/>
    <p:sldId id="472" r:id="rId95"/>
    <p:sldId id="473" r:id="rId96"/>
    <p:sldId id="474" r:id="rId97"/>
    <p:sldId id="475" r:id="rId98"/>
    <p:sldId id="362" r:id="rId99"/>
    <p:sldId id="369" r:id="rId100"/>
    <p:sldId id="370" r:id="rId101"/>
    <p:sldId id="476" r:id="rId102"/>
    <p:sldId id="477" r:id="rId103"/>
    <p:sldId id="478" r:id="rId104"/>
    <p:sldId id="479" r:id="rId105"/>
    <p:sldId id="480" r:id="rId106"/>
    <p:sldId id="481" r:id="rId107"/>
    <p:sldId id="482" r:id="rId108"/>
    <p:sldId id="483" r:id="rId109"/>
    <p:sldId id="488" r:id="rId110"/>
    <p:sldId id="495" r:id="rId111"/>
    <p:sldId id="489" r:id="rId112"/>
    <p:sldId id="490" r:id="rId113"/>
    <p:sldId id="491" r:id="rId114"/>
    <p:sldId id="496" r:id="rId115"/>
    <p:sldId id="497" r:id="rId116"/>
    <p:sldId id="498" r:id="rId117"/>
    <p:sldId id="499" r:id="rId118"/>
    <p:sldId id="500" r:id="rId119"/>
    <p:sldId id="501" r:id="rId120"/>
    <p:sldId id="502" r:id="rId121"/>
    <p:sldId id="503" r:id="rId122"/>
    <p:sldId id="504" r:id="rId123"/>
    <p:sldId id="505" r:id="rId124"/>
    <p:sldId id="506" r:id="rId125"/>
    <p:sldId id="507" r:id="rId126"/>
    <p:sldId id="508" r:id="rId127"/>
    <p:sldId id="509" r:id="rId1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6048" y="1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70E3CA-0AF7-43F6-9CBB-4F1926E8AF39}" type="datetimeFigureOut">
              <a:rPr lang="en-US" smtClean="0"/>
              <a:t>11/13/2025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06EDED-862E-417F-86DA-4B3FB6CBFA79}" type="slidenum">
              <a:rPr lang="en-US" smtClean="0"/>
              <a:t>‹#›</a:t>
            </a:fld>
            <a:endParaRPr lang="en-US"/>
          </a:p>
        </p:txBody>
      </p:sp>
    </p:spTree>
    <p:extLst>
      <p:ext uri="{BB962C8B-B14F-4D97-AF65-F5344CB8AC3E}">
        <p14:creationId xmlns:p14="http://schemas.microsoft.com/office/powerpoint/2010/main" val="1962247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ABD4CA-5CF0-4218-902F-C9430B66A313}" type="slidenum">
              <a:rPr lang="en-US" smtClean="0"/>
              <a:t>119</a:t>
            </a:fld>
            <a:endParaRPr lang="en-US"/>
          </a:p>
        </p:txBody>
      </p:sp>
    </p:spTree>
    <p:extLst>
      <p:ext uri="{BB962C8B-B14F-4D97-AF65-F5344CB8AC3E}">
        <p14:creationId xmlns:p14="http://schemas.microsoft.com/office/powerpoint/2010/main" val="1461212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2F6ED3-D46A-499B-8CAA-E8F59FE17209}"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30561-6D6E-45BC-B9F2-C0025C319E00}" type="slidenum">
              <a:rPr lang="en-US" smtClean="0"/>
              <a:t>‹#›</a:t>
            </a:fld>
            <a:endParaRPr lang="en-US"/>
          </a:p>
        </p:txBody>
      </p:sp>
    </p:spTree>
    <p:extLst>
      <p:ext uri="{BB962C8B-B14F-4D97-AF65-F5344CB8AC3E}">
        <p14:creationId xmlns:p14="http://schemas.microsoft.com/office/powerpoint/2010/main" val="319615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2F6ED3-D46A-499B-8CAA-E8F59FE17209}"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30561-6D6E-45BC-B9F2-C0025C319E00}" type="slidenum">
              <a:rPr lang="en-US" smtClean="0"/>
              <a:t>‹#›</a:t>
            </a:fld>
            <a:endParaRPr lang="en-US"/>
          </a:p>
        </p:txBody>
      </p:sp>
    </p:spTree>
    <p:extLst>
      <p:ext uri="{BB962C8B-B14F-4D97-AF65-F5344CB8AC3E}">
        <p14:creationId xmlns:p14="http://schemas.microsoft.com/office/powerpoint/2010/main" val="1866779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2F6ED3-D46A-499B-8CAA-E8F59FE17209}"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30561-6D6E-45BC-B9F2-C0025C319E00}" type="slidenum">
              <a:rPr lang="en-US" smtClean="0"/>
              <a:t>‹#›</a:t>
            </a:fld>
            <a:endParaRPr lang="en-US"/>
          </a:p>
        </p:txBody>
      </p:sp>
    </p:spTree>
    <p:extLst>
      <p:ext uri="{BB962C8B-B14F-4D97-AF65-F5344CB8AC3E}">
        <p14:creationId xmlns:p14="http://schemas.microsoft.com/office/powerpoint/2010/main" val="4087344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2F6ED3-D46A-499B-8CAA-E8F59FE17209}"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30561-6D6E-45BC-B9F2-C0025C319E00}" type="slidenum">
              <a:rPr lang="en-US" smtClean="0"/>
              <a:t>‹#›</a:t>
            </a:fld>
            <a:endParaRPr lang="en-US"/>
          </a:p>
        </p:txBody>
      </p:sp>
    </p:spTree>
    <p:extLst>
      <p:ext uri="{BB962C8B-B14F-4D97-AF65-F5344CB8AC3E}">
        <p14:creationId xmlns:p14="http://schemas.microsoft.com/office/powerpoint/2010/main" val="4254866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2F6ED3-D46A-499B-8CAA-E8F59FE17209}"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F30561-6D6E-45BC-B9F2-C0025C319E00}" type="slidenum">
              <a:rPr lang="en-US" smtClean="0"/>
              <a:t>‹#›</a:t>
            </a:fld>
            <a:endParaRPr lang="en-US"/>
          </a:p>
        </p:txBody>
      </p:sp>
    </p:spTree>
    <p:extLst>
      <p:ext uri="{BB962C8B-B14F-4D97-AF65-F5344CB8AC3E}">
        <p14:creationId xmlns:p14="http://schemas.microsoft.com/office/powerpoint/2010/main" val="1506246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2F6ED3-D46A-499B-8CAA-E8F59FE17209}"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F30561-6D6E-45BC-B9F2-C0025C319E00}" type="slidenum">
              <a:rPr lang="en-US" smtClean="0"/>
              <a:t>‹#›</a:t>
            </a:fld>
            <a:endParaRPr lang="en-US"/>
          </a:p>
        </p:txBody>
      </p:sp>
    </p:spTree>
    <p:extLst>
      <p:ext uri="{BB962C8B-B14F-4D97-AF65-F5344CB8AC3E}">
        <p14:creationId xmlns:p14="http://schemas.microsoft.com/office/powerpoint/2010/main" val="3312492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2F6ED3-D46A-499B-8CAA-E8F59FE17209}"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F30561-6D6E-45BC-B9F2-C0025C319E00}" type="slidenum">
              <a:rPr lang="en-US" smtClean="0"/>
              <a:t>‹#›</a:t>
            </a:fld>
            <a:endParaRPr lang="en-US"/>
          </a:p>
        </p:txBody>
      </p:sp>
    </p:spTree>
    <p:extLst>
      <p:ext uri="{BB962C8B-B14F-4D97-AF65-F5344CB8AC3E}">
        <p14:creationId xmlns:p14="http://schemas.microsoft.com/office/powerpoint/2010/main" val="4170759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2F6ED3-D46A-499B-8CAA-E8F59FE17209}"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30561-6D6E-45BC-B9F2-C0025C319E00}" type="slidenum">
              <a:rPr lang="en-US" smtClean="0"/>
              <a:t>‹#›</a:t>
            </a:fld>
            <a:endParaRPr lang="en-US"/>
          </a:p>
        </p:txBody>
      </p:sp>
    </p:spTree>
    <p:extLst>
      <p:ext uri="{BB962C8B-B14F-4D97-AF65-F5344CB8AC3E}">
        <p14:creationId xmlns:p14="http://schemas.microsoft.com/office/powerpoint/2010/main" val="954281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2F6ED3-D46A-499B-8CAA-E8F59FE17209}"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30561-6D6E-45BC-B9F2-C0025C319E00}" type="slidenum">
              <a:rPr lang="en-US" smtClean="0"/>
              <a:t>‹#›</a:t>
            </a:fld>
            <a:endParaRPr lang="en-US"/>
          </a:p>
        </p:txBody>
      </p:sp>
    </p:spTree>
    <p:extLst>
      <p:ext uri="{BB962C8B-B14F-4D97-AF65-F5344CB8AC3E}">
        <p14:creationId xmlns:p14="http://schemas.microsoft.com/office/powerpoint/2010/main" val="948580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2F6ED3-D46A-499B-8CAA-E8F59FE17209}"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30561-6D6E-45BC-B9F2-C0025C319E00}" type="slidenum">
              <a:rPr lang="en-US" smtClean="0"/>
              <a:t>‹#›</a:t>
            </a:fld>
            <a:endParaRPr lang="en-US"/>
          </a:p>
        </p:txBody>
      </p:sp>
    </p:spTree>
    <p:extLst>
      <p:ext uri="{BB962C8B-B14F-4D97-AF65-F5344CB8AC3E}">
        <p14:creationId xmlns:p14="http://schemas.microsoft.com/office/powerpoint/2010/main" val="663337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2F6ED3-D46A-499B-8CAA-E8F59FE17209}"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30561-6D6E-45BC-B9F2-C0025C319E00}" type="slidenum">
              <a:rPr lang="en-US" smtClean="0"/>
              <a:t>‹#›</a:t>
            </a:fld>
            <a:endParaRPr lang="en-US"/>
          </a:p>
        </p:txBody>
      </p:sp>
    </p:spTree>
    <p:extLst>
      <p:ext uri="{BB962C8B-B14F-4D97-AF65-F5344CB8AC3E}">
        <p14:creationId xmlns:p14="http://schemas.microsoft.com/office/powerpoint/2010/main" val="3510870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F6ED3-D46A-499B-8CAA-E8F59FE17209}" type="datetimeFigureOut">
              <a:rPr lang="en-US" smtClean="0"/>
              <a:t>11/13/2025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F30561-6D6E-45BC-B9F2-C0025C319E00}" type="slidenum">
              <a:rPr lang="en-US" smtClean="0"/>
              <a:t>‹#›</a:t>
            </a:fld>
            <a:endParaRPr lang="en-US"/>
          </a:p>
        </p:txBody>
      </p:sp>
    </p:spTree>
    <p:extLst>
      <p:ext uri="{BB962C8B-B14F-4D97-AF65-F5344CB8AC3E}">
        <p14:creationId xmlns:p14="http://schemas.microsoft.com/office/powerpoint/2010/main" val="42785031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11" Type="http://schemas.openxmlformats.org/officeDocument/2006/relationships/image" Target="../media/image8.wmf"/><Relationship Id="rId5" Type="http://schemas.openxmlformats.org/officeDocument/2006/relationships/image" Target="../media/image5.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7.wmf"/></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9.bin"/></Relationships>
</file>

<file path=ppt/slides/_rels/slide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image" Target="../media/image12.wmf"/><Relationship Id="rId4" Type="http://schemas.openxmlformats.org/officeDocument/2006/relationships/oleObject" Target="../embeddings/oleObject12.bin"/><Relationship Id="rId9" Type="http://schemas.openxmlformats.org/officeDocument/2006/relationships/image" Target="../media/image14.wmf"/></Relationships>
</file>

<file path=ppt/slides/_rels/slide1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16.wmf"/><Relationship Id="rId4" Type="http://schemas.openxmlformats.org/officeDocument/2006/relationships/oleObject" Target="../embeddings/oleObject16.bin"/></Relationships>
</file>

<file path=ppt/slides/_rels/slide1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oleObject" Target="../embeddings/oleObject15.bin"/></Relationships>
</file>

<file path=ppt/slides/_rels/slide1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9.bin"/><Relationship Id="rId1" Type="http://schemas.openxmlformats.org/officeDocument/2006/relationships/slideLayout" Target="../slideLayouts/slideLayout2.xml"/><Relationship Id="rId5" Type="http://schemas.openxmlformats.org/officeDocument/2006/relationships/image" Target="../media/image20.wmf"/><Relationship Id="rId4" Type="http://schemas.openxmlformats.org/officeDocument/2006/relationships/oleObject" Target="../embeddings/oleObject20.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21.bin"/><Relationship Id="rId1" Type="http://schemas.openxmlformats.org/officeDocument/2006/relationships/slideLayout" Target="../slideLayouts/slideLayout2.xml"/><Relationship Id="rId6" Type="http://schemas.openxmlformats.org/officeDocument/2006/relationships/oleObject" Target="../embeddings/oleObject23.bin"/><Relationship Id="rId5" Type="http://schemas.openxmlformats.org/officeDocument/2006/relationships/image" Target="../media/image13.wmf"/><Relationship Id="rId4" Type="http://schemas.openxmlformats.org/officeDocument/2006/relationships/oleObject" Target="../embeddings/oleObject22.bin"/><Relationship Id="rId9" Type="http://schemas.openxmlformats.org/officeDocument/2006/relationships/image" Target="../media/image19.wmf"/></Relationships>
</file>

<file path=ppt/slides/_rels/slide1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5.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26.bin"/><Relationship Id="rId1" Type="http://schemas.openxmlformats.org/officeDocument/2006/relationships/slideLayout" Target="../slideLayouts/slideLayout2.xml"/><Relationship Id="rId5" Type="http://schemas.openxmlformats.org/officeDocument/2006/relationships/image" Target="../media/image23.wmf"/><Relationship Id="rId4" Type="http://schemas.openxmlformats.org/officeDocument/2006/relationships/oleObject" Target="../embeddings/oleObject27.bin"/></Relationships>
</file>

<file path=ppt/slides/_rels/slide2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8.bin"/><Relationship Id="rId1" Type="http://schemas.openxmlformats.org/officeDocument/2006/relationships/slideLayout" Target="../slideLayouts/slideLayout2.xml"/><Relationship Id="rId5" Type="http://schemas.openxmlformats.org/officeDocument/2006/relationships/image" Target="../media/image25.wmf"/><Relationship Id="rId4" Type="http://schemas.openxmlformats.org/officeDocument/2006/relationships/oleObject" Target="../embeddings/oleObject29.bin"/></Relationships>
</file>

<file path=ppt/slides/_rels/slide25.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30.bin"/><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31.bin"/></Relationships>
</file>

<file path=ppt/slides/_rels/slide26.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32.bin"/><Relationship Id="rId1" Type="http://schemas.openxmlformats.org/officeDocument/2006/relationships/slideLayout" Target="../slideLayouts/slideLayout2.xml"/><Relationship Id="rId5" Type="http://schemas.openxmlformats.org/officeDocument/2006/relationships/image" Target="../media/image29.wmf"/><Relationship Id="rId4" Type="http://schemas.openxmlformats.org/officeDocument/2006/relationships/oleObject" Target="../embeddings/oleObject33.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34.bin"/><Relationship Id="rId1" Type="http://schemas.openxmlformats.org/officeDocument/2006/relationships/slideLayout" Target="../slideLayouts/slideLayout2.xml"/><Relationship Id="rId6" Type="http://schemas.openxmlformats.org/officeDocument/2006/relationships/oleObject" Target="../embeddings/oleObject36.bin"/><Relationship Id="rId5" Type="http://schemas.openxmlformats.org/officeDocument/2006/relationships/image" Target="../media/image31.wmf"/><Relationship Id="rId4" Type="http://schemas.openxmlformats.org/officeDocument/2006/relationships/oleObject" Target="../embeddings/oleObject35.bin"/><Relationship Id="rId9" Type="http://schemas.openxmlformats.org/officeDocument/2006/relationships/image" Target="../media/image33.wmf"/></Relationships>
</file>

<file path=ppt/slides/_rels/slide28.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38.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9.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40.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41.bin"/><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41.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9.bin"/><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42.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43.bin"/><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44.bin"/></Relationships>
</file>

<file path=ppt/slides/_rels/slide46.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45.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wmf"/><Relationship Id="rId7" Type="http://schemas.openxmlformats.org/officeDocument/2006/relationships/image" Target="../media/image43.wmf"/><Relationship Id="rId2" Type="http://schemas.openxmlformats.org/officeDocument/2006/relationships/oleObject" Target="../embeddings/oleObject46.bin"/><Relationship Id="rId1" Type="http://schemas.openxmlformats.org/officeDocument/2006/relationships/slideLayout" Target="../slideLayouts/slideLayout2.xml"/><Relationship Id="rId6" Type="http://schemas.openxmlformats.org/officeDocument/2006/relationships/oleObject" Target="../embeddings/oleObject48.bin"/><Relationship Id="rId5" Type="http://schemas.openxmlformats.org/officeDocument/2006/relationships/image" Target="../media/image42.wmf"/><Relationship Id="rId4" Type="http://schemas.openxmlformats.org/officeDocument/2006/relationships/oleObject" Target="../embeddings/oleObject47.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42.wmf"/><Relationship Id="rId7" Type="http://schemas.openxmlformats.org/officeDocument/2006/relationships/image" Target="../media/image44.wmf"/><Relationship Id="rId2"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9.bin"/><Relationship Id="rId5" Type="http://schemas.openxmlformats.org/officeDocument/2006/relationships/image" Target="../media/image43.wmf"/><Relationship Id="rId4" Type="http://schemas.openxmlformats.org/officeDocument/2006/relationships/oleObject" Target="../embeddings/oleObject48.bin"/><Relationship Id="rId9" Type="http://schemas.openxmlformats.org/officeDocument/2006/relationships/image" Target="../media/image45.wmf"/></Relationships>
</file>

<file path=ppt/slides/_rels/slide49.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51.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8.wmf"/><Relationship Id="rId7" Type="http://schemas.openxmlformats.org/officeDocument/2006/relationships/image" Target="../media/image50.wmf"/><Relationship Id="rId2" Type="http://schemas.openxmlformats.org/officeDocument/2006/relationships/oleObject" Target="../embeddings/oleObject53.bin"/><Relationship Id="rId1" Type="http://schemas.openxmlformats.org/officeDocument/2006/relationships/slideLayout" Target="../slideLayouts/slideLayout2.xml"/><Relationship Id="rId6" Type="http://schemas.openxmlformats.org/officeDocument/2006/relationships/oleObject" Target="../embeddings/oleObject55.bin"/><Relationship Id="rId5" Type="http://schemas.openxmlformats.org/officeDocument/2006/relationships/image" Target="../media/image49.wmf"/><Relationship Id="rId4" Type="http://schemas.openxmlformats.org/officeDocument/2006/relationships/oleObject" Target="../embeddings/oleObject54.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56.bin"/><Relationship Id="rId3" Type="http://schemas.openxmlformats.org/officeDocument/2006/relationships/image" Target="../media/image48.wmf"/><Relationship Id="rId7" Type="http://schemas.openxmlformats.org/officeDocument/2006/relationships/image" Target="../media/image50.wmf"/><Relationship Id="rId2" Type="http://schemas.openxmlformats.org/officeDocument/2006/relationships/oleObject" Target="../embeddings/oleObject53.bin"/><Relationship Id="rId1" Type="http://schemas.openxmlformats.org/officeDocument/2006/relationships/slideLayout" Target="../slideLayouts/slideLayout2.xml"/><Relationship Id="rId6" Type="http://schemas.openxmlformats.org/officeDocument/2006/relationships/oleObject" Target="../embeddings/oleObject55.bin"/><Relationship Id="rId11" Type="http://schemas.openxmlformats.org/officeDocument/2006/relationships/image" Target="../media/image52.wmf"/><Relationship Id="rId5" Type="http://schemas.openxmlformats.org/officeDocument/2006/relationships/image" Target="../media/image49.wmf"/><Relationship Id="rId10" Type="http://schemas.openxmlformats.org/officeDocument/2006/relationships/oleObject" Target="../embeddings/oleObject57.bin"/><Relationship Id="rId4" Type="http://schemas.openxmlformats.org/officeDocument/2006/relationships/oleObject" Target="../embeddings/oleObject54.bin"/><Relationship Id="rId9" Type="http://schemas.openxmlformats.org/officeDocument/2006/relationships/image" Target="../media/image51.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58.bin"/><Relationship Id="rId1" Type="http://schemas.openxmlformats.org/officeDocument/2006/relationships/slideLayout" Target="../slideLayouts/slideLayout2.xml"/><Relationship Id="rId5" Type="http://schemas.openxmlformats.org/officeDocument/2006/relationships/image" Target="../media/image54.wmf"/><Relationship Id="rId4" Type="http://schemas.openxmlformats.org/officeDocument/2006/relationships/oleObject" Target="../embeddings/oleObject59.bin"/></Relationships>
</file>

<file path=ppt/slides/_rels/slide56.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58.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image" Target="../media/image60.wmf"/><Relationship Id="rId3" Type="http://schemas.openxmlformats.org/officeDocument/2006/relationships/image" Target="../media/image55.wmf"/><Relationship Id="rId7" Type="http://schemas.openxmlformats.org/officeDocument/2006/relationships/image" Target="../media/image57.wmf"/><Relationship Id="rId12" Type="http://schemas.openxmlformats.org/officeDocument/2006/relationships/oleObject" Target="../embeddings/oleObject65.bin"/><Relationship Id="rId2" Type="http://schemas.openxmlformats.org/officeDocument/2006/relationships/oleObject" Target="../embeddings/oleObject60.bin"/><Relationship Id="rId1" Type="http://schemas.openxmlformats.org/officeDocument/2006/relationships/slideLayout" Target="../slideLayouts/slideLayout2.xml"/><Relationship Id="rId6" Type="http://schemas.openxmlformats.org/officeDocument/2006/relationships/oleObject" Target="../embeddings/oleObject62.bin"/><Relationship Id="rId11" Type="http://schemas.openxmlformats.org/officeDocument/2006/relationships/image" Target="../media/image59.wmf"/><Relationship Id="rId5" Type="http://schemas.openxmlformats.org/officeDocument/2006/relationships/image" Target="../media/image56.wmf"/><Relationship Id="rId10" Type="http://schemas.openxmlformats.org/officeDocument/2006/relationships/oleObject" Target="../embeddings/oleObject64.bin"/><Relationship Id="rId4" Type="http://schemas.openxmlformats.org/officeDocument/2006/relationships/oleObject" Target="../embeddings/oleObject61.bin"/><Relationship Id="rId9" Type="http://schemas.openxmlformats.org/officeDocument/2006/relationships/image" Target="../media/image58.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61.wmf"/><Relationship Id="rId18" Type="http://schemas.openxmlformats.org/officeDocument/2006/relationships/oleObject" Target="../embeddings/oleObject72.bin"/><Relationship Id="rId3" Type="http://schemas.openxmlformats.org/officeDocument/2006/relationships/image" Target="../media/image58.wmf"/><Relationship Id="rId7" Type="http://schemas.openxmlformats.org/officeDocument/2006/relationships/image" Target="../media/image60.wmf"/><Relationship Id="rId12" Type="http://schemas.openxmlformats.org/officeDocument/2006/relationships/oleObject" Target="../embeddings/oleObject69.bin"/><Relationship Id="rId17" Type="http://schemas.openxmlformats.org/officeDocument/2006/relationships/image" Target="../media/image63.wmf"/><Relationship Id="rId2" Type="http://schemas.openxmlformats.org/officeDocument/2006/relationships/oleObject" Target="../embeddings/oleObject66.bin"/><Relationship Id="rId16" Type="http://schemas.openxmlformats.org/officeDocument/2006/relationships/oleObject" Target="../embeddings/oleObject71.bin"/><Relationship Id="rId1" Type="http://schemas.openxmlformats.org/officeDocument/2006/relationships/slideLayout" Target="../slideLayouts/slideLayout2.xml"/><Relationship Id="rId6" Type="http://schemas.openxmlformats.org/officeDocument/2006/relationships/oleObject" Target="../embeddings/oleObject65.bin"/><Relationship Id="rId11" Type="http://schemas.openxmlformats.org/officeDocument/2006/relationships/image" Target="../media/image56.wmf"/><Relationship Id="rId5" Type="http://schemas.openxmlformats.org/officeDocument/2006/relationships/image" Target="../media/image59.wmf"/><Relationship Id="rId15" Type="http://schemas.openxmlformats.org/officeDocument/2006/relationships/image" Target="../media/image62.wmf"/><Relationship Id="rId10" Type="http://schemas.openxmlformats.org/officeDocument/2006/relationships/oleObject" Target="../embeddings/oleObject68.bin"/><Relationship Id="rId19" Type="http://schemas.openxmlformats.org/officeDocument/2006/relationships/image" Target="../media/image64.wmf"/><Relationship Id="rId4" Type="http://schemas.openxmlformats.org/officeDocument/2006/relationships/oleObject" Target="../embeddings/oleObject64.bin"/><Relationship Id="rId9" Type="http://schemas.openxmlformats.org/officeDocument/2006/relationships/image" Target="../media/image55.wmf"/><Relationship Id="rId14" Type="http://schemas.openxmlformats.org/officeDocument/2006/relationships/oleObject" Target="../embeddings/oleObject70.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image" Target="../media/image61.wmf"/><Relationship Id="rId18" Type="http://schemas.openxmlformats.org/officeDocument/2006/relationships/oleObject" Target="../embeddings/oleObject79.bin"/><Relationship Id="rId26" Type="http://schemas.openxmlformats.org/officeDocument/2006/relationships/oleObject" Target="../embeddings/oleObject83.bin"/><Relationship Id="rId3" Type="http://schemas.openxmlformats.org/officeDocument/2006/relationships/image" Target="../media/image58.wmf"/><Relationship Id="rId21" Type="http://schemas.openxmlformats.org/officeDocument/2006/relationships/image" Target="../media/image65.wmf"/><Relationship Id="rId7" Type="http://schemas.openxmlformats.org/officeDocument/2006/relationships/image" Target="../media/image60.wmf"/><Relationship Id="rId12" Type="http://schemas.openxmlformats.org/officeDocument/2006/relationships/oleObject" Target="../embeddings/oleObject76.bin"/><Relationship Id="rId17" Type="http://schemas.openxmlformats.org/officeDocument/2006/relationships/image" Target="../media/image63.wmf"/><Relationship Id="rId25" Type="http://schemas.openxmlformats.org/officeDocument/2006/relationships/image" Target="../media/image67.wmf"/><Relationship Id="rId2" Type="http://schemas.openxmlformats.org/officeDocument/2006/relationships/oleObject" Target="../embeddings/oleObject66.bin"/><Relationship Id="rId16" Type="http://schemas.openxmlformats.org/officeDocument/2006/relationships/oleObject" Target="../embeddings/oleObject78.bin"/><Relationship Id="rId20" Type="http://schemas.openxmlformats.org/officeDocument/2006/relationships/oleObject" Target="../embeddings/oleObject80.bin"/><Relationship Id="rId1" Type="http://schemas.openxmlformats.org/officeDocument/2006/relationships/slideLayout" Target="../slideLayouts/slideLayout2.xml"/><Relationship Id="rId6" Type="http://schemas.openxmlformats.org/officeDocument/2006/relationships/oleObject" Target="../embeddings/oleObject73.bin"/><Relationship Id="rId11" Type="http://schemas.openxmlformats.org/officeDocument/2006/relationships/image" Target="../media/image56.wmf"/><Relationship Id="rId24" Type="http://schemas.openxmlformats.org/officeDocument/2006/relationships/oleObject" Target="../embeddings/oleObject82.bin"/><Relationship Id="rId5" Type="http://schemas.openxmlformats.org/officeDocument/2006/relationships/image" Target="../media/image59.wmf"/><Relationship Id="rId15" Type="http://schemas.openxmlformats.org/officeDocument/2006/relationships/image" Target="../media/image62.wmf"/><Relationship Id="rId23" Type="http://schemas.openxmlformats.org/officeDocument/2006/relationships/image" Target="../media/image66.wmf"/><Relationship Id="rId10" Type="http://schemas.openxmlformats.org/officeDocument/2006/relationships/oleObject" Target="../embeddings/oleObject75.bin"/><Relationship Id="rId19" Type="http://schemas.openxmlformats.org/officeDocument/2006/relationships/image" Target="../media/image64.wmf"/><Relationship Id="rId4" Type="http://schemas.openxmlformats.org/officeDocument/2006/relationships/oleObject" Target="../embeddings/oleObject64.bin"/><Relationship Id="rId9" Type="http://schemas.openxmlformats.org/officeDocument/2006/relationships/image" Target="../media/image55.wmf"/><Relationship Id="rId14" Type="http://schemas.openxmlformats.org/officeDocument/2006/relationships/oleObject" Target="../embeddings/oleObject77.bin"/><Relationship Id="rId22" Type="http://schemas.openxmlformats.org/officeDocument/2006/relationships/oleObject" Target="../embeddings/oleObject81.bin"/><Relationship Id="rId27" Type="http://schemas.openxmlformats.org/officeDocument/2006/relationships/image" Target="../media/image68.wmf"/></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87.bin"/><Relationship Id="rId13" Type="http://schemas.openxmlformats.org/officeDocument/2006/relationships/image" Target="../media/image61.wmf"/><Relationship Id="rId18" Type="http://schemas.openxmlformats.org/officeDocument/2006/relationships/oleObject" Target="../embeddings/oleObject92.bin"/><Relationship Id="rId26" Type="http://schemas.openxmlformats.org/officeDocument/2006/relationships/oleObject" Target="../embeddings/oleObject96.bin"/><Relationship Id="rId3" Type="http://schemas.openxmlformats.org/officeDocument/2006/relationships/image" Target="../media/image58.wmf"/><Relationship Id="rId21" Type="http://schemas.openxmlformats.org/officeDocument/2006/relationships/image" Target="../media/image65.wmf"/><Relationship Id="rId7" Type="http://schemas.openxmlformats.org/officeDocument/2006/relationships/image" Target="../media/image60.wmf"/><Relationship Id="rId12" Type="http://schemas.openxmlformats.org/officeDocument/2006/relationships/oleObject" Target="../embeddings/oleObject89.bin"/><Relationship Id="rId17" Type="http://schemas.openxmlformats.org/officeDocument/2006/relationships/image" Target="../media/image63.wmf"/><Relationship Id="rId25" Type="http://schemas.openxmlformats.org/officeDocument/2006/relationships/image" Target="../media/image67.wmf"/><Relationship Id="rId2" Type="http://schemas.openxmlformats.org/officeDocument/2006/relationships/oleObject" Target="../embeddings/oleObject84.bin"/><Relationship Id="rId16" Type="http://schemas.openxmlformats.org/officeDocument/2006/relationships/oleObject" Target="../embeddings/oleObject91.bin"/><Relationship Id="rId20" Type="http://schemas.openxmlformats.org/officeDocument/2006/relationships/oleObject" Target="../embeddings/oleObject93.bin"/><Relationship Id="rId1" Type="http://schemas.openxmlformats.org/officeDocument/2006/relationships/slideLayout" Target="../slideLayouts/slideLayout2.xml"/><Relationship Id="rId6" Type="http://schemas.openxmlformats.org/officeDocument/2006/relationships/oleObject" Target="../embeddings/oleObject86.bin"/><Relationship Id="rId11" Type="http://schemas.openxmlformats.org/officeDocument/2006/relationships/image" Target="../media/image56.wmf"/><Relationship Id="rId24" Type="http://schemas.openxmlformats.org/officeDocument/2006/relationships/oleObject" Target="../embeddings/oleObject95.bin"/><Relationship Id="rId5" Type="http://schemas.openxmlformats.org/officeDocument/2006/relationships/image" Target="../media/image59.wmf"/><Relationship Id="rId15" Type="http://schemas.openxmlformats.org/officeDocument/2006/relationships/image" Target="../media/image62.wmf"/><Relationship Id="rId23" Type="http://schemas.openxmlformats.org/officeDocument/2006/relationships/image" Target="../media/image66.wmf"/><Relationship Id="rId10" Type="http://schemas.openxmlformats.org/officeDocument/2006/relationships/oleObject" Target="../embeddings/oleObject88.bin"/><Relationship Id="rId19" Type="http://schemas.openxmlformats.org/officeDocument/2006/relationships/image" Target="../media/image64.wmf"/><Relationship Id="rId4" Type="http://schemas.openxmlformats.org/officeDocument/2006/relationships/oleObject" Target="../embeddings/oleObject85.bin"/><Relationship Id="rId9" Type="http://schemas.openxmlformats.org/officeDocument/2006/relationships/image" Target="../media/image55.wmf"/><Relationship Id="rId14" Type="http://schemas.openxmlformats.org/officeDocument/2006/relationships/oleObject" Target="../embeddings/oleObject90.bin"/><Relationship Id="rId22" Type="http://schemas.openxmlformats.org/officeDocument/2006/relationships/oleObject" Target="../embeddings/oleObject94.bin"/><Relationship Id="rId27" Type="http://schemas.openxmlformats.org/officeDocument/2006/relationships/image" Target="../media/image68.wmf"/></Relationships>
</file>

<file path=ppt/slides/_rels/slide61.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oleObject" Target="../embeddings/oleObject97.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98.bin"/><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oleObject" Target="../embeddings/oleObject99.bin"/><Relationship Id="rId1" Type="http://schemas.openxmlformats.org/officeDocument/2006/relationships/slideLayout" Target="../slideLayouts/slideLayout2.xml"/><Relationship Id="rId5" Type="http://schemas.openxmlformats.org/officeDocument/2006/relationships/image" Target="../media/image72.wmf"/><Relationship Id="rId4" Type="http://schemas.openxmlformats.org/officeDocument/2006/relationships/oleObject" Target="../embeddings/oleObject100.bin"/></Relationships>
</file>

<file path=ppt/slides/_rels/slide69.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oleObject" Target="../embeddings/oleObject101.bin"/><Relationship Id="rId1" Type="http://schemas.openxmlformats.org/officeDocument/2006/relationships/slideLayout" Target="../slideLayouts/slideLayout2.xml"/><Relationship Id="rId5" Type="http://schemas.openxmlformats.org/officeDocument/2006/relationships/image" Target="../media/image74.wmf"/><Relationship Id="rId4" Type="http://schemas.openxmlformats.org/officeDocument/2006/relationships/oleObject" Target="../embeddings/oleObject102.bin"/></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106.bin"/><Relationship Id="rId3" Type="http://schemas.openxmlformats.org/officeDocument/2006/relationships/image" Target="../media/image71.wmf"/><Relationship Id="rId7" Type="http://schemas.openxmlformats.org/officeDocument/2006/relationships/image" Target="../media/image73.wmf"/><Relationship Id="rId2" Type="http://schemas.openxmlformats.org/officeDocument/2006/relationships/oleObject" Target="../embeddings/oleObject103.bin"/><Relationship Id="rId1" Type="http://schemas.openxmlformats.org/officeDocument/2006/relationships/slideLayout" Target="../slideLayouts/slideLayout2.xml"/><Relationship Id="rId6" Type="http://schemas.openxmlformats.org/officeDocument/2006/relationships/oleObject" Target="../embeddings/oleObject105.bin"/><Relationship Id="rId5" Type="http://schemas.openxmlformats.org/officeDocument/2006/relationships/image" Target="../media/image75.wmf"/><Relationship Id="rId4" Type="http://schemas.openxmlformats.org/officeDocument/2006/relationships/oleObject" Target="../embeddings/oleObject104.bin"/><Relationship Id="rId9" Type="http://schemas.openxmlformats.org/officeDocument/2006/relationships/image" Target="../media/image76.wmf"/></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106.bin"/><Relationship Id="rId3" Type="http://schemas.openxmlformats.org/officeDocument/2006/relationships/image" Target="../media/image71.wmf"/><Relationship Id="rId7" Type="http://schemas.openxmlformats.org/officeDocument/2006/relationships/image" Target="../media/image73.wmf"/><Relationship Id="rId2" Type="http://schemas.openxmlformats.org/officeDocument/2006/relationships/oleObject" Target="../embeddings/oleObject103.bin"/><Relationship Id="rId1" Type="http://schemas.openxmlformats.org/officeDocument/2006/relationships/slideLayout" Target="../slideLayouts/slideLayout2.xml"/><Relationship Id="rId6" Type="http://schemas.openxmlformats.org/officeDocument/2006/relationships/oleObject" Target="../embeddings/oleObject105.bin"/><Relationship Id="rId5" Type="http://schemas.openxmlformats.org/officeDocument/2006/relationships/image" Target="../media/image77.wmf"/><Relationship Id="rId4" Type="http://schemas.openxmlformats.org/officeDocument/2006/relationships/oleObject" Target="../embeddings/oleObject107.bin"/><Relationship Id="rId9" Type="http://schemas.openxmlformats.org/officeDocument/2006/relationships/image" Target="../media/image76.wmf"/></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103.bin"/><Relationship Id="rId13" Type="http://schemas.openxmlformats.org/officeDocument/2006/relationships/image" Target="../media/image73.wmf"/><Relationship Id="rId18" Type="http://schemas.openxmlformats.org/officeDocument/2006/relationships/oleObject" Target="../embeddings/oleObject113.bin"/><Relationship Id="rId3" Type="http://schemas.openxmlformats.org/officeDocument/2006/relationships/image" Target="../media/image78.wmf"/><Relationship Id="rId7" Type="http://schemas.openxmlformats.org/officeDocument/2006/relationships/image" Target="../media/image80.wmf"/><Relationship Id="rId12" Type="http://schemas.openxmlformats.org/officeDocument/2006/relationships/oleObject" Target="../embeddings/oleObject105.bin"/><Relationship Id="rId17" Type="http://schemas.openxmlformats.org/officeDocument/2006/relationships/image" Target="../media/image81.wmf"/><Relationship Id="rId2" Type="http://schemas.openxmlformats.org/officeDocument/2006/relationships/oleObject" Target="../embeddings/oleObject108.bin"/><Relationship Id="rId16" Type="http://schemas.openxmlformats.org/officeDocument/2006/relationships/oleObject" Target="../embeddings/oleObject112.bin"/><Relationship Id="rId1" Type="http://schemas.openxmlformats.org/officeDocument/2006/relationships/slideLayout" Target="../slideLayouts/slideLayout2.xml"/><Relationship Id="rId6" Type="http://schemas.openxmlformats.org/officeDocument/2006/relationships/oleObject" Target="../embeddings/oleObject110.bin"/><Relationship Id="rId11" Type="http://schemas.openxmlformats.org/officeDocument/2006/relationships/image" Target="../media/image77.wmf"/><Relationship Id="rId5" Type="http://schemas.openxmlformats.org/officeDocument/2006/relationships/image" Target="../media/image79.wmf"/><Relationship Id="rId15" Type="http://schemas.openxmlformats.org/officeDocument/2006/relationships/image" Target="../media/image76.wmf"/><Relationship Id="rId10" Type="http://schemas.openxmlformats.org/officeDocument/2006/relationships/oleObject" Target="../embeddings/oleObject107.bin"/><Relationship Id="rId19" Type="http://schemas.openxmlformats.org/officeDocument/2006/relationships/image" Target="../media/image82.wmf"/><Relationship Id="rId4" Type="http://schemas.openxmlformats.org/officeDocument/2006/relationships/oleObject" Target="../embeddings/oleObject109.bin"/><Relationship Id="rId9" Type="http://schemas.openxmlformats.org/officeDocument/2006/relationships/image" Target="../media/image71.wmf"/><Relationship Id="rId14" Type="http://schemas.openxmlformats.org/officeDocument/2006/relationships/oleObject" Target="../embeddings/oleObject111.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oleObject" Target="../embeddings/oleObject114.bin"/><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oleObject" Target="../embeddings/oleObject115.bin"/><Relationship Id="rId1" Type="http://schemas.openxmlformats.org/officeDocument/2006/relationships/slideLayout" Target="../slideLayouts/slideLayout2.xml"/><Relationship Id="rId5" Type="http://schemas.openxmlformats.org/officeDocument/2006/relationships/image" Target="../media/image85.wmf"/><Relationship Id="rId4" Type="http://schemas.openxmlformats.org/officeDocument/2006/relationships/oleObject" Target="../embeddings/oleObject116.bin"/></Relationships>
</file>

<file path=ppt/slides/_rels/slide76.x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oleObject" Target="../embeddings/oleObject116.bin"/><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oleObject" Target="../embeddings/oleObject117.bin"/><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oleObject" Target="../embeddings/oleObject118.bin"/><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oleObject" Target="../embeddings/oleObject119.bin"/><Relationship Id="rId1" Type="http://schemas.openxmlformats.org/officeDocument/2006/relationships/slideLayout" Target="../slideLayouts/slideLayout2.xml"/><Relationship Id="rId5" Type="http://schemas.openxmlformats.org/officeDocument/2006/relationships/image" Target="../media/image89.wmf"/><Relationship Id="rId4" Type="http://schemas.openxmlformats.org/officeDocument/2006/relationships/oleObject" Target="../embeddings/oleObject120.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oleObject" Target="../embeddings/oleObject121.bin"/><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oleObject" Target="../embeddings/oleObject122.bin"/><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oleObject" Target="../embeddings/oleObject123.bin"/><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8" Type="http://schemas.openxmlformats.org/officeDocument/2006/relationships/oleObject" Target="../embeddings/oleObject127.bin"/><Relationship Id="rId13" Type="http://schemas.openxmlformats.org/officeDocument/2006/relationships/image" Target="../media/image98.wmf"/><Relationship Id="rId3" Type="http://schemas.openxmlformats.org/officeDocument/2006/relationships/image" Target="../media/image93.wmf"/><Relationship Id="rId7" Type="http://schemas.openxmlformats.org/officeDocument/2006/relationships/image" Target="../media/image95.wmf"/><Relationship Id="rId12" Type="http://schemas.openxmlformats.org/officeDocument/2006/relationships/oleObject" Target="../embeddings/oleObject129.bin"/><Relationship Id="rId2" Type="http://schemas.openxmlformats.org/officeDocument/2006/relationships/oleObject" Target="../embeddings/oleObject124.bin"/><Relationship Id="rId1" Type="http://schemas.openxmlformats.org/officeDocument/2006/relationships/slideLayout" Target="../slideLayouts/slideLayout2.xml"/><Relationship Id="rId6" Type="http://schemas.openxmlformats.org/officeDocument/2006/relationships/oleObject" Target="../embeddings/oleObject126.bin"/><Relationship Id="rId11" Type="http://schemas.openxmlformats.org/officeDocument/2006/relationships/image" Target="../media/image97.wmf"/><Relationship Id="rId5" Type="http://schemas.openxmlformats.org/officeDocument/2006/relationships/image" Target="../media/image94.wmf"/><Relationship Id="rId10" Type="http://schemas.openxmlformats.org/officeDocument/2006/relationships/oleObject" Target="../embeddings/oleObject128.bin"/><Relationship Id="rId4" Type="http://schemas.openxmlformats.org/officeDocument/2006/relationships/oleObject" Target="../embeddings/oleObject125.bin"/><Relationship Id="rId9" Type="http://schemas.openxmlformats.org/officeDocument/2006/relationships/image" Target="../media/image96.wmf"/></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oleObject" Target="../embeddings/oleObject130.bin"/><Relationship Id="rId1" Type="http://schemas.openxmlformats.org/officeDocument/2006/relationships/slideLayout" Target="../slideLayouts/slideLayout2.xml"/><Relationship Id="rId5" Type="http://schemas.openxmlformats.org/officeDocument/2006/relationships/image" Target="../media/image100.wmf"/><Relationship Id="rId4" Type="http://schemas.openxmlformats.org/officeDocument/2006/relationships/oleObject" Target="../embeddings/oleObject131.bin"/></Relationships>
</file>

<file path=ppt/slides/_rels/slide112.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oleObject" Target="../embeddings/oleObject132.bin"/><Relationship Id="rId1" Type="http://schemas.openxmlformats.org/officeDocument/2006/relationships/slideLayout" Target="../slideLayouts/slideLayout2.xml"/><Relationship Id="rId5" Type="http://schemas.openxmlformats.org/officeDocument/2006/relationships/image" Target="../media/image102.wmf"/><Relationship Id="rId4" Type="http://schemas.openxmlformats.org/officeDocument/2006/relationships/oleObject" Target="../embeddings/oleObject133.bin"/></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134.bin"/><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oleObject" Target="../embeddings/oleObject135.bin"/><Relationship Id="rId1" Type="http://schemas.openxmlformats.org/officeDocument/2006/relationships/slideLayout" Target="../slideLayouts/slideLayout2.xml"/><Relationship Id="rId5" Type="http://schemas.openxmlformats.org/officeDocument/2006/relationships/image" Target="../media/image105.wmf"/><Relationship Id="rId4" Type="http://schemas.openxmlformats.org/officeDocument/2006/relationships/oleObject" Target="../embeddings/oleObject136.bin"/></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oleObject" Target="../embeddings/oleObject137.bin"/><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oleObject" Target="../embeddings/oleObject138.bin"/><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oleObject" Target="../embeddings/oleObject139.bin"/><Relationship Id="rId1" Type="http://schemas.openxmlformats.org/officeDocument/2006/relationships/slideLayout" Target="../slideLayouts/slideLayout2.xml"/><Relationship Id="rId5" Type="http://schemas.openxmlformats.org/officeDocument/2006/relationships/image" Target="../media/image109.wmf"/><Relationship Id="rId4" Type="http://schemas.openxmlformats.org/officeDocument/2006/relationships/oleObject" Target="../embeddings/oleObject140.bin"/></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oleObject" Target="../embeddings/oleObject141.bin"/><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oleObject" Target="../embeddings/oleObject142.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7D299C5-9300-32C2-F5FB-90B8733E4C2E}"/>
              </a:ext>
            </a:extLst>
          </p:cNvPr>
          <p:cNvSpPr>
            <a:spLocks noGrp="1" noChangeArrowheads="1"/>
          </p:cNvSpPr>
          <p:nvPr>
            <p:ph type="title"/>
          </p:nvPr>
        </p:nvSpPr>
        <p:spPr>
          <a:xfrm>
            <a:off x="533400" y="228600"/>
            <a:ext cx="8077200" cy="1143000"/>
          </a:xfrm>
        </p:spPr>
        <p:txBody>
          <a:bodyPr/>
          <a:lstStyle/>
          <a:p>
            <a:pPr>
              <a:lnSpc>
                <a:spcPct val="80000"/>
              </a:lnSpc>
            </a:pPr>
            <a:r>
              <a:rPr lang="en-US" altLang="en-US"/>
              <a:t>Penalty Methods – General Idea</a:t>
            </a:r>
          </a:p>
        </p:txBody>
      </p:sp>
      <p:sp>
        <p:nvSpPr>
          <p:cNvPr id="4099" name="Rectangle 3">
            <a:extLst>
              <a:ext uri="{FF2B5EF4-FFF2-40B4-BE49-F238E27FC236}">
                <a16:creationId xmlns:a16="http://schemas.microsoft.com/office/drawing/2014/main" id="{D8001351-C5DA-FA19-D783-CECCF4A47043}"/>
              </a:ext>
            </a:extLst>
          </p:cNvPr>
          <p:cNvSpPr>
            <a:spLocks noChangeArrowheads="1"/>
          </p:cNvSpPr>
          <p:nvPr/>
        </p:nvSpPr>
        <p:spPr bwMode="auto">
          <a:xfrm>
            <a:off x="228600" y="228600"/>
            <a:ext cx="8686800" cy="64008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0" name="Rectangle 4">
            <a:extLst>
              <a:ext uri="{FF2B5EF4-FFF2-40B4-BE49-F238E27FC236}">
                <a16:creationId xmlns:a16="http://schemas.microsoft.com/office/drawing/2014/main" id="{D70C9339-5E5E-FA84-F0DF-4BC9431FFC5A}"/>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19</a:t>
            </a:r>
          </a:p>
        </p:txBody>
      </p:sp>
      <p:sp>
        <p:nvSpPr>
          <p:cNvPr id="125957" name="Rectangle 5">
            <a:extLst>
              <a:ext uri="{FF2B5EF4-FFF2-40B4-BE49-F238E27FC236}">
                <a16:creationId xmlns:a16="http://schemas.microsoft.com/office/drawing/2014/main" id="{B3368A52-7E1A-F2D7-A9B4-4BEB738637BD}"/>
              </a:ext>
            </a:extLst>
          </p:cNvPr>
          <p:cNvSpPr>
            <a:spLocks noGrp="1" noChangeArrowheads="1"/>
          </p:cNvSpPr>
          <p:nvPr>
            <p:ph type="body" idx="1"/>
          </p:nvPr>
        </p:nvSpPr>
        <p:spPr>
          <a:xfrm>
            <a:off x="381000" y="1295400"/>
            <a:ext cx="7772400" cy="3048000"/>
          </a:xfrm>
        </p:spPr>
        <p:txBody>
          <a:bodyPr>
            <a:normAutofit lnSpcReduction="10000"/>
          </a:bodyPr>
          <a:lstStyle/>
          <a:p>
            <a:pPr>
              <a:lnSpc>
                <a:spcPct val="90000"/>
              </a:lnSpc>
            </a:pPr>
            <a:r>
              <a:rPr lang="en-US" altLang="en-US" sz="3400"/>
              <a:t>Idea: instead of constraining the problem, add a term to the objective function which makes the function value worse as the constraint is more violated</a:t>
            </a:r>
          </a:p>
          <a:p>
            <a:pPr>
              <a:lnSpc>
                <a:spcPct val="90000"/>
              </a:lnSpc>
            </a:pPr>
            <a:r>
              <a:rPr lang="en-US" altLang="en-US" sz="3400"/>
              <a:t>So convert</a:t>
            </a:r>
          </a:p>
          <a:p>
            <a:pPr>
              <a:lnSpc>
                <a:spcPct val="90000"/>
              </a:lnSpc>
              <a:buFontTx/>
              <a:buNone/>
            </a:pPr>
            <a:r>
              <a:rPr lang="en-US" altLang="en-US" sz="3000"/>
              <a:t>		</a:t>
            </a:r>
          </a:p>
        </p:txBody>
      </p:sp>
      <p:graphicFrame>
        <p:nvGraphicFramePr>
          <p:cNvPr id="125986" name="Object 34">
            <a:extLst>
              <a:ext uri="{FF2B5EF4-FFF2-40B4-BE49-F238E27FC236}">
                <a16:creationId xmlns:a16="http://schemas.microsoft.com/office/drawing/2014/main" id="{E09B13F3-F45E-FFC2-58BC-6B47DD2D6F6B}"/>
              </a:ext>
            </a:extLst>
          </p:cNvPr>
          <p:cNvGraphicFramePr>
            <a:graphicFrameLocks noChangeAspect="1"/>
          </p:cNvGraphicFramePr>
          <p:nvPr/>
        </p:nvGraphicFramePr>
        <p:xfrm>
          <a:off x="1295400" y="3810000"/>
          <a:ext cx="7239000" cy="1660525"/>
        </p:xfrm>
        <a:graphic>
          <a:graphicData uri="http://schemas.openxmlformats.org/presentationml/2006/ole">
            <mc:AlternateContent xmlns:mc="http://schemas.openxmlformats.org/markup-compatibility/2006">
              <mc:Choice xmlns:v="urn:schemas-microsoft-com:vml" Requires="v">
                <p:oleObj name="Equation" r:id="rId2" imgW="3098800" imgH="711200" progId="Equation.3">
                  <p:embed/>
                </p:oleObj>
              </mc:Choice>
              <mc:Fallback>
                <p:oleObj name="Equation" r:id="rId2" imgW="3098800" imgH="711200" progId="Equation.3">
                  <p:embed/>
                  <p:pic>
                    <p:nvPicPr>
                      <p:cNvPr id="125986" name="Object 34">
                        <a:extLst>
                          <a:ext uri="{FF2B5EF4-FFF2-40B4-BE49-F238E27FC236}">
                            <a16:creationId xmlns:a16="http://schemas.microsoft.com/office/drawing/2014/main" id="{E09B13F3-F45E-FFC2-58BC-6B47DD2D6F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810000"/>
                        <a:ext cx="7239000" cy="166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87" name="Text Box 35">
            <a:extLst>
              <a:ext uri="{FF2B5EF4-FFF2-40B4-BE49-F238E27FC236}">
                <a16:creationId xmlns:a16="http://schemas.microsoft.com/office/drawing/2014/main" id="{ABD4127B-CB2E-59D5-D850-A58AB16E0220}"/>
              </a:ext>
            </a:extLst>
          </p:cNvPr>
          <p:cNvSpPr txBox="1">
            <a:spLocks noChangeArrowheads="1"/>
          </p:cNvSpPr>
          <p:nvPr/>
        </p:nvSpPr>
        <p:spPr bwMode="auto">
          <a:xfrm>
            <a:off x="715963" y="5410200"/>
            <a:ext cx="77120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000"/>
              <a:t>where </a:t>
            </a:r>
            <a:r>
              <a:rPr lang="en-US" altLang="en-US" sz="3000" i="1"/>
              <a:t>P</a:t>
            </a:r>
            <a:r>
              <a:rPr lang="en-US" altLang="en-US" sz="3000"/>
              <a:t> is a penalty function and </a:t>
            </a:r>
            <a:r>
              <a:rPr lang="en-US" altLang="en-US" sz="3000" i="1"/>
              <a:t>r</a:t>
            </a:r>
            <a:r>
              <a:rPr lang="en-US" altLang="en-US" sz="3000"/>
              <a:t> is a positive penalty parameter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5957">
                                            <p:txEl>
                                              <p:pRg st="0" end="0"/>
                                            </p:txEl>
                                          </p:spTgt>
                                        </p:tgtEl>
                                        <p:attrNameLst>
                                          <p:attrName>style.visibility</p:attrName>
                                        </p:attrNameLst>
                                      </p:cBhvr>
                                      <p:to>
                                        <p:strVal val="visible"/>
                                      </p:to>
                                    </p:set>
                                    <p:anim calcmode="lin" valueType="num">
                                      <p:cBhvr additive="base">
                                        <p:cTn id="7" dur="500" fill="hold"/>
                                        <p:tgtEl>
                                          <p:spTgt spid="1259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59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5957">
                                            <p:txEl>
                                              <p:pRg st="1" end="1"/>
                                            </p:txEl>
                                          </p:spTgt>
                                        </p:tgtEl>
                                        <p:attrNameLst>
                                          <p:attrName>style.visibility</p:attrName>
                                        </p:attrNameLst>
                                      </p:cBhvr>
                                      <p:to>
                                        <p:strVal val="visible"/>
                                      </p:to>
                                    </p:set>
                                    <p:anim calcmode="lin" valueType="num">
                                      <p:cBhvr additive="base">
                                        <p:cTn id="13" dur="500" fill="hold"/>
                                        <p:tgtEl>
                                          <p:spTgt spid="12595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595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5957">
                                            <p:txEl>
                                              <p:pRg st="2" end="2"/>
                                            </p:txEl>
                                          </p:spTgt>
                                        </p:tgtEl>
                                        <p:attrNameLst>
                                          <p:attrName>style.visibility</p:attrName>
                                        </p:attrNameLst>
                                      </p:cBhvr>
                                      <p:to>
                                        <p:strVal val="visible"/>
                                      </p:to>
                                    </p:set>
                                    <p:anim calcmode="lin" valueType="num">
                                      <p:cBhvr additive="base">
                                        <p:cTn id="19" dur="500" fill="hold"/>
                                        <p:tgtEl>
                                          <p:spTgt spid="12595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595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5986"/>
                                        </p:tgtEl>
                                        <p:attrNameLst>
                                          <p:attrName>style.visibility</p:attrName>
                                        </p:attrNameLst>
                                      </p:cBhvr>
                                      <p:to>
                                        <p:strVal val="visible"/>
                                      </p:to>
                                    </p:set>
                                    <p:anim calcmode="lin" valueType="num">
                                      <p:cBhvr additive="base">
                                        <p:cTn id="25" dur="500" fill="hold"/>
                                        <p:tgtEl>
                                          <p:spTgt spid="125986"/>
                                        </p:tgtEl>
                                        <p:attrNameLst>
                                          <p:attrName>ppt_x</p:attrName>
                                        </p:attrNameLst>
                                      </p:cBhvr>
                                      <p:tavLst>
                                        <p:tav tm="0">
                                          <p:val>
                                            <p:strVal val="0-#ppt_w/2"/>
                                          </p:val>
                                        </p:tav>
                                        <p:tav tm="100000">
                                          <p:val>
                                            <p:strVal val="#ppt_x"/>
                                          </p:val>
                                        </p:tav>
                                      </p:tavLst>
                                    </p:anim>
                                    <p:anim calcmode="lin" valueType="num">
                                      <p:cBhvr additive="base">
                                        <p:cTn id="26" dur="500" fill="hold"/>
                                        <p:tgtEl>
                                          <p:spTgt spid="12598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25987"/>
                                        </p:tgtEl>
                                        <p:attrNameLst>
                                          <p:attrName>style.visibility</p:attrName>
                                        </p:attrNameLst>
                                      </p:cBhvr>
                                      <p:to>
                                        <p:strVal val="visible"/>
                                      </p:to>
                                    </p:set>
                                    <p:anim calcmode="lin" valueType="num">
                                      <p:cBhvr additive="base">
                                        <p:cTn id="31" dur="500" fill="hold"/>
                                        <p:tgtEl>
                                          <p:spTgt spid="125987"/>
                                        </p:tgtEl>
                                        <p:attrNameLst>
                                          <p:attrName>ppt_x</p:attrName>
                                        </p:attrNameLst>
                                      </p:cBhvr>
                                      <p:tavLst>
                                        <p:tav tm="0">
                                          <p:val>
                                            <p:strVal val="0-#ppt_w/2"/>
                                          </p:val>
                                        </p:tav>
                                        <p:tav tm="100000">
                                          <p:val>
                                            <p:strVal val="#ppt_x"/>
                                          </p:val>
                                        </p:tav>
                                      </p:tavLst>
                                    </p:anim>
                                    <p:anim calcmode="lin" valueType="num">
                                      <p:cBhvr additive="base">
                                        <p:cTn id="32" dur="500" fill="hold"/>
                                        <p:tgtEl>
                                          <p:spTgt spid="1259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7" grpId="0" build="p" autoUpdateAnimBg="0"/>
      <p:bldP spid="125987"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E6BE92D-44B7-9293-FA98-1C865A81C45E}"/>
              </a:ext>
            </a:extLst>
          </p:cNvPr>
          <p:cNvSpPr>
            <a:spLocks noGrp="1" noChangeArrowheads="1"/>
          </p:cNvSpPr>
          <p:nvPr>
            <p:ph type="title"/>
          </p:nvPr>
        </p:nvSpPr>
        <p:spPr>
          <a:xfrm>
            <a:off x="533400" y="0"/>
            <a:ext cx="8077200" cy="1143000"/>
          </a:xfrm>
        </p:spPr>
        <p:txBody>
          <a:bodyPr/>
          <a:lstStyle/>
          <a:p>
            <a:pPr>
              <a:lnSpc>
                <a:spcPct val="80000"/>
              </a:lnSpc>
            </a:pPr>
            <a:r>
              <a:rPr lang="en-US" altLang="en-US" sz="3800"/>
              <a:t>Another Idea – the L</a:t>
            </a:r>
            <a:r>
              <a:rPr lang="en-US" altLang="en-US" sz="3800" baseline="-25000"/>
              <a:t>1</a:t>
            </a:r>
            <a:r>
              <a:rPr lang="en-US" altLang="en-US" sz="3800"/>
              <a:t> Penalty Function</a:t>
            </a:r>
          </a:p>
        </p:txBody>
      </p:sp>
      <p:sp>
        <p:nvSpPr>
          <p:cNvPr id="5123" name="Rectangle 3">
            <a:extLst>
              <a:ext uri="{FF2B5EF4-FFF2-40B4-BE49-F238E27FC236}">
                <a16:creationId xmlns:a16="http://schemas.microsoft.com/office/drawing/2014/main" id="{87B46545-AAA6-F4E0-5BD5-C4D28523DA00}"/>
              </a:ext>
            </a:extLst>
          </p:cNvPr>
          <p:cNvSpPr>
            <a:spLocks noChangeArrowheads="1"/>
          </p:cNvSpPr>
          <p:nvPr/>
        </p:nvSpPr>
        <p:spPr bwMode="auto">
          <a:xfrm>
            <a:off x="228600" y="152400"/>
            <a:ext cx="86868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5124" name="Rectangle 4">
            <a:extLst>
              <a:ext uri="{FF2B5EF4-FFF2-40B4-BE49-F238E27FC236}">
                <a16:creationId xmlns:a16="http://schemas.microsoft.com/office/drawing/2014/main" id="{DAFBB380-6713-2BE1-274B-C2AFB9A8D911}"/>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19</a:t>
            </a:r>
          </a:p>
        </p:txBody>
      </p:sp>
      <p:sp>
        <p:nvSpPr>
          <p:cNvPr id="133133" name="Rectangle 13">
            <a:extLst>
              <a:ext uri="{FF2B5EF4-FFF2-40B4-BE49-F238E27FC236}">
                <a16:creationId xmlns:a16="http://schemas.microsoft.com/office/drawing/2014/main" id="{4BE4EA25-B1E5-DCA0-0351-B19147CF47F3}"/>
              </a:ext>
            </a:extLst>
          </p:cNvPr>
          <p:cNvSpPr>
            <a:spLocks noGrp="1" noChangeArrowheads="1"/>
          </p:cNvSpPr>
          <p:nvPr>
            <p:ph type="body" idx="1"/>
          </p:nvPr>
        </p:nvSpPr>
        <p:spPr>
          <a:xfrm>
            <a:off x="685800" y="990600"/>
            <a:ext cx="7772400" cy="4114800"/>
          </a:xfrm>
        </p:spPr>
        <p:txBody>
          <a:bodyPr/>
          <a:lstStyle/>
          <a:p>
            <a:r>
              <a:rPr lang="en-US" altLang="en-US"/>
              <a:t>So the original penalty function gives an ill-conditioned matrix as soon as </a:t>
            </a:r>
            <a:r>
              <a:rPr lang="en-US" altLang="en-US" i="1"/>
              <a:t>r</a:t>
            </a:r>
            <a:r>
              <a:rPr lang="en-US" altLang="en-US"/>
              <a:t> gets large enough to help solve the constrained NLP.  Can we use a different function?</a:t>
            </a:r>
          </a:p>
          <a:p>
            <a:r>
              <a:rPr lang="en-US" altLang="en-US"/>
              <a:t>The L</a:t>
            </a:r>
            <a:r>
              <a:rPr lang="en-US" altLang="en-US" baseline="-25000"/>
              <a:t>1</a:t>
            </a:r>
            <a:r>
              <a:rPr lang="en-US" altLang="en-US"/>
              <a:t> penalty function replaces the </a:t>
            </a:r>
            <a:r>
              <a:rPr lang="en-US" altLang="en-US" i="1"/>
              <a:t>r </a:t>
            </a:r>
            <a:r>
              <a:rPr lang="en-US" altLang="en-US"/>
              <a:t>with finite weights, and avoids squaring the constraint:</a:t>
            </a:r>
          </a:p>
        </p:txBody>
      </p:sp>
      <p:graphicFrame>
        <p:nvGraphicFramePr>
          <p:cNvPr id="133134" name="Object 14">
            <a:extLst>
              <a:ext uri="{FF2B5EF4-FFF2-40B4-BE49-F238E27FC236}">
                <a16:creationId xmlns:a16="http://schemas.microsoft.com/office/drawing/2014/main" id="{3A30F04D-AE2E-AA92-907C-0087AB5FF34A}"/>
              </a:ext>
            </a:extLst>
          </p:cNvPr>
          <p:cNvGraphicFramePr>
            <a:graphicFrameLocks noChangeAspect="1"/>
          </p:cNvGraphicFramePr>
          <p:nvPr/>
        </p:nvGraphicFramePr>
        <p:xfrm>
          <a:off x="1066800" y="4495800"/>
          <a:ext cx="7010400" cy="1758950"/>
        </p:xfrm>
        <a:graphic>
          <a:graphicData uri="http://schemas.openxmlformats.org/presentationml/2006/ole">
            <mc:AlternateContent xmlns:mc="http://schemas.openxmlformats.org/markup-compatibility/2006">
              <mc:Choice xmlns:v="urn:schemas-microsoft-com:vml" Requires="v">
                <p:oleObj name="Equation" r:id="rId2" imgW="3035300" imgH="762000" progId="Equation.3">
                  <p:embed/>
                </p:oleObj>
              </mc:Choice>
              <mc:Fallback>
                <p:oleObj name="Equation" r:id="rId2" imgW="3035300" imgH="762000" progId="Equation.3">
                  <p:embed/>
                  <p:pic>
                    <p:nvPicPr>
                      <p:cNvPr id="133134" name="Object 14">
                        <a:extLst>
                          <a:ext uri="{FF2B5EF4-FFF2-40B4-BE49-F238E27FC236}">
                            <a16:creationId xmlns:a16="http://schemas.microsoft.com/office/drawing/2014/main" id="{3A30F04D-AE2E-AA92-907C-0087AB5FF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4495800"/>
                        <a:ext cx="7010400" cy="175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3133">
                                            <p:txEl>
                                              <p:pRg st="0" end="0"/>
                                            </p:txEl>
                                          </p:spTgt>
                                        </p:tgtEl>
                                        <p:attrNameLst>
                                          <p:attrName>style.visibility</p:attrName>
                                        </p:attrNameLst>
                                      </p:cBhvr>
                                      <p:to>
                                        <p:strVal val="visible"/>
                                      </p:to>
                                    </p:set>
                                    <p:anim calcmode="lin" valueType="num">
                                      <p:cBhvr additive="base">
                                        <p:cTn id="7" dur="500" fill="hold"/>
                                        <p:tgtEl>
                                          <p:spTgt spid="13313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313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3133">
                                            <p:txEl>
                                              <p:pRg st="1" end="1"/>
                                            </p:txEl>
                                          </p:spTgt>
                                        </p:tgtEl>
                                        <p:attrNameLst>
                                          <p:attrName>style.visibility</p:attrName>
                                        </p:attrNameLst>
                                      </p:cBhvr>
                                      <p:to>
                                        <p:strVal val="visible"/>
                                      </p:to>
                                    </p:set>
                                    <p:anim calcmode="lin" valueType="num">
                                      <p:cBhvr additive="base">
                                        <p:cTn id="13" dur="500" fill="hold"/>
                                        <p:tgtEl>
                                          <p:spTgt spid="13313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3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3134"/>
                                        </p:tgtEl>
                                        <p:attrNameLst>
                                          <p:attrName>style.visibility</p:attrName>
                                        </p:attrNameLst>
                                      </p:cBhvr>
                                      <p:to>
                                        <p:strVal val="visible"/>
                                      </p:to>
                                    </p:set>
                                    <p:anim calcmode="lin" valueType="num">
                                      <p:cBhvr additive="base">
                                        <p:cTn id="19" dur="500" fill="hold"/>
                                        <p:tgtEl>
                                          <p:spTgt spid="133134"/>
                                        </p:tgtEl>
                                        <p:attrNameLst>
                                          <p:attrName>ppt_x</p:attrName>
                                        </p:attrNameLst>
                                      </p:cBhvr>
                                      <p:tavLst>
                                        <p:tav tm="0">
                                          <p:val>
                                            <p:strVal val="0-#ppt_w/2"/>
                                          </p:val>
                                        </p:tav>
                                        <p:tav tm="100000">
                                          <p:val>
                                            <p:strVal val="#ppt_x"/>
                                          </p:val>
                                        </p:tav>
                                      </p:tavLst>
                                    </p:anim>
                                    <p:anim calcmode="lin" valueType="num">
                                      <p:cBhvr additive="base">
                                        <p:cTn id="20" dur="500" fill="hold"/>
                                        <p:tgtEl>
                                          <p:spTgt spid="1331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33"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CA4ED15-AACF-AB02-6335-075BD6B21CB2}"/>
              </a:ext>
            </a:extLst>
          </p:cNvPr>
          <p:cNvSpPr>
            <a:spLocks noGrp="1" noChangeArrowheads="1"/>
          </p:cNvSpPr>
          <p:nvPr>
            <p:ph type="title"/>
          </p:nvPr>
        </p:nvSpPr>
        <p:spPr>
          <a:xfrm>
            <a:off x="533400" y="0"/>
            <a:ext cx="8077200" cy="1143000"/>
          </a:xfrm>
        </p:spPr>
        <p:txBody>
          <a:bodyPr/>
          <a:lstStyle/>
          <a:p>
            <a:pPr>
              <a:lnSpc>
                <a:spcPct val="80000"/>
              </a:lnSpc>
            </a:pPr>
            <a:r>
              <a:rPr lang="en-US" altLang="en-US" sz="3800"/>
              <a:t>The L</a:t>
            </a:r>
            <a:r>
              <a:rPr lang="en-US" altLang="en-US" sz="3800" baseline="-25000"/>
              <a:t>1</a:t>
            </a:r>
            <a:r>
              <a:rPr lang="en-US" altLang="en-US" sz="3800"/>
              <a:t> Penalty Function</a:t>
            </a:r>
          </a:p>
        </p:txBody>
      </p:sp>
      <p:sp>
        <p:nvSpPr>
          <p:cNvPr id="6147" name="Rectangle 3">
            <a:extLst>
              <a:ext uri="{FF2B5EF4-FFF2-40B4-BE49-F238E27FC236}">
                <a16:creationId xmlns:a16="http://schemas.microsoft.com/office/drawing/2014/main" id="{01FEFE5E-B852-979E-DC52-3AA3528A7EFC}"/>
              </a:ext>
            </a:extLst>
          </p:cNvPr>
          <p:cNvSpPr>
            <a:spLocks noChangeArrowheads="1"/>
          </p:cNvSpPr>
          <p:nvPr/>
        </p:nvSpPr>
        <p:spPr bwMode="auto">
          <a:xfrm>
            <a:off x="228600" y="152400"/>
            <a:ext cx="86868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48" name="Rectangle 4">
            <a:extLst>
              <a:ext uri="{FF2B5EF4-FFF2-40B4-BE49-F238E27FC236}">
                <a16:creationId xmlns:a16="http://schemas.microsoft.com/office/drawing/2014/main" id="{CE03E18A-9472-0A20-4A17-CFEEF31B1807}"/>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19</a:t>
            </a:r>
          </a:p>
        </p:txBody>
      </p:sp>
      <p:sp>
        <p:nvSpPr>
          <p:cNvPr id="138245" name="Rectangle 5">
            <a:extLst>
              <a:ext uri="{FF2B5EF4-FFF2-40B4-BE49-F238E27FC236}">
                <a16:creationId xmlns:a16="http://schemas.microsoft.com/office/drawing/2014/main" id="{98445FE9-A7F0-682B-C109-6B92C49638AD}"/>
              </a:ext>
            </a:extLst>
          </p:cNvPr>
          <p:cNvSpPr>
            <a:spLocks noGrp="1" noChangeArrowheads="1"/>
          </p:cNvSpPr>
          <p:nvPr>
            <p:ph type="body" idx="1"/>
          </p:nvPr>
        </p:nvSpPr>
        <p:spPr>
          <a:xfrm>
            <a:off x="685800" y="1066800"/>
            <a:ext cx="7772400" cy="4800600"/>
          </a:xfrm>
        </p:spPr>
        <p:txBody>
          <a:bodyPr/>
          <a:lstStyle/>
          <a:p>
            <a:pPr>
              <a:lnSpc>
                <a:spcPct val="90000"/>
              </a:lnSpc>
            </a:pPr>
            <a:r>
              <a:rPr lang="en-US" altLang="en-US"/>
              <a:t>Advantages:</a:t>
            </a:r>
          </a:p>
          <a:p>
            <a:pPr lvl="1">
              <a:lnSpc>
                <a:spcPct val="90000"/>
              </a:lnSpc>
            </a:pPr>
            <a:r>
              <a:rPr lang="en-US" altLang="en-US"/>
              <a:t>Works for large but finite values of the weighting parameters</a:t>
            </a:r>
          </a:p>
          <a:p>
            <a:pPr lvl="1">
              <a:lnSpc>
                <a:spcPct val="90000"/>
              </a:lnSpc>
              <a:buFontTx/>
              <a:buNone/>
            </a:pPr>
            <a:endParaRPr lang="en-US" altLang="en-US"/>
          </a:p>
          <a:p>
            <a:pPr>
              <a:lnSpc>
                <a:spcPct val="90000"/>
              </a:lnSpc>
            </a:pPr>
            <a:r>
              <a:rPr lang="en-US" altLang="en-US"/>
              <a:t>Disadvantages:</a:t>
            </a:r>
          </a:p>
          <a:p>
            <a:pPr lvl="1">
              <a:lnSpc>
                <a:spcPct val="90000"/>
              </a:lnSpc>
            </a:pPr>
            <a:r>
              <a:rPr lang="en-US" altLang="en-US"/>
              <a:t>Discontinuous at </a:t>
            </a:r>
            <a:r>
              <a:rPr lang="en-US" altLang="en-US" i="1"/>
              <a:t>h</a:t>
            </a:r>
            <a:r>
              <a:rPr lang="en-US" altLang="en-US" i="1" baseline="-25000"/>
              <a:t>i</a:t>
            </a:r>
            <a:r>
              <a:rPr lang="en-US" altLang="en-US"/>
              <a:t>(</a:t>
            </a:r>
            <a:r>
              <a:rPr lang="en-US" altLang="en-US" i="1"/>
              <a:t>x</a:t>
            </a:r>
            <a:r>
              <a:rPr lang="en-US" altLang="en-US"/>
              <a:t>)</a:t>
            </a:r>
            <a:r>
              <a:rPr lang="en-US" altLang="en-US" i="1"/>
              <a:t>=</a:t>
            </a:r>
            <a:r>
              <a:rPr lang="en-US" altLang="en-US"/>
              <a:t>0, so taking derivatives may not be possible at that important point</a:t>
            </a:r>
          </a:p>
          <a:p>
            <a:pPr lvl="1">
              <a:lnSpc>
                <a:spcPct val="90000"/>
              </a:lnSpc>
            </a:pPr>
            <a:r>
              <a:rPr lang="en-US" altLang="en-US"/>
              <a:t>What type of solutions are obtained in the intermediate steps leading to the optimum?</a:t>
            </a:r>
          </a:p>
          <a:p>
            <a:pPr lvl="1">
              <a:lnSpc>
                <a:spcPct val="90000"/>
              </a:lnSpc>
              <a:buFontTx/>
              <a:buNone/>
            </a:pPr>
            <a:r>
              <a:rPr lang="en-US" altLang="en-US"/>
              <a:t>Infeasible ones!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8245">
                                            <p:txEl>
                                              <p:pRg st="0" end="0"/>
                                            </p:txEl>
                                          </p:spTgt>
                                        </p:tgtEl>
                                        <p:attrNameLst>
                                          <p:attrName>style.visibility</p:attrName>
                                        </p:attrNameLst>
                                      </p:cBhvr>
                                      <p:to>
                                        <p:strVal val="visible"/>
                                      </p:to>
                                    </p:set>
                                    <p:anim calcmode="lin" valueType="num">
                                      <p:cBhvr additive="base">
                                        <p:cTn id="7" dur="500" fill="hold"/>
                                        <p:tgtEl>
                                          <p:spTgt spid="13824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824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8245">
                                            <p:txEl>
                                              <p:pRg st="1" end="1"/>
                                            </p:txEl>
                                          </p:spTgt>
                                        </p:tgtEl>
                                        <p:attrNameLst>
                                          <p:attrName>style.visibility</p:attrName>
                                        </p:attrNameLst>
                                      </p:cBhvr>
                                      <p:to>
                                        <p:strVal val="visible"/>
                                      </p:to>
                                    </p:set>
                                    <p:anim calcmode="lin" valueType="num">
                                      <p:cBhvr additive="base">
                                        <p:cTn id="13" dur="500" fill="hold"/>
                                        <p:tgtEl>
                                          <p:spTgt spid="13824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824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8245">
                                            <p:txEl>
                                              <p:pRg st="3" end="3"/>
                                            </p:txEl>
                                          </p:spTgt>
                                        </p:tgtEl>
                                        <p:attrNameLst>
                                          <p:attrName>style.visibility</p:attrName>
                                        </p:attrNameLst>
                                      </p:cBhvr>
                                      <p:to>
                                        <p:strVal val="visible"/>
                                      </p:to>
                                    </p:set>
                                    <p:anim calcmode="lin" valueType="num">
                                      <p:cBhvr additive="base">
                                        <p:cTn id="19" dur="500" fill="hold"/>
                                        <p:tgtEl>
                                          <p:spTgt spid="13824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824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8245">
                                            <p:txEl>
                                              <p:pRg st="4" end="4"/>
                                            </p:txEl>
                                          </p:spTgt>
                                        </p:tgtEl>
                                        <p:attrNameLst>
                                          <p:attrName>style.visibility</p:attrName>
                                        </p:attrNameLst>
                                      </p:cBhvr>
                                      <p:to>
                                        <p:strVal val="visible"/>
                                      </p:to>
                                    </p:set>
                                    <p:anim calcmode="lin" valueType="num">
                                      <p:cBhvr additive="base">
                                        <p:cTn id="25" dur="500" fill="hold"/>
                                        <p:tgtEl>
                                          <p:spTgt spid="13824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824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38245">
                                            <p:txEl>
                                              <p:pRg st="5" end="5"/>
                                            </p:txEl>
                                          </p:spTgt>
                                        </p:tgtEl>
                                        <p:attrNameLst>
                                          <p:attrName>style.visibility</p:attrName>
                                        </p:attrNameLst>
                                      </p:cBhvr>
                                      <p:to>
                                        <p:strVal val="visible"/>
                                      </p:to>
                                    </p:set>
                                    <p:anim calcmode="lin" valueType="num">
                                      <p:cBhvr additive="base">
                                        <p:cTn id="31" dur="500" fill="hold"/>
                                        <p:tgtEl>
                                          <p:spTgt spid="13824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824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38245">
                                            <p:txEl>
                                              <p:pRg st="6" end="6"/>
                                            </p:txEl>
                                          </p:spTgt>
                                        </p:tgtEl>
                                        <p:attrNameLst>
                                          <p:attrName>style.visibility</p:attrName>
                                        </p:attrNameLst>
                                      </p:cBhvr>
                                      <p:to>
                                        <p:strVal val="visible"/>
                                      </p:to>
                                    </p:set>
                                    <p:anim calcmode="lin" valueType="num">
                                      <p:cBhvr additive="base">
                                        <p:cTn id="37" dur="500" fill="hold"/>
                                        <p:tgtEl>
                                          <p:spTgt spid="138245">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3824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5" grpId="0" build="p" bldLvl="2"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6AD1AA7-5E13-6421-ABB9-44B4B8087D95}"/>
              </a:ext>
            </a:extLst>
          </p:cNvPr>
          <p:cNvSpPr>
            <a:spLocks noGrp="1" noChangeArrowheads="1"/>
          </p:cNvSpPr>
          <p:nvPr>
            <p:ph type="title"/>
          </p:nvPr>
        </p:nvSpPr>
        <p:spPr>
          <a:xfrm>
            <a:off x="457200" y="0"/>
            <a:ext cx="8153400" cy="1143000"/>
          </a:xfrm>
        </p:spPr>
        <p:txBody>
          <a:bodyPr/>
          <a:lstStyle/>
          <a:p>
            <a:pPr>
              <a:lnSpc>
                <a:spcPct val="80000"/>
              </a:lnSpc>
            </a:pPr>
            <a:r>
              <a:rPr lang="en-US" altLang="en-US" sz="4600"/>
              <a:t>Infeasible Intermediate Solutions</a:t>
            </a:r>
          </a:p>
        </p:txBody>
      </p:sp>
      <p:sp>
        <p:nvSpPr>
          <p:cNvPr id="7171" name="Rectangle 3">
            <a:extLst>
              <a:ext uri="{FF2B5EF4-FFF2-40B4-BE49-F238E27FC236}">
                <a16:creationId xmlns:a16="http://schemas.microsoft.com/office/drawing/2014/main" id="{A59A88D6-E01B-0785-A826-C4B04EAAC3F0}"/>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72" name="Rectangle 4">
            <a:extLst>
              <a:ext uri="{FF2B5EF4-FFF2-40B4-BE49-F238E27FC236}">
                <a16:creationId xmlns:a16="http://schemas.microsoft.com/office/drawing/2014/main" id="{A68CE7A5-DBA2-E70D-F736-A95881F58C36}"/>
              </a:ext>
            </a:extLst>
          </p:cNvPr>
          <p:cNvSpPr>
            <a:spLocks noChangeArrowheads="1"/>
          </p:cNvSpPr>
          <p:nvPr/>
        </p:nvSpPr>
        <p:spPr bwMode="auto">
          <a:xfrm>
            <a:off x="65532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19</a:t>
            </a:r>
          </a:p>
        </p:txBody>
      </p:sp>
      <p:sp>
        <p:nvSpPr>
          <p:cNvPr id="7173" name="Text Box 5">
            <a:extLst>
              <a:ext uri="{FF2B5EF4-FFF2-40B4-BE49-F238E27FC236}">
                <a16:creationId xmlns:a16="http://schemas.microsoft.com/office/drawing/2014/main" id="{6AD7B52E-8182-DCBE-C182-449FF7CED3E8}"/>
              </a:ext>
            </a:extLst>
          </p:cNvPr>
          <p:cNvSpPr txBox="1">
            <a:spLocks noChangeArrowheads="1"/>
          </p:cNvSpPr>
          <p:nvPr/>
        </p:nvSpPr>
        <p:spPr bwMode="auto">
          <a:xfrm>
            <a:off x="304800" y="914400"/>
            <a:ext cx="7924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Why do we care about the feasibility of intermediate points? </a:t>
            </a:r>
          </a:p>
        </p:txBody>
      </p:sp>
      <p:grpSp>
        <p:nvGrpSpPr>
          <p:cNvPr id="7174" name="Group 61">
            <a:extLst>
              <a:ext uri="{FF2B5EF4-FFF2-40B4-BE49-F238E27FC236}">
                <a16:creationId xmlns:a16="http://schemas.microsoft.com/office/drawing/2014/main" id="{78431D6E-02D0-1A7A-8584-C6BDCCE12203}"/>
              </a:ext>
            </a:extLst>
          </p:cNvPr>
          <p:cNvGrpSpPr>
            <a:grpSpLocks/>
          </p:cNvGrpSpPr>
          <p:nvPr/>
        </p:nvGrpSpPr>
        <p:grpSpPr bwMode="auto">
          <a:xfrm>
            <a:off x="2819400" y="1600200"/>
            <a:ext cx="5029200" cy="3352800"/>
            <a:chOff x="2064" y="1776"/>
            <a:chExt cx="3168" cy="2112"/>
          </a:xfrm>
        </p:grpSpPr>
        <p:sp>
          <p:nvSpPr>
            <p:cNvPr id="7180" name="Line 8">
              <a:extLst>
                <a:ext uri="{FF2B5EF4-FFF2-40B4-BE49-F238E27FC236}">
                  <a16:creationId xmlns:a16="http://schemas.microsoft.com/office/drawing/2014/main" id="{E120F228-89AD-4A8F-333C-BF0C32F00C69}"/>
                </a:ext>
              </a:extLst>
            </p:cNvPr>
            <p:cNvSpPr>
              <a:spLocks noChangeShapeType="1"/>
            </p:cNvSpPr>
            <p:nvPr/>
          </p:nvSpPr>
          <p:spPr bwMode="auto">
            <a:xfrm flipV="1">
              <a:off x="2880" y="1776"/>
              <a:ext cx="0" cy="211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81" name="Line 9">
              <a:extLst>
                <a:ext uri="{FF2B5EF4-FFF2-40B4-BE49-F238E27FC236}">
                  <a16:creationId xmlns:a16="http://schemas.microsoft.com/office/drawing/2014/main" id="{BC9DE846-E0C8-0F06-AAB1-7226583841E7}"/>
                </a:ext>
              </a:extLst>
            </p:cNvPr>
            <p:cNvSpPr>
              <a:spLocks noChangeShapeType="1"/>
            </p:cNvSpPr>
            <p:nvPr/>
          </p:nvSpPr>
          <p:spPr bwMode="auto">
            <a:xfrm>
              <a:off x="2064" y="2832"/>
              <a:ext cx="316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34204" name="Text Box 60">
            <a:extLst>
              <a:ext uri="{FF2B5EF4-FFF2-40B4-BE49-F238E27FC236}">
                <a16:creationId xmlns:a16="http://schemas.microsoft.com/office/drawing/2014/main" id="{FC177194-3F3D-B633-A014-6B157D19247C}"/>
              </a:ext>
            </a:extLst>
          </p:cNvPr>
          <p:cNvSpPr txBox="1">
            <a:spLocks noChangeArrowheads="1"/>
          </p:cNvSpPr>
          <p:nvPr/>
        </p:nvSpPr>
        <p:spPr bwMode="auto">
          <a:xfrm>
            <a:off x="381000" y="4953000"/>
            <a:ext cx="82296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sz="2800"/>
              <a:t> If we never do find the optimum of a large NLP, we might choose to run at a nonoptimal, feasible point.  This cannot be done if intermediate solutions are infeasible</a:t>
            </a:r>
          </a:p>
        </p:txBody>
      </p:sp>
      <p:sp>
        <p:nvSpPr>
          <p:cNvPr id="7176" name="Freeform 62">
            <a:extLst>
              <a:ext uri="{FF2B5EF4-FFF2-40B4-BE49-F238E27FC236}">
                <a16:creationId xmlns:a16="http://schemas.microsoft.com/office/drawing/2014/main" id="{AECCEAB6-79E7-FFEA-D0AD-2D48DC4C54DE}"/>
              </a:ext>
            </a:extLst>
          </p:cNvPr>
          <p:cNvSpPr>
            <a:spLocks/>
          </p:cNvSpPr>
          <p:nvPr/>
        </p:nvSpPr>
        <p:spPr bwMode="auto">
          <a:xfrm>
            <a:off x="4572000" y="1752600"/>
            <a:ext cx="2863850" cy="2778125"/>
          </a:xfrm>
          <a:custGeom>
            <a:avLst/>
            <a:gdLst>
              <a:gd name="T0" fmla="*/ 2147483646 w 1804"/>
              <a:gd name="T1" fmla="*/ 2147483646 h 1750"/>
              <a:gd name="T2" fmla="*/ 2147483646 w 1804"/>
              <a:gd name="T3" fmla="*/ 2147483646 h 1750"/>
              <a:gd name="T4" fmla="*/ 2147483646 w 1804"/>
              <a:gd name="T5" fmla="*/ 2147483646 h 1750"/>
              <a:gd name="T6" fmla="*/ 2147483646 w 1804"/>
              <a:gd name="T7" fmla="*/ 2147483646 h 1750"/>
              <a:gd name="T8" fmla="*/ 2147483646 w 1804"/>
              <a:gd name="T9" fmla="*/ 2147483646 h 1750"/>
              <a:gd name="T10" fmla="*/ 2147483646 w 1804"/>
              <a:gd name="T11" fmla="*/ 2147483646 h 1750"/>
              <a:gd name="T12" fmla="*/ 2147483646 w 1804"/>
              <a:gd name="T13" fmla="*/ 2147483646 h 1750"/>
              <a:gd name="T14" fmla="*/ 2147483646 w 1804"/>
              <a:gd name="T15" fmla="*/ 2147483646 h 1750"/>
              <a:gd name="T16" fmla="*/ 2147483646 w 1804"/>
              <a:gd name="T17" fmla="*/ 2147483646 h 1750"/>
              <a:gd name="T18" fmla="*/ 2147483646 w 1804"/>
              <a:gd name="T19" fmla="*/ 2147483646 h 1750"/>
              <a:gd name="T20" fmla="*/ 2147483646 w 1804"/>
              <a:gd name="T21" fmla="*/ 0 h 1750"/>
              <a:gd name="T22" fmla="*/ 2147483646 w 1804"/>
              <a:gd name="T23" fmla="*/ 2147483646 h 1750"/>
              <a:gd name="T24" fmla="*/ 2147483646 w 1804"/>
              <a:gd name="T25" fmla="*/ 2147483646 h 1750"/>
              <a:gd name="T26" fmla="*/ 2147483646 w 1804"/>
              <a:gd name="T27" fmla="*/ 2147483646 h 1750"/>
              <a:gd name="T28" fmla="*/ 2147483646 w 1804"/>
              <a:gd name="T29" fmla="*/ 2147483646 h 1750"/>
              <a:gd name="T30" fmla="*/ 2147483646 w 1804"/>
              <a:gd name="T31" fmla="*/ 2147483646 h 1750"/>
              <a:gd name="T32" fmla="*/ 2147483646 w 1804"/>
              <a:gd name="T33" fmla="*/ 2147483646 h 1750"/>
              <a:gd name="T34" fmla="*/ 2147483646 w 1804"/>
              <a:gd name="T35" fmla="*/ 2147483646 h 1750"/>
              <a:gd name="T36" fmla="*/ 2147483646 w 1804"/>
              <a:gd name="T37" fmla="*/ 2147483646 h 1750"/>
              <a:gd name="T38" fmla="*/ 2147483646 w 1804"/>
              <a:gd name="T39" fmla="*/ 2147483646 h 1750"/>
              <a:gd name="T40" fmla="*/ 2147483646 w 1804"/>
              <a:gd name="T41" fmla="*/ 2147483646 h 1750"/>
              <a:gd name="T42" fmla="*/ 2147483646 w 1804"/>
              <a:gd name="T43" fmla="*/ 2147483646 h 1750"/>
              <a:gd name="T44" fmla="*/ 2147483646 w 1804"/>
              <a:gd name="T45" fmla="*/ 2147483646 h 1750"/>
              <a:gd name="T46" fmla="*/ 2147483646 w 1804"/>
              <a:gd name="T47" fmla="*/ 2147483646 h 1750"/>
              <a:gd name="T48" fmla="*/ 2147483646 w 1804"/>
              <a:gd name="T49" fmla="*/ 2147483646 h 1750"/>
              <a:gd name="T50" fmla="*/ 2147483646 w 1804"/>
              <a:gd name="T51" fmla="*/ 2147483646 h 1750"/>
              <a:gd name="T52" fmla="*/ 2147483646 w 1804"/>
              <a:gd name="T53" fmla="*/ 2147483646 h 1750"/>
              <a:gd name="T54" fmla="*/ 2147483646 w 1804"/>
              <a:gd name="T55" fmla="*/ 2147483646 h 1750"/>
              <a:gd name="T56" fmla="*/ 2147483646 w 1804"/>
              <a:gd name="T57" fmla="*/ 2147483646 h 1750"/>
              <a:gd name="T58" fmla="*/ 2147483646 w 1804"/>
              <a:gd name="T59" fmla="*/ 2147483646 h 1750"/>
              <a:gd name="T60" fmla="*/ 2147483646 w 1804"/>
              <a:gd name="T61" fmla="*/ 2147483646 h 1750"/>
              <a:gd name="T62" fmla="*/ 2147483646 w 1804"/>
              <a:gd name="T63" fmla="*/ 2147483646 h 1750"/>
              <a:gd name="T64" fmla="*/ 2147483646 w 1804"/>
              <a:gd name="T65" fmla="*/ 2147483646 h 1750"/>
              <a:gd name="T66" fmla="*/ 2147483646 w 1804"/>
              <a:gd name="T67" fmla="*/ 2147483646 h 1750"/>
              <a:gd name="T68" fmla="*/ 2147483646 w 1804"/>
              <a:gd name="T69" fmla="*/ 2147483646 h 1750"/>
              <a:gd name="T70" fmla="*/ 2147483646 w 1804"/>
              <a:gd name="T71" fmla="*/ 2147483646 h 1750"/>
              <a:gd name="T72" fmla="*/ 2147483646 w 1804"/>
              <a:gd name="T73" fmla="*/ 2147483646 h 175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04"/>
              <a:gd name="T112" fmla="*/ 0 h 1750"/>
              <a:gd name="T113" fmla="*/ 1804 w 1804"/>
              <a:gd name="T114" fmla="*/ 1750 h 175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04" h="1750">
                <a:moveTo>
                  <a:pt x="17" y="1320"/>
                </a:moveTo>
                <a:cubicBezTo>
                  <a:pt x="33" y="1204"/>
                  <a:pt x="95" y="1045"/>
                  <a:pt x="163" y="948"/>
                </a:cubicBezTo>
                <a:cubicBezTo>
                  <a:pt x="178" y="868"/>
                  <a:pt x="197" y="861"/>
                  <a:pt x="243" y="788"/>
                </a:cubicBezTo>
                <a:cubicBezTo>
                  <a:pt x="261" y="760"/>
                  <a:pt x="271" y="729"/>
                  <a:pt x="287" y="700"/>
                </a:cubicBezTo>
                <a:cubicBezTo>
                  <a:pt x="359" y="572"/>
                  <a:pt x="444" y="450"/>
                  <a:pt x="535" y="336"/>
                </a:cubicBezTo>
                <a:cubicBezTo>
                  <a:pt x="540" y="316"/>
                  <a:pt x="537" y="293"/>
                  <a:pt x="550" y="277"/>
                </a:cubicBezTo>
                <a:cubicBezTo>
                  <a:pt x="559" y="265"/>
                  <a:pt x="584" y="275"/>
                  <a:pt x="593" y="263"/>
                </a:cubicBezTo>
                <a:cubicBezTo>
                  <a:pt x="606" y="247"/>
                  <a:pt x="597" y="222"/>
                  <a:pt x="608" y="205"/>
                </a:cubicBezTo>
                <a:cubicBezTo>
                  <a:pt x="623" y="182"/>
                  <a:pt x="649" y="168"/>
                  <a:pt x="666" y="146"/>
                </a:cubicBezTo>
                <a:cubicBezTo>
                  <a:pt x="679" y="129"/>
                  <a:pt x="683" y="105"/>
                  <a:pt x="696" y="88"/>
                </a:cubicBezTo>
                <a:cubicBezTo>
                  <a:pt x="749" y="19"/>
                  <a:pt x="758" y="25"/>
                  <a:pt x="827" y="0"/>
                </a:cubicBezTo>
                <a:cubicBezTo>
                  <a:pt x="977" y="21"/>
                  <a:pt x="961" y="54"/>
                  <a:pt x="1075" y="205"/>
                </a:cubicBezTo>
                <a:cubicBezTo>
                  <a:pt x="1105" y="296"/>
                  <a:pt x="1225" y="407"/>
                  <a:pt x="1293" y="474"/>
                </a:cubicBezTo>
                <a:cubicBezTo>
                  <a:pt x="1303" y="484"/>
                  <a:pt x="1313" y="493"/>
                  <a:pt x="1323" y="503"/>
                </a:cubicBezTo>
                <a:cubicBezTo>
                  <a:pt x="1338" y="518"/>
                  <a:pt x="1352" y="532"/>
                  <a:pt x="1366" y="547"/>
                </a:cubicBezTo>
                <a:cubicBezTo>
                  <a:pt x="1381" y="562"/>
                  <a:pt x="1410" y="591"/>
                  <a:pt x="1410" y="591"/>
                </a:cubicBezTo>
                <a:cubicBezTo>
                  <a:pt x="1446" y="696"/>
                  <a:pt x="1395" y="569"/>
                  <a:pt x="1468" y="678"/>
                </a:cubicBezTo>
                <a:cubicBezTo>
                  <a:pt x="1477" y="691"/>
                  <a:pt x="1474" y="709"/>
                  <a:pt x="1483" y="722"/>
                </a:cubicBezTo>
                <a:cubicBezTo>
                  <a:pt x="1525" y="784"/>
                  <a:pt x="1596" y="841"/>
                  <a:pt x="1651" y="890"/>
                </a:cubicBezTo>
                <a:cubicBezTo>
                  <a:pt x="1681" y="980"/>
                  <a:pt x="1722" y="1063"/>
                  <a:pt x="1753" y="1152"/>
                </a:cubicBezTo>
                <a:cubicBezTo>
                  <a:pt x="1771" y="1206"/>
                  <a:pt x="1785" y="1260"/>
                  <a:pt x="1804" y="1313"/>
                </a:cubicBezTo>
                <a:cubicBezTo>
                  <a:pt x="1792" y="1345"/>
                  <a:pt x="1771" y="1371"/>
                  <a:pt x="1753" y="1400"/>
                </a:cubicBezTo>
                <a:cubicBezTo>
                  <a:pt x="1729" y="1480"/>
                  <a:pt x="1683" y="1526"/>
                  <a:pt x="1629" y="1590"/>
                </a:cubicBezTo>
                <a:cubicBezTo>
                  <a:pt x="1614" y="1608"/>
                  <a:pt x="1609" y="1629"/>
                  <a:pt x="1585" y="1641"/>
                </a:cubicBezTo>
                <a:cubicBezTo>
                  <a:pt x="1539" y="1664"/>
                  <a:pt x="1467" y="1671"/>
                  <a:pt x="1417" y="1677"/>
                </a:cubicBezTo>
                <a:cubicBezTo>
                  <a:pt x="1363" y="1705"/>
                  <a:pt x="1289" y="1707"/>
                  <a:pt x="1228" y="1714"/>
                </a:cubicBezTo>
                <a:cubicBezTo>
                  <a:pt x="1087" y="1730"/>
                  <a:pt x="947" y="1742"/>
                  <a:pt x="805" y="1750"/>
                </a:cubicBezTo>
                <a:cubicBezTo>
                  <a:pt x="739" y="1747"/>
                  <a:pt x="651" y="1749"/>
                  <a:pt x="579" y="1736"/>
                </a:cubicBezTo>
                <a:cubicBezTo>
                  <a:pt x="523" y="1726"/>
                  <a:pt x="472" y="1698"/>
                  <a:pt x="418" y="1685"/>
                </a:cubicBezTo>
                <a:cubicBezTo>
                  <a:pt x="369" y="1673"/>
                  <a:pt x="315" y="1664"/>
                  <a:pt x="265" y="1655"/>
                </a:cubicBezTo>
                <a:cubicBezTo>
                  <a:pt x="235" y="1636"/>
                  <a:pt x="211" y="1607"/>
                  <a:pt x="178" y="1597"/>
                </a:cubicBezTo>
                <a:cubicBezTo>
                  <a:pt x="151" y="1570"/>
                  <a:pt x="114" y="1555"/>
                  <a:pt x="90" y="1524"/>
                </a:cubicBezTo>
                <a:cubicBezTo>
                  <a:pt x="79" y="1510"/>
                  <a:pt x="61" y="1480"/>
                  <a:pt x="61" y="1480"/>
                </a:cubicBezTo>
                <a:cubicBezTo>
                  <a:pt x="53" y="1457"/>
                  <a:pt x="25" y="1415"/>
                  <a:pt x="25" y="1415"/>
                </a:cubicBezTo>
                <a:cubicBezTo>
                  <a:pt x="6" y="1346"/>
                  <a:pt x="29" y="1435"/>
                  <a:pt x="10" y="1335"/>
                </a:cubicBezTo>
                <a:cubicBezTo>
                  <a:pt x="9" y="1327"/>
                  <a:pt x="0" y="1320"/>
                  <a:pt x="3" y="1313"/>
                </a:cubicBezTo>
                <a:cubicBezTo>
                  <a:pt x="5" y="1308"/>
                  <a:pt x="12" y="1318"/>
                  <a:pt x="17" y="1320"/>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177" name="Text Box 63">
            <a:extLst>
              <a:ext uri="{FF2B5EF4-FFF2-40B4-BE49-F238E27FC236}">
                <a16:creationId xmlns:a16="http://schemas.microsoft.com/office/drawing/2014/main" id="{857BA829-41C1-E680-31F6-E81D8D44DDDB}"/>
              </a:ext>
            </a:extLst>
          </p:cNvPr>
          <p:cNvSpPr txBox="1">
            <a:spLocks noChangeArrowheads="1"/>
          </p:cNvSpPr>
          <p:nvPr/>
        </p:nvSpPr>
        <p:spPr bwMode="auto">
          <a:xfrm>
            <a:off x="5334000" y="3505200"/>
            <a:ext cx="1682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t>feasible region</a:t>
            </a:r>
          </a:p>
        </p:txBody>
      </p:sp>
      <p:sp>
        <p:nvSpPr>
          <p:cNvPr id="7178" name="Oval 64">
            <a:extLst>
              <a:ext uri="{FF2B5EF4-FFF2-40B4-BE49-F238E27FC236}">
                <a16:creationId xmlns:a16="http://schemas.microsoft.com/office/drawing/2014/main" id="{4EF47CB3-00C6-DD29-F950-6F130BA9366A}"/>
              </a:ext>
            </a:extLst>
          </p:cNvPr>
          <p:cNvSpPr>
            <a:spLocks noChangeArrowheads="1"/>
          </p:cNvSpPr>
          <p:nvPr/>
        </p:nvSpPr>
        <p:spPr bwMode="auto">
          <a:xfrm>
            <a:off x="4114800" y="3200400"/>
            <a:ext cx="76200" cy="76200"/>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79" name="Freeform 65">
            <a:extLst>
              <a:ext uri="{FF2B5EF4-FFF2-40B4-BE49-F238E27FC236}">
                <a16:creationId xmlns:a16="http://schemas.microsoft.com/office/drawing/2014/main" id="{9318C4DE-B5AB-06FC-4676-192CFAC1D0EB}"/>
              </a:ext>
            </a:extLst>
          </p:cNvPr>
          <p:cNvSpPr>
            <a:spLocks/>
          </p:cNvSpPr>
          <p:nvPr/>
        </p:nvSpPr>
        <p:spPr bwMode="auto">
          <a:xfrm>
            <a:off x="4191000" y="1562100"/>
            <a:ext cx="1676400" cy="1638300"/>
          </a:xfrm>
          <a:custGeom>
            <a:avLst/>
            <a:gdLst>
              <a:gd name="T0" fmla="*/ 0 w 1056"/>
              <a:gd name="T1" fmla="*/ 2147483646 h 1032"/>
              <a:gd name="T2" fmla="*/ 2147483646 w 1056"/>
              <a:gd name="T3" fmla="*/ 2147483646 h 1032"/>
              <a:gd name="T4" fmla="*/ 2147483646 w 1056"/>
              <a:gd name="T5" fmla="*/ 2147483646 h 1032"/>
              <a:gd name="T6" fmla="*/ 2147483646 w 1056"/>
              <a:gd name="T7" fmla="*/ 2147483646 h 1032"/>
              <a:gd name="T8" fmla="*/ 2147483646 w 1056"/>
              <a:gd name="T9" fmla="*/ 2147483646 h 1032"/>
              <a:gd name="T10" fmla="*/ 0 60000 65536"/>
              <a:gd name="T11" fmla="*/ 0 60000 65536"/>
              <a:gd name="T12" fmla="*/ 0 60000 65536"/>
              <a:gd name="T13" fmla="*/ 0 60000 65536"/>
              <a:gd name="T14" fmla="*/ 0 60000 65536"/>
              <a:gd name="T15" fmla="*/ 0 w 1056"/>
              <a:gd name="T16" fmla="*/ 0 h 1032"/>
              <a:gd name="T17" fmla="*/ 1056 w 1056"/>
              <a:gd name="T18" fmla="*/ 1032 h 1032"/>
            </a:gdLst>
            <a:ahLst/>
            <a:cxnLst>
              <a:cxn ang="T10">
                <a:pos x="T0" y="T1"/>
              </a:cxn>
              <a:cxn ang="T11">
                <a:pos x="T2" y="T3"/>
              </a:cxn>
              <a:cxn ang="T12">
                <a:pos x="T4" y="T5"/>
              </a:cxn>
              <a:cxn ang="T13">
                <a:pos x="T6" y="T7"/>
              </a:cxn>
              <a:cxn ang="T14">
                <a:pos x="T8" y="T9"/>
              </a:cxn>
            </a:cxnLst>
            <a:rect l="T15" t="T16" r="T17" b="T18"/>
            <a:pathLst>
              <a:path w="1056" h="1032">
                <a:moveTo>
                  <a:pt x="0" y="1032"/>
                </a:moveTo>
                <a:cubicBezTo>
                  <a:pt x="60" y="856"/>
                  <a:pt x="120" y="680"/>
                  <a:pt x="240" y="552"/>
                </a:cubicBezTo>
                <a:cubicBezTo>
                  <a:pt x="360" y="424"/>
                  <a:pt x="616" y="352"/>
                  <a:pt x="720" y="264"/>
                </a:cubicBezTo>
                <a:cubicBezTo>
                  <a:pt x="824" y="176"/>
                  <a:pt x="808" y="48"/>
                  <a:pt x="864" y="24"/>
                </a:cubicBezTo>
                <a:cubicBezTo>
                  <a:pt x="920" y="0"/>
                  <a:pt x="1024" y="104"/>
                  <a:pt x="1056" y="12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4204"/>
                                        </p:tgtEl>
                                        <p:attrNameLst>
                                          <p:attrName>style.visibility</p:attrName>
                                        </p:attrNameLst>
                                      </p:cBhvr>
                                      <p:to>
                                        <p:strVal val="visible"/>
                                      </p:to>
                                    </p:set>
                                    <p:anim calcmode="lin" valueType="num">
                                      <p:cBhvr additive="base">
                                        <p:cTn id="7" dur="500" fill="hold"/>
                                        <p:tgtEl>
                                          <p:spTgt spid="134204"/>
                                        </p:tgtEl>
                                        <p:attrNameLst>
                                          <p:attrName>ppt_x</p:attrName>
                                        </p:attrNameLst>
                                      </p:cBhvr>
                                      <p:tavLst>
                                        <p:tav tm="0">
                                          <p:val>
                                            <p:strVal val="0-#ppt_w/2"/>
                                          </p:val>
                                        </p:tav>
                                        <p:tav tm="100000">
                                          <p:val>
                                            <p:strVal val="#ppt_x"/>
                                          </p:val>
                                        </p:tav>
                                      </p:tavLst>
                                    </p:anim>
                                    <p:anim calcmode="lin" valueType="num">
                                      <p:cBhvr additive="base">
                                        <p:cTn id="8" dur="500" fill="hold"/>
                                        <p:tgtEl>
                                          <p:spTgt spid="1342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204"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1B99464-6AEF-4B64-A6BE-633910BBEA0A}"/>
              </a:ext>
            </a:extLst>
          </p:cNvPr>
          <p:cNvSpPr>
            <a:spLocks noGrp="1" noChangeArrowheads="1"/>
          </p:cNvSpPr>
          <p:nvPr>
            <p:ph type="title"/>
          </p:nvPr>
        </p:nvSpPr>
        <p:spPr>
          <a:xfrm>
            <a:off x="533400" y="0"/>
            <a:ext cx="8077200" cy="1143000"/>
          </a:xfrm>
        </p:spPr>
        <p:txBody>
          <a:bodyPr/>
          <a:lstStyle/>
          <a:p>
            <a:pPr>
              <a:lnSpc>
                <a:spcPct val="80000"/>
              </a:lnSpc>
            </a:pPr>
            <a:r>
              <a:rPr lang="en-US" altLang="en-US"/>
              <a:t>Barrier Methods – General Idea</a:t>
            </a:r>
          </a:p>
        </p:txBody>
      </p:sp>
      <p:sp>
        <p:nvSpPr>
          <p:cNvPr id="8195" name="Rectangle 3">
            <a:extLst>
              <a:ext uri="{FF2B5EF4-FFF2-40B4-BE49-F238E27FC236}">
                <a16:creationId xmlns:a16="http://schemas.microsoft.com/office/drawing/2014/main" id="{C58F0A87-CF64-0D68-063F-57245FA70013}"/>
              </a:ext>
            </a:extLst>
          </p:cNvPr>
          <p:cNvSpPr>
            <a:spLocks noChangeArrowheads="1"/>
          </p:cNvSpPr>
          <p:nvPr/>
        </p:nvSpPr>
        <p:spPr bwMode="auto">
          <a:xfrm>
            <a:off x="228600" y="228600"/>
            <a:ext cx="8686800" cy="64008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196" name="Rectangle 4">
            <a:extLst>
              <a:ext uri="{FF2B5EF4-FFF2-40B4-BE49-F238E27FC236}">
                <a16:creationId xmlns:a16="http://schemas.microsoft.com/office/drawing/2014/main" id="{8C5B5503-65FA-F243-CE2C-16A233C5A0EB}"/>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19</a:t>
            </a:r>
          </a:p>
        </p:txBody>
      </p:sp>
      <p:sp>
        <p:nvSpPr>
          <p:cNvPr id="125957" name="Rectangle 5">
            <a:extLst>
              <a:ext uri="{FF2B5EF4-FFF2-40B4-BE49-F238E27FC236}">
                <a16:creationId xmlns:a16="http://schemas.microsoft.com/office/drawing/2014/main" id="{609449BA-8584-9A0A-E30C-D8A2F4AF3C53}"/>
              </a:ext>
            </a:extLst>
          </p:cNvPr>
          <p:cNvSpPr>
            <a:spLocks noGrp="1" noChangeArrowheads="1"/>
          </p:cNvSpPr>
          <p:nvPr>
            <p:ph type="body" idx="1"/>
          </p:nvPr>
        </p:nvSpPr>
        <p:spPr>
          <a:xfrm>
            <a:off x="381000" y="914400"/>
            <a:ext cx="7772400" cy="3048000"/>
          </a:xfrm>
        </p:spPr>
        <p:txBody>
          <a:bodyPr>
            <a:normAutofit fontScale="92500" lnSpcReduction="10000"/>
          </a:bodyPr>
          <a:lstStyle/>
          <a:p>
            <a:pPr>
              <a:lnSpc>
                <a:spcPct val="90000"/>
              </a:lnSpc>
            </a:pPr>
            <a:r>
              <a:rPr lang="en-US" altLang="en-US" sz="3000"/>
              <a:t>Remember we are trying to solve a constrained NLP by converting it to an unconstrained problem</a:t>
            </a:r>
          </a:p>
          <a:p>
            <a:pPr>
              <a:lnSpc>
                <a:spcPct val="90000"/>
              </a:lnSpc>
            </a:pPr>
            <a:r>
              <a:rPr lang="en-US" altLang="en-US" sz="3000"/>
              <a:t>Idea: subtract a term from the objective function which goes to -</a:t>
            </a:r>
            <a:r>
              <a:rPr lang="en-US" altLang="en-US" sz="3000">
                <a:sym typeface="Symbol" panose="05050102010706020507" pitchFamily="18" charset="2"/>
              </a:rPr>
              <a:t> as we get near the constraint boundary</a:t>
            </a:r>
            <a:endParaRPr lang="en-US" altLang="en-US" sz="3000"/>
          </a:p>
          <a:p>
            <a:pPr>
              <a:lnSpc>
                <a:spcPct val="90000"/>
              </a:lnSpc>
            </a:pPr>
            <a:r>
              <a:rPr lang="en-US" altLang="en-US" sz="3000"/>
              <a:t>Again, convert</a:t>
            </a:r>
          </a:p>
          <a:p>
            <a:pPr>
              <a:lnSpc>
                <a:spcPct val="90000"/>
              </a:lnSpc>
              <a:buFontTx/>
              <a:buNone/>
            </a:pPr>
            <a:r>
              <a:rPr lang="en-US" altLang="en-US" sz="2600"/>
              <a:t>		</a:t>
            </a:r>
          </a:p>
        </p:txBody>
      </p:sp>
      <p:graphicFrame>
        <p:nvGraphicFramePr>
          <p:cNvPr id="125986" name="Object 34">
            <a:extLst>
              <a:ext uri="{FF2B5EF4-FFF2-40B4-BE49-F238E27FC236}">
                <a16:creationId xmlns:a16="http://schemas.microsoft.com/office/drawing/2014/main" id="{75C3E776-81B7-D4B9-4964-1C00528C47CB}"/>
              </a:ext>
            </a:extLst>
          </p:cNvPr>
          <p:cNvGraphicFramePr>
            <a:graphicFrameLocks noChangeAspect="1"/>
          </p:cNvGraphicFramePr>
          <p:nvPr/>
        </p:nvGraphicFramePr>
        <p:xfrm>
          <a:off x="1906588" y="4067175"/>
          <a:ext cx="6319837" cy="1601788"/>
        </p:xfrm>
        <a:graphic>
          <a:graphicData uri="http://schemas.openxmlformats.org/presentationml/2006/ole">
            <mc:AlternateContent xmlns:mc="http://schemas.openxmlformats.org/markup-compatibility/2006">
              <mc:Choice xmlns:v="urn:schemas-microsoft-com:vml" Requires="v">
                <p:oleObj name="Equation" r:id="rId2" imgW="2705100" imgH="685800" progId="Equation.3">
                  <p:embed/>
                </p:oleObj>
              </mc:Choice>
              <mc:Fallback>
                <p:oleObj name="Equation" r:id="rId2" imgW="2705100" imgH="685800" progId="Equation.3">
                  <p:embed/>
                  <p:pic>
                    <p:nvPicPr>
                      <p:cNvPr id="125986" name="Object 34">
                        <a:extLst>
                          <a:ext uri="{FF2B5EF4-FFF2-40B4-BE49-F238E27FC236}">
                            <a16:creationId xmlns:a16="http://schemas.microsoft.com/office/drawing/2014/main" id="{75C3E776-81B7-D4B9-4964-1C00528C47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6588" y="4067175"/>
                        <a:ext cx="6319837" cy="160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87" name="Text Box 35">
            <a:extLst>
              <a:ext uri="{FF2B5EF4-FFF2-40B4-BE49-F238E27FC236}">
                <a16:creationId xmlns:a16="http://schemas.microsoft.com/office/drawing/2014/main" id="{2B9B64DC-26AE-9D38-323C-E7C0BE8641D1}"/>
              </a:ext>
            </a:extLst>
          </p:cNvPr>
          <p:cNvSpPr txBox="1">
            <a:spLocks noChangeArrowheads="1"/>
          </p:cNvSpPr>
          <p:nvPr/>
        </p:nvSpPr>
        <p:spPr bwMode="auto">
          <a:xfrm>
            <a:off x="715963" y="5562600"/>
            <a:ext cx="77120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000"/>
              <a:t>where </a:t>
            </a:r>
            <a:r>
              <a:rPr lang="en-US" altLang="en-US" sz="3000" i="1"/>
              <a:t>B</a:t>
            </a:r>
            <a:r>
              <a:rPr lang="en-US" altLang="en-US" sz="3000"/>
              <a:t> is a barrier function and </a:t>
            </a:r>
            <a:r>
              <a:rPr lang="en-US" altLang="en-US" sz="3000" i="1"/>
              <a:t>r</a:t>
            </a:r>
            <a:r>
              <a:rPr lang="en-US" altLang="en-US" sz="3000"/>
              <a:t> is a positive barrier parameter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5957">
                                            <p:txEl>
                                              <p:pRg st="0" end="0"/>
                                            </p:txEl>
                                          </p:spTgt>
                                        </p:tgtEl>
                                        <p:attrNameLst>
                                          <p:attrName>style.visibility</p:attrName>
                                        </p:attrNameLst>
                                      </p:cBhvr>
                                      <p:to>
                                        <p:strVal val="visible"/>
                                      </p:to>
                                    </p:set>
                                    <p:anim calcmode="lin" valueType="num">
                                      <p:cBhvr additive="base">
                                        <p:cTn id="7" dur="500" fill="hold"/>
                                        <p:tgtEl>
                                          <p:spTgt spid="1259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59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5957">
                                            <p:txEl>
                                              <p:pRg st="1" end="1"/>
                                            </p:txEl>
                                          </p:spTgt>
                                        </p:tgtEl>
                                        <p:attrNameLst>
                                          <p:attrName>style.visibility</p:attrName>
                                        </p:attrNameLst>
                                      </p:cBhvr>
                                      <p:to>
                                        <p:strVal val="visible"/>
                                      </p:to>
                                    </p:set>
                                    <p:anim calcmode="lin" valueType="num">
                                      <p:cBhvr additive="base">
                                        <p:cTn id="13" dur="500" fill="hold"/>
                                        <p:tgtEl>
                                          <p:spTgt spid="12595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595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5957">
                                            <p:txEl>
                                              <p:pRg st="2" end="2"/>
                                            </p:txEl>
                                          </p:spTgt>
                                        </p:tgtEl>
                                        <p:attrNameLst>
                                          <p:attrName>style.visibility</p:attrName>
                                        </p:attrNameLst>
                                      </p:cBhvr>
                                      <p:to>
                                        <p:strVal val="visible"/>
                                      </p:to>
                                    </p:set>
                                    <p:anim calcmode="lin" valueType="num">
                                      <p:cBhvr additive="base">
                                        <p:cTn id="19" dur="500" fill="hold"/>
                                        <p:tgtEl>
                                          <p:spTgt spid="12595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595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5957">
                                            <p:txEl>
                                              <p:pRg st="3" end="3"/>
                                            </p:txEl>
                                          </p:spTgt>
                                        </p:tgtEl>
                                        <p:attrNameLst>
                                          <p:attrName>style.visibility</p:attrName>
                                        </p:attrNameLst>
                                      </p:cBhvr>
                                      <p:to>
                                        <p:strVal val="visible"/>
                                      </p:to>
                                    </p:set>
                                    <p:anim calcmode="lin" valueType="num">
                                      <p:cBhvr additive="base">
                                        <p:cTn id="25" dur="500" fill="hold"/>
                                        <p:tgtEl>
                                          <p:spTgt spid="12595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595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25986"/>
                                        </p:tgtEl>
                                        <p:attrNameLst>
                                          <p:attrName>style.visibility</p:attrName>
                                        </p:attrNameLst>
                                      </p:cBhvr>
                                      <p:to>
                                        <p:strVal val="visible"/>
                                      </p:to>
                                    </p:set>
                                    <p:anim calcmode="lin" valueType="num">
                                      <p:cBhvr additive="base">
                                        <p:cTn id="31" dur="500" fill="hold"/>
                                        <p:tgtEl>
                                          <p:spTgt spid="125986"/>
                                        </p:tgtEl>
                                        <p:attrNameLst>
                                          <p:attrName>ppt_x</p:attrName>
                                        </p:attrNameLst>
                                      </p:cBhvr>
                                      <p:tavLst>
                                        <p:tav tm="0">
                                          <p:val>
                                            <p:strVal val="0-#ppt_w/2"/>
                                          </p:val>
                                        </p:tav>
                                        <p:tav tm="100000">
                                          <p:val>
                                            <p:strVal val="#ppt_x"/>
                                          </p:val>
                                        </p:tav>
                                      </p:tavLst>
                                    </p:anim>
                                    <p:anim calcmode="lin" valueType="num">
                                      <p:cBhvr additive="base">
                                        <p:cTn id="32" dur="500" fill="hold"/>
                                        <p:tgtEl>
                                          <p:spTgt spid="12598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25987"/>
                                        </p:tgtEl>
                                        <p:attrNameLst>
                                          <p:attrName>style.visibility</p:attrName>
                                        </p:attrNameLst>
                                      </p:cBhvr>
                                      <p:to>
                                        <p:strVal val="visible"/>
                                      </p:to>
                                    </p:set>
                                    <p:anim calcmode="lin" valueType="num">
                                      <p:cBhvr additive="base">
                                        <p:cTn id="37" dur="500" fill="hold"/>
                                        <p:tgtEl>
                                          <p:spTgt spid="125987"/>
                                        </p:tgtEl>
                                        <p:attrNameLst>
                                          <p:attrName>ppt_x</p:attrName>
                                        </p:attrNameLst>
                                      </p:cBhvr>
                                      <p:tavLst>
                                        <p:tav tm="0">
                                          <p:val>
                                            <p:strVal val="0-#ppt_w/2"/>
                                          </p:val>
                                        </p:tav>
                                        <p:tav tm="100000">
                                          <p:val>
                                            <p:strVal val="#ppt_x"/>
                                          </p:val>
                                        </p:tav>
                                      </p:tavLst>
                                    </p:anim>
                                    <p:anim calcmode="lin" valueType="num">
                                      <p:cBhvr additive="base">
                                        <p:cTn id="38" dur="500" fill="hold"/>
                                        <p:tgtEl>
                                          <p:spTgt spid="1259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7" grpId="0" build="p" autoUpdateAnimBg="0"/>
      <p:bldP spid="125987"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0A8466E-A8A5-6C79-5993-A6FF12300CAF}"/>
              </a:ext>
            </a:extLst>
          </p:cNvPr>
          <p:cNvSpPr>
            <a:spLocks noGrp="1" noChangeArrowheads="1"/>
          </p:cNvSpPr>
          <p:nvPr>
            <p:ph type="title"/>
          </p:nvPr>
        </p:nvSpPr>
        <p:spPr>
          <a:xfrm>
            <a:off x="685800" y="0"/>
            <a:ext cx="7772400" cy="1143000"/>
          </a:xfrm>
        </p:spPr>
        <p:txBody>
          <a:bodyPr/>
          <a:lstStyle/>
          <a:p>
            <a:pPr>
              <a:lnSpc>
                <a:spcPct val="80000"/>
              </a:lnSpc>
            </a:pPr>
            <a:r>
              <a:rPr lang="en-US" altLang="en-US" sz="4600"/>
              <a:t>Example</a:t>
            </a:r>
          </a:p>
        </p:txBody>
      </p:sp>
      <p:sp>
        <p:nvSpPr>
          <p:cNvPr id="9219" name="Rectangle 3">
            <a:extLst>
              <a:ext uri="{FF2B5EF4-FFF2-40B4-BE49-F238E27FC236}">
                <a16:creationId xmlns:a16="http://schemas.microsoft.com/office/drawing/2014/main" id="{F805F689-41A3-3525-BBDD-FA8C9E3F9686}"/>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0" name="Rectangle 4">
            <a:extLst>
              <a:ext uri="{FF2B5EF4-FFF2-40B4-BE49-F238E27FC236}">
                <a16:creationId xmlns:a16="http://schemas.microsoft.com/office/drawing/2014/main" id="{FE6F5694-E91B-1334-3E70-E1DB2C0924EE}"/>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19</a:t>
            </a:r>
          </a:p>
        </p:txBody>
      </p:sp>
      <p:sp>
        <p:nvSpPr>
          <p:cNvPr id="142341" name="Text Box 5">
            <a:extLst>
              <a:ext uri="{FF2B5EF4-FFF2-40B4-BE49-F238E27FC236}">
                <a16:creationId xmlns:a16="http://schemas.microsoft.com/office/drawing/2014/main" id="{46697100-9188-5454-5163-EA122ECF8B80}"/>
              </a:ext>
            </a:extLst>
          </p:cNvPr>
          <p:cNvSpPr txBox="1">
            <a:spLocks noChangeArrowheads="1"/>
          </p:cNvSpPr>
          <p:nvPr/>
        </p:nvSpPr>
        <p:spPr bwMode="auto">
          <a:xfrm>
            <a:off x="457200" y="2362200"/>
            <a:ext cx="32766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Note the solution to the unconstrained problem, [1,2], is infeasible to the constrained problem</a:t>
            </a:r>
          </a:p>
        </p:txBody>
      </p:sp>
      <p:graphicFrame>
        <p:nvGraphicFramePr>
          <p:cNvPr id="9222" name="Object 6">
            <a:extLst>
              <a:ext uri="{FF2B5EF4-FFF2-40B4-BE49-F238E27FC236}">
                <a16:creationId xmlns:a16="http://schemas.microsoft.com/office/drawing/2014/main" id="{6310D6D1-5D08-E240-76A3-2211C0E60C13}"/>
              </a:ext>
            </a:extLst>
          </p:cNvPr>
          <p:cNvGraphicFramePr>
            <a:graphicFrameLocks noChangeAspect="1"/>
          </p:cNvGraphicFramePr>
          <p:nvPr/>
        </p:nvGraphicFramePr>
        <p:xfrm>
          <a:off x="1963738" y="1098550"/>
          <a:ext cx="5216525" cy="1122363"/>
        </p:xfrm>
        <a:graphic>
          <a:graphicData uri="http://schemas.openxmlformats.org/presentationml/2006/ole">
            <mc:AlternateContent xmlns:mc="http://schemas.openxmlformats.org/markup-compatibility/2006">
              <mc:Choice xmlns:v="urn:schemas-microsoft-com:vml" Requires="v">
                <p:oleObj name="Equation" r:id="rId2" imgW="2120900" imgH="457200" progId="Equation.3">
                  <p:embed/>
                </p:oleObj>
              </mc:Choice>
              <mc:Fallback>
                <p:oleObj name="Equation" r:id="rId2" imgW="2120900" imgH="457200" progId="Equation.3">
                  <p:embed/>
                  <p:pic>
                    <p:nvPicPr>
                      <p:cNvPr id="9222" name="Object 6">
                        <a:extLst>
                          <a:ext uri="{FF2B5EF4-FFF2-40B4-BE49-F238E27FC236}">
                            <a16:creationId xmlns:a16="http://schemas.microsoft.com/office/drawing/2014/main" id="{6310D6D1-5D08-E240-76A3-2211C0E60C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3738" y="1098550"/>
                        <a:ext cx="5216525"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85" name="Text Box 49">
            <a:extLst>
              <a:ext uri="{FF2B5EF4-FFF2-40B4-BE49-F238E27FC236}">
                <a16:creationId xmlns:a16="http://schemas.microsoft.com/office/drawing/2014/main" id="{2C290841-2F56-E789-4047-4A3C49277DB2}"/>
              </a:ext>
            </a:extLst>
          </p:cNvPr>
          <p:cNvSpPr txBox="1">
            <a:spLocks noChangeArrowheads="1"/>
          </p:cNvSpPr>
          <p:nvPr/>
        </p:nvSpPr>
        <p:spPr bwMode="auto">
          <a:xfrm>
            <a:off x="457200" y="4876800"/>
            <a:ext cx="29876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Thus the constraint must be active at optimality</a:t>
            </a:r>
          </a:p>
        </p:txBody>
      </p:sp>
      <p:grpSp>
        <p:nvGrpSpPr>
          <p:cNvPr id="2" name="Group 67">
            <a:extLst>
              <a:ext uri="{FF2B5EF4-FFF2-40B4-BE49-F238E27FC236}">
                <a16:creationId xmlns:a16="http://schemas.microsoft.com/office/drawing/2014/main" id="{F8E46EA2-33DF-5824-B946-594852307A32}"/>
              </a:ext>
            </a:extLst>
          </p:cNvPr>
          <p:cNvGrpSpPr>
            <a:grpSpLocks/>
          </p:cNvGrpSpPr>
          <p:nvPr/>
        </p:nvGrpSpPr>
        <p:grpSpPr bwMode="auto">
          <a:xfrm>
            <a:off x="3429000" y="2819400"/>
            <a:ext cx="5029200" cy="3352800"/>
            <a:chOff x="2160" y="1776"/>
            <a:chExt cx="3168" cy="2112"/>
          </a:xfrm>
        </p:grpSpPr>
        <p:sp>
          <p:nvSpPr>
            <p:cNvPr id="9225" name="Line 8">
              <a:extLst>
                <a:ext uri="{FF2B5EF4-FFF2-40B4-BE49-F238E27FC236}">
                  <a16:creationId xmlns:a16="http://schemas.microsoft.com/office/drawing/2014/main" id="{AEE33922-EA15-E3EE-B475-03386BF91858}"/>
                </a:ext>
              </a:extLst>
            </p:cNvPr>
            <p:cNvSpPr>
              <a:spLocks noChangeShapeType="1"/>
            </p:cNvSpPr>
            <p:nvPr/>
          </p:nvSpPr>
          <p:spPr bwMode="auto">
            <a:xfrm flipV="1">
              <a:off x="2880" y="1776"/>
              <a:ext cx="0" cy="211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26" name="Line 10">
              <a:extLst>
                <a:ext uri="{FF2B5EF4-FFF2-40B4-BE49-F238E27FC236}">
                  <a16:creationId xmlns:a16="http://schemas.microsoft.com/office/drawing/2014/main" id="{899A8AAE-2355-EA13-337A-6A25145BD5D9}"/>
                </a:ext>
              </a:extLst>
            </p:cNvPr>
            <p:cNvSpPr>
              <a:spLocks noChangeShapeType="1"/>
            </p:cNvSpPr>
            <p:nvPr/>
          </p:nvSpPr>
          <p:spPr bwMode="auto">
            <a:xfrm>
              <a:off x="2832" y="2064"/>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7" name="Line 11">
              <a:extLst>
                <a:ext uri="{FF2B5EF4-FFF2-40B4-BE49-F238E27FC236}">
                  <a16:creationId xmlns:a16="http://schemas.microsoft.com/office/drawing/2014/main" id="{49FD01D0-F353-C2E8-31C7-8930A84B49A4}"/>
                </a:ext>
              </a:extLst>
            </p:cNvPr>
            <p:cNvSpPr>
              <a:spLocks noChangeShapeType="1"/>
            </p:cNvSpPr>
            <p:nvPr/>
          </p:nvSpPr>
          <p:spPr bwMode="auto">
            <a:xfrm>
              <a:off x="2832" y="2256"/>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8" name="Line 12">
              <a:extLst>
                <a:ext uri="{FF2B5EF4-FFF2-40B4-BE49-F238E27FC236}">
                  <a16:creationId xmlns:a16="http://schemas.microsoft.com/office/drawing/2014/main" id="{DCA6AC5D-FF29-C59A-BDE3-EA30D4042DE0}"/>
                </a:ext>
              </a:extLst>
            </p:cNvPr>
            <p:cNvSpPr>
              <a:spLocks noChangeShapeType="1"/>
            </p:cNvSpPr>
            <p:nvPr/>
          </p:nvSpPr>
          <p:spPr bwMode="auto">
            <a:xfrm>
              <a:off x="2832" y="240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9" name="Line 16">
              <a:extLst>
                <a:ext uri="{FF2B5EF4-FFF2-40B4-BE49-F238E27FC236}">
                  <a16:creationId xmlns:a16="http://schemas.microsoft.com/office/drawing/2014/main" id="{216CE8D6-A5C6-C58A-205D-03406FBE8DC9}"/>
                </a:ext>
              </a:extLst>
            </p:cNvPr>
            <p:cNvSpPr>
              <a:spLocks noChangeShapeType="1"/>
            </p:cNvSpPr>
            <p:nvPr/>
          </p:nvSpPr>
          <p:spPr bwMode="auto">
            <a:xfrm>
              <a:off x="2832" y="259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0" name="Line 17">
              <a:extLst>
                <a:ext uri="{FF2B5EF4-FFF2-40B4-BE49-F238E27FC236}">
                  <a16:creationId xmlns:a16="http://schemas.microsoft.com/office/drawing/2014/main" id="{36FFF7C6-D13C-AB4E-DC6E-65884BF3A58F}"/>
                </a:ext>
              </a:extLst>
            </p:cNvPr>
            <p:cNvSpPr>
              <a:spLocks noChangeShapeType="1"/>
            </p:cNvSpPr>
            <p:nvPr/>
          </p:nvSpPr>
          <p:spPr bwMode="auto">
            <a:xfrm>
              <a:off x="2832" y="2784"/>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1" name="Text Box 26">
              <a:extLst>
                <a:ext uri="{FF2B5EF4-FFF2-40B4-BE49-F238E27FC236}">
                  <a16:creationId xmlns:a16="http://schemas.microsoft.com/office/drawing/2014/main" id="{7FCB5F0E-2787-F1D3-F2DA-6772C8D2B9C5}"/>
                </a:ext>
              </a:extLst>
            </p:cNvPr>
            <p:cNvSpPr txBox="1">
              <a:spLocks noChangeArrowheads="1"/>
            </p:cNvSpPr>
            <p:nvPr/>
          </p:nvSpPr>
          <p:spPr bwMode="auto">
            <a:xfrm>
              <a:off x="2584" y="2496"/>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2.0</a:t>
              </a:r>
            </a:p>
          </p:txBody>
        </p:sp>
        <p:sp>
          <p:nvSpPr>
            <p:cNvPr id="9232" name="Text Box 27">
              <a:extLst>
                <a:ext uri="{FF2B5EF4-FFF2-40B4-BE49-F238E27FC236}">
                  <a16:creationId xmlns:a16="http://schemas.microsoft.com/office/drawing/2014/main" id="{A2ACC6CB-5C53-564D-30E6-F9C57CC2271D}"/>
                </a:ext>
              </a:extLst>
            </p:cNvPr>
            <p:cNvSpPr txBox="1">
              <a:spLocks noChangeArrowheads="1"/>
            </p:cNvSpPr>
            <p:nvPr/>
          </p:nvSpPr>
          <p:spPr bwMode="auto">
            <a:xfrm>
              <a:off x="2584" y="2688"/>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1.5</a:t>
              </a:r>
            </a:p>
          </p:txBody>
        </p:sp>
        <p:sp>
          <p:nvSpPr>
            <p:cNvPr id="9233" name="Text Box 28">
              <a:extLst>
                <a:ext uri="{FF2B5EF4-FFF2-40B4-BE49-F238E27FC236}">
                  <a16:creationId xmlns:a16="http://schemas.microsoft.com/office/drawing/2014/main" id="{CCA3CCC8-B308-D825-FD92-48DFF074F822}"/>
                </a:ext>
              </a:extLst>
            </p:cNvPr>
            <p:cNvSpPr txBox="1">
              <a:spLocks noChangeArrowheads="1"/>
            </p:cNvSpPr>
            <p:nvPr/>
          </p:nvSpPr>
          <p:spPr bwMode="auto">
            <a:xfrm>
              <a:off x="2584" y="2880"/>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1.0</a:t>
              </a:r>
            </a:p>
          </p:txBody>
        </p:sp>
        <p:sp>
          <p:nvSpPr>
            <p:cNvPr id="9234" name="Text Box 29">
              <a:extLst>
                <a:ext uri="{FF2B5EF4-FFF2-40B4-BE49-F238E27FC236}">
                  <a16:creationId xmlns:a16="http://schemas.microsoft.com/office/drawing/2014/main" id="{EF26FC87-FDDD-BE71-65FD-4DD2C83C7296}"/>
                </a:ext>
              </a:extLst>
            </p:cNvPr>
            <p:cNvSpPr txBox="1">
              <a:spLocks noChangeArrowheads="1"/>
            </p:cNvSpPr>
            <p:nvPr/>
          </p:nvSpPr>
          <p:spPr bwMode="auto">
            <a:xfrm>
              <a:off x="2584" y="3072"/>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0.5</a:t>
              </a:r>
            </a:p>
          </p:txBody>
        </p:sp>
        <p:grpSp>
          <p:nvGrpSpPr>
            <p:cNvPr id="9235" name="Group 50">
              <a:extLst>
                <a:ext uri="{FF2B5EF4-FFF2-40B4-BE49-F238E27FC236}">
                  <a16:creationId xmlns:a16="http://schemas.microsoft.com/office/drawing/2014/main" id="{886433C6-94ED-3237-76FA-2FDD6E809375}"/>
                </a:ext>
              </a:extLst>
            </p:cNvPr>
            <p:cNvGrpSpPr>
              <a:grpSpLocks/>
            </p:cNvGrpSpPr>
            <p:nvPr/>
          </p:nvGrpSpPr>
          <p:grpSpPr bwMode="auto">
            <a:xfrm>
              <a:off x="2880" y="2160"/>
              <a:ext cx="912" cy="816"/>
              <a:chOff x="2880" y="2400"/>
              <a:chExt cx="912" cy="816"/>
            </a:xfrm>
          </p:grpSpPr>
          <p:sp>
            <p:nvSpPr>
              <p:cNvPr id="9264" name="Oval 51">
                <a:extLst>
                  <a:ext uri="{FF2B5EF4-FFF2-40B4-BE49-F238E27FC236}">
                    <a16:creationId xmlns:a16="http://schemas.microsoft.com/office/drawing/2014/main" id="{8265A7F3-F0B7-5BA5-5750-517093E23C0C}"/>
                  </a:ext>
                </a:extLst>
              </p:cNvPr>
              <p:cNvSpPr>
                <a:spLocks noChangeArrowheads="1"/>
              </p:cNvSpPr>
              <p:nvPr/>
            </p:nvSpPr>
            <p:spPr bwMode="auto">
              <a:xfrm>
                <a:off x="2880" y="2400"/>
                <a:ext cx="912" cy="816"/>
              </a:xfrm>
              <a:prstGeom prst="ellipse">
                <a:avLst/>
              </a:prstGeom>
              <a:noFill/>
              <a:ln w="9525">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65" name="Oval 52">
                <a:extLst>
                  <a:ext uri="{FF2B5EF4-FFF2-40B4-BE49-F238E27FC236}">
                    <a16:creationId xmlns:a16="http://schemas.microsoft.com/office/drawing/2014/main" id="{EA58E777-EDFF-CEBF-4AD3-E12432A646AD}"/>
                  </a:ext>
                </a:extLst>
              </p:cNvPr>
              <p:cNvSpPr>
                <a:spLocks noChangeArrowheads="1"/>
              </p:cNvSpPr>
              <p:nvPr/>
            </p:nvSpPr>
            <p:spPr bwMode="auto">
              <a:xfrm>
                <a:off x="3072" y="2592"/>
                <a:ext cx="480" cy="432"/>
              </a:xfrm>
              <a:prstGeom prst="ellipse">
                <a:avLst/>
              </a:prstGeom>
              <a:noFill/>
              <a:ln w="9525">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pSp>
        <p:sp>
          <p:nvSpPr>
            <p:cNvPr id="9236" name="Line 9">
              <a:extLst>
                <a:ext uri="{FF2B5EF4-FFF2-40B4-BE49-F238E27FC236}">
                  <a16:creationId xmlns:a16="http://schemas.microsoft.com/office/drawing/2014/main" id="{1E172A4D-DEA8-3451-24EA-4D2CF79584F1}"/>
                </a:ext>
              </a:extLst>
            </p:cNvPr>
            <p:cNvSpPr>
              <a:spLocks noChangeShapeType="1"/>
            </p:cNvSpPr>
            <p:nvPr/>
          </p:nvSpPr>
          <p:spPr bwMode="auto">
            <a:xfrm>
              <a:off x="2160" y="3360"/>
              <a:ext cx="316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37" name="Line 14">
              <a:extLst>
                <a:ext uri="{FF2B5EF4-FFF2-40B4-BE49-F238E27FC236}">
                  <a16:creationId xmlns:a16="http://schemas.microsoft.com/office/drawing/2014/main" id="{A87871F6-FDF7-5DDE-7E4E-816B78408DEB}"/>
                </a:ext>
              </a:extLst>
            </p:cNvPr>
            <p:cNvSpPr>
              <a:spLocks noChangeShapeType="1"/>
            </p:cNvSpPr>
            <p:nvPr/>
          </p:nvSpPr>
          <p:spPr bwMode="auto">
            <a:xfrm>
              <a:off x="2832" y="2976"/>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8" name="Line 15">
              <a:extLst>
                <a:ext uri="{FF2B5EF4-FFF2-40B4-BE49-F238E27FC236}">
                  <a16:creationId xmlns:a16="http://schemas.microsoft.com/office/drawing/2014/main" id="{011DD7AC-4E75-087B-AA71-B7C0501AE3B2}"/>
                </a:ext>
              </a:extLst>
            </p:cNvPr>
            <p:cNvSpPr>
              <a:spLocks noChangeShapeType="1"/>
            </p:cNvSpPr>
            <p:nvPr/>
          </p:nvSpPr>
          <p:spPr bwMode="auto">
            <a:xfrm>
              <a:off x="2832" y="3168"/>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9" name="Line 18">
              <a:extLst>
                <a:ext uri="{FF2B5EF4-FFF2-40B4-BE49-F238E27FC236}">
                  <a16:creationId xmlns:a16="http://schemas.microsoft.com/office/drawing/2014/main" id="{65A1DDC4-29B3-E60E-8968-50E87C9CB1C4}"/>
                </a:ext>
              </a:extLst>
            </p:cNvPr>
            <p:cNvSpPr>
              <a:spLocks noChangeShapeType="1"/>
            </p:cNvSpPr>
            <p:nvPr/>
          </p:nvSpPr>
          <p:spPr bwMode="auto">
            <a:xfrm rot="-5471610">
              <a:off x="3001" y="335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0" name="Line 19">
              <a:extLst>
                <a:ext uri="{FF2B5EF4-FFF2-40B4-BE49-F238E27FC236}">
                  <a16:creationId xmlns:a16="http://schemas.microsoft.com/office/drawing/2014/main" id="{4F92EF72-C00E-34DF-3EE6-4BE405BE6529}"/>
                </a:ext>
              </a:extLst>
            </p:cNvPr>
            <p:cNvSpPr>
              <a:spLocks noChangeShapeType="1"/>
            </p:cNvSpPr>
            <p:nvPr/>
          </p:nvSpPr>
          <p:spPr bwMode="auto">
            <a:xfrm rot="-5471610">
              <a:off x="3241" y="335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1" name="Line 20">
              <a:extLst>
                <a:ext uri="{FF2B5EF4-FFF2-40B4-BE49-F238E27FC236}">
                  <a16:creationId xmlns:a16="http://schemas.microsoft.com/office/drawing/2014/main" id="{1DEF5D36-ACEE-CBAF-003B-C4F03AD570B5}"/>
                </a:ext>
              </a:extLst>
            </p:cNvPr>
            <p:cNvSpPr>
              <a:spLocks noChangeShapeType="1"/>
            </p:cNvSpPr>
            <p:nvPr/>
          </p:nvSpPr>
          <p:spPr bwMode="auto">
            <a:xfrm rot="-5471610">
              <a:off x="3481" y="335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2" name="Line 21">
              <a:extLst>
                <a:ext uri="{FF2B5EF4-FFF2-40B4-BE49-F238E27FC236}">
                  <a16:creationId xmlns:a16="http://schemas.microsoft.com/office/drawing/2014/main" id="{72FEACC2-D2D7-5EE5-9F54-F27DEFA8525D}"/>
                </a:ext>
              </a:extLst>
            </p:cNvPr>
            <p:cNvSpPr>
              <a:spLocks noChangeShapeType="1"/>
            </p:cNvSpPr>
            <p:nvPr/>
          </p:nvSpPr>
          <p:spPr bwMode="auto">
            <a:xfrm rot="-5471610">
              <a:off x="3721" y="335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3" name="Line 22">
              <a:extLst>
                <a:ext uri="{FF2B5EF4-FFF2-40B4-BE49-F238E27FC236}">
                  <a16:creationId xmlns:a16="http://schemas.microsoft.com/office/drawing/2014/main" id="{A9BB86F2-73E1-5A87-954E-72805E7D4621}"/>
                </a:ext>
              </a:extLst>
            </p:cNvPr>
            <p:cNvSpPr>
              <a:spLocks noChangeShapeType="1"/>
            </p:cNvSpPr>
            <p:nvPr/>
          </p:nvSpPr>
          <p:spPr bwMode="auto">
            <a:xfrm rot="-5471610">
              <a:off x="3961" y="335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4" name="Line 23">
              <a:extLst>
                <a:ext uri="{FF2B5EF4-FFF2-40B4-BE49-F238E27FC236}">
                  <a16:creationId xmlns:a16="http://schemas.microsoft.com/office/drawing/2014/main" id="{8A14640F-B391-2DC8-DA61-8FFE43E0E191}"/>
                </a:ext>
              </a:extLst>
            </p:cNvPr>
            <p:cNvSpPr>
              <a:spLocks noChangeShapeType="1"/>
            </p:cNvSpPr>
            <p:nvPr/>
          </p:nvSpPr>
          <p:spPr bwMode="auto">
            <a:xfrm rot="-5471610">
              <a:off x="4201" y="335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5" name="Line 24">
              <a:extLst>
                <a:ext uri="{FF2B5EF4-FFF2-40B4-BE49-F238E27FC236}">
                  <a16:creationId xmlns:a16="http://schemas.microsoft.com/office/drawing/2014/main" id="{E0DE14D7-518B-2F36-0D20-40BF626638B0}"/>
                </a:ext>
              </a:extLst>
            </p:cNvPr>
            <p:cNvSpPr>
              <a:spLocks noChangeShapeType="1"/>
            </p:cNvSpPr>
            <p:nvPr/>
          </p:nvSpPr>
          <p:spPr bwMode="auto">
            <a:xfrm rot="-5471610">
              <a:off x="4441" y="335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6" name="Line 25">
              <a:extLst>
                <a:ext uri="{FF2B5EF4-FFF2-40B4-BE49-F238E27FC236}">
                  <a16:creationId xmlns:a16="http://schemas.microsoft.com/office/drawing/2014/main" id="{820D4598-FC92-F42D-BA84-B0CB79EA0F7B}"/>
                </a:ext>
              </a:extLst>
            </p:cNvPr>
            <p:cNvSpPr>
              <a:spLocks noChangeShapeType="1"/>
            </p:cNvSpPr>
            <p:nvPr/>
          </p:nvSpPr>
          <p:spPr bwMode="auto">
            <a:xfrm rot="-5471610">
              <a:off x="4681" y="335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7" name="Text Box 33">
              <a:extLst>
                <a:ext uri="{FF2B5EF4-FFF2-40B4-BE49-F238E27FC236}">
                  <a16:creationId xmlns:a16="http://schemas.microsoft.com/office/drawing/2014/main" id="{7206FD6A-7C8B-ED2A-2C2F-2E8F1EBC28E1}"/>
                </a:ext>
              </a:extLst>
            </p:cNvPr>
            <p:cNvSpPr txBox="1">
              <a:spLocks noChangeArrowheads="1"/>
            </p:cNvSpPr>
            <p:nvPr/>
          </p:nvSpPr>
          <p:spPr bwMode="auto">
            <a:xfrm>
              <a:off x="2512" y="3456"/>
              <a:ext cx="1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a:p>
          </p:txBody>
        </p:sp>
        <p:sp>
          <p:nvSpPr>
            <p:cNvPr id="9248" name="Text Box 34">
              <a:extLst>
                <a:ext uri="{FF2B5EF4-FFF2-40B4-BE49-F238E27FC236}">
                  <a16:creationId xmlns:a16="http://schemas.microsoft.com/office/drawing/2014/main" id="{E8222C32-2410-A616-5326-290CB94C9CF8}"/>
                </a:ext>
              </a:extLst>
            </p:cNvPr>
            <p:cNvSpPr txBox="1">
              <a:spLocks noChangeArrowheads="1"/>
            </p:cNvSpPr>
            <p:nvPr/>
          </p:nvSpPr>
          <p:spPr bwMode="auto">
            <a:xfrm>
              <a:off x="3672" y="3408"/>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2.0</a:t>
              </a:r>
            </a:p>
          </p:txBody>
        </p:sp>
        <p:sp>
          <p:nvSpPr>
            <p:cNvPr id="9249" name="Text Box 35">
              <a:extLst>
                <a:ext uri="{FF2B5EF4-FFF2-40B4-BE49-F238E27FC236}">
                  <a16:creationId xmlns:a16="http://schemas.microsoft.com/office/drawing/2014/main" id="{E9D19F49-7B8F-6B60-8F44-5894856A034D}"/>
                </a:ext>
              </a:extLst>
            </p:cNvPr>
            <p:cNvSpPr txBox="1">
              <a:spLocks noChangeArrowheads="1"/>
            </p:cNvSpPr>
            <p:nvPr/>
          </p:nvSpPr>
          <p:spPr bwMode="auto">
            <a:xfrm>
              <a:off x="2952" y="3408"/>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0.5</a:t>
              </a:r>
            </a:p>
          </p:txBody>
        </p:sp>
        <p:sp>
          <p:nvSpPr>
            <p:cNvPr id="9250" name="Text Box 36">
              <a:extLst>
                <a:ext uri="{FF2B5EF4-FFF2-40B4-BE49-F238E27FC236}">
                  <a16:creationId xmlns:a16="http://schemas.microsoft.com/office/drawing/2014/main" id="{69F4EBE1-77BB-CC0E-6C87-D6F849698E49}"/>
                </a:ext>
              </a:extLst>
            </p:cNvPr>
            <p:cNvSpPr txBox="1">
              <a:spLocks noChangeArrowheads="1"/>
            </p:cNvSpPr>
            <p:nvPr/>
          </p:nvSpPr>
          <p:spPr bwMode="auto">
            <a:xfrm>
              <a:off x="3192" y="3408"/>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1.0</a:t>
              </a:r>
            </a:p>
          </p:txBody>
        </p:sp>
        <p:sp>
          <p:nvSpPr>
            <p:cNvPr id="9251" name="Text Box 37">
              <a:extLst>
                <a:ext uri="{FF2B5EF4-FFF2-40B4-BE49-F238E27FC236}">
                  <a16:creationId xmlns:a16="http://schemas.microsoft.com/office/drawing/2014/main" id="{8EF40D54-01CE-22B3-3ED7-2994FFD8B128}"/>
                </a:ext>
              </a:extLst>
            </p:cNvPr>
            <p:cNvSpPr txBox="1">
              <a:spLocks noChangeArrowheads="1"/>
            </p:cNvSpPr>
            <p:nvPr/>
          </p:nvSpPr>
          <p:spPr bwMode="auto">
            <a:xfrm>
              <a:off x="3432" y="3408"/>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1.5</a:t>
              </a:r>
            </a:p>
          </p:txBody>
        </p:sp>
        <p:sp>
          <p:nvSpPr>
            <p:cNvPr id="9252" name="Text Box 38">
              <a:extLst>
                <a:ext uri="{FF2B5EF4-FFF2-40B4-BE49-F238E27FC236}">
                  <a16:creationId xmlns:a16="http://schemas.microsoft.com/office/drawing/2014/main" id="{AF33B575-C135-5A8C-2A3C-E0635E23CDD9}"/>
                </a:ext>
              </a:extLst>
            </p:cNvPr>
            <p:cNvSpPr txBox="1">
              <a:spLocks noChangeArrowheads="1"/>
            </p:cNvSpPr>
            <p:nvPr/>
          </p:nvSpPr>
          <p:spPr bwMode="auto">
            <a:xfrm>
              <a:off x="3912" y="3408"/>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2.5</a:t>
              </a:r>
            </a:p>
          </p:txBody>
        </p:sp>
        <p:sp>
          <p:nvSpPr>
            <p:cNvPr id="9253" name="Text Box 39">
              <a:extLst>
                <a:ext uri="{FF2B5EF4-FFF2-40B4-BE49-F238E27FC236}">
                  <a16:creationId xmlns:a16="http://schemas.microsoft.com/office/drawing/2014/main" id="{6E8A07E4-BEA0-6644-51CB-756AC7AA131F}"/>
                </a:ext>
              </a:extLst>
            </p:cNvPr>
            <p:cNvSpPr txBox="1">
              <a:spLocks noChangeArrowheads="1"/>
            </p:cNvSpPr>
            <p:nvPr/>
          </p:nvSpPr>
          <p:spPr bwMode="auto">
            <a:xfrm>
              <a:off x="4152" y="3408"/>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3.0</a:t>
              </a:r>
            </a:p>
          </p:txBody>
        </p:sp>
        <p:sp>
          <p:nvSpPr>
            <p:cNvPr id="9254" name="Text Box 40">
              <a:extLst>
                <a:ext uri="{FF2B5EF4-FFF2-40B4-BE49-F238E27FC236}">
                  <a16:creationId xmlns:a16="http://schemas.microsoft.com/office/drawing/2014/main" id="{6AAD9795-2A9C-10DE-04A8-934D90266AD8}"/>
                </a:ext>
              </a:extLst>
            </p:cNvPr>
            <p:cNvSpPr txBox="1">
              <a:spLocks noChangeArrowheads="1"/>
            </p:cNvSpPr>
            <p:nvPr/>
          </p:nvSpPr>
          <p:spPr bwMode="auto">
            <a:xfrm>
              <a:off x="4392" y="3408"/>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3.5</a:t>
              </a:r>
            </a:p>
          </p:txBody>
        </p:sp>
        <p:sp>
          <p:nvSpPr>
            <p:cNvPr id="9255" name="Text Box 41">
              <a:extLst>
                <a:ext uri="{FF2B5EF4-FFF2-40B4-BE49-F238E27FC236}">
                  <a16:creationId xmlns:a16="http://schemas.microsoft.com/office/drawing/2014/main" id="{9107ED35-942D-24E3-CB38-1F5E29491ABE}"/>
                </a:ext>
              </a:extLst>
            </p:cNvPr>
            <p:cNvSpPr txBox="1">
              <a:spLocks noChangeArrowheads="1"/>
            </p:cNvSpPr>
            <p:nvPr/>
          </p:nvSpPr>
          <p:spPr bwMode="auto">
            <a:xfrm>
              <a:off x="4632" y="3408"/>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4.0</a:t>
              </a:r>
            </a:p>
          </p:txBody>
        </p:sp>
        <p:sp>
          <p:nvSpPr>
            <p:cNvPr id="9256" name="Text Box 53">
              <a:extLst>
                <a:ext uri="{FF2B5EF4-FFF2-40B4-BE49-F238E27FC236}">
                  <a16:creationId xmlns:a16="http://schemas.microsoft.com/office/drawing/2014/main" id="{229A596F-19F5-4389-F3E1-4BE1BEB02818}"/>
                </a:ext>
              </a:extLst>
            </p:cNvPr>
            <p:cNvSpPr txBox="1">
              <a:spLocks noChangeArrowheads="1"/>
            </p:cNvSpPr>
            <p:nvPr/>
          </p:nvSpPr>
          <p:spPr bwMode="auto">
            <a:xfrm>
              <a:off x="5006" y="3338"/>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x</a:t>
              </a:r>
              <a:r>
                <a:rPr lang="en-US" altLang="en-US" sz="2400" baseline="-25000"/>
                <a:t>1</a:t>
              </a:r>
              <a:endParaRPr lang="en-US" altLang="en-US" sz="2400" i="1"/>
            </a:p>
          </p:txBody>
        </p:sp>
        <p:sp>
          <p:nvSpPr>
            <p:cNvPr id="9257" name="Text Box 54">
              <a:extLst>
                <a:ext uri="{FF2B5EF4-FFF2-40B4-BE49-F238E27FC236}">
                  <a16:creationId xmlns:a16="http://schemas.microsoft.com/office/drawing/2014/main" id="{C8C6B1B4-8E52-274E-61B9-E2AB82445EEA}"/>
                </a:ext>
              </a:extLst>
            </p:cNvPr>
            <p:cNvSpPr txBox="1">
              <a:spLocks noChangeArrowheads="1"/>
            </p:cNvSpPr>
            <p:nvPr/>
          </p:nvSpPr>
          <p:spPr bwMode="auto">
            <a:xfrm>
              <a:off x="2256" y="2688"/>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x</a:t>
              </a:r>
              <a:r>
                <a:rPr lang="en-US" altLang="en-US" sz="2400" baseline="-25000"/>
                <a:t>2</a:t>
              </a:r>
              <a:endParaRPr lang="en-US" altLang="en-US" sz="2400" i="1"/>
            </a:p>
          </p:txBody>
        </p:sp>
        <p:sp>
          <p:nvSpPr>
            <p:cNvPr id="9258" name="Text Box 56">
              <a:extLst>
                <a:ext uri="{FF2B5EF4-FFF2-40B4-BE49-F238E27FC236}">
                  <a16:creationId xmlns:a16="http://schemas.microsoft.com/office/drawing/2014/main" id="{4667D380-BC98-7A64-E904-1FBB88146332}"/>
                </a:ext>
              </a:extLst>
            </p:cNvPr>
            <p:cNvSpPr txBox="1">
              <a:spLocks noChangeArrowheads="1"/>
            </p:cNvSpPr>
            <p:nvPr/>
          </p:nvSpPr>
          <p:spPr bwMode="auto">
            <a:xfrm>
              <a:off x="2584" y="2304"/>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2.5</a:t>
              </a:r>
            </a:p>
          </p:txBody>
        </p:sp>
        <p:sp>
          <p:nvSpPr>
            <p:cNvPr id="9259" name="Text Box 57">
              <a:extLst>
                <a:ext uri="{FF2B5EF4-FFF2-40B4-BE49-F238E27FC236}">
                  <a16:creationId xmlns:a16="http://schemas.microsoft.com/office/drawing/2014/main" id="{3A2BC518-AAC2-AA27-3FDB-C653C8D6C2E1}"/>
                </a:ext>
              </a:extLst>
            </p:cNvPr>
            <p:cNvSpPr txBox="1">
              <a:spLocks noChangeArrowheads="1"/>
            </p:cNvSpPr>
            <p:nvPr/>
          </p:nvSpPr>
          <p:spPr bwMode="auto">
            <a:xfrm>
              <a:off x="2584" y="2160"/>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3.0</a:t>
              </a:r>
            </a:p>
          </p:txBody>
        </p:sp>
        <p:sp>
          <p:nvSpPr>
            <p:cNvPr id="9260" name="Text Box 58">
              <a:extLst>
                <a:ext uri="{FF2B5EF4-FFF2-40B4-BE49-F238E27FC236}">
                  <a16:creationId xmlns:a16="http://schemas.microsoft.com/office/drawing/2014/main" id="{A66C9624-A1EE-9F2C-E7D0-5755A41C2348}"/>
                </a:ext>
              </a:extLst>
            </p:cNvPr>
            <p:cNvSpPr txBox="1">
              <a:spLocks noChangeArrowheads="1"/>
            </p:cNvSpPr>
            <p:nvPr/>
          </p:nvSpPr>
          <p:spPr bwMode="auto">
            <a:xfrm>
              <a:off x="2584" y="1929"/>
              <a:ext cx="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4.0</a:t>
              </a:r>
            </a:p>
          </p:txBody>
        </p:sp>
        <p:sp>
          <p:nvSpPr>
            <p:cNvPr id="9261" name="Line 60">
              <a:extLst>
                <a:ext uri="{FF2B5EF4-FFF2-40B4-BE49-F238E27FC236}">
                  <a16:creationId xmlns:a16="http://schemas.microsoft.com/office/drawing/2014/main" id="{F2120DC4-30F5-4E4F-EB36-A98BF8C233AB}"/>
                </a:ext>
              </a:extLst>
            </p:cNvPr>
            <p:cNvSpPr>
              <a:spLocks noChangeShapeType="1"/>
            </p:cNvSpPr>
            <p:nvPr/>
          </p:nvSpPr>
          <p:spPr bwMode="auto">
            <a:xfrm>
              <a:off x="2880" y="2064"/>
              <a:ext cx="1872" cy="129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2" name="Line 65">
              <a:extLst>
                <a:ext uri="{FF2B5EF4-FFF2-40B4-BE49-F238E27FC236}">
                  <a16:creationId xmlns:a16="http://schemas.microsoft.com/office/drawing/2014/main" id="{665961BC-5E8B-B873-D1BF-F1E0846B2E17}"/>
                </a:ext>
              </a:extLst>
            </p:cNvPr>
            <p:cNvSpPr>
              <a:spLocks noChangeShapeType="1"/>
            </p:cNvSpPr>
            <p:nvPr/>
          </p:nvSpPr>
          <p:spPr bwMode="auto">
            <a:xfrm flipV="1">
              <a:off x="4368" y="2976"/>
              <a:ext cx="96"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63" name="Line 66">
              <a:extLst>
                <a:ext uri="{FF2B5EF4-FFF2-40B4-BE49-F238E27FC236}">
                  <a16:creationId xmlns:a16="http://schemas.microsoft.com/office/drawing/2014/main" id="{2B0A2B1D-4A55-F057-F68E-AA1B99D0FAB1}"/>
                </a:ext>
              </a:extLst>
            </p:cNvPr>
            <p:cNvSpPr>
              <a:spLocks noChangeShapeType="1"/>
            </p:cNvSpPr>
            <p:nvPr/>
          </p:nvSpPr>
          <p:spPr bwMode="auto">
            <a:xfrm flipV="1">
              <a:off x="3168" y="2160"/>
              <a:ext cx="96"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2341"/>
                                        </p:tgtEl>
                                        <p:attrNameLst>
                                          <p:attrName>style.visibility</p:attrName>
                                        </p:attrNameLst>
                                      </p:cBhvr>
                                      <p:to>
                                        <p:strVal val="visible"/>
                                      </p:to>
                                    </p:set>
                                    <p:anim calcmode="lin" valueType="num">
                                      <p:cBhvr additive="base">
                                        <p:cTn id="13" dur="500" fill="hold"/>
                                        <p:tgtEl>
                                          <p:spTgt spid="142341"/>
                                        </p:tgtEl>
                                        <p:attrNameLst>
                                          <p:attrName>ppt_x</p:attrName>
                                        </p:attrNameLst>
                                      </p:cBhvr>
                                      <p:tavLst>
                                        <p:tav tm="0">
                                          <p:val>
                                            <p:strVal val="0-#ppt_w/2"/>
                                          </p:val>
                                        </p:tav>
                                        <p:tav tm="100000">
                                          <p:val>
                                            <p:strVal val="#ppt_x"/>
                                          </p:val>
                                        </p:tav>
                                      </p:tavLst>
                                    </p:anim>
                                    <p:anim calcmode="lin" valueType="num">
                                      <p:cBhvr additive="base">
                                        <p:cTn id="14" dur="500" fill="hold"/>
                                        <p:tgtEl>
                                          <p:spTgt spid="14234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42385"/>
                                        </p:tgtEl>
                                        <p:attrNameLst>
                                          <p:attrName>style.visibility</p:attrName>
                                        </p:attrNameLst>
                                      </p:cBhvr>
                                      <p:to>
                                        <p:strVal val="visible"/>
                                      </p:to>
                                    </p:set>
                                    <p:anim calcmode="lin" valueType="num">
                                      <p:cBhvr additive="base">
                                        <p:cTn id="19" dur="500" fill="hold"/>
                                        <p:tgtEl>
                                          <p:spTgt spid="142385"/>
                                        </p:tgtEl>
                                        <p:attrNameLst>
                                          <p:attrName>ppt_x</p:attrName>
                                        </p:attrNameLst>
                                      </p:cBhvr>
                                      <p:tavLst>
                                        <p:tav tm="0">
                                          <p:val>
                                            <p:strVal val="0-#ppt_w/2"/>
                                          </p:val>
                                        </p:tav>
                                        <p:tav tm="100000">
                                          <p:val>
                                            <p:strVal val="#ppt_x"/>
                                          </p:val>
                                        </p:tav>
                                      </p:tavLst>
                                    </p:anim>
                                    <p:anim calcmode="lin" valueType="num">
                                      <p:cBhvr additive="base">
                                        <p:cTn id="20" dur="500" fill="hold"/>
                                        <p:tgtEl>
                                          <p:spTgt spid="1423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1" grpId="0" autoUpdateAnimBg="0"/>
      <p:bldP spid="142385"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A1D2D46-FA39-D7F3-833D-60B9D36EDCA9}"/>
              </a:ext>
            </a:extLst>
          </p:cNvPr>
          <p:cNvSpPr>
            <a:spLocks noGrp="1" noChangeArrowheads="1"/>
          </p:cNvSpPr>
          <p:nvPr>
            <p:ph type="title"/>
          </p:nvPr>
        </p:nvSpPr>
        <p:spPr>
          <a:xfrm>
            <a:off x="685800" y="0"/>
            <a:ext cx="7772400" cy="1143000"/>
          </a:xfrm>
        </p:spPr>
        <p:txBody>
          <a:bodyPr/>
          <a:lstStyle/>
          <a:p>
            <a:pPr>
              <a:lnSpc>
                <a:spcPct val="80000"/>
              </a:lnSpc>
            </a:pPr>
            <a:r>
              <a:rPr lang="en-US" altLang="en-US" sz="4600"/>
              <a:t>Example</a:t>
            </a:r>
          </a:p>
        </p:txBody>
      </p:sp>
      <p:sp>
        <p:nvSpPr>
          <p:cNvPr id="10243" name="Rectangle 3">
            <a:extLst>
              <a:ext uri="{FF2B5EF4-FFF2-40B4-BE49-F238E27FC236}">
                <a16:creationId xmlns:a16="http://schemas.microsoft.com/office/drawing/2014/main" id="{85AA35FE-4DE0-F1B9-C732-F3F3A9C142C4}"/>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0244" name="Rectangle 4">
            <a:extLst>
              <a:ext uri="{FF2B5EF4-FFF2-40B4-BE49-F238E27FC236}">
                <a16:creationId xmlns:a16="http://schemas.microsoft.com/office/drawing/2014/main" id="{B67D4140-85B4-0E6C-188C-C34E34943C29}"/>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19</a:t>
            </a:r>
          </a:p>
        </p:txBody>
      </p:sp>
      <p:sp>
        <p:nvSpPr>
          <p:cNvPr id="144389" name="Text Box 5">
            <a:extLst>
              <a:ext uri="{FF2B5EF4-FFF2-40B4-BE49-F238E27FC236}">
                <a16:creationId xmlns:a16="http://schemas.microsoft.com/office/drawing/2014/main" id="{4D4D78A2-D53E-7CF0-3F53-669C07DA3BD6}"/>
              </a:ext>
            </a:extLst>
          </p:cNvPr>
          <p:cNvSpPr txBox="1">
            <a:spLocks noChangeArrowheads="1"/>
          </p:cNvSpPr>
          <p:nvPr/>
        </p:nvSpPr>
        <p:spPr bwMode="auto">
          <a:xfrm>
            <a:off x="457200" y="2133600"/>
            <a:ext cx="822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We can write a logrithmic barrier function as</a:t>
            </a:r>
          </a:p>
        </p:txBody>
      </p:sp>
      <p:graphicFrame>
        <p:nvGraphicFramePr>
          <p:cNvPr id="10246" name="Object 6">
            <a:extLst>
              <a:ext uri="{FF2B5EF4-FFF2-40B4-BE49-F238E27FC236}">
                <a16:creationId xmlns:a16="http://schemas.microsoft.com/office/drawing/2014/main" id="{F615BCB0-279D-03BF-45DB-49D7870E4FEF}"/>
              </a:ext>
            </a:extLst>
          </p:cNvPr>
          <p:cNvGraphicFramePr>
            <a:graphicFrameLocks noChangeAspect="1"/>
          </p:cNvGraphicFramePr>
          <p:nvPr/>
        </p:nvGraphicFramePr>
        <p:xfrm>
          <a:off x="1963738" y="990600"/>
          <a:ext cx="5216525" cy="1122363"/>
        </p:xfrm>
        <a:graphic>
          <a:graphicData uri="http://schemas.openxmlformats.org/presentationml/2006/ole">
            <mc:AlternateContent xmlns:mc="http://schemas.openxmlformats.org/markup-compatibility/2006">
              <mc:Choice xmlns:v="urn:schemas-microsoft-com:vml" Requires="v">
                <p:oleObj name="Equation" r:id="rId2" imgW="2120900" imgH="457200" progId="Equation.3">
                  <p:embed/>
                </p:oleObj>
              </mc:Choice>
              <mc:Fallback>
                <p:oleObj name="Equation" r:id="rId2" imgW="2120900" imgH="457200" progId="Equation.3">
                  <p:embed/>
                  <p:pic>
                    <p:nvPicPr>
                      <p:cNvPr id="10246" name="Object 6">
                        <a:extLst>
                          <a:ext uri="{FF2B5EF4-FFF2-40B4-BE49-F238E27FC236}">
                            <a16:creationId xmlns:a16="http://schemas.microsoft.com/office/drawing/2014/main" id="{F615BCB0-279D-03BF-45DB-49D7870E4F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3738" y="990600"/>
                        <a:ext cx="5216525"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401" name="Text Box 17">
            <a:extLst>
              <a:ext uri="{FF2B5EF4-FFF2-40B4-BE49-F238E27FC236}">
                <a16:creationId xmlns:a16="http://schemas.microsoft.com/office/drawing/2014/main" id="{E9A5236B-1680-C552-CECB-28608DA2CE5F}"/>
              </a:ext>
            </a:extLst>
          </p:cNvPr>
          <p:cNvSpPr txBox="1">
            <a:spLocks noChangeArrowheads="1"/>
          </p:cNvSpPr>
          <p:nvPr/>
        </p:nvSpPr>
        <p:spPr bwMode="auto">
          <a:xfrm>
            <a:off x="457200" y="3429000"/>
            <a:ext cx="464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t>  or for our example</a:t>
            </a:r>
          </a:p>
        </p:txBody>
      </p:sp>
      <p:sp>
        <p:nvSpPr>
          <p:cNvPr id="10248" name="Text Box 32">
            <a:extLst>
              <a:ext uri="{FF2B5EF4-FFF2-40B4-BE49-F238E27FC236}">
                <a16:creationId xmlns:a16="http://schemas.microsoft.com/office/drawing/2014/main" id="{F564AE89-EF81-E28F-EFBC-BD033A7F39FD}"/>
              </a:ext>
            </a:extLst>
          </p:cNvPr>
          <p:cNvSpPr txBox="1">
            <a:spLocks noChangeArrowheads="1"/>
          </p:cNvSpPr>
          <p:nvPr/>
        </p:nvSpPr>
        <p:spPr bwMode="auto">
          <a:xfrm>
            <a:off x="3987800" y="54864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a:p>
        </p:txBody>
      </p:sp>
      <p:graphicFrame>
        <p:nvGraphicFramePr>
          <p:cNvPr id="144433" name="Object 49">
            <a:extLst>
              <a:ext uri="{FF2B5EF4-FFF2-40B4-BE49-F238E27FC236}">
                <a16:creationId xmlns:a16="http://schemas.microsoft.com/office/drawing/2014/main" id="{909BD645-543B-A751-A40F-96C5DB33C4F7}"/>
              </a:ext>
            </a:extLst>
          </p:cNvPr>
          <p:cNvGraphicFramePr>
            <a:graphicFrameLocks noChangeAspect="1"/>
          </p:cNvGraphicFramePr>
          <p:nvPr/>
        </p:nvGraphicFramePr>
        <p:xfrm>
          <a:off x="1981200" y="2867025"/>
          <a:ext cx="5613400" cy="561975"/>
        </p:xfrm>
        <a:graphic>
          <a:graphicData uri="http://schemas.openxmlformats.org/presentationml/2006/ole">
            <mc:AlternateContent xmlns:mc="http://schemas.openxmlformats.org/markup-compatibility/2006">
              <mc:Choice xmlns:v="urn:schemas-microsoft-com:vml" Requires="v">
                <p:oleObj name="Equation" r:id="rId4" imgW="2032000" imgH="203200" progId="Equation.3">
                  <p:embed/>
                </p:oleObj>
              </mc:Choice>
              <mc:Fallback>
                <p:oleObj name="Equation" r:id="rId4" imgW="2032000" imgH="203200" progId="Equation.3">
                  <p:embed/>
                  <p:pic>
                    <p:nvPicPr>
                      <p:cNvPr id="144433" name="Object 49">
                        <a:extLst>
                          <a:ext uri="{FF2B5EF4-FFF2-40B4-BE49-F238E27FC236}">
                            <a16:creationId xmlns:a16="http://schemas.microsoft.com/office/drawing/2014/main" id="{909BD645-543B-A751-A40F-96C5DB33C4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2867025"/>
                        <a:ext cx="561340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434" name="Object 50">
            <a:extLst>
              <a:ext uri="{FF2B5EF4-FFF2-40B4-BE49-F238E27FC236}">
                <a16:creationId xmlns:a16="http://schemas.microsoft.com/office/drawing/2014/main" id="{99E2B308-9C41-BE33-39F8-BAE9D172639B}"/>
              </a:ext>
            </a:extLst>
          </p:cNvPr>
          <p:cNvGraphicFramePr>
            <a:graphicFrameLocks noChangeAspect="1"/>
          </p:cNvGraphicFramePr>
          <p:nvPr/>
        </p:nvGraphicFramePr>
        <p:xfrm>
          <a:off x="914400" y="3962400"/>
          <a:ext cx="7673975" cy="555625"/>
        </p:xfrm>
        <a:graphic>
          <a:graphicData uri="http://schemas.openxmlformats.org/presentationml/2006/ole">
            <mc:AlternateContent xmlns:mc="http://schemas.openxmlformats.org/markup-compatibility/2006">
              <mc:Choice xmlns:v="urn:schemas-microsoft-com:vml" Requires="v">
                <p:oleObj name="Equation" r:id="rId6" imgW="3175000" imgH="228600" progId="Equation.3">
                  <p:embed/>
                </p:oleObj>
              </mc:Choice>
              <mc:Fallback>
                <p:oleObj name="Equation" r:id="rId6" imgW="3175000" imgH="228600" progId="Equation.3">
                  <p:embed/>
                  <p:pic>
                    <p:nvPicPr>
                      <p:cNvPr id="144434" name="Object 50">
                        <a:extLst>
                          <a:ext uri="{FF2B5EF4-FFF2-40B4-BE49-F238E27FC236}">
                            <a16:creationId xmlns:a16="http://schemas.microsoft.com/office/drawing/2014/main" id="{99E2B308-9C41-BE33-39F8-BAE9D17263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3962400"/>
                        <a:ext cx="7673975"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436" name="Text Box 52">
            <a:extLst>
              <a:ext uri="{FF2B5EF4-FFF2-40B4-BE49-F238E27FC236}">
                <a16:creationId xmlns:a16="http://schemas.microsoft.com/office/drawing/2014/main" id="{2098735B-33D2-8D1C-B281-88FEF162D6B1}"/>
              </a:ext>
            </a:extLst>
          </p:cNvPr>
          <p:cNvSpPr txBox="1">
            <a:spLocks noChangeArrowheads="1"/>
          </p:cNvSpPr>
          <p:nvPr/>
        </p:nvSpPr>
        <p:spPr bwMode="auto">
          <a:xfrm>
            <a:off x="457200" y="4495800"/>
            <a:ext cx="5205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What are the limiting cases here?</a:t>
            </a:r>
          </a:p>
        </p:txBody>
      </p:sp>
      <p:graphicFrame>
        <p:nvGraphicFramePr>
          <p:cNvPr id="144437" name="Object 53">
            <a:extLst>
              <a:ext uri="{FF2B5EF4-FFF2-40B4-BE49-F238E27FC236}">
                <a16:creationId xmlns:a16="http://schemas.microsoft.com/office/drawing/2014/main" id="{781DA00B-A154-4802-8068-8F89415156A1}"/>
              </a:ext>
            </a:extLst>
          </p:cNvPr>
          <p:cNvGraphicFramePr>
            <a:graphicFrameLocks noChangeAspect="1"/>
          </p:cNvGraphicFramePr>
          <p:nvPr/>
        </p:nvGraphicFramePr>
        <p:xfrm>
          <a:off x="969963" y="5029200"/>
          <a:ext cx="7202487" cy="544513"/>
        </p:xfrm>
        <a:graphic>
          <a:graphicData uri="http://schemas.openxmlformats.org/presentationml/2006/ole">
            <mc:AlternateContent xmlns:mc="http://schemas.openxmlformats.org/markup-compatibility/2006">
              <mc:Choice xmlns:v="urn:schemas-microsoft-com:vml" Requires="v">
                <p:oleObj name="Equation" r:id="rId8" imgW="2857500" imgH="215900" progId="Equation.3">
                  <p:embed/>
                </p:oleObj>
              </mc:Choice>
              <mc:Fallback>
                <p:oleObj name="Equation" r:id="rId8" imgW="2857500" imgH="215900" progId="Equation.3">
                  <p:embed/>
                  <p:pic>
                    <p:nvPicPr>
                      <p:cNvPr id="144437" name="Object 53">
                        <a:extLst>
                          <a:ext uri="{FF2B5EF4-FFF2-40B4-BE49-F238E27FC236}">
                            <a16:creationId xmlns:a16="http://schemas.microsoft.com/office/drawing/2014/main" id="{781DA00B-A154-4802-8068-8F89415156A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9963" y="5029200"/>
                        <a:ext cx="7202487" cy="54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438" name="Object 54">
            <a:extLst>
              <a:ext uri="{FF2B5EF4-FFF2-40B4-BE49-F238E27FC236}">
                <a16:creationId xmlns:a16="http://schemas.microsoft.com/office/drawing/2014/main" id="{12C72CF8-9A7D-86D2-0125-E5DB508982F0}"/>
              </a:ext>
            </a:extLst>
          </p:cNvPr>
          <p:cNvGraphicFramePr>
            <a:graphicFrameLocks noChangeAspect="1"/>
          </p:cNvGraphicFramePr>
          <p:nvPr/>
        </p:nvGraphicFramePr>
        <p:xfrm>
          <a:off x="2251075" y="5562600"/>
          <a:ext cx="4641850" cy="544513"/>
        </p:xfrm>
        <a:graphic>
          <a:graphicData uri="http://schemas.openxmlformats.org/presentationml/2006/ole">
            <mc:AlternateContent xmlns:mc="http://schemas.openxmlformats.org/markup-compatibility/2006">
              <mc:Choice xmlns:v="urn:schemas-microsoft-com:vml" Requires="v">
                <p:oleObj name="Equation" r:id="rId10" imgW="1841500" imgH="215900" progId="Equation.3">
                  <p:embed/>
                </p:oleObj>
              </mc:Choice>
              <mc:Fallback>
                <p:oleObj name="Equation" r:id="rId10" imgW="1841500" imgH="215900" progId="Equation.3">
                  <p:embed/>
                  <p:pic>
                    <p:nvPicPr>
                      <p:cNvPr id="144438" name="Object 54">
                        <a:extLst>
                          <a:ext uri="{FF2B5EF4-FFF2-40B4-BE49-F238E27FC236}">
                            <a16:creationId xmlns:a16="http://schemas.microsoft.com/office/drawing/2014/main" id="{12C72CF8-9A7D-86D2-0125-E5DB508982F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51075" y="5562600"/>
                        <a:ext cx="4641850" cy="54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4389"/>
                                        </p:tgtEl>
                                        <p:attrNameLst>
                                          <p:attrName>style.visibility</p:attrName>
                                        </p:attrNameLst>
                                      </p:cBhvr>
                                      <p:to>
                                        <p:strVal val="visible"/>
                                      </p:to>
                                    </p:set>
                                    <p:anim calcmode="lin" valueType="num">
                                      <p:cBhvr additive="base">
                                        <p:cTn id="7" dur="500" fill="hold"/>
                                        <p:tgtEl>
                                          <p:spTgt spid="144389"/>
                                        </p:tgtEl>
                                        <p:attrNameLst>
                                          <p:attrName>ppt_x</p:attrName>
                                        </p:attrNameLst>
                                      </p:cBhvr>
                                      <p:tavLst>
                                        <p:tav tm="0">
                                          <p:val>
                                            <p:strVal val="0-#ppt_w/2"/>
                                          </p:val>
                                        </p:tav>
                                        <p:tav tm="100000">
                                          <p:val>
                                            <p:strVal val="#ppt_x"/>
                                          </p:val>
                                        </p:tav>
                                      </p:tavLst>
                                    </p:anim>
                                    <p:anim calcmode="lin" valueType="num">
                                      <p:cBhvr additive="base">
                                        <p:cTn id="8" dur="500" fill="hold"/>
                                        <p:tgtEl>
                                          <p:spTgt spid="14438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4433"/>
                                        </p:tgtEl>
                                        <p:attrNameLst>
                                          <p:attrName>style.visibility</p:attrName>
                                        </p:attrNameLst>
                                      </p:cBhvr>
                                      <p:to>
                                        <p:strVal val="visible"/>
                                      </p:to>
                                    </p:set>
                                    <p:anim calcmode="lin" valueType="num">
                                      <p:cBhvr additive="base">
                                        <p:cTn id="13" dur="500" fill="hold"/>
                                        <p:tgtEl>
                                          <p:spTgt spid="144433"/>
                                        </p:tgtEl>
                                        <p:attrNameLst>
                                          <p:attrName>ppt_x</p:attrName>
                                        </p:attrNameLst>
                                      </p:cBhvr>
                                      <p:tavLst>
                                        <p:tav tm="0">
                                          <p:val>
                                            <p:strVal val="0-#ppt_w/2"/>
                                          </p:val>
                                        </p:tav>
                                        <p:tav tm="100000">
                                          <p:val>
                                            <p:strVal val="#ppt_x"/>
                                          </p:val>
                                        </p:tav>
                                      </p:tavLst>
                                    </p:anim>
                                    <p:anim calcmode="lin" valueType="num">
                                      <p:cBhvr additive="base">
                                        <p:cTn id="14" dur="500" fill="hold"/>
                                        <p:tgtEl>
                                          <p:spTgt spid="14443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44401"/>
                                        </p:tgtEl>
                                        <p:attrNameLst>
                                          <p:attrName>style.visibility</p:attrName>
                                        </p:attrNameLst>
                                      </p:cBhvr>
                                      <p:to>
                                        <p:strVal val="visible"/>
                                      </p:to>
                                    </p:set>
                                    <p:anim calcmode="lin" valueType="num">
                                      <p:cBhvr additive="base">
                                        <p:cTn id="19" dur="500" fill="hold"/>
                                        <p:tgtEl>
                                          <p:spTgt spid="144401"/>
                                        </p:tgtEl>
                                        <p:attrNameLst>
                                          <p:attrName>ppt_x</p:attrName>
                                        </p:attrNameLst>
                                      </p:cBhvr>
                                      <p:tavLst>
                                        <p:tav tm="0">
                                          <p:val>
                                            <p:strVal val="0-#ppt_w/2"/>
                                          </p:val>
                                        </p:tav>
                                        <p:tav tm="100000">
                                          <p:val>
                                            <p:strVal val="#ppt_x"/>
                                          </p:val>
                                        </p:tav>
                                      </p:tavLst>
                                    </p:anim>
                                    <p:anim calcmode="lin" valueType="num">
                                      <p:cBhvr additive="base">
                                        <p:cTn id="20" dur="500" fill="hold"/>
                                        <p:tgtEl>
                                          <p:spTgt spid="14440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44434"/>
                                        </p:tgtEl>
                                        <p:attrNameLst>
                                          <p:attrName>style.visibility</p:attrName>
                                        </p:attrNameLst>
                                      </p:cBhvr>
                                      <p:to>
                                        <p:strVal val="visible"/>
                                      </p:to>
                                    </p:set>
                                    <p:anim calcmode="lin" valueType="num">
                                      <p:cBhvr additive="base">
                                        <p:cTn id="25" dur="500" fill="hold"/>
                                        <p:tgtEl>
                                          <p:spTgt spid="144434"/>
                                        </p:tgtEl>
                                        <p:attrNameLst>
                                          <p:attrName>ppt_x</p:attrName>
                                        </p:attrNameLst>
                                      </p:cBhvr>
                                      <p:tavLst>
                                        <p:tav tm="0">
                                          <p:val>
                                            <p:strVal val="0-#ppt_w/2"/>
                                          </p:val>
                                        </p:tav>
                                        <p:tav tm="100000">
                                          <p:val>
                                            <p:strVal val="#ppt_x"/>
                                          </p:val>
                                        </p:tav>
                                      </p:tavLst>
                                    </p:anim>
                                    <p:anim calcmode="lin" valueType="num">
                                      <p:cBhvr additive="base">
                                        <p:cTn id="26" dur="500" fill="hold"/>
                                        <p:tgtEl>
                                          <p:spTgt spid="14443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44436"/>
                                        </p:tgtEl>
                                        <p:attrNameLst>
                                          <p:attrName>style.visibility</p:attrName>
                                        </p:attrNameLst>
                                      </p:cBhvr>
                                      <p:to>
                                        <p:strVal val="visible"/>
                                      </p:to>
                                    </p:set>
                                    <p:anim calcmode="lin" valueType="num">
                                      <p:cBhvr additive="base">
                                        <p:cTn id="31" dur="500" fill="hold"/>
                                        <p:tgtEl>
                                          <p:spTgt spid="144436"/>
                                        </p:tgtEl>
                                        <p:attrNameLst>
                                          <p:attrName>ppt_x</p:attrName>
                                        </p:attrNameLst>
                                      </p:cBhvr>
                                      <p:tavLst>
                                        <p:tav tm="0">
                                          <p:val>
                                            <p:strVal val="0-#ppt_w/2"/>
                                          </p:val>
                                        </p:tav>
                                        <p:tav tm="100000">
                                          <p:val>
                                            <p:strVal val="#ppt_x"/>
                                          </p:val>
                                        </p:tav>
                                      </p:tavLst>
                                    </p:anim>
                                    <p:anim calcmode="lin" valueType="num">
                                      <p:cBhvr additive="base">
                                        <p:cTn id="32" dur="500" fill="hold"/>
                                        <p:tgtEl>
                                          <p:spTgt spid="14443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44437"/>
                                        </p:tgtEl>
                                        <p:attrNameLst>
                                          <p:attrName>style.visibility</p:attrName>
                                        </p:attrNameLst>
                                      </p:cBhvr>
                                      <p:to>
                                        <p:strVal val="visible"/>
                                      </p:to>
                                    </p:set>
                                    <p:anim calcmode="lin" valueType="num">
                                      <p:cBhvr additive="base">
                                        <p:cTn id="37" dur="500" fill="hold"/>
                                        <p:tgtEl>
                                          <p:spTgt spid="144437"/>
                                        </p:tgtEl>
                                        <p:attrNameLst>
                                          <p:attrName>ppt_x</p:attrName>
                                        </p:attrNameLst>
                                      </p:cBhvr>
                                      <p:tavLst>
                                        <p:tav tm="0">
                                          <p:val>
                                            <p:strVal val="0-#ppt_w/2"/>
                                          </p:val>
                                        </p:tav>
                                        <p:tav tm="100000">
                                          <p:val>
                                            <p:strVal val="#ppt_x"/>
                                          </p:val>
                                        </p:tav>
                                      </p:tavLst>
                                    </p:anim>
                                    <p:anim calcmode="lin" valueType="num">
                                      <p:cBhvr additive="base">
                                        <p:cTn id="38" dur="500" fill="hold"/>
                                        <p:tgtEl>
                                          <p:spTgt spid="144437"/>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44438"/>
                                        </p:tgtEl>
                                        <p:attrNameLst>
                                          <p:attrName>style.visibility</p:attrName>
                                        </p:attrNameLst>
                                      </p:cBhvr>
                                      <p:to>
                                        <p:strVal val="visible"/>
                                      </p:to>
                                    </p:set>
                                    <p:anim calcmode="lin" valueType="num">
                                      <p:cBhvr additive="base">
                                        <p:cTn id="43" dur="500" fill="hold"/>
                                        <p:tgtEl>
                                          <p:spTgt spid="144438"/>
                                        </p:tgtEl>
                                        <p:attrNameLst>
                                          <p:attrName>ppt_x</p:attrName>
                                        </p:attrNameLst>
                                      </p:cBhvr>
                                      <p:tavLst>
                                        <p:tav tm="0">
                                          <p:val>
                                            <p:strVal val="0-#ppt_w/2"/>
                                          </p:val>
                                        </p:tav>
                                        <p:tav tm="100000">
                                          <p:val>
                                            <p:strVal val="#ppt_x"/>
                                          </p:val>
                                        </p:tav>
                                      </p:tavLst>
                                    </p:anim>
                                    <p:anim calcmode="lin" valueType="num">
                                      <p:cBhvr additive="base">
                                        <p:cTn id="44" dur="500" fill="hold"/>
                                        <p:tgtEl>
                                          <p:spTgt spid="1444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9" grpId="0" autoUpdateAnimBg="0"/>
      <p:bldP spid="144401" grpId="0" autoUpdateAnimBg="0"/>
      <p:bldP spid="14443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6070D01-418D-50EC-1DEA-B933DCA6EE4C}"/>
              </a:ext>
            </a:extLst>
          </p:cNvPr>
          <p:cNvSpPr>
            <a:spLocks noGrp="1" noChangeArrowheads="1"/>
          </p:cNvSpPr>
          <p:nvPr>
            <p:ph type="title"/>
          </p:nvPr>
        </p:nvSpPr>
        <p:spPr>
          <a:xfrm>
            <a:off x="685800" y="0"/>
            <a:ext cx="7772400" cy="1143000"/>
          </a:xfrm>
        </p:spPr>
        <p:txBody>
          <a:bodyPr/>
          <a:lstStyle/>
          <a:p>
            <a:pPr>
              <a:lnSpc>
                <a:spcPct val="80000"/>
              </a:lnSpc>
            </a:pPr>
            <a:r>
              <a:rPr lang="en-US" altLang="en-US" sz="4600"/>
              <a:t>Example, continued</a:t>
            </a:r>
          </a:p>
        </p:txBody>
      </p:sp>
      <p:sp>
        <p:nvSpPr>
          <p:cNvPr id="11267" name="Rectangle 3">
            <a:extLst>
              <a:ext uri="{FF2B5EF4-FFF2-40B4-BE49-F238E27FC236}">
                <a16:creationId xmlns:a16="http://schemas.microsoft.com/office/drawing/2014/main" id="{37FA5316-A029-8C03-9466-0EB0447F449A}"/>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68" name="Rectangle 4">
            <a:extLst>
              <a:ext uri="{FF2B5EF4-FFF2-40B4-BE49-F238E27FC236}">
                <a16:creationId xmlns:a16="http://schemas.microsoft.com/office/drawing/2014/main" id="{E022DBF9-5564-9C54-A1E7-6295664ED12C}"/>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19</a:t>
            </a:r>
          </a:p>
        </p:txBody>
      </p:sp>
      <p:sp>
        <p:nvSpPr>
          <p:cNvPr id="145413" name="Text Box 5">
            <a:extLst>
              <a:ext uri="{FF2B5EF4-FFF2-40B4-BE49-F238E27FC236}">
                <a16:creationId xmlns:a16="http://schemas.microsoft.com/office/drawing/2014/main" id="{ABBE842D-AD86-F006-C215-951CAD1D7BF1}"/>
              </a:ext>
            </a:extLst>
          </p:cNvPr>
          <p:cNvSpPr txBox="1">
            <a:spLocks noChangeArrowheads="1"/>
          </p:cNvSpPr>
          <p:nvPr/>
        </p:nvSpPr>
        <p:spPr bwMode="auto">
          <a:xfrm>
            <a:off x="457200" y="1752600"/>
            <a:ext cx="8229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For a given positive </a:t>
            </a:r>
            <a:r>
              <a:rPr lang="en-US" altLang="en-US" sz="2800" i="1"/>
              <a:t>r</a:t>
            </a:r>
            <a:r>
              <a:rPr lang="en-US" altLang="en-US" sz="2800"/>
              <a:t>, how does the solution to this problem relate to the solution of the original problem?</a:t>
            </a:r>
          </a:p>
        </p:txBody>
      </p:sp>
      <p:sp>
        <p:nvSpPr>
          <p:cNvPr id="11270" name="Text Box 8">
            <a:extLst>
              <a:ext uri="{FF2B5EF4-FFF2-40B4-BE49-F238E27FC236}">
                <a16:creationId xmlns:a16="http://schemas.microsoft.com/office/drawing/2014/main" id="{2083D29D-728D-F7F4-495D-076B71557ED7}"/>
              </a:ext>
            </a:extLst>
          </p:cNvPr>
          <p:cNvSpPr txBox="1">
            <a:spLocks noChangeArrowheads="1"/>
          </p:cNvSpPr>
          <p:nvPr/>
        </p:nvSpPr>
        <p:spPr bwMode="auto">
          <a:xfrm>
            <a:off x="3987800" y="54864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a:p>
        </p:txBody>
      </p:sp>
      <p:graphicFrame>
        <p:nvGraphicFramePr>
          <p:cNvPr id="11271" name="Object 10">
            <a:extLst>
              <a:ext uri="{FF2B5EF4-FFF2-40B4-BE49-F238E27FC236}">
                <a16:creationId xmlns:a16="http://schemas.microsoft.com/office/drawing/2014/main" id="{4C0174A0-5FAD-CE7A-95E0-13BD962915A5}"/>
              </a:ext>
            </a:extLst>
          </p:cNvPr>
          <p:cNvGraphicFramePr>
            <a:graphicFrameLocks noChangeAspect="1"/>
          </p:cNvGraphicFramePr>
          <p:nvPr/>
        </p:nvGraphicFramePr>
        <p:xfrm>
          <a:off x="914400" y="990600"/>
          <a:ext cx="7673975" cy="555625"/>
        </p:xfrm>
        <a:graphic>
          <a:graphicData uri="http://schemas.openxmlformats.org/presentationml/2006/ole">
            <mc:AlternateContent xmlns:mc="http://schemas.openxmlformats.org/markup-compatibility/2006">
              <mc:Choice xmlns:v="urn:schemas-microsoft-com:vml" Requires="v">
                <p:oleObj name="Equation" r:id="rId2" imgW="3175000" imgH="228600" progId="Equation.3">
                  <p:embed/>
                </p:oleObj>
              </mc:Choice>
              <mc:Fallback>
                <p:oleObj name="Equation" r:id="rId2" imgW="3175000" imgH="228600" progId="Equation.3">
                  <p:embed/>
                  <p:pic>
                    <p:nvPicPr>
                      <p:cNvPr id="11271" name="Object 10">
                        <a:extLst>
                          <a:ext uri="{FF2B5EF4-FFF2-40B4-BE49-F238E27FC236}">
                            <a16:creationId xmlns:a16="http://schemas.microsoft.com/office/drawing/2014/main" id="{4C0174A0-5FAD-CE7A-95E0-13BD96291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990600"/>
                        <a:ext cx="7673975"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19" name="Text Box 11">
            <a:extLst>
              <a:ext uri="{FF2B5EF4-FFF2-40B4-BE49-F238E27FC236}">
                <a16:creationId xmlns:a16="http://schemas.microsoft.com/office/drawing/2014/main" id="{AB736E4C-7F1E-B32C-370D-64CB42BEA0E2}"/>
              </a:ext>
            </a:extLst>
          </p:cNvPr>
          <p:cNvSpPr txBox="1">
            <a:spLocks noChangeArrowheads="1"/>
          </p:cNvSpPr>
          <p:nvPr/>
        </p:nvSpPr>
        <p:spPr bwMode="auto">
          <a:xfrm>
            <a:off x="457200" y="2819400"/>
            <a:ext cx="8001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We get a feasible, nonoptimal solution to the original problem</a:t>
            </a:r>
          </a:p>
        </p:txBody>
      </p:sp>
      <p:graphicFrame>
        <p:nvGraphicFramePr>
          <p:cNvPr id="145421" name="Object 13">
            <a:extLst>
              <a:ext uri="{FF2B5EF4-FFF2-40B4-BE49-F238E27FC236}">
                <a16:creationId xmlns:a16="http://schemas.microsoft.com/office/drawing/2014/main" id="{897B775A-A010-722E-51B8-A4AE8CF90882}"/>
              </a:ext>
            </a:extLst>
          </p:cNvPr>
          <p:cNvGraphicFramePr>
            <a:graphicFrameLocks noChangeAspect="1"/>
          </p:cNvGraphicFramePr>
          <p:nvPr/>
        </p:nvGraphicFramePr>
        <p:xfrm>
          <a:off x="533400" y="4038600"/>
          <a:ext cx="7521575" cy="512763"/>
        </p:xfrm>
        <a:graphic>
          <a:graphicData uri="http://schemas.openxmlformats.org/presentationml/2006/ole">
            <mc:AlternateContent xmlns:mc="http://schemas.openxmlformats.org/markup-compatibility/2006">
              <mc:Choice xmlns:v="urn:schemas-microsoft-com:vml" Requires="v">
                <p:oleObj name="Equation" r:id="rId4" imgW="2984500" imgH="203200" progId="Equation.3">
                  <p:embed/>
                </p:oleObj>
              </mc:Choice>
              <mc:Fallback>
                <p:oleObj name="Equation" r:id="rId4" imgW="2984500" imgH="203200" progId="Equation.3">
                  <p:embed/>
                  <p:pic>
                    <p:nvPicPr>
                      <p:cNvPr id="145421" name="Object 13">
                        <a:extLst>
                          <a:ext uri="{FF2B5EF4-FFF2-40B4-BE49-F238E27FC236}">
                            <a16:creationId xmlns:a16="http://schemas.microsoft.com/office/drawing/2014/main" id="{897B775A-A010-722E-51B8-A4AE8CF908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4038600"/>
                        <a:ext cx="7521575"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22" name="Text Box 14">
            <a:extLst>
              <a:ext uri="{FF2B5EF4-FFF2-40B4-BE49-F238E27FC236}">
                <a16:creationId xmlns:a16="http://schemas.microsoft.com/office/drawing/2014/main" id="{D46D314A-9669-6C0C-4938-86506C4DAE60}"/>
              </a:ext>
            </a:extLst>
          </p:cNvPr>
          <p:cNvSpPr txBox="1">
            <a:spLocks noChangeArrowheads="1"/>
          </p:cNvSpPr>
          <p:nvPr/>
        </p:nvSpPr>
        <p:spPr bwMode="auto">
          <a:xfrm>
            <a:off x="533400" y="4876800"/>
            <a:ext cx="75596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For very small </a:t>
            </a:r>
            <a:r>
              <a:rPr lang="en-US" altLang="en-US" sz="2800" i="1"/>
              <a:t>r</a:t>
            </a:r>
            <a:r>
              <a:rPr lang="en-US" altLang="en-US" sz="2800"/>
              <a:t>, we get very close to the constrained optimum </a:t>
            </a:r>
            <a:r>
              <a:rPr lang="en-US" altLang="en-US" sz="2800" u="sng"/>
              <a:t>on the feasible side</a:t>
            </a:r>
            <a:r>
              <a:rPr lang="en-US" altLang="en-US" sz="28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5413"/>
                                        </p:tgtEl>
                                        <p:attrNameLst>
                                          <p:attrName>style.visibility</p:attrName>
                                        </p:attrNameLst>
                                      </p:cBhvr>
                                      <p:to>
                                        <p:strVal val="visible"/>
                                      </p:to>
                                    </p:set>
                                    <p:anim calcmode="lin" valueType="num">
                                      <p:cBhvr additive="base">
                                        <p:cTn id="7" dur="500" fill="hold"/>
                                        <p:tgtEl>
                                          <p:spTgt spid="145413"/>
                                        </p:tgtEl>
                                        <p:attrNameLst>
                                          <p:attrName>ppt_x</p:attrName>
                                        </p:attrNameLst>
                                      </p:cBhvr>
                                      <p:tavLst>
                                        <p:tav tm="0">
                                          <p:val>
                                            <p:strVal val="0-#ppt_w/2"/>
                                          </p:val>
                                        </p:tav>
                                        <p:tav tm="100000">
                                          <p:val>
                                            <p:strVal val="#ppt_x"/>
                                          </p:val>
                                        </p:tav>
                                      </p:tavLst>
                                    </p:anim>
                                    <p:anim calcmode="lin" valueType="num">
                                      <p:cBhvr additive="base">
                                        <p:cTn id="8" dur="500" fill="hold"/>
                                        <p:tgtEl>
                                          <p:spTgt spid="14541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5419"/>
                                        </p:tgtEl>
                                        <p:attrNameLst>
                                          <p:attrName>style.visibility</p:attrName>
                                        </p:attrNameLst>
                                      </p:cBhvr>
                                      <p:to>
                                        <p:strVal val="visible"/>
                                      </p:to>
                                    </p:set>
                                    <p:anim calcmode="lin" valueType="num">
                                      <p:cBhvr additive="base">
                                        <p:cTn id="13" dur="500" fill="hold"/>
                                        <p:tgtEl>
                                          <p:spTgt spid="145419"/>
                                        </p:tgtEl>
                                        <p:attrNameLst>
                                          <p:attrName>ppt_x</p:attrName>
                                        </p:attrNameLst>
                                      </p:cBhvr>
                                      <p:tavLst>
                                        <p:tav tm="0">
                                          <p:val>
                                            <p:strVal val="0-#ppt_w/2"/>
                                          </p:val>
                                        </p:tav>
                                        <p:tav tm="100000">
                                          <p:val>
                                            <p:strVal val="#ppt_x"/>
                                          </p:val>
                                        </p:tav>
                                      </p:tavLst>
                                    </p:anim>
                                    <p:anim calcmode="lin" valueType="num">
                                      <p:cBhvr additive="base">
                                        <p:cTn id="14" dur="500" fill="hold"/>
                                        <p:tgtEl>
                                          <p:spTgt spid="14541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45421"/>
                                        </p:tgtEl>
                                        <p:attrNameLst>
                                          <p:attrName>style.visibility</p:attrName>
                                        </p:attrNameLst>
                                      </p:cBhvr>
                                      <p:to>
                                        <p:strVal val="visible"/>
                                      </p:to>
                                    </p:set>
                                    <p:anim calcmode="lin" valueType="num">
                                      <p:cBhvr additive="base">
                                        <p:cTn id="19" dur="500" fill="hold"/>
                                        <p:tgtEl>
                                          <p:spTgt spid="145421"/>
                                        </p:tgtEl>
                                        <p:attrNameLst>
                                          <p:attrName>ppt_x</p:attrName>
                                        </p:attrNameLst>
                                      </p:cBhvr>
                                      <p:tavLst>
                                        <p:tav tm="0">
                                          <p:val>
                                            <p:strVal val="0-#ppt_w/2"/>
                                          </p:val>
                                        </p:tav>
                                        <p:tav tm="100000">
                                          <p:val>
                                            <p:strVal val="#ppt_x"/>
                                          </p:val>
                                        </p:tav>
                                      </p:tavLst>
                                    </p:anim>
                                    <p:anim calcmode="lin" valueType="num">
                                      <p:cBhvr additive="base">
                                        <p:cTn id="20" dur="500" fill="hold"/>
                                        <p:tgtEl>
                                          <p:spTgt spid="14542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45422"/>
                                        </p:tgtEl>
                                        <p:attrNameLst>
                                          <p:attrName>style.visibility</p:attrName>
                                        </p:attrNameLst>
                                      </p:cBhvr>
                                      <p:to>
                                        <p:strVal val="visible"/>
                                      </p:to>
                                    </p:set>
                                    <p:anim calcmode="lin" valueType="num">
                                      <p:cBhvr additive="base">
                                        <p:cTn id="25" dur="500" fill="hold"/>
                                        <p:tgtEl>
                                          <p:spTgt spid="145422"/>
                                        </p:tgtEl>
                                        <p:attrNameLst>
                                          <p:attrName>ppt_x</p:attrName>
                                        </p:attrNameLst>
                                      </p:cBhvr>
                                      <p:tavLst>
                                        <p:tav tm="0">
                                          <p:val>
                                            <p:strVal val="0-#ppt_w/2"/>
                                          </p:val>
                                        </p:tav>
                                        <p:tav tm="100000">
                                          <p:val>
                                            <p:strVal val="#ppt_x"/>
                                          </p:val>
                                        </p:tav>
                                      </p:tavLst>
                                    </p:anim>
                                    <p:anim calcmode="lin" valueType="num">
                                      <p:cBhvr additive="base">
                                        <p:cTn id="26" dur="500" fill="hold"/>
                                        <p:tgtEl>
                                          <p:spTgt spid="1454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3" grpId="0" autoUpdateAnimBg="0"/>
      <p:bldP spid="145419" grpId="0" autoUpdateAnimBg="0"/>
      <p:bldP spid="14542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7207E58-463F-5E3C-DECB-DACFA8C98EA7}"/>
              </a:ext>
            </a:extLst>
          </p:cNvPr>
          <p:cNvSpPr>
            <a:spLocks noGrp="1" noChangeArrowheads="1"/>
          </p:cNvSpPr>
          <p:nvPr>
            <p:ph type="title"/>
          </p:nvPr>
        </p:nvSpPr>
        <p:spPr>
          <a:xfrm>
            <a:off x="685800" y="0"/>
            <a:ext cx="8001000" cy="1143000"/>
          </a:xfrm>
        </p:spPr>
        <p:txBody>
          <a:bodyPr/>
          <a:lstStyle/>
          <a:p>
            <a:pPr>
              <a:lnSpc>
                <a:spcPct val="80000"/>
              </a:lnSpc>
            </a:pPr>
            <a:r>
              <a:rPr lang="en-US" altLang="en-US" sz="4600"/>
              <a:t>Problems with Barrier Functions</a:t>
            </a:r>
          </a:p>
        </p:txBody>
      </p:sp>
      <p:sp>
        <p:nvSpPr>
          <p:cNvPr id="12291" name="Rectangle 3">
            <a:extLst>
              <a:ext uri="{FF2B5EF4-FFF2-40B4-BE49-F238E27FC236}">
                <a16:creationId xmlns:a16="http://schemas.microsoft.com/office/drawing/2014/main" id="{C69FDA51-ADB5-E224-7573-3F10BCB7F5C7}"/>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292" name="Rectangle 4">
            <a:extLst>
              <a:ext uri="{FF2B5EF4-FFF2-40B4-BE49-F238E27FC236}">
                <a16:creationId xmlns:a16="http://schemas.microsoft.com/office/drawing/2014/main" id="{D19C02E3-FCD3-2A2B-2E2C-FDF56371E667}"/>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19</a:t>
            </a:r>
          </a:p>
        </p:txBody>
      </p:sp>
      <p:sp>
        <p:nvSpPr>
          <p:cNvPr id="132153" name="Text Box 57">
            <a:extLst>
              <a:ext uri="{FF2B5EF4-FFF2-40B4-BE49-F238E27FC236}">
                <a16:creationId xmlns:a16="http://schemas.microsoft.com/office/drawing/2014/main" id="{472DE3C4-5169-3203-0D15-B8C19A56D37A}"/>
              </a:ext>
            </a:extLst>
          </p:cNvPr>
          <p:cNvSpPr txBox="1">
            <a:spLocks noChangeArrowheads="1"/>
          </p:cNvSpPr>
          <p:nvPr/>
        </p:nvSpPr>
        <p:spPr bwMode="auto">
          <a:xfrm>
            <a:off x="304800" y="1219200"/>
            <a:ext cx="8534400"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First problem: ln is discontinuous/undefined in areas of interest</a:t>
            </a:r>
          </a:p>
          <a:p>
            <a:pPr>
              <a:spcBef>
                <a:spcPct val="0"/>
              </a:spcBef>
            </a:pPr>
            <a:endParaRPr lang="en-US" altLang="en-US" sz="1200"/>
          </a:p>
          <a:p>
            <a:pPr>
              <a:spcBef>
                <a:spcPct val="0"/>
              </a:spcBef>
            </a:pPr>
            <a:r>
              <a:rPr lang="en-US" altLang="en-US" sz="3400"/>
              <a:t>  Second problem:</a:t>
            </a:r>
          </a:p>
        </p:txBody>
      </p:sp>
      <p:graphicFrame>
        <p:nvGraphicFramePr>
          <p:cNvPr id="132157" name="Object 61">
            <a:extLst>
              <a:ext uri="{FF2B5EF4-FFF2-40B4-BE49-F238E27FC236}">
                <a16:creationId xmlns:a16="http://schemas.microsoft.com/office/drawing/2014/main" id="{38E303A6-BD3A-1A7D-6F29-EA097EA452A7}"/>
              </a:ext>
            </a:extLst>
          </p:cNvPr>
          <p:cNvGraphicFramePr>
            <a:graphicFrameLocks noChangeAspect="1"/>
          </p:cNvGraphicFramePr>
          <p:nvPr/>
        </p:nvGraphicFramePr>
        <p:xfrm>
          <a:off x="1600200" y="3200400"/>
          <a:ext cx="5943600" cy="1382713"/>
        </p:xfrm>
        <a:graphic>
          <a:graphicData uri="http://schemas.openxmlformats.org/presentationml/2006/ole">
            <mc:AlternateContent xmlns:mc="http://schemas.openxmlformats.org/markup-compatibility/2006">
              <mc:Choice xmlns:v="urn:schemas-microsoft-com:vml" Requires="v">
                <p:oleObj name="Equation" r:id="rId2" imgW="1968500" imgH="457200" progId="Equation.3">
                  <p:embed/>
                </p:oleObj>
              </mc:Choice>
              <mc:Fallback>
                <p:oleObj name="Equation" r:id="rId2" imgW="1968500" imgH="457200" progId="Equation.3">
                  <p:embed/>
                  <p:pic>
                    <p:nvPicPr>
                      <p:cNvPr id="132157" name="Object 61">
                        <a:extLst>
                          <a:ext uri="{FF2B5EF4-FFF2-40B4-BE49-F238E27FC236}">
                            <a16:creationId xmlns:a16="http://schemas.microsoft.com/office/drawing/2014/main" id="{38E303A6-BD3A-1A7D-6F29-EA097EA452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200400"/>
                        <a:ext cx="5943600" cy="1382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58" name="Text Box 62">
            <a:extLst>
              <a:ext uri="{FF2B5EF4-FFF2-40B4-BE49-F238E27FC236}">
                <a16:creationId xmlns:a16="http://schemas.microsoft.com/office/drawing/2014/main" id="{45484EC3-7D7A-B876-FDFB-98847AB548C3}"/>
              </a:ext>
            </a:extLst>
          </p:cNvPr>
          <p:cNvSpPr txBox="1">
            <a:spLocks noChangeArrowheads="1"/>
          </p:cNvSpPr>
          <p:nvPr/>
        </p:nvSpPr>
        <p:spPr bwMode="auto">
          <a:xfrm>
            <a:off x="304800" y="4724400"/>
            <a:ext cx="8169275"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So this method isn’t used directly either, but these functions are used within many other algorithms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2153">
                                            <p:txEl>
                                              <p:pRg st="0" end="0"/>
                                            </p:txEl>
                                          </p:spTgt>
                                        </p:tgtEl>
                                        <p:attrNameLst>
                                          <p:attrName>style.visibility</p:attrName>
                                        </p:attrNameLst>
                                      </p:cBhvr>
                                      <p:to>
                                        <p:strVal val="visible"/>
                                      </p:to>
                                    </p:set>
                                    <p:anim calcmode="lin" valueType="num">
                                      <p:cBhvr additive="base">
                                        <p:cTn id="7" dur="500" fill="hold"/>
                                        <p:tgtEl>
                                          <p:spTgt spid="13215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215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2153">
                                            <p:txEl>
                                              <p:pRg st="2" end="2"/>
                                            </p:txEl>
                                          </p:spTgt>
                                        </p:tgtEl>
                                        <p:attrNameLst>
                                          <p:attrName>style.visibility</p:attrName>
                                        </p:attrNameLst>
                                      </p:cBhvr>
                                      <p:to>
                                        <p:strVal val="visible"/>
                                      </p:to>
                                    </p:set>
                                    <p:anim calcmode="lin" valueType="num">
                                      <p:cBhvr additive="base">
                                        <p:cTn id="13" dur="500" fill="hold"/>
                                        <p:tgtEl>
                                          <p:spTgt spid="13215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215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2157"/>
                                        </p:tgtEl>
                                        <p:attrNameLst>
                                          <p:attrName>style.visibility</p:attrName>
                                        </p:attrNameLst>
                                      </p:cBhvr>
                                      <p:to>
                                        <p:strVal val="visible"/>
                                      </p:to>
                                    </p:set>
                                    <p:anim calcmode="lin" valueType="num">
                                      <p:cBhvr additive="base">
                                        <p:cTn id="19" dur="500" fill="hold"/>
                                        <p:tgtEl>
                                          <p:spTgt spid="132157"/>
                                        </p:tgtEl>
                                        <p:attrNameLst>
                                          <p:attrName>ppt_x</p:attrName>
                                        </p:attrNameLst>
                                      </p:cBhvr>
                                      <p:tavLst>
                                        <p:tav tm="0">
                                          <p:val>
                                            <p:strVal val="0-#ppt_w/2"/>
                                          </p:val>
                                        </p:tav>
                                        <p:tav tm="100000">
                                          <p:val>
                                            <p:strVal val="#ppt_x"/>
                                          </p:val>
                                        </p:tav>
                                      </p:tavLst>
                                    </p:anim>
                                    <p:anim calcmode="lin" valueType="num">
                                      <p:cBhvr additive="base">
                                        <p:cTn id="20" dur="500" fill="hold"/>
                                        <p:tgtEl>
                                          <p:spTgt spid="13215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2158"/>
                                        </p:tgtEl>
                                        <p:attrNameLst>
                                          <p:attrName>style.visibility</p:attrName>
                                        </p:attrNameLst>
                                      </p:cBhvr>
                                      <p:to>
                                        <p:strVal val="visible"/>
                                      </p:to>
                                    </p:set>
                                    <p:anim calcmode="lin" valueType="num">
                                      <p:cBhvr additive="base">
                                        <p:cTn id="25" dur="500" fill="hold"/>
                                        <p:tgtEl>
                                          <p:spTgt spid="132158"/>
                                        </p:tgtEl>
                                        <p:attrNameLst>
                                          <p:attrName>ppt_x</p:attrName>
                                        </p:attrNameLst>
                                      </p:cBhvr>
                                      <p:tavLst>
                                        <p:tav tm="0">
                                          <p:val>
                                            <p:strVal val="0-#ppt_w/2"/>
                                          </p:val>
                                        </p:tav>
                                        <p:tav tm="100000">
                                          <p:val>
                                            <p:strVal val="#ppt_x"/>
                                          </p:val>
                                        </p:tav>
                                      </p:tavLst>
                                    </p:anim>
                                    <p:anim calcmode="lin" valueType="num">
                                      <p:cBhvr additive="base">
                                        <p:cTn id="26" dur="500" fill="hold"/>
                                        <p:tgtEl>
                                          <p:spTgt spid="1321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53" grpId="0" build="p" autoUpdateAnimBg="0"/>
      <p:bldP spid="13215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C0887C3-A844-EFD8-461C-E9A0C19EE71D}"/>
              </a:ext>
            </a:extLst>
          </p:cNvPr>
          <p:cNvSpPr>
            <a:spLocks noGrp="1" noChangeArrowheads="1"/>
          </p:cNvSpPr>
          <p:nvPr>
            <p:ph type="title"/>
          </p:nvPr>
        </p:nvSpPr>
        <p:spPr>
          <a:xfrm>
            <a:off x="685800" y="304800"/>
            <a:ext cx="7772400" cy="1143000"/>
          </a:xfrm>
        </p:spPr>
        <p:txBody>
          <a:bodyPr/>
          <a:lstStyle/>
          <a:p>
            <a:pPr>
              <a:lnSpc>
                <a:spcPct val="80000"/>
              </a:lnSpc>
            </a:pPr>
            <a:r>
              <a:rPr lang="en-US" altLang="en-US" sz="4200"/>
              <a:t>Successive Linear Programming: A method which really works!</a:t>
            </a:r>
          </a:p>
        </p:txBody>
      </p:sp>
      <p:sp>
        <p:nvSpPr>
          <p:cNvPr id="7171" name="Rectangle 3">
            <a:extLst>
              <a:ext uri="{FF2B5EF4-FFF2-40B4-BE49-F238E27FC236}">
                <a16:creationId xmlns:a16="http://schemas.microsoft.com/office/drawing/2014/main" id="{B9E90BC2-C286-44A1-E695-4F41DE7A4756}"/>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72" name="Rectangle 4">
            <a:extLst>
              <a:ext uri="{FF2B5EF4-FFF2-40B4-BE49-F238E27FC236}">
                <a16:creationId xmlns:a16="http://schemas.microsoft.com/office/drawing/2014/main" id="{A95750FD-CAD0-9D2A-88B3-8FFF153C86E8}"/>
              </a:ext>
            </a:extLst>
          </p:cNvPr>
          <p:cNvSpPr>
            <a:spLocks noChangeArrowheads="1"/>
          </p:cNvSpPr>
          <p:nvPr/>
        </p:nvSpPr>
        <p:spPr bwMode="auto">
          <a:xfrm>
            <a:off x="6400800" y="61722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20</a:t>
            </a:r>
          </a:p>
        </p:txBody>
      </p:sp>
      <p:sp>
        <p:nvSpPr>
          <p:cNvPr id="137221" name="Text Box 5">
            <a:extLst>
              <a:ext uri="{FF2B5EF4-FFF2-40B4-BE49-F238E27FC236}">
                <a16:creationId xmlns:a16="http://schemas.microsoft.com/office/drawing/2014/main" id="{5BF2B35D-E8A3-79D0-424A-2F98E97E84D0}"/>
              </a:ext>
            </a:extLst>
          </p:cNvPr>
          <p:cNvSpPr txBox="1">
            <a:spLocks noChangeArrowheads="1"/>
          </p:cNvSpPr>
          <p:nvPr/>
        </p:nvSpPr>
        <p:spPr bwMode="auto">
          <a:xfrm>
            <a:off x="304800" y="1676400"/>
            <a:ext cx="79406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600"/>
              <a:t>  A different idea: relax the constrained NLP to an LP, not an unconstrained NLP  </a:t>
            </a:r>
          </a:p>
        </p:txBody>
      </p:sp>
      <p:sp>
        <p:nvSpPr>
          <p:cNvPr id="137227" name="Text Box 11">
            <a:extLst>
              <a:ext uri="{FF2B5EF4-FFF2-40B4-BE49-F238E27FC236}">
                <a16:creationId xmlns:a16="http://schemas.microsoft.com/office/drawing/2014/main" id="{09828BFD-3929-4CBA-920C-81FE398A8E18}"/>
              </a:ext>
            </a:extLst>
          </p:cNvPr>
          <p:cNvSpPr txBox="1">
            <a:spLocks noChangeArrowheads="1"/>
          </p:cNvSpPr>
          <p:nvPr/>
        </p:nvSpPr>
        <p:spPr bwMode="auto">
          <a:xfrm>
            <a:off x="304800" y="3200400"/>
            <a:ext cx="8016875" cy="25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sz="3600"/>
              <a:t>  Use Taylor series to linearize everything</a:t>
            </a:r>
          </a:p>
          <a:p>
            <a:pPr>
              <a:lnSpc>
                <a:spcPct val="90000"/>
              </a:lnSpc>
              <a:spcBef>
                <a:spcPct val="0"/>
              </a:spcBef>
            </a:pPr>
            <a:endParaRPr lang="en-US" altLang="en-US" sz="3600" u="sng"/>
          </a:p>
          <a:p>
            <a:pPr>
              <a:lnSpc>
                <a:spcPct val="90000"/>
              </a:lnSpc>
              <a:spcBef>
                <a:spcPct val="0"/>
              </a:spcBef>
            </a:pPr>
            <a:r>
              <a:rPr lang="en-US" altLang="en-US" sz="3600"/>
              <a:t>  Derive a series of improved linear approximations to converge on the NLP solution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7221"/>
                                        </p:tgtEl>
                                        <p:attrNameLst>
                                          <p:attrName>style.visibility</p:attrName>
                                        </p:attrNameLst>
                                      </p:cBhvr>
                                      <p:to>
                                        <p:strVal val="visible"/>
                                      </p:to>
                                    </p:set>
                                    <p:anim calcmode="lin" valueType="num">
                                      <p:cBhvr additive="base">
                                        <p:cTn id="7" dur="500" fill="hold"/>
                                        <p:tgtEl>
                                          <p:spTgt spid="137221"/>
                                        </p:tgtEl>
                                        <p:attrNameLst>
                                          <p:attrName>ppt_x</p:attrName>
                                        </p:attrNameLst>
                                      </p:cBhvr>
                                      <p:tavLst>
                                        <p:tav tm="0">
                                          <p:val>
                                            <p:strVal val="0-#ppt_w/2"/>
                                          </p:val>
                                        </p:tav>
                                        <p:tav tm="100000">
                                          <p:val>
                                            <p:strVal val="#ppt_x"/>
                                          </p:val>
                                        </p:tav>
                                      </p:tavLst>
                                    </p:anim>
                                    <p:anim calcmode="lin" valueType="num">
                                      <p:cBhvr additive="base">
                                        <p:cTn id="8" dur="500" fill="hold"/>
                                        <p:tgtEl>
                                          <p:spTgt spid="13722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7227">
                                            <p:txEl>
                                              <p:pRg st="0" end="0"/>
                                            </p:txEl>
                                          </p:spTgt>
                                        </p:tgtEl>
                                        <p:attrNameLst>
                                          <p:attrName>style.visibility</p:attrName>
                                        </p:attrNameLst>
                                      </p:cBhvr>
                                      <p:to>
                                        <p:strVal val="visible"/>
                                      </p:to>
                                    </p:set>
                                    <p:anim calcmode="lin" valueType="num">
                                      <p:cBhvr additive="base">
                                        <p:cTn id="13" dur="500" fill="hold"/>
                                        <p:tgtEl>
                                          <p:spTgt spid="13722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72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7227">
                                            <p:txEl>
                                              <p:pRg st="2" end="2"/>
                                            </p:txEl>
                                          </p:spTgt>
                                        </p:tgtEl>
                                        <p:attrNameLst>
                                          <p:attrName>style.visibility</p:attrName>
                                        </p:attrNameLst>
                                      </p:cBhvr>
                                      <p:to>
                                        <p:strVal val="visible"/>
                                      </p:to>
                                    </p:set>
                                    <p:anim calcmode="lin" valueType="num">
                                      <p:cBhvr additive="base">
                                        <p:cTn id="19" dur="500" fill="hold"/>
                                        <p:tgtEl>
                                          <p:spTgt spid="1372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722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1" grpId="0" autoUpdateAnimBg="0"/>
      <p:bldP spid="137227"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C94EB38-DCAF-CCE6-E8C8-1779D4FF0DA1}"/>
              </a:ext>
            </a:extLst>
          </p:cNvPr>
          <p:cNvSpPr>
            <a:spLocks noGrp="1" noChangeArrowheads="1"/>
          </p:cNvSpPr>
          <p:nvPr>
            <p:ph type="title"/>
          </p:nvPr>
        </p:nvSpPr>
        <p:spPr>
          <a:xfrm>
            <a:off x="685800" y="0"/>
            <a:ext cx="7772400" cy="1143000"/>
          </a:xfrm>
        </p:spPr>
        <p:txBody>
          <a:bodyPr/>
          <a:lstStyle/>
          <a:p>
            <a:pPr>
              <a:lnSpc>
                <a:spcPct val="80000"/>
              </a:lnSpc>
            </a:pPr>
            <a:r>
              <a:rPr lang="en-US" altLang="en-US" sz="4600"/>
              <a:t>Another Example</a:t>
            </a:r>
          </a:p>
        </p:txBody>
      </p:sp>
      <p:sp>
        <p:nvSpPr>
          <p:cNvPr id="8195" name="Rectangle 3">
            <a:extLst>
              <a:ext uri="{FF2B5EF4-FFF2-40B4-BE49-F238E27FC236}">
                <a16:creationId xmlns:a16="http://schemas.microsoft.com/office/drawing/2014/main" id="{331F06A9-E11B-0E54-CDF4-14AC92009991}"/>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196" name="Rectangle 4">
            <a:extLst>
              <a:ext uri="{FF2B5EF4-FFF2-40B4-BE49-F238E27FC236}">
                <a16:creationId xmlns:a16="http://schemas.microsoft.com/office/drawing/2014/main" id="{4CC47DB5-02B4-4B9D-98B2-4467AE2A4173}"/>
              </a:ext>
            </a:extLst>
          </p:cNvPr>
          <p:cNvSpPr>
            <a:spLocks noChangeArrowheads="1"/>
          </p:cNvSpPr>
          <p:nvPr/>
        </p:nvSpPr>
        <p:spPr bwMode="auto">
          <a:xfrm>
            <a:off x="6477000" y="61722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20</a:t>
            </a:r>
          </a:p>
        </p:txBody>
      </p:sp>
      <p:sp>
        <p:nvSpPr>
          <p:cNvPr id="146437" name="Text Box 5">
            <a:extLst>
              <a:ext uri="{FF2B5EF4-FFF2-40B4-BE49-F238E27FC236}">
                <a16:creationId xmlns:a16="http://schemas.microsoft.com/office/drawing/2014/main" id="{080A3629-3B3B-01FD-6816-B728FD2B4906}"/>
              </a:ext>
            </a:extLst>
          </p:cNvPr>
          <p:cNvSpPr txBox="1">
            <a:spLocks noChangeArrowheads="1"/>
          </p:cNvSpPr>
          <p:nvPr/>
        </p:nvSpPr>
        <p:spPr bwMode="auto">
          <a:xfrm>
            <a:off x="304800" y="5562600"/>
            <a:ext cx="815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Note the optimum lies at [4,3], on the contour </a:t>
            </a:r>
            <a:r>
              <a:rPr lang="en-US" altLang="en-US" sz="2800" i="1"/>
              <a:t>f</a:t>
            </a:r>
            <a:r>
              <a:rPr lang="en-US" altLang="en-US" sz="2800"/>
              <a:t>(</a:t>
            </a:r>
            <a:r>
              <a:rPr lang="en-US" altLang="en-US" sz="2800" i="1"/>
              <a:t>x</a:t>
            </a:r>
            <a:r>
              <a:rPr lang="en-US" altLang="en-US" sz="2800"/>
              <a:t>)=11</a:t>
            </a:r>
          </a:p>
          <a:p>
            <a:pPr>
              <a:spcBef>
                <a:spcPct val="0"/>
              </a:spcBef>
            </a:pPr>
            <a:r>
              <a:rPr lang="en-US" altLang="en-US" sz="2800"/>
              <a:t> Also, [2,2] is a feasible starting point</a:t>
            </a:r>
          </a:p>
        </p:txBody>
      </p:sp>
      <p:graphicFrame>
        <p:nvGraphicFramePr>
          <p:cNvPr id="8198" name="Object 6">
            <a:extLst>
              <a:ext uri="{FF2B5EF4-FFF2-40B4-BE49-F238E27FC236}">
                <a16:creationId xmlns:a16="http://schemas.microsoft.com/office/drawing/2014/main" id="{E54FA6E9-C158-4BAE-F1C9-5ADB6E9769F1}"/>
              </a:ext>
            </a:extLst>
          </p:cNvPr>
          <p:cNvGraphicFramePr>
            <a:graphicFrameLocks noChangeAspect="1"/>
          </p:cNvGraphicFramePr>
          <p:nvPr/>
        </p:nvGraphicFramePr>
        <p:xfrm>
          <a:off x="381000" y="947738"/>
          <a:ext cx="3689350" cy="2481262"/>
        </p:xfrm>
        <a:graphic>
          <a:graphicData uri="http://schemas.openxmlformats.org/presentationml/2006/ole">
            <mc:AlternateContent xmlns:mc="http://schemas.openxmlformats.org/markup-compatibility/2006">
              <mc:Choice xmlns:v="urn:schemas-microsoft-com:vml" Requires="v">
                <p:oleObj name="Equation" r:id="rId2" imgW="1752600" imgH="1181100" progId="Equation.3">
                  <p:embed/>
                </p:oleObj>
              </mc:Choice>
              <mc:Fallback>
                <p:oleObj name="Equation" r:id="rId2" imgW="1752600" imgH="1181100" progId="Equation.3">
                  <p:embed/>
                  <p:pic>
                    <p:nvPicPr>
                      <p:cNvPr id="8198" name="Object 6">
                        <a:extLst>
                          <a:ext uri="{FF2B5EF4-FFF2-40B4-BE49-F238E27FC236}">
                            <a16:creationId xmlns:a16="http://schemas.microsoft.com/office/drawing/2014/main" id="{E54FA6E9-C158-4BAE-F1C9-5ADB6E976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947738"/>
                        <a:ext cx="3689350" cy="2481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61">
            <a:extLst>
              <a:ext uri="{FF2B5EF4-FFF2-40B4-BE49-F238E27FC236}">
                <a16:creationId xmlns:a16="http://schemas.microsoft.com/office/drawing/2014/main" id="{A695E93B-A75C-C963-9456-1B9A0D9FB8C8}"/>
              </a:ext>
            </a:extLst>
          </p:cNvPr>
          <p:cNvGrpSpPr>
            <a:grpSpLocks/>
          </p:cNvGrpSpPr>
          <p:nvPr/>
        </p:nvGrpSpPr>
        <p:grpSpPr bwMode="auto">
          <a:xfrm>
            <a:off x="3352800" y="1981200"/>
            <a:ext cx="5029200" cy="3352800"/>
            <a:chOff x="2112" y="1248"/>
            <a:chExt cx="3168" cy="2112"/>
          </a:xfrm>
        </p:grpSpPr>
        <p:sp>
          <p:nvSpPr>
            <p:cNvPr id="8204" name="Line 9">
              <a:extLst>
                <a:ext uri="{FF2B5EF4-FFF2-40B4-BE49-F238E27FC236}">
                  <a16:creationId xmlns:a16="http://schemas.microsoft.com/office/drawing/2014/main" id="{969FFEFB-1058-FBAA-A488-E9392AE36EE8}"/>
                </a:ext>
              </a:extLst>
            </p:cNvPr>
            <p:cNvSpPr>
              <a:spLocks noChangeShapeType="1"/>
            </p:cNvSpPr>
            <p:nvPr/>
          </p:nvSpPr>
          <p:spPr bwMode="auto">
            <a:xfrm flipV="1">
              <a:off x="2832" y="1248"/>
              <a:ext cx="0" cy="211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05" name="Line 11">
              <a:extLst>
                <a:ext uri="{FF2B5EF4-FFF2-40B4-BE49-F238E27FC236}">
                  <a16:creationId xmlns:a16="http://schemas.microsoft.com/office/drawing/2014/main" id="{619DF791-F37B-5FD3-5141-864E2258872C}"/>
                </a:ext>
              </a:extLst>
            </p:cNvPr>
            <p:cNvSpPr>
              <a:spLocks noChangeShapeType="1"/>
            </p:cNvSpPr>
            <p:nvPr/>
          </p:nvSpPr>
          <p:spPr bwMode="auto">
            <a:xfrm>
              <a:off x="2784" y="168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6" name="Line 12">
              <a:extLst>
                <a:ext uri="{FF2B5EF4-FFF2-40B4-BE49-F238E27FC236}">
                  <a16:creationId xmlns:a16="http://schemas.microsoft.com/office/drawing/2014/main" id="{E0F28CCD-7643-ED22-BA4D-B54FD52ACD60}"/>
                </a:ext>
              </a:extLst>
            </p:cNvPr>
            <p:cNvSpPr>
              <a:spLocks noChangeShapeType="1"/>
            </p:cNvSpPr>
            <p:nvPr/>
          </p:nvSpPr>
          <p:spPr bwMode="auto">
            <a:xfrm>
              <a:off x="2784" y="187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7" name="Line 13">
              <a:extLst>
                <a:ext uri="{FF2B5EF4-FFF2-40B4-BE49-F238E27FC236}">
                  <a16:creationId xmlns:a16="http://schemas.microsoft.com/office/drawing/2014/main" id="{875132F6-74DC-BADE-81F8-37847F396A81}"/>
                </a:ext>
              </a:extLst>
            </p:cNvPr>
            <p:cNvSpPr>
              <a:spLocks noChangeShapeType="1"/>
            </p:cNvSpPr>
            <p:nvPr/>
          </p:nvSpPr>
          <p:spPr bwMode="auto">
            <a:xfrm>
              <a:off x="2784" y="2064"/>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8" name="Line 14">
              <a:extLst>
                <a:ext uri="{FF2B5EF4-FFF2-40B4-BE49-F238E27FC236}">
                  <a16:creationId xmlns:a16="http://schemas.microsoft.com/office/drawing/2014/main" id="{616F0A7F-8875-ECB4-7D39-9A605B72CA3D}"/>
                </a:ext>
              </a:extLst>
            </p:cNvPr>
            <p:cNvSpPr>
              <a:spLocks noChangeShapeType="1"/>
            </p:cNvSpPr>
            <p:nvPr/>
          </p:nvSpPr>
          <p:spPr bwMode="auto">
            <a:xfrm>
              <a:off x="2784" y="2256"/>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9" name="Text Box 15">
              <a:extLst>
                <a:ext uri="{FF2B5EF4-FFF2-40B4-BE49-F238E27FC236}">
                  <a16:creationId xmlns:a16="http://schemas.microsoft.com/office/drawing/2014/main" id="{9F259682-41AB-90DA-7431-76B960360EAF}"/>
                </a:ext>
              </a:extLst>
            </p:cNvPr>
            <p:cNvSpPr txBox="1">
              <a:spLocks noChangeArrowheads="1"/>
            </p:cNvSpPr>
            <p:nvPr/>
          </p:nvSpPr>
          <p:spPr bwMode="auto">
            <a:xfrm>
              <a:off x="2536" y="1968"/>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  4</a:t>
              </a:r>
            </a:p>
          </p:txBody>
        </p:sp>
        <p:sp>
          <p:nvSpPr>
            <p:cNvPr id="8210" name="Text Box 16">
              <a:extLst>
                <a:ext uri="{FF2B5EF4-FFF2-40B4-BE49-F238E27FC236}">
                  <a16:creationId xmlns:a16="http://schemas.microsoft.com/office/drawing/2014/main" id="{C8325135-6EC2-22FE-0A0F-71111C19E2E9}"/>
                </a:ext>
              </a:extLst>
            </p:cNvPr>
            <p:cNvSpPr txBox="1">
              <a:spLocks noChangeArrowheads="1"/>
            </p:cNvSpPr>
            <p:nvPr/>
          </p:nvSpPr>
          <p:spPr bwMode="auto">
            <a:xfrm>
              <a:off x="2536" y="2160"/>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  3</a:t>
              </a:r>
            </a:p>
          </p:txBody>
        </p:sp>
        <p:sp>
          <p:nvSpPr>
            <p:cNvPr id="8211" name="Text Box 17">
              <a:extLst>
                <a:ext uri="{FF2B5EF4-FFF2-40B4-BE49-F238E27FC236}">
                  <a16:creationId xmlns:a16="http://schemas.microsoft.com/office/drawing/2014/main" id="{A6C5A64E-FC97-6AE1-1B0F-4802EB99F7D0}"/>
                </a:ext>
              </a:extLst>
            </p:cNvPr>
            <p:cNvSpPr txBox="1">
              <a:spLocks noChangeArrowheads="1"/>
            </p:cNvSpPr>
            <p:nvPr/>
          </p:nvSpPr>
          <p:spPr bwMode="auto">
            <a:xfrm>
              <a:off x="2536" y="2352"/>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  2</a:t>
              </a:r>
            </a:p>
          </p:txBody>
        </p:sp>
        <p:sp>
          <p:nvSpPr>
            <p:cNvPr id="8212" name="Text Box 18">
              <a:extLst>
                <a:ext uri="{FF2B5EF4-FFF2-40B4-BE49-F238E27FC236}">
                  <a16:creationId xmlns:a16="http://schemas.microsoft.com/office/drawing/2014/main" id="{E44AC98C-6D9F-0CD0-AF4C-E3F4F25DE69D}"/>
                </a:ext>
              </a:extLst>
            </p:cNvPr>
            <p:cNvSpPr txBox="1">
              <a:spLocks noChangeArrowheads="1"/>
            </p:cNvSpPr>
            <p:nvPr/>
          </p:nvSpPr>
          <p:spPr bwMode="auto">
            <a:xfrm>
              <a:off x="2536" y="2544"/>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  1</a:t>
              </a:r>
            </a:p>
          </p:txBody>
        </p:sp>
        <p:sp>
          <p:nvSpPr>
            <p:cNvPr id="8213" name="Line 22">
              <a:extLst>
                <a:ext uri="{FF2B5EF4-FFF2-40B4-BE49-F238E27FC236}">
                  <a16:creationId xmlns:a16="http://schemas.microsoft.com/office/drawing/2014/main" id="{45014968-93C5-6CE7-4EB5-B6F0AA606B32}"/>
                </a:ext>
              </a:extLst>
            </p:cNvPr>
            <p:cNvSpPr>
              <a:spLocks noChangeShapeType="1"/>
            </p:cNvSpPr>
            <p:nvPr/>
          </p:nvSpPr>
          <p:spPr bwMode="auto">
            <a:xfrm>
              <a:off x="2112" y="2832"/>
              <a:ext cx="316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14" name="Line 23">
              <a:extLst>
                <a:ext uri="{FF2B5EF4-FFF2-40B4-BE49-F238E27FC236}">
                  <a16:creationId xmlns:a16="http://schemas.microsoft.com/office/drawing/2014/main" id="{0DF95333-2A23-E805-B320-9D9837C417FE}"/>
                </a:ext>
              </a:extLst>
            </p:cNvPr>
            <p:cNvSpPr>
              <a:spLocks noChangeShapeType="1"/>
            </p:cNvSpPr>
            <p:nvPr/>
          </p:nvSpPr>
          <p:spPr bwMode="auto">
            <a:xfrm>
              <a:off x="2784" y="2448"/>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5" name="Line 24">
              <a:extLst>
                <a:ext uri="{FF2B5EF4-FFF2-40B4-BE49-F238E27FC236}">
                  <a16:creationId xmlns:a16="http://schemas.microsoft.com/office/drawing/2014/main" id="{9ACC6FA7-8B3F-9A39-B648-E06984121D1D}"/>
                </a:ext>
              </a:extLst>
            </p:cNvPr>
            <p:cNvSpPr>
              <a:spLocks noChangeShapeType="1"/>
            </p:cNvSpPr>
            <p:nvPr/>
          </p:nvSpPr>
          <p:spPr bwMode="auto">
            <a:xfrm>
              <a:off x="2784" y="264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6" name="Line 25">
              <a:extLst>
                <a:ext uri="{FF2B5EF4-FFF2-40B4-BE49-F238E27FC236}">
                  <a16:creationId xmlns:a16="http://schemas.microsoft.com/office/drawing/2014/main" id="{7D0C007A-D395-583C-027D-62C51DB19290}"/>
                </a:ext>
              </a:extLst>
            </p:cNvPr>
            <p:cNvSpPr>
              <a:spLocks noChangeShapeType="1"/>
            </p:cNvSpPr>
            <p:nvPr/>
          </p:nvSpPr>
          <p:spPr bwMode="auto">
            <a:xfrm rot="-5471610">
              <a:off x="295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7" name="Line 26">
              <a:extLst>
                <a:ext uri="{FF2B5EF4-FFF2-40B4-BE49-F238E27FC236}">
                  <a16:creationId xmlns:a16="http://schemas.microsoft.com/office/drawing/2014/main" id="{8587AAA4-CA28-B0CD-8ACD-EFB07DB11AD7}"/>
                </a:ext>
              </a:extLst>
            </p:cNvPr>
            <p:cNvSpPr>
              <a:spLocks noChangeShapeType="1"/>
            </p:cNvSpPr>
            <p:nvPr/>
          </p:nvSpPr>
          <p:spPr bwMode="auto">
            <a:xfrm rot="-5471610">
              <a:off x="319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8" name="Line 27">
              <a:extLst>
                <a:ext uri="{FF2B5EF4-FFF2-40B4-BE49-F238E27FC236}">
                  <a16:creationId xmlns:a16="http://schemas.microsoft.com/office/drawing/2014/main" id="{512C1FD7-4094-CB7F-14C9-142124F58D6A}"/>
                </a:ext>
              </a:extLst>
            </p:cNvPr>
            <p:cNvSpPr>
              <a:spLocks noChangeShapeType="1"/>
            </p:cNvSpPr>
            <p:nvPr/>
          </p:nvSpPr>
          <p:spPr bwMode="auto">
            <a:xfrm rot="-5471610">
              <a:off x="343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9" name="Line 28">
              <a:extLst>
                <a:ext uri="{FF2B5EF4-FFF2-40B4-BE49-F238E27FC236}">
                  <a16:creationId xmlns:a16="http://schemas.microsoft.com/office/drawing/2014/main" id="{4322FE38-242C-E072-B12F-8B6197029187}"/>
                </a:ext>
              </a:extLst>
            </p:cNvPr>
            <p:cNvSpPr>
              <a:spLocks noChangeShapeType="1"/>
            </p:cNvSpPr>
            <p:nvPr/>
          </p:nvSpPr>
          <p:spPr bwMode="auto">
            <a:xfrm rot="-5471610">
              <a:off x="367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20" name="Line 29">
              <a:extLst>
                <a:ext uri="{FF2B5EF4-FFF2-40B4-BE49-F238E27FC236}">
                  <a16:creationId xmlns:a16="http://schemas.microsoft.com/office/drawing/2014/main" id="{70FD3113-220C-793B-931B-51F891E712A7}"/>
                </a:ext>
              </a:extLst>
            </p:cNvPr>
            <p:cNvSpPr>
              <a:spLocks noChangeShapeType="1"/>
            </p:cNvSpPr>
            <p:nvPr/>
          </p:nvSpPr>
          <p:spPr bwMode="auto">
            <a:xfrm rot="-5471610">
              <a:off x="391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21" name="Line 30">
              <a:extLst>
                <a:ext uri="{FF2B5EF4-FFF2-40B4-BE49-F238E27FC236}">
                  <a16:creationId xmlns:a16="http://schemas.microsoft.com/office/drawing/2014/main" id="{757A8EAE-0CDC-4304-ECC5-D5F64A4548AB}"/>
                </a:ext>
              </a:extLst>
            </p:cNvPr>
            <p:cNvSpPr>
              <a:spLocks noChangeShapeType="1"/>
            </p:cNvSpPr>
            <p:nvPr/>
          </p:nvSpPr>
          <p:spPr bwMode="auto">
            <a:xfrm rot="-5471610">
              <a:off x="415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22" name="Line 31">
              <a:extLst>
                <a:ext uri="{FF2B5EF4-FFF2-40B4-BE49-F238E27FC236}">
                  <a16:creationId xmlns:a16="http://schemas.microsoft.com/office/drawing/2014/main" id="{1E962D57-77D2-90B1-0CA8-71F2307E51CC}"/>
                </a:ext>
              </a:extLst>
            </p:cNvPr>
            <p:cNvSpPr>
              <a:spLocks noChangeShapeType="1"/>
            </p:cNvSpPr>
            <p:nvPr/>
          </p:nvSpPr>
          <p:spPr bwMode="auto">
            <a:xfrm rot="-5471610">
              <a:off x="439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23" name="Line 32">
              <a:extLst>
                <a:ext uri="{FF2B5EF4-FFF2-40B4-BE49-F238E27FC236}">
                  <a16:creationId xmlns:a16="http://schemas.microsoft.com/office/drawing/2014/main" id="{8F18D920-9D38-4429-BE27-6FCC68D8DF14}"/>
                </a:ext>
              </a:extLst>
            </p:cNvPr>
            <p:cNvSpPr>
              <a:spLocks noChangeShapeType="1"/>
            </p:cNvSpPr>
            <p:nvPr/>
          </p:nvSpPr>
          <p:spPr bwMode="auto">
            <a:xfrm rot="-5471610">
              <a:off x="463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24" name="Text Box 33">
              <a:extLst>
                <a:ext uri="{FF2B5EF4-FFF2-40B4-BE49-F238E27FC236}">
                  <a16:creationId xmlns:a16="http://schemas.microsoft.com/office/drawing/2014/main" id="{A3CA996F-FB90-E724-6E04-D18C09D4E5A2}"/>
                </a:ext>
              </a:extLst>
            </p:cNvPr>
            <p:cNvSpPr txBox="1">
              <a:spLocks noChangeArrowheads="1"/>
            </p:cNvSpPr>
            <p:nvPr/>
          </p:nvSpPr>
          <p:spPr bwMode="auto">
            <a:xfrm>
              <a:off x="2464" y="2928"/>
              <a:ext cx="1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a:p>
          </p:txBody>
        </p:sp>
        <p:sp>
          <p:nvSpPr>
            <p:cNvPr id="8225" name="Text Box 34">
              <a:extLst>
                <a:ext uri="{FF2B5EF4-FFF2-40B4-BE49-F238E27FC236}">
                  <a16:creationId xmlns:a16="http://schemas.microsoft.com/office/drawing/2014/main" id="{9DAFAFD8-C11B-C62E-7FBF-587AAAB580FB}"/>
                </a:ext>
              </a:extLst>
            </p:cNvPr>
            <p:cNvSpPr txBox="1">
              <a:spLocks noChangeArrowheads="1"/>
            </p:cNvSpPr>
            <p:nvPr/>
          </p:nvSpPr>
          <p:spPr bwMode="auto">
            <a:xfrm>
              <a:off x="362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a:t>
              </a:r>
            </a:p>
          </p:txBody>
        </p:sp>
        <p:sp>
          <p:nvSpPr>
            <p:cNvPr id="8226" name="Text Box 35">
              <a:extLst>
                <a:ext uri="{FF2B5EF4-FFF2-40B4-BE49-F238E27FC236}">
                  <a16:creationId xmlns:a16="http://schemas.microsoft.com/office/drawing/2014/main" id="{78E5102F-F885-4B0A-85EB-8663C644DE3C}"/>
                </a:ext>
              </a:extLst>
            </p:cNvPr>
            <p:cNvSpPr txBox="1">
              <a:spLocks noChangeArrowheads="1"/>
            </p:cNvSpPr>
            <p:nvPr/>
          </p:nvSpPr>
          <p:spPr bwMode="auto">
            <a:xfrm>
              <a:off x="290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a:t>
              </a:r>
            </a:p>
          </p:txBody>
        </p:sp>
        <p:sp>
          <p:nvSpPr>
            <p:cNvPr id="8227" name="Text Box 36">
              <a:extLst>
                <a:ext uri="{FF2B5EF4-FFF2-40B4-BE49-F238E27FC236}">
                  <a16:creationId xmlns:a16="http://schemas.microsoft.com/office/drawing/2014/main" id="{662921D3-A75E-E259-4873-C319B895827A}"/>
                </a:ext>
              </a:extLst>
            </p:cNvPr>
            <p:cNvSpPr txBox="1">
              <a:spLocks noChangeArrowheads="1"/>
            </p:cNvSpPr>
            <p:nvPr/>
          </p:nvSpPr>
          <p:spPr bwMode="auto">
            <a:xfrm>
              <a:off x="314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a:t>
              </a:r>
            </a:p>
          </p:txBody>
        </p:sp>
        <p:sp>
          <p:nvSpPr>
            <p:cNvPr id="8228" name="Text Box 37">
              <a:extLst>
                <a:ext uri="{FF2B5EF4-FFF2-40B4-BE49-F238E27FC236}">
                  <a16:creationId xmlns:a16="http://schemas.microsoft.com/office/drawing/2014/main" id="{114464F1-9093-34A3-1993-8090321E0276}"/>
                </a:ext>
              </a:extLst>
            </p:cNvPr>
            <p:cNvSpPr txBox="1">
              <a:spLocks noChangeArrowheads="1"/>
            </p:cNvSpPr>
            <p:nvPr/>
          </p:nvSpPr>
          <p:spPr bwMode="auto">
            <a:xfrm>
              <a:off x="338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a:t>
              </a:r>
            </a:p>
          </p:txBody>
        </p:sp>
        <p:sp>
          <p:nvSpPr>
            <p:cNvPr id="8229" name="Text Box 38">
              <a:extLst>
                <a:ext uri="{FF2B5EF4-FFF2-40B4-BE49-F238E27FC236}">
                  <a16:creationId xmlns:a16="http://schemas.microsoft.com/office/drawing/2014/main" id="{B7C2FEA7-2547-083B-1295-26FCB0408A91}"/>
                </a:ext>
              </a:extLst>
            </p:cNvPr>
            <p:cNvSpPr txBox="1">
              <a:spLocks noChangeArrowheads="1"/>
            </p:cNvSpPr>
            <p:nvPr/>
          </p:nvSpPr>
          <p:spPr bwMode="auto">
            <a:xfrm>
              <a:off x="386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5</a:t>
              </a:r>
            </a:p>
          </p:txBody>
        </p:sp>
        <p:sp>
          <p:nvSpPr>
            <p:cNvPr id="8230" name="Text Box 39">
              <a:extLst>
                <a:ext uri="{FF2B5EF4-FFF2-40B4-BE49-F238E27FC236}">
                  <a16:creationId xmlns:a16="http://schemas.microsoft.com/office/drawing/2014/main" id="{91206357-BB95-9DC6-8AA5-AC06FD0B0D4A}"/>
                </a:ext>
              </a:extLst>
            </p:cNvPr>
            <p:cNvSpPr txBox="1">
              <a:spLocks noChangeArrowheads="1"/>
            </p:cNvSpPr>
            <p:nvPr/>
          </p:nvSpPr>
          <p:spPr bwMode="auto">
            <a:xfrm>
              <a:off x="410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6</a:t>
              </a:r>
            </a:p>
          </p:txBody>
        </p:sp>
        <p:sp>
          <p:nvSpPr>
            <p:cNvPr id="8231" name="Text Box 40">
              <a:extLst>
                <a:ext uri="{FF2B5EF4-FFF2-40B4-BE49-F238E27FC236}">
                  <a16:creationId xmlns:a16="http://schemas.microsoft.com/office/drawing/2014/main" id="{765AA45A-5114-77A4-490C-9C6D3590585E}"/>
                </a:ext>
              </a:extLst>
            </p:cNvPr>
            <p:cNvSpPr txBox="1">
              <a:spLocks noChangeArrowheads="1"/>
            </p:cNvSpPr>
            <p:nvPr/>
          </p:nvSpPr>
          <p:spPr bwMode="auto">
            <a:xfrm>
              <a:off x="434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7</a:t>
              </a:r>
            </a:p>
          </p:txBody>
        </p:sp>
        <p:sp>
          <p:nvSpPr>
            <p:cNvPr id="8232" name="Text Box 41">
              <a:extLst>
                <a:ext uri="{FF2B5EF4-FFF2-40B4-BE49-F238E27FC236}">
                  <a16:creationId xmlns:a16="http://schemas.microsoft.com/office/drawing/2014/main" id="{78B9D735-FC59-56C6-CFB0-A348317C66EA}"/>
                </a:ext>
              </a:extLst>
            </p:cNvPr>
            <p:cNvSpPr txBox="1">
              <a:spLocks noChangeArrowheads="1"/>
            </p:cNvSpPr>
            <p:nvPr/>
          </p:nvSpPr>
          <p:spPr bwMode="auto">
            <a:xfrm>
              <a:off x="458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8</a:t>
              </a:r>
            </a:p>
          </p:txBody>
        </p:sp>
        <p:sp>
          <p:nvSpPr>
            <p:cNvPr id="8233" name="Text Box 42">
              <a:extLst>
                <a:ext uri="{FF2B5EF4-FFF2-40B4-BE49-F238E27FC236}">
                  <a16:creationId xmlns:a16="http://schemas.microsoft.com/office/drawing/2014/main" id="{1342DC3F-763C-C1A4-0D36-45E95B11BE8A}"/>
                </a:ext>
              </a:extLst>
            </p:cNvPr>
            <p:cNvSpPr txBox="1">
              <a:spLocks noChangeArrowheads="1"/>
            </p:cNvSpPr>
            <p:nvPr/>
          </p:nvSpPr>
          <p:spPr bwMode="auto">
            <a:xfrm>
              <a:off x="4958" y="2810"/>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x</a:t>
              </a:r>
              <a:r>
                <a:rPr lang="en-US" altLang="en-US" sz="2400" baseline="-25000"/>
                <a:t>1</a:t>
              </a:r>
              <a:endParaRPr lang="en-US" altLang="en-US" sz="2400" i="1"/>
            </a:p>
          </p:txBody>
        </p:sp>
        <p:sp>
          <p:nvSpPr>
            <p:cNvPr id="8234" name="Text Box 43">
              <a:extLst>
                <a:ext uri="{FF2B5EF4-FFF2-40B4-BE49-F238E27FC236}">
                  <a16:creationId xmlns:a16="http://schemas.microsoft.com/office/drawing/2014/main" id="{259478EB-6F8F-321C-97F2-21C0D0D34C2F}"/>
                </a:ext>
              </a:extLst>
            </p:cNvPr>
            <p:cNvSpPr txBox="1">
              <a:spLocks noChangeArrowheads="1"/>
            </p:cNvSpPr>
            <p:nvPr/>
          </p:nvSpPr>
          <p:spPr bwMode="auto">
            <a:xfrm>
              <a:off x="2208" y="2160"/>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x</a:t>
              </a:r>
              <a:r>
                <a:rPr lang="en-US" altLang="en-US" sz="2400" baseline="-25000"/>
                <a:t>2</a:t>
              </a:r>
              <a:endParaRPr lang="en-US" altLang="en-US" sz="2400" i="1"/>
            </a:p>
          </p:txBody>
        </p:sp>
        <p:sp>
          <p:nvSpPr>
            <p:cNvPr id="8235" name="Text Box 44">
              <a:extLst>
                <a:ext uri="{FF2B5EF4-FFF2-40B4-BE49-F238E27FC236}">
                  <a16:creationId xmlns:a16="http://schemas.microsoft.com/office/drawing/2014/main" id="{0A020C5D-D225-810A-FA30-F0A1863F232D}"/>
                </a:ext>
              </a:extLst>
            </p:cNvPr>
            <p:cNvSpPr txBox="1">
              <a:spLocks noChangeArrowheads="1"/>
            </p:cNvSpPr>
            <p:nvPr/>
          </p:nvSpPr>
          <p:spPr bwMode="auto">
            <a:xfrm>
              <a:off x="2536" y="1776"/>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  5</a:t>
              </a:r>
            </a:p>
          </p:txBody>
        </p:sp>
        <p:sp>
          <p:nvSpPr>
            <p:cNvPr id="8236" name="Text Box 45">
              <a:extLst>
                <a:ext uri="{FF2B5EF4-FFF2-40B4-BE49-F238E27FC236}">
                  <a16:creationId xmlns:a16="http://schemas.microsoft.com/office/drawing/2014/main" id="{EBDA53AD-86DD-6011-8FDA-EB1752DB2074}"/>
                </a:ext>
              </a:extLst>
            </p:cNvPr>
            <p:cNvSpPr txBox="1">
              <a:spLocks noChangeArrowheads="1"/>
            </p:cNvSpPr>
            <p:nvPr/>
          </p:nvSpPr>
          <p:spPr bwMode="auto">
            <a:xfrm>
              <a:off x="2592" y="15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6</a:t>
              </a:r>
            </a:p>
          </p:txBody>
        </p:sp>
        <p:sp>
          <p:nvSpPr>
            <p:cNvPr id="8237" name="Freeform 50">
              <a:extLst>
                <a:ext uri="{FF2B5EF4-FFF2-40B4-BE49-F238E27FC236}">
                  <a16:creationId xmlns:a16="http://schemas.microsoft.com/office/drawing/2014/main" id="{BC3AD3DB-8C28-84CF-4CE9-F57B44251CF2}"/>
                </a:ext>
              </a:extLst>
            </p:cNvPr>
            <p:cNvSpPr>
              <a:spLocks/>
            </p:cNvSpPr>
            <p:nvPr/>
          </p:nvSpPr>
          <p:spPr bwMode="auto">
            <a:xfrm>
              <a:off x="2832" y="1872"/>
              <a:ext cx="1152" cy="960"/>
            </a:xfrm>
            <a:custGeom>
              <a:avLst/>
              <a:gdLst>
                <a:gd name="T0" fmla="*/ 0 w 1152"/>
                <a:gd name="T1" fmla="*/ 0 h 960"/>
                <a:gd name="T2" fmla="*/ 768 w 1152"/>
                <a:gd name="T3" fmla="*/ 336 h 960"/>
                <a:gd name="T4" fmla="*/ 1152 w 1152"/>
                <a:gd name="T5" fmla="*/ 960 h 960"/>
                <a:gd name="T6" fmla="*/ 0 60000 65536"/>
                <a:gd name="T7" fmla="*/ 0 60000 65536"/>
                <a:gd name="T8" fmla="*/ 0 60000 65536"/>
                <a:gd name="T9" fmla="*/ 0 w 1152"/>
                <a:gd name="T10" fmla="*/ 0 h 960"/>
                <a:gd name="T11" fmla="*/ 1152 w 1152"/>
                <a:gd name="T12" fmla="*/ 960 h 960"/>
              </a:gdLst>
              <a:ahLst/>
              <a:cxnLst>
                <a:cxn ang="T6">
                  <a:pos x="T0" y="T1"/>
                </a:cxn>
                <a:cxn ang="T7">
                  <a:pos x="T2" y="T3"/>
                </a:cxn>
                <a:cxn ang="T8">
                  <a:pos x="T4" y="T5"/>
                </a:cxn>
              </a:cxnLst>
              <a:rect l="T9" t="T10" r="T11" b="T12"/>
              <a:pathLst>
                <a:path w="1152" h="960">
                  <a:moveTo>
                    <a:pt x="0" y="0"/>
                  </a:moveTo>
                  <a:cubicBezTo>
                    <a:pt x="288" y="88"/>
                    <a:pt x="576" y="176"/>
                    <a:pt x="768" y="336"/>
                  </a:cubicBezTo>
                  <a:cubicBezTo>
                    <a:pt x="960" y="496"/>
                    <a:pt x="1088" y="856"/>
                    <a:pt x="1152" y="960"/>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38" name="Freeform 52">
              <a:extLst>
                <a:ext uri="{FF2B5EF4-FFF2-40B4-BE49-F238E27FC236}">
                  <a16:creationId xmlns:a16="http://schemas.microsoft.com/office/drawing/2014/main" id="{F7BC76DA-5FA1-2293-6340-F71B6BF9225E}"/>
                </a:ext>
              </a:extLst>
            </p:cNvPr>
            <p:cNvSpPr>
              <a:spLocks/>
            </p:cNvSpPr>
            <p:nvPr/>
          </p:nvSpPr>
          <p:spPr bwMode="auto">
            <a:xfrm>
              <a:off x="3408" y="1632"/>
              <a:ext cx="1008" cy="1200"/>
            </a:xfrm>
            <a:custGeom>
              <a:avLst/>
              <a:gdLst>
                <a:gd name="T0" fmla="*/ 0 w 1008"/>
                <a:gd name="T1" fmla="*/ 1200 h 1200"/>
                <a:gd name="T2" fmla="*/ 192 w 1008"/>
                <a:gd name="T3" fmla="*/ 720 h 1200"/>
                <a:gd name="T4" fmla="*/ 1008 w 1008"/>
                <a:gd name="T5" fmla="*/ 0 h 1200"/>
                <a:gd name="T6" fmla="*/ 0 60000 65536"/>
                <a:gd name="T7" fmla="*/ 0 60000 65536"/>
                <a:gd name="T8" fmla="*/ 0 60000 65536"/>
                <a:gd name="T9" fmla="*/ 0 w 1008"/>
                <a:gd name="T10" fmla="*/ 0 h 1200"/>
                <a:gd name="T11" fmla="*/ 1008 w 1008"/>
                <a:gd name="T12" fmla="*/ 1200 h 1200"/>
              </a:gdLst>
              <a:ahLst/>
              <a:cxnLst>
                <a:cxn ang="T6">
                  <a:pos x="T0" y="T1"/>
                </a:cxn>
                <a:cxn ang="T7">
                  <a:pos x="T2" y="T3"/>
                </a:cxn>
                <a:cxn ang="T8">
                  <a:pos x="T4" y="T5"/>
                </a:cxn>
              </a:cxnLst>
              <a:rect l="T9" t="T10" r="T11" b="T12"/>
              <a:pathLst>
                <a:path w="1008" h="1200">
                  <a:moveTo>
                    <a:pt x="0" y="1200"/>
                  </a:moveTo>
                  <a:cubicBezTo>
                    <a:pt x="12" y="1060"/>
                    <a:pt x="24" y="920"/>
                    <a:pt x="192" y="720"/>
                  </a:cubicBezTo>
                  <a:cubicBezTo>
                    <a:pt x="360" y="520"/>
                    <a:pt x="872" y="120"/>
                    <a:pt x="1008" y="0"/>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39" name="Oval 53">
              <a:extLst>
                <a:ext uri="{FF2B5EF4-FFF2-40B4-BE49-F238E27FC236}">
                  <a16:creationId xmlns:a16="http://schemas.microsoft.com/office/drawing/2014/main" id="{9D2C1C83-1F09-48A6-6A18-F3EC2672A3FC}"/>
                </a:ext>
              </a:extLst>
            </p:cNvPr>
            <p:cNvSpPr>
              <a:spLocks noChangeArrowheads="1"/>
            </p:cNvSpPr>
            <p:nvPr/>
          </p:nvSpPr>
          <p:spPr bwMode="auto">
            <a:xfrm>
              <a:off x="3648" y="225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240" name="Line 54">
              <a:extLst>
                <a:ext uri="{FF2B5EF4-FFF2-40B4-BE49-F238E27FC236}">
                  <a16:creationId xmlns:a16="http://schemas.microsoft.com/office/drawing/2014/main" id="{A0CC25F9-0015-56DB-3C4A-27F9482C7AC5}"/>
                </a:ext>
              </a:extLst>
            </p:cNvPr>
            <p:cNvSpPr>
              <a:spLocks noChangeShapeType="1"/>
            </p:cNvSpPr>
            <p:nvPr/>
          </p:nvSpPr>
          <p:spPr bwMode="auto">
            <a:xfrm flipH="1" flipV="1">
              <a:off x="3072" y="1488"/>
              <a:ext cx="1008" cy="134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241" name="Line 55">
              <a:extLst>
                <a:ext uri="{FF2B5EF4-FFF2-40B4-BE49-F238E27FC236}">
                  <a16:creationId xmlns:a16="http://schemas.microsoft.com/office/drawing/2014/main" id="{DDCF6C53-9A6B-BEFB-9B76-933C86BAF9C0}"/>
                </a:ext>
              </a:extLst>
            </p:cNvPr>
            <p:cNvSpPr>
              <a:spLocks noChangeShapeType="1"/>
            </p:cNvSpPr>
            <p:nvPr/>
          </p:nvSpPr>
          <p:spPr bwMode="auto">
            <a:xfrm flipH="1">
              <a:off x="3072" y="1968"/>
              <a:ext cx="4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42" name="Line 56">
              <a:extLst>
                <a:ext uri="{FF2B5EF4-FFF2-40B4-BE49-F238E27FC236}">
                  <a16:creationId xmlns:a16="http://schemas.microsoft.com/office/drawing/2014/main" id="{8E692918-A5AB-205F-74C8-EDAB2C710DA7}"/>
                </a:ext>
              </a:extLst>
            </p:cNvPr>
            <p:cNvSpPr>
              <a:spLocks noChangeShapeType="1"/>
            </p:cNvSpPr>
            <p:nvPr/>
          </p:nvSpPr>
          <p:spPr bwMode="auto">
            <a:xfrm flipH="1">
              <a:off x="3744" y="2592"/>
              <a:ext cx="96" cy="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43" name="Line 57">
              <a:extLst>
                <a:ext uri="{FF2B5EF4-FFF2-40B4-BE49-F238E27FC236}">
                  <a16:creationId xmlns:a16="http://schemas.microsoft.com/office/drawing/2014/main" id="{ED1E819A-8368-C387-5F01-AE940805BFAD}"/>
                </a:ext>
              </a:extLst>
            </p:cNvPr>
            <p:cNvSpPr>
              <a:spLocks noChangeShapeType="1"/>
            </p:cNvSpPr>
            <p:nvPr/>
          </p:nvSpPr>
          <p:spPr bwMode="auto">
            <a:xfrm flipH="1" flipV="1">
              <a:off x="4080" y="1632"/>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44" name="Line 60">
              <a:extLst>
                <a:ext uri="{FF2B5EF4-FFF2-40B4-BE49-F238E27FC236}">
                  <a16:creationId xmlns:a16="http://schemas.microsoft.com/office/drawing/2014/main" id="{511C3125-E446-6BDF-3F65-E8C0BFE9B20B}"/>
                </a:ext>
              </a:extLst>
            </p:cNvPr>
            <p:cNvSpPr>
              <a:spLocks noChangeShapeType="1"/>
            </p:cNvSpPr>
            <p:nvPr/>
          </p:nvSpPr>
          <p:spPr bwMode="auto">
            <a:xfrm flipH="1" flipV="1">
              <a:off x="3312" y="2448"/>
              <a:ext cx="144"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aphicFrame>
        <p:nvGraphicFramePr>
          <p:cNvPr id="146494" name="Object 62">
            <a:extLst>
              <a:ext uri="{FF2B5EF4-FFF2-40B4-BE49-F238E27FC236}">
                <a16:creationId xmlns:a16="http://schemas.microsoft.com/office/drawing/2014/main" id="{1D07953D-4CDB-9BE2-C25F-C962A99DB2A1}"/>
              </a:ext>
            </a:extLst>
          </p:cNvPr>
          <p:cNvGraphicFramePr>
            <a:graphicFrameLocks noChangeAspect="1"/>
          </p:cNvGraphicFramePr>
          <p:nvPr/>
        </p:nvGraphicFramePr>
        <p:xfrm>
          <a:off x="4876800" y="1981200"/>
          <a:ext cx="1676400" cy="452438"/>
        </p:xfrm>
        <a:graphic>
          <a:graphicData uri="http://schemas.openxmlformats.org/presentationml/2006/ole">
            <mc:AlternateContent xmlns:mc="http://schemas.openxmlformats.org/markup-compatibility/2006">
              <mc:Choice xmlns:v="urn:schemas-microsoft-com:vml" Requires="v">
                <p:oleObj name="Equation" r:id="rId4" imgW="799753" imgH="215806" progId="Equation.3">
                  <p:embed/>
                </p:oleObj>
              </mc:Choice>
              <mc:Fallback>
                <p:oleObj name="Equation" r:id="rId4" imgW="799753" imgH="215806" progId="Equation.3">
                  <p:embed/>
                  <p:pic>
                    <p:nvPicPr>
                      <p:cNvPr id="146494" name="Object 62">
                        <a:extLst>
                          <a:ext uri="{FF2B5EF4-FFF2-40B4-BE49-F238E27FC236}">
                            <a16:creationId xmlns:a16="http://schemas.microsoft.com/office/drawing/2014/main" id="{1D07953D-4CDB-9BE2-C25F-C962A99DB2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1981200"/>
                        <a:ext cx="1676400"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95" name="Object 63">
            <a:extLst>
              <a:ext uri="{FF2B5EF4-FFF2-40B4-BE49-F238E27FC236}">
                <a16:creationId xmlns:a16="http://schemas.microsoft.com/office/drawing/2014/main" id="{3ED4A457-DAEF-8BC2-E56A-AF4CE17E56C5}"/>
              </a:ext>
            </a:extLst>
          </p:cNvPr>
          <p:cNvGraphicFramePr>
            <a:graphicFrameLocks noChangeAspect="1"/>
          </p:cNvGraphicFramePr>
          <p:nvPr/>
        </p:nvGraphicFramePr>
        <p:xfrm>
          <a:off x="6248400" y="3733800"/>
          <a:ext cx="1622425" cy="479425"/>
        </p:xfrm>
        <a:graphic>
          <a:graphicData uri="http://schemas.openxmlformats.org/presentationml/2006/ole">
            <mc:AlternateContent xmlns:mc="http://schemas.openxmlformats.org/markup-compatibility/2006">
              <mc:Choice xmlns:v="urn:schemas-microsoft-com:vml" Requires="v">
                <p:oleObj name="Equation" r:id="rId6" imgW="774364" imgH="228501" progId="Equation.3">
                  <p:embed/>
                </p:oleObj>
              </mc:Choice>
              <mc:Fallback>
                <p:oleObj name="Equation" r:id="rId6" imgW="774364" imgH="228501" progId="Equation.3">
                  <p:embed/>
                  <p:pic>
                    <p:nvPicPr>
                      <p:cNvPr id="146495" name="Object 63">
                        <a:extLst>
                          <a:ext uri="{FF2B5EF4-FFF2-40B4-BE49-F238E27FC236}">
                            <a16:creationId xmlns:a16="http://schemas.microsoft.com/office/drawing/2014/main" id="{3ED4A457-DAEF-8BC2-E56A-AF4CE17E56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8400" y="3733800"/>
                        <a:ext cx="1622425"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96" name="Object 64">
            <a:extLst>
              <a:ext uri="{FF2B5EF4-FFF2-40B4-BE49-F238E27FC236}">
                <a16:creationId xmlns:a16="http://schemas.microsoft.com/office/drawing/2014/main" id="{0D9EFD70-421B-0E4A-04A1-6CCE35C60B97}"/>
              </a:ext>
            </a:extLst>
          </p:cNvPr>
          <p:cNvGraphicFramePr>
            <a:graphicFrameLocks noChangeAspect="1"/>
          </p:cNvGraphicFramePr>
          <p:nvPr/>
        </p:nvGraphicFramePr>
        <p:xfrm>
          <a:off x="6888163" y="2654300"/>
          <a:ext cx="1462087" cy="479425"/>
        </p:xfrm>
        <a:graphic>
          <a:graphicData uri="http://schemas.openxmlformats.org/presentationml/2006/ole">
            <mc:AlternateContent xmlns:mc="http://schemas.openxmlformats.org/markup-compatibility/2006">
              <mc:Choice xmlns:v="urn:schemas-microsoft-com:vml" Requires="v">
                <p:oleObj name="Equation" r:id="rId8" imgW="698500" imgH="228600" progId="Equation.3">
                  <p:embed/>
                </p:oleObj>
              </mc:Choice>
              <mc:Fallback>
                <p:oleObj name="Equation" r:id="rId8" imgW="698500" imgH="228600" progId="Equation.3">
                  <p:embed/>
                  <p:pic>
                    <p:nvPicPr>
                      <p:cNvPr id="146496" name="Object 64">
                        <a:extLst>
                          <a:ext uri="{FF2B5EF4-FFF2-40B4-BE49-F238E27FC236}">
                            <a16:creationId xmlns:a16="http://schemas.microsoft.com/office/drawing/2014/main" id="{0D9EFD70-421B-0E4A-04A1-6CCE35C60B9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88163" y="2654300"/>
                        <a:ext cx="1462087"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97" name="Oval 65">
            <a:extLst>
              <a:ext uri="{FF2B5EF4-FFF2-40B4-BE49-F238E27FC236}">
                <a16:creationId xmlns:a16="http://schemas.microsoft.com/office/drawing/2014/main" id="{0D034DF1-F22D-EBCF-4172-586722F89AC5}"/>
              </a:ext>
            </a:extLst>
          </p:cNvPr>
          <p:cNvSpPr>
            <a:spLocks noChangeArrowheads="1"/>
          </p:cNvSpPr>
          <p:nvPr/>
        </p:nvSpPr>
        <p:spPr bwMode="auto">
          <a:xfrm>
            <a:off x="5105400" y="3886200"/>
            <a:ext cx="76200" cy="76200"/>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6494"/>
                                        </p:tgtEl>
                                        <p:attrNameLst>
                                          <p:attrName>style.visibility</p:attrName>
                                        </p:attrNameLst>
                                      </p:cBhvr>
                                      <p:to>
                                        <p:strVal val="visible"/>
                                      </p:to>
                                    </p:set>
                                    <p:anim calcmode="lin" valueType="num">
                                      <p:cBhvr additive="base">
                                        <p:cTn id="13" dur="500" fill="hold"/>
                                        <p:tgtEl>
                                          <p:spTgt spid="146494"/>
                                        </p:tgtEl>
                                        <p:attrNameLst>
                                          <p:attrName>ppt_x</p:attrName>
                                        </p:attrNameLst>
                                      </p:cBhvr>
                                      <p:tavLst>
                                        <p:tav tm="0">
                                          <p:val>
                                            <p:strVal val="0-#ppt_w/2"/>
                                          </p:val>
                                        </p:tav>
                                        <p:tav tm="100000">
                                          <p:val>
                                            <p:strVal val="#ppt_x"/>
                                          </p:val>
                                        </p:tav>
                                      </p:tavLst>
                                    </p:anim>
                                    <p:anim calcmode="lin" valueType="num">
                                      <p:cBhvr additive="base">
                                        <p:cTn id="14" dur="500" fill="hold"/>
                                        <p:tgtEl>
                                          <p:spTgt spid="14649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46496"/>
                                        </p:tgtEl>
                                        <p:attrNameLst>
                                          <p:attrName>style.visibility</p:attrName>
                                        </p:attrNameLst>
                                      </p:cBhvr>
                                      <p:to>
                                        <p:strVal val="visible"/>
                                      </p:to>
                                    </p:set>
                                    <p:anim calcmode="lin" valueType="num">
                                      <p:cBhvr additive="base">
                                        <p:cTn id="19" dur="500" fill="hold"/>
                                        <p:tgtEl>
                                          <p:spTgt spid="146496"/>
                                        </p:tgtEl>
                                        <p:attrNameLst>
                                          <p:attrName>ppt_x</p:attrName>
                                        </p:attrNameLst>
                                      </p:cBhvr>
                                      <p:tavLst>
                                        <p:tav tm="0">
                                          <p:val>
                                            <p:strVal val="0-#ppt_w/2"/>
                                          </p:val>
                                        </p:tav>
                                        <p:tav tm="100000">
                                          <p:val>
                                            <p:strVal val="#ppt_x"/>
                                          </p:val>
                                        </p:tav>
                                      </p:tavLst>
                                    </p:anim>
                                    <p:anim calcmode="lin" valueType="num">
                                      <p:cBhvr additive="base">
                                        <p:cTn id="20" dur="500" fill="hold"/>
                                        <p:tgtEl>
                                          <p:spTgt spid="14649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46495"/>
                                        </p:tgtEl>
                                        <p:attrNameLst>
                                          <p:attrName>style.visibility</p:attrName>
                                        </p:attrNameLst>
                                      </p:cBhvr>
                                      <p:to>
                                        <p:strVal val="visible"/>
                                      </p:to>
                                    </p:set>
                                    <p:anim calcmode="lin" valueType="num">
                                      <p:cBhvr additive="base">
                                        <p:cTn id="25" dur="500" fill="hold"/>
                                        <p:tgtEl>
                                          <p:spTgt spid="146495"/>
                                        </p:tgtEl>
                                        <p:attrNameLst>
                                          <p:attrName>ppt_x</p:attrName>
                                        </p:attrNameLst>
                                      </p:cBhvr>
                                      <p:tavLst>
                                        <p:tav tm="0">
                                          <p:val>
                                            <p:strVal val="0-#ppt_w/2"/>
                                          </p:val>
                                        </p:tav>
                                        <p:tav tm="100000">
                                          <p:val>
                                            <p:strVal val="#ppt_x"/>
                                          </p:val>
                                        </p:tav>
                                      </p:tavLst>
                                    </p:anim>
                                    <p:anim calcmode="lin" valueType="num">
                                      <p:cBhvr additive="base">
                                        <p:cTn id="26" dur="500" fill="hold"/>
                                        <p:tgtEl>
                                          <p:spTgt spid="14649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46437">
                                            <p:txEl>
                                              <p:pRg st="0" end="0"/>
                                            </p:txEl>
                                          </p:spTgt>
                                        </p:tgtEl>
                                        <p:attrNameLst>
                                          <p:attrName>style.visibility</p:attrName>
                                        </p:attrNameLst>
                                      </p:cBhvr>
                                      <p:to>
                                        <p:strVal val="visible"/>
                                      </p:to>
                                    </p:set>
                                    <p:anim calcmode="lin" valueType="num">
                                      <p:cBhvr additive="base">
                                        <p:cTn id="31" dur="500" fill="hold"/>
                                        <p:tgtEl>
                                          <p:spTgt spid="146437">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64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46437">
                                            <p:txEl>
                                              <p:pRg st="1" end="1"/>
                                            </p:txEl>
                                          </p:spTgt>
                                        </p:tgtEl>
                                        <p:attrNameLst>
                                          <p:attrName>style.visibility</p:attrName>
                                        </p:attrNameLst>
                                      </p:cBhvr>
                                      <p:to>
                                        <p:strVal val="visible"/>
                                      </p:to>
                                    </p:set>
                                    <p:anim calcmode="lin" valueType="num">
                                      <p:cBhvr additive="base">
                                        <p:cTn id="37" dur="500" fill="hold"/>
                                        <p:tgtEl>
                                          <p:spTgt spid="146437">
                                            <p:txEl>
                                              <p:pRg st="1" end="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4643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46497"/>
                                        </p:tgtEl>
                                        <p:attrNameLst>
                                          <p:attrName>style.visibility</p:attrName>
                                        </p:attrNameLst>
                                      </p:cBhvr>
                                      <p:to>
                                        <p:strVal val="visible"/>
                                      </p:to>
                                    </p:set>
                                    <p:anim calcmode="lin" valueType="num">
                                      <p:cBhvr additive="base">
                                        <p:cTn id="43" dur="500" fill="hold"/>
                                        <p:tgtEl>
                                          <p:spTgt spid="146497"/>
                                        </p:tgtEl>
                                        <p:attrNameLst>
                                          <p:attrName>ppt_x</p:attrName>
                                        </p:attrNameLst>
                                      </p:cBhvr>
                                      <p:tavLst>
                                        <p:tav tm="0">
                                          <p:val>
                                            <p:strVal val="0-#ppt_w/2"/>
                                          </p:val>
                                        </p:tav>
                                        <p:tav tm="100000">
                                          <p:val>
                                            <p:strVal val="#ppt_x"/>
                                          </p:val>
                                        </p:tav>
                                      </p:tavLst>
                                    </p:anim>
                                    <p:anim calcmode="lin" valueType="num">
                                      <p:cBhvr additive="base">
                                        <p:cTn id="44" dur="500" fill="hold"/>
                                        <p:tgtEl>
                                          <p:spTgt spid="1464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7" grpId="0" build="p" autoUpdateAnimBg="0"/>
      <p:bldP spid="146497"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C3AD519-C4D3-0609-70F0-3897E2938630}"/>
              </a:ext>
            </a:extLst>
          </p:cNvPr>
          <p:cNvSpPr>
            <a:spLocks noGrp="1" noChangeArrowheads="1"/>
          </p:cNvSpPr>
          <p:nvPr>
            <p:ph type="title"/>
          </p:nvPr>
        </p:nvSpPr>
        <p:spPr>
          <a:xfrm>
            <a:off x="533400" y="0"/>
            <a:ext cx="8077200" cy="1143000"/>
          </a:xfrm>
        </p:spPr>
        <p:txBody>
          <a:bodyPr/>
          <a:lstStyle/>
          <a:p>
            <a:pPr>
              <a:lnSpc>
                <a:spcPct val="80000"/>
              </a:lnSpc>
            </a:pPr>
            <a:r>
              <a:rPr lang="en-US" altLang="en-US"/>
              <a:t>Performing the Linearizations</a:t>
            </a:r>
          </a:p>
        </p:txBody>
      </p:sp>
      <p:sp>
        <p:nvSpPr>
          <p:cNvPr id="9219" name="Rectangle 3">
            <a:extLst>
              <a:ext uri="{FF2B5EF4-FFF2-40B4-BE49-F238E27FC236}">
                <a16:creationId xmlns:a16="http://schemas.microsoft.com/office/drawing/2014/main" id="{AD2C0014-655B-3BE1-5F73-29D2F90EA662}"/>
              </a:ext>
            </a:extLst>
          </p:cNvPr>
          <p:cNvSpPr>
            <a:spLocks noChangeArrowheads="1"/>
          </p:cNvSpPr>
          <p:nvPr/>
        </p:nvSpPr>
        <p:spPr bwMode="auto">
          <a:xfrm>
            <a:off x="228600" y="152400"/>
            <a:ext cx="86868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0" name="Rectangle 4">
            <a:extLst>
              <a:ext uri="{FF2B5EF4-FFF2-40B4-BE49-F238E27FC236}">
                <a16:creationId xmlns:a16="http://schemas.microsoft.com/office/drawing/2014/main" id="{7F3681E1-5E7A-400F-03E5-BEF1C8ECEB6B}"/>
              </a:ext>
            </a:extLst>
          </p:cNvPr>
          <p:cNvSpPr>
            <a:spLocks noChangeArrowheads="1"/>
          </p:cNvSpPr>
          <p:nvPr/>
        </p:nvSpPr>
        <p:spPr bwMode="auto">
          <a:xfrm>
            <a:off x="6400800" y="61722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20</a:t>
            </a:r>
          </a:p>
        </p:txBody>
      </p:sp>
      <p:sp>
        <p:nvSpPr>
          <p:cNvPr id="120837" name="Rectangle 5">
            <a:extLst>
              <a:ext uri="{FF2B5EF4-FFF2-40B4-BE49-F238E27FC236}">
                <a16:creationId xmlns:a16="http://schemas.microsoft.com/office/drawing/2014/main" id="{08A8163E-217E-926B-C473-1F6ED184B35D}"/>
              </a:ext>
            </a:extLst>
          </p:cNvPr>
          <p:cNvSpPr>
            <a:spLocks noGrp="1" noChangeArrowheads="1"/>
          </p:cNvSpPr>
          <p:nvPr>
            <p:ph type="body" idx="1"/>
          </p:nvPr>
        </p:nvSpPr>
        <p:spPr>
          <a:xfrm>
            <a:off x="381000" y="990600"/>
            <a:ext cx="8305800" cy="3124200"/>
          </a:xfrm>
        </p:spPr>
        <p:txBody>
          <a:bodyPr/>
          <a:lstStyle/>
          <a:p>
            <a:r>
              <a:rPr lang="en-US" altLang="en-US"/>
              <a:t>SLP requires an initial feasible point.  We’ll start with [2,2]</a:t>
            </a:r>
          </a:p>
          <a:p>
            <a:r>
              <a:rPr lang="en-US" altLang="en-US"/>
              <a:t>We must linearize </a:t>
            </a:r>
            <a:r>
              <a:rPr lang="en-US" altLang="en-US" u="sng"/>
              <a:t>all</a:t>
            </a:r>
            <a:r>
              <a:rPr lang="en-US" altLang="en-US"/>
              <a:t> constraints and the objective function, so we allow no discontinuous or nondifferentiable functions in the problem</a:t>
            </a:r>
          </a:p>
        </p:txBody>
      </p:sp>
      <p:grpSp>
        <p:nvGrpSpPr>
          <p:cNvPr id="2" name="Group 50">
            <a:extLst>
              <a:ext uri="{FF2B5EF4-FFF2-40B4-BE49-F238E27FC236}">
                <a16:creationId xmlns:a16="http://schemas.microsoft.com/office/drawing/2014/main" id="{C9952BE5-F87A-64E0-726C-6BACF4D499D8}"/>
              </a:ext>
            </a:extLst>
          </p:cNvPr>
          <p:cNvGrpSpPr>
            <a:grpSpLocks/>
          </p:cNvGrpSpPr>
          <p:nvPr/>
        </p:nvGrpSpPr>
        <p:grpSpPr bwMode="auto">
          <a:xfrm>
            <a:off x="403225" y="5105400"/>
            <a:ext cx="8169275" cy="1517650"/>
            <a:chOff x="254" y="3216"/>
            <a:chExt cx="5146" cy="956"/>
          </a:xfrm>
        </p:grpSpPr>
        <p:graphicFrame>
          <p:nvGraphicFramePr>
            <p:cNvPr id="9226" name="Object 45">
              <a:extLst>
                <a:ext uri="{FF2B5EF4-FFF2-40B4-BE49-F238E27FC236}">
                  <a16:creationId xmlns:a16="http://schemas.microsoft.com/office/drawing/2014/main" id="{4C0EFECA-B211-C5BA-5163-45AB468ED174}"/>
                </a:ext>
              </a:extLst>
            </p:cNvPr>
            <p:cNvGraphicFramePr>
              <a:graphicFrameLocks noChangeAspect="1"/>
            </p:cNvGraphicFramePr>
            <p:nvPr/>
          </p:nvGraphicFramePr>
          <p:xfrm>
            <a:off x="1584" y="3552"/>
            <a:ext cx="3200" cy="379"/>
          </p:xfrm>
          <a:graphic>
            <a:graphicData uri="http://schemas.openxmlformats.org/presentationml/2006/ole">
              <mc:AlternateContent xmlns:mc="http://schemas.openxmlformats.org/markup-compatibility/2006">
                <mc:Choice xmlns:v="urn:schemas-microsoft-com:vml" Requires="v">
                  <p:oleObj name="Equation" r:id="rId2" imgW="1930400" imgH="228600" progId="Equation.3">
                    <p:embed/>
                  </p:oleObj>
                </mc:Choice>
                <mc:Fallback>
                  <p:oleObj name="Equation" r:id="rId2" imgW="1930400" imgH="228600" progId="Equation.3">
                    <p:embed/>
                    <p:pic>
                      <p:nvPicPr>
                        <p:cNvPr id="9226" name="Object 45">
                          <a:extLst>
                            <a:ext uri="{FF2B5EF4-FFF2-40B4-BE49-F238E27FC236}">
                              <a16:creationId xmlns:a16="http://schemas.microsoft.com/office/drawing/2014/main" id="{4C0EFECA-B211-C5BA-5163-45AB468ED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 y="3552"/>
                          <a:ext cx="3200" cy="3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7" name="Text Box 47">
              <a:extLst>
                <a:ext uri="{FF2B5EF4-FFF2-40B4-BE49-F238E27FC236}">
                  <a16:creationId xmlns:a16="http://schemas.microsoft.com/office/drawing/2014/main" id="{6245B2AD-050B-1582-18A3-D09AD2564C81}"/>
                </a:ext>
              </a:extLst>
            </p:cNvPr>
            <p:cNvSpPr txBox="1">
              <a:spLocks noChangeArrowheads="1"/>
            </p:cNvSpPr>
            <p:nvPr/>
          </p:nvSpPr>
          <p:spPr bwMode="auto">
            <a:xfrm>
              <a:off x="254" y="3216"/>
              <a:ext cx="5146" cy="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pPr>
              <a:r>
                <a:rPr lang="en-US" altLang="en-US"/>
                <a:t>  The general formula for linearizing any function is:</a:t>
              </a:r>
            </a:p>
            <a:p>
              <a:pPr>
                <a:spcBef>
                  <a:spcPct val="0"/>
                </a:spcBef>
                <a:buFontTx/>
                <a:buNone/>
              </a:pPr>
              <a:endParaRPr lang="en-US" altLang="en-US" sz="3600"/>
            </a:p>
          </p:txBody>
        </p:sp>
      </p:grpSp>
      <p:grpSp>
        <p:nvGrpSpPr>
          <p:cNvPr id="3" name="Group 49">
            <a:extLst>
              <a:ext uri="{FF2B5EF4-FFF2-40B4-BE49-F238E27FC236}">
                <a16:creationId xmlns:a16="http://schemas.microsoft.com/office/drawing/2014/main" id="{1B883AB7-7E93-2946-2DDD-B51001381DB3}"/>
              </a:ext>
            </a:extLst>
          </p:cNvPr>
          <p:cNvGrpSpPr>
            <a:grpSpLocks/>
          </p:cNvGrpSpPr>
          <p:nvPr/>
        </p:nvGrpSpPr>
        <p:grpSpPr bwMode="auto">
          <a:xfrm>
            <a:off x="381000" y="4114800"/>
            <a:ext cx="7940675" cy="1077913"/>
            <a:chOff x="240" y="2592"/>
            <a:chExt cx="5002" cy="679"/>
          </a:xfrm>
        </p:grpSpPr>
        <p:graphicFrame>
          <p:nvGraphicFramePr>
            <p:cNvPr id="9224" name="Object 46">
              <a:extLst>
                <a:ext uri="{FF2B5EF4-FFF2-40B4-BE49-F238E27FC236}">
                  <a16:creationId xmlns:a16="http://schemas.microsoft.com/office/drawing/2014/main" id="{005ECF14-9BDB-7789-D4E6-0FEFC7EB76C7}"/>
                </a:ext>
              </a:extLst>
            </p:cNvPr>
            <p:cNvGraphicFramePr>
              <a:graphicFrameLocks noChangeAspect="1"/>
            </p:cNvGraphicFramePr>
            <p:nvPr/>
          </p:nvGraphicFramePr>
          <p:xfrm>
            <a:off x="1680" y="2976"/>
            <a:ext cx="358" cy="295"/>
          </p:xfrm>
          <a:graphic>
            <a:graphicData uri="http://schemas.openxmlformats.org/presentationml/2006/ole">
              <mc:AlternateContent xmlns:mc="http://schemas.openxmlformats.org/markup-compatibility/2006">
                <mc:Choice xmlns:v="urn:schemas-microsoft-com:vml" Requires="v">
                  <p:oleObj name="Equation" r:id="rId4" imgW="215619" imgH="177569" progId="Equation.3">
                    <p:embed/>
                  </p:oleObj>
                </mc:Choice>
                <mc:Fallback>
                  <p:oleObj name="Equation" r:id="rId4" imgW="215619" imgH="177569" progId="Equation.3">
                    <p:embed/>
                    <p:pic>
                      <p:nvPicPr>
                        <p:cNvPr id="9224" name="Object 46">
                          <a:extLst>
                            <a:ext uri="{FF2B5EF4-FFF2-40B4-BE49-F238E27FC236}">
                              <a16:creationId xmlns:a16="http://schemas.microsoft.com/office/drawing/2014/main" id="{005ECF14-9BDB-7789-D4E6-0FEFC7EB76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0" y="2976"/>
                          <a:ext cx="358"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5" name="Text Box 48">
              <a:extLst>
                <a:ext uri="{FF2B5EF4-FFF2-40B4-BE49-F238E27FC236}">
                  <a16:creationId xmlns:a16="http://schemas.microsoft.com/office/drawing/2014/main" id="{EBB9690D-F9B3-AA60-72DD-9AD0C7BDD0FF}"/>
                </a:ext>
              </a:extLst>
            </p:cNvPr>
            <p:cNvSpPr txBox="1">
              <a:spLocks noChangeArrowheads="1"/>
            </p:cNvSpPr>
            <p:nvPr/>
          </p:nvSpPr>
          <p:spPr bwMode="auto">
            <a:xfrm>
              <a:off x="240" y="2592"/>
              <a:ext cx="5002"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a:t>
              </a:r>
              <a:r>
                <a:rPr lang="en-US" altLang="en-US"/>
                <a:t>Write the problem in terms of the change in each variable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0837">
                                            <p:txEl>
                                              <p:pRg st="0" end="0"/>
                                            </p:txEl>
                                          </p:spTgt>
                                        </p:tgtEl>
                                        <p:attrNameLst>
                                          <p:attrName>style.visibility</p:attrName>
                                        </p:attrNameLst>
                                      </p:cBhvr>
                                      <p:to>
                                        <p:strVal val="visible"/>
                                      </p:to>
                                    </p:set>
                                    <p:anim calcmode="lin" valueType="num">
                                      <p:cBhvr additive="base">
                                        <p:cTn id="7" dur="500" fill="hold"/>
                                        <p:tgtEl>
                                          <p:spTgt spid="12083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08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0837">
                                            <p:txEl>
                                              <p:pRg st="1" end="1"/>
                                            </p:txEl>
                                          </p:spTgt>
                                        </p:tgtEl>
                                        <p:attrNameLst>
                                          <p:attrName>style.visibility</p:attrName>
                                        </p:attrNameLst>
                                      </p:cBhvr>
                                      <p:to>
                                        <p:strVal val="visible"/>
                                      </p:to>
                                    </p:set>
                                    <p:anim calcmode="lin" valueType="num">
                                      <p:cBhvr additive="base">
                                        <p:cTn id="13" dur="500" fill="hold"/>
                                        <p:tgtEl>
                                          <p:spTgt spid="12083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083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0-#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7"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B875ADC-BAFF-6CA3-DAE0-951BBD65FEDF}"/>
              </a:ext>
            </a:extLst>
          </p:cNvPr>
          <p:cNvSpPr>
            <a:spLocks noGrp="1" noChangeArrowheads="1"/>
          </p:cNvSpPr>
          <p:nvPr>
            <p:ph type="title"/>
          </p:nvPr>
        </p:nvSpPr>
        <p:spPr>
          <a:xfrm>
            <a:off x="533400" y="0"/>
            <a:ext cx="8077200" cy="1143000"/>
          </a:xfrm>
        </p:spPr>
        <p:txBody>
          <a:bodyPr/>
          <a:lstStyle/>
          <a:p>
            <a:pPr>
              <a:lnSpc>
                <a:spcPct val="80000"/>
              </a:lnSpc>
            </a:pPr>
            <a:r>
              <a:rPr lang="en-US" altLang="en-US" sz="3800"/>
              <a:t>Setting up an LP subproblem</a:t>
            </a:r>
          </a:p>
        </p:txBody>
      </p:sp>
      <p:sp>
        <p:nvSpPr>
          <p:cNvPr id="10243" name="Rectangle 3">
            <a:extLst>
              <a:ext uri="{FF2B5EF4-FFF2-40B4-BE49-F238E27FC236}">
                <a16:creationId xmlns:a16="http://schemas.microsoft.com/office/drawing/2014/main" id="{0C408964-E44F-1273-6AA8-2A16B0908614}"/>
              </a:ext>
            </a:extLst>
          </p:cNvPr>
          <p:cNvSpPr>
            <a:spLocks noChangeArrowheads="1"/>
          </p:cNvSpPr>
          <p:nvPr/>
        </p:nvSpPr>
        <p:spPr bwMode="auto">
          <a:xfrm>
            <a:off x="228600" y="152400"/>
            <a:ext cx="86868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0244" name="Rectangle 4">
            <a:extLst>
              <a:ext uri="{FF2B5EF4-FFF2-40B4-BE49-F238E27FC236}">
                <a16:creationId xmlns:a16="http://schemas.microsoft.com/office/drawing/2014/main" id="{BDFFD5C0-D7B9-702F-0629-4D3498D9EB10}"/>
              </a:ext>
            </a:extLst>
          </p:cNvPr>
          <p:cNvSpPr>
            <a:spLocks noChangeArrowheads="1"/>
          </p:cNvSpPr>
          <p:nvPr/>
        </p:nvSpPr>
        <p:spPr bwMode="auto">
          <a:xfrm>
            <a:off x="6400800" y="61722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20</a:t>
            </a:r>
          </a:p>
        </p:txBody>
      </p:sp>
      <p:sp>
        <p:nvSpPr>
          <p:cNvPr id="10245" name="Rectangle 13">
            <a:extLst>
              <a:ext uri="{FF2B5EF4-FFF2-40B4-BE49-F238E27FC236}">
                <a16:creationId xmlns:a16="http://schemas.microsoft.com/office/drawing/2014/main" id="{65C60BE8-0828-4998-BFE8-A619F93C85C3}"/>
              </a:ext>
            </a:extLst>
          </p:cNvPr>
          <p:cNvSpPr>
            <a:spLocks noGrp="1" noChangeArrowheads="1"/>
          </p:cNvSpPr>
          <p:nvPr>
            <p:ph type="body" idx="1"/>
          </p:nvPr>
        </p:nvSpPr>
        <p:spPr>
          <a:xfrm>
            <a:off x="228600" y="1066800"/>
            <a:ext cx="8610600" cy="1066800"/>
          </a:xfrm>
        </p:spPr>
        <p:txBody>
          <a:bodyPr/>
          <a:lstStyle/>
          <a:p>
            <a:pPr>
              <a:tabLst>
                <a:tab pos="5087938" algn="l"/>
              </a:tabLst>
            </a:pPr>
            <a:r>
              <a:rPr lang="en-US" altLang="en-US" sz="3000"/>
              <a:t>OK, now write a Taylor series approximation to each function, around the point [2,2]</a:t>
            </a:r>
          </a:p>
        </p:txBody>
      </p:sp>
      <p:graphicFrame>
        <p:nvGraphicFramePr>
          <p:cNvPr id="10246" name="Object 15">
            <a:extLst>
              <a:ext uri="{FF2B5EF4-FFF2-40B4-BE49-F238E27FC236}">
                <a16:creationId xmlns:a16="http://schemas.microsoft.com/office/drawing/2014/main" id="{380BF092-CB68-4E6B-24AD-D9902674E869}"/>
              </a:ext>
            </a:extLst>
          </p:cNvPr>
          <p:cNvGraphicFramePr>
            <a:graphicFrameLocks noChangeAspect="1"/>
          </p:cNvGraphicFramePr>
          <p:nvPr/>
        </p:nvGraphicFramePr>
        <p:xfrm>
          <a:off x="2209800" y="2362200"/>
          <a:ext cx="4283075" cy="2881313"/>
        </p:xfrm>
        <a:graphic>
          <a:graphicData uri="http://schemas.openxmlformats.org/presentationml/2006/ole">
            <mc:AlternateContent xmlns:mc="http://schemas.openxmlformats.org/markup-compatibility/2006">
              <mc:Choice xmlns:v="urn:schemas-microsoft-com:vml" Requires="v">
                <p:oleObj name="Equation" r:id="rId2" imgW="1752600" imgH="1181100" progId="Equation.3">
                  <p:embed/>
                </p:oleObj>
              </mc:Choice>
              <mc:Fallback>
                <p:oleObj name="Equation" r:id="rId2" imgW="1752600" imgH="1181100" progId="Equation.3">
                  <p:embed/>
                  <p:pic>
                    <p:nvPicPr>
                      <p:cNvPr id="10246" name="Object 15">
                        <a:extLst>
                          <a:ext uri="{FF2B5EF4-FFF2-40B4-BE49-F238E27FC236}">
                            <a16:creationId xmlns:a16="http://schemas.microsoft.com/office/drawing/2014/main" id="{380BF092-CB68-4E6B-24AD-D9902674E8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362200"/>
                        <a:ext cx="4283075" cy="288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7" name="Object 16">
            <a:extLst>
              <a:ext uri="{FF2B5EF4-FFF2-40B4-BE49-F238E27FC236}">
                <a16:creationId xmlns:a16="http://schemas.microsoft.com/office/drawing/2014/main" id="{FFA4A768-D8BE-F677-93B6-251394745083}"/>
              </a:ext>
            </a:extLst>
          </p:cNvPr>
          <p:cNvGraphicFramePr>
            <a:graphicFrameLocks noChangeAspect="1"/>
          </p:cNvGraphicFramePr>
          <p:nvPr/>
        </p:nvGraphicFramePr>
        <p:xfrm>
          <a:off x="2032000" y="5715000"/>
          <a:ext cx="5080000" cy="601663"/>
        </p:xfrm>
        <a:graphic>
          <a:graphicData uri="http://schemas.openxmlformats.org/presentationml/2006/ole">
            <mc:AlternateContent xmlns:mc="http://schemas.openxmlformats.org/markup-compatibility/2006">
              <mc:Choice xmlns:v="urn:schemas-microsoft-com:vml" Requires="v">
                <p:oleObj name="Equation" r:id="rId4" imgW="1930400" imgH="228600" progId="Equation.3">
                  <p:embed/>
                </p:oleObj>
              </mc:Choice>
              <mc:Fallback>
                <p:oleObj name="Equation" r:id="rId4" imgW="1930400" imgH="228600" progId="Equation.3">
                  <p:embed/>
                  <p:pic>
                    <p:nvPicPr>
                      <p:cNvPr id="10247" name="Object 16">
                        <a:extLst>
                          <a:ext uri="{FF2B5EF4-FFF2-40B4-BE49-F238E27FC236}">
                            <a16:creationId xmlns:a16="http://schemas.microsoft.com/office/drawing/2014/main" id="{FFA4A768-D8BE-F677-93B6-2513947450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2000" y="5715000"/>
                        <a:ext cx="5080000" cy="601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3AE0EDE-0C5A-3B92-ABC7-526CC8BA1ED8}"/>
              </a:ext>
            </a:extLst>
          </p:cNvPr>
          <p:cNvSpPr>
            <a:spLocks noGrp="1" noChangeArrowheads="1"/>
          </p:cNvSpPr>
          <p:nvPr>
            <p:ph type="title"/>
          </p:nvPr>
        </p:nvSpPr>
        <p:spPr>
          <a:xfrm>
            <a:off x="533400" y="0"/>
            <a:ext cx="8077200" cy="1143000"/>
          </a:xfrm>
        </p:spPr>
        <p:txBody>
          <a:bodyPr/>
          <a:lstStyle/>
          <a:p>
            <a:pPr>
              <a:lnSpc>
                <a:spcPct val="80000"/>
              </a:lnSpc>
            </a:pPr>
            <a:r>
              <a:rPr lang="en-US" altLang="en-US" sz="3800"/>
              <a:t>Setting up an LP subproblem</a:t>
            </a:r>
          </a:p>
        </p:txBody>
      </p:sp>
      <p:sp>
        <p:nvSpPr>
          <p:cNvPr id="11267" name="Rectangle 3">
            <a:extLst>
              <a:ext uri="{FF2B5EF4-FFF2-40B4-BE49-F238E27FC236}">
                <a16:creationId xmlns:a16="http://schemas.microsoft.com/office/drawing/2014/main" id="{037E9B0A-CFCE-8AF9-269C-9D327B85AE92}"/>
              </a:ext>
            </a:extLst>
          </p:cNvPr>
          <p:cNvSpPr>
            <a:spLocks noChangeArrowheads="1"/>
          </p:cNvSpPr>
          <p:nvPr/>
        </p:nvSpPr>
        <p:spPr bwMode="auto">
          <a:xfrm>
            <a:off x="228600" y="152400"/>
            <a:ext cx="87630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68" name="Rectangle 4">
            <a:extLst>
              <a:ext uri="{FF2B5EF4-FFF2-40B4-BE49-F238E27FC236}">
                <a16:creationId xmlns:a16="http://schemas.microsoft.com/office/drawing/2014/main" id="{3A850457-4ECD-7E02-528E-6B44753BD1CB}"/>
              </a:ext>
            </a:extLst>
          </p:cNvPr>
          <p:cNvSpPr>
            <a:spLocks noChangeArrowheads="1"/>
          </p:cNvSpPr>
          <p:nvPr/>
        </p:nvSpPr>
        <p:spPr bwMode="auto">
          <a:xfrm>
            <a:off x="6400800" y="61722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20</a:t>
            </a:r>
          </a:p>
        </p:txBody>
      </p:sp>
      <p:sp>
        <p:nvSpPr>
          <p:cNvPr id="11269" name="Rectangle 5">
            <a:extLst>
              <a:ext uri="{FF2B5EF4-FFF2-40B4-BE49-F238E27FC236}">
                <a16:creationId xmlns:a16="http://schemas.microsoft.com/office/drawing/2014/main" id="{E3FEC1A0-FF9E-FED1-0476-4E7A56BD4E3E}"/>
              </a:ext>
            </a:extLst>
          </p:cNvPr>
          <p:cNvSpPr>
            <a:spLocks noGrp="1" noChangeArrowheads="1"/>
          </p:cNvSpPr>
          <p:nvPr>
            <p:ph type="body" idx="1"/>
          </p:nvPr>
        </p:nvSpPr>
        <p:spPr>
          <a:xfrm>
            <a:off x="228600" y="1066800"/>
            <a:ext cx="8458200" cy="2362200"/>
          </a:xfrm>
        </p:spPr>
        <p:txBody>
          <a:bodyPr/>
          <a:lstStyle/>
          <a:p>
            <a:pPr>
              <a:tabLst>
                <a:tab pos="5087938" algn="l"/>
              </a:tabLst>
            </a:pPr>
            <a:r>
              <a:rPr lang="en-US" altLang="en-US" sz="3000"/>
              <a:t>Here’s what I get:</a:t>
            </a:r>
          </a:p>
        </p:txBody>
      </p:sp>
      <p:graphicFrame>
        <p:nvGraphicFramePr>
          <p:cNvPr id="154624" name="Object 0">
            <a:extLst>
              <a:ext uri="{FF2B5EF4-FFF2-40B4-BE49-F238E27FC236}">
                <a16:creationId xmlns:a16="http://schemas.microsoft.com/office/drawing/2014/main" id="{AEBCF5FA-6E07-EB9F-3DFD-190656863649}"/>
              </a:ext>
            </a:extLst>
          </p:cNvPr>
          <p:cNvGraphicFramePr>
            <a:graphicFrameLocks noChangeAspect="1"/>
          </p:cNvGraphicFramePr>
          <p:nvPr/>
        </p:nvGraphicFramePr>
        <p:xfrm>
          <a:off x="342900" y="1676400"/>
          <a:ext cx="8458200" cy="4335463"/>
        </p:xfrm>
        <a:graphic>
          <a:graphicData uri="http://schemas.openxmlformats.org/presentationml/2006/ole">
            <mc:AlternateContent xmlns:mc="http://schemas.openxmlformats.org/markup-compatibility/2006">
              <mc:Choice xmlns:v="urn:schemas-microsoft-com:vml" Requires="v">
                <p:oleObj name="Equation" r:id="rId2" imgW="4699000" imgH="2413000" progId="Equation.3">
                  <p:embed/>
                </p:oleObj>
              </mc:Choice>
              <mc:Fallback>
                <p:oleObj name="Equation" r:id="rId2" imgW="4699000" imgH="2413000" progId="Equation.3">
                  <p:embed/>
                  <p:pic>
                    <p:nvPicPr>
                      <p:cNvPr id="154624" name="Object 0">
                        <a:extLst>
                          <a:ext uri="{FF2B5EF4-FFF2-40B4-BE49-F238E27FC236}">
                            <a16:creationId xmlns:a16="http://schemas.microsoft.com/office/drawing/2014/main" id="{AEBCF5FA-6E07-EB9F-3DFD-1906568636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 y="1676400"/>
                        <a:ext cx="8458200" cy="433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4624"/>
                                        </p:tgtEl>
                                        <p:attrNameLst>
                                          <p:attrName>style.visibility</p:attrName>
                                        </p:attrNameLst>
                                      </p:cBhvr>
                                      <p:to>
                                        <p:strVal val="visible"/>
                                      </p:to>
                                    </p:set>
                                    <p:anim calcmode="lin" valueType="num">
                                      <p:cBhvr additive="base">
                                        <p:cTn id="7" dur="500" fill="hold"/>
                                        <p:tgtEl>
                                          <p:spTgt spid="154624"/>
                                        </p:tgtEl>
                                        <p:attrNameLst>
                                          <p:attrName>ppt_x</p:attrName>
                                        </p:attrNameLst>
                                      </p:cBhvr>
                                      <p:tavLst>
                                        <p:tav tm="0">
                                          <p:val>
                                            <p:strVal val="0-#ppt_w/2"/>
                                          </p:val>
                                        </p:tav>
                                        <p:tav tm="100000">
                                          <p:val>
                                            <p:strVal val="#ppt_x"/>
                                          </p:val>
                                        </p:tav>
                                      </p:tavLst>
                                    </p:anim>
                                    <p:anim calcmode="lin" valueType="num">
                                      <p:cBhvr additive="base">
                                        <p:cTn id="8" dur="500" fill="hold"/>
                                        <p:tgtEl>
                                          <p:spTgt spid="1546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9C5BABF-533F-14BF-236C-9A80BDC2300A}"/>
              </a:ext>
            </a:extLst>
          </p:cNvPr>
          <p:cNvSpPr>
            <a:spLocks noGrp="1" noChangeArrowheads="1"/>
          </p:cNvSpPr>
          <p:nvPr>
            <p:ph type="title"/>
          </p:nvPr>
        </p:nvSpPr>
        <p:spPr>
          <a:xfrm>
            <a:off x="533400" y="0"/>
            <a:ext cx="8077200" cy="1143000"/>
          </a:xfrm>
        </p:spPr>
        <p:txBody>
          <a:bodyPr/>
          <a:lstStyle/>
          <a:p>
            <a:pPr>
              <a:lnSpc>
                <a:spcPct val="80000"/>
              </a:lnSpc>
            </a:pPr>
            <a:r>
              <a:rPr lang="en-US" altLang="en-US" sz="3800"/>
              <a:t>Setting up an LP subproblem</a:t>
            </a:r>
          </a:p>
        </p:txBody>
      </p:sp>
      <p:sp>
        <p:nvSpPr>
          <p:cNvPr id="12291" name="Rectangle 3">
            <a:extLst>
              <a:ext uri="{FF2B5EF4-FFF2-40B4-BE49-F238E27FC236}">
                <a16:creationId xmlns:a16="http://schemas.microsoft.com/office/drawing/2014/main" id="{133D73DD-3616-FD0E-A3E5-4C96D7F5D0B5}"/>
              </a:ext>
            </a:extLst>
          </p:cNvPr>
          <p:cNvSpPr>
            <a:spLocks noChangeArrowheads="1"/>
          </p:cNvSpPr>
          <p:nvPr/>
        </p:nvSpPr>
        <p:spPr bwMode="auto">
          <a:xfrm>
            <a:off x="228600" y="152400"/>
            <a:ext cx="87630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292" name="Rectangle 4">
            <a:extLst>
              <a:ext uri="{FF2B5EF4-FFF2-40B4-BE49-F238E27FC236}">
                <a16:creationId xmlns:a16="http://schemas.microsoft.com/office/drawing/2014/main" id="{30517ACB-D12D-70FD-E66E-479AC1C0C4D9}"/>
              </a:ext>
            </a:extLst>
          </p:cNvPr>
          <p:cNvSpPr>
            <a:spLocks noChangeArrowheads="1"/>
          </p:cNvSpPr>
          <p:nvPr/>
        </p:nvSpPr>
        <p:spPr bwMode="auto">
          <a:xfrm>
            <a:off x="6400800" y="61722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20</a:t>
            </a:r>
          </a:p>
        </p:txBody>
      </p:sp>
      <p:sp>
        <p:nvSpPr>
          <p:cNvPr id="148485" name="Rectangle 5">
            <a:extLst>
              <a:ext uri="{FF2B5EF4-FFF2-40B4-BE49-F238E27FC236}">
                <a16:creationId xmlns:a16="http://schemas.microsoft.com/office/drawing/2014/main" id="{2A30C71D-AC35-19C8-1D9C-BAA0FFAAF5E4}"/>
              </a:ext>
            </a:extLst>
          </p:cNvPr>
          <p:cNvSpPr>
            <a:spLocks noGrp="1" noChangeArrowheads="1"/>
          </p:cNvSpPr>
          <p:nvPr>
            <p:ph type="body" idx="1"/>
          </p:nvPr>
        </p:nvSpPr>
        <p:spPr>
          <a:xfrm>
            <a:off x="342900" y="838200"/>
            <a:ext cx="8458200" cy="1143000"/>
          </a:xfrm>
        </p:spPr>
        <p:txBody>
          <a:bodyPr/>
          <a:lstStyle/>
          <a:p>
            <a:pPr>
              <a:tabLst>
                <a:tab pos="5087938" algn="l"/>
              </a:tabLst>
            </a:pPr>
            <a:r>
              <a:rPr lang="en-US" altLang="en-US" sz="3000"/>
              <a:t>We also need bounds on the </a:t>
            </a:r>
            <a:r>
              <a:rPr lang="en-US" altLang="en-US" sz="3000">
                <a:sym typeface="Symbol" panose="05050102010706020507" pitchFamily="18" charset="2"/>
              </a:rPr>
              <a:t></a:t>
            </a:r>
            <a:r>
              <a:rPr lang="en-US" altLang="en-US" sz="3000" i="1">
                <a:sym typeface="Symbol" panose="05050102010706020507" pitchFamily="18" charset="2"/>
              </a:rPr>
              <a:t>x</a:t>
            </a:r>
            <a:r>
              <a:rPr lang="en-US" altLang="en-US" sz="3000">
                <a:sym typeface="Symbol" panose="05050102010706020507" pitchFamily="18" charset="2"/>
              </a:rPr>
              <a:t>’s, to keep the Taylor series approximations reasonably accurate</a:t>
            </a:r>
            <a:r>
              <a:rPr lang="en-US" altLang="en-US" sz="3000"/>
              <a:t>:</a:t>
            </a:r>
          </a:p>
        </p:txBody>
      </p:sp>
      <p:graphicFrame>
        <p:nvGraphicFramePr>
          <p:cNvPr id="148486" name="Object 6">
            <a:extLst>
              <a:ext uri="{FF2B5EF4-FFF2-40B4-BE49-F238E27FC236}">
                <a16:creationId xmlns:a16="http://schemas.microsoft.com/office/drawing/2014/main" id="{7B8B04B9-CEC1-A74F-8163-CE1BA6E9629F}"/>
              </a:ext>
            </a:extLst>
          </p:cNvPr>
          <p:cNvGraphicFramePr>
            <a:graphicFrameLocks noChangeAspect="1"/>
          </p:cNvGraphicFramePr>
          <p:nvPr/>
        </p:nvGraphicFramePr>
        <p:xfrm>
          <a:off x="2290763" y="3124200"/>
          <a:ext cx="4560887" cy="2592388"/>
        </p:xfrm>
        <a:graphic>
          <a:graphicData uri="http://schemas.openxmlformats.org/presentationml/2006/ole">
            <mc:AlternateContent xmlns:mc="http://schemas.openxmlformats.org/markup-compatibility/2006">
              <mc:Choice xmlns:v="urn:schemas-microsoft-com:vml" Requires="v">
                <p:oleObj name="Equation" r:id="rId2" imgW="2006600" imgH="1143000" progId="Equation.3">
                  <p:embed/>
                </p:oleObj>
              </mc:Choice>
              <mc:Fallback>
                <p:oleObj name="Equation" r:id="rId2" imgW="2006600" imgH="1143000" progId="Equation.3">
                  <p:embed/>
                  <p:pic>
                    <p:nvPicPr>
                      <p:cNvPr id="148486" name="Object 6">
                        <a:extLst>
                          <a:ext uri="{FF2B5EF4-FFF2-40B4-BE49-F238E27FC236}">
                            <a16:creationId xmlns:a16="http://schemas.microsoft.com/office/drawing/2014/main" id="{7B8B04B9-CEC1-A74F-8163-CE1BA6E962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763" y="3124200"/>
                        <a:ext cx="4560887" cy="2592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87" name="Object 7">
            <a:extLst>
              <a:ext uri="{FF2B5EF4-FFF2-40B4-BE49-F238E27FC236}">
                <a16:creationId xmlns:a16="http://schemas.microsoft.com/office/drawing/2014/main" id="{13C480B2-3F1A-69C4-4F89-AB6891066F16}"/>
              </a:ext>
            </a:extLst>
          </p:cNvPr>
          <p:cNvGraphicFramePr>
            <a:graphicFrameLocks noChangeAspect="1"/>
          </p:cNvGraphicFramePr>
          <p:nvPr/>
        </p:nvGraphicFramePr>
        <p:xfrm>
          <a:off x="2298700" y="1905000"/>
          <a:ext cx="4545013" cy="608013"/>
        </p:xfrm>
        <a:graphic>
          <a:graphicData uri="http://schemas.openxmlformats.org/presentationml/2006/ole">
            <mc:AlternateContent xmlns:mc="http://schemas.openxmlformats.org/markup-compatibility/2006">
              <mc:Choice xmlns:v="urn:schemas-microsoft-com:vml" Requires="v">
                <p:oleObj name="Equation" r:id="rId4" imgW="1612900" imgH="215900" progId="Equation.3">
                  <p:embed/>
                </p:oleObj>
              </mc:Choice>
              <mc:Fallback>
                <p:oleObj name="Equation" r:id="rId4" imgW="1612900" imgH="215900" progId="Equation.3">
                  <p:embed/>
                  <p:pic>
                    <p:nvPicPr>
                      <p:cNvPr id="148487" name="Object 7">
                        <a:extLst>
                          <a:ext uri="{FF2B5EF4-FFF2-40B4-BE49-F238E27FC236}">
                            <a16:creationId xmlns:a16="http://schemas.microsoft.com/office/drawing/2014/main" id="{13C480B2-3F1A-69C4-4F89-AB6891066F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8700" y="1905000"/>
                        <a:ext cx="4545013"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88" name="Text Box 8">
            <a:extLst>
              <a:ext uri="{FF2B5EF4-FFF2-40B4-BE49-F238E27FC236}">
                <a16:creationId xmlns:a16="http://schemas.microsoft.com/office/drawing/2014/main" id="{D7D45192-287B-BEA8-D185-80A11A6D85DE}"/>
              </a:ext>
            </a:extLst>
          </p:cNvPr>
          <p:cNvSpPr txBox="1">
            <a:spLocks noChangeArrowheads="1"/>
          </p:cNvSpPr>
          <p:nvPr/>
        </p:nvSpPr>
        <p:spPr bwMode="auto">
          <a:xfrm>
            <a:off x="381000" y="2514600"/>
            <a:ext cx="66532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Now put all these together and simplify:</a:t>
            </a:r>
          </a:p>
        </p:txBody>
      </p:sp>
      <p:sp>
        <p:nvSpPr>
          <p:cNvPr id="148489" name="Text Box 9">
            <a:extLst>
              <a:ext uri="{FF2B5EF4-FFF2-40B4-BE49-F238E27FC236}">
                <a16:creationId xmlns:a16="http://schemas.microsoft.com/office/drawing/2014/main" id="{E1824015-3A90-B925-FF0A-1F6A5C609CEA}"/>
              </a:ext>
            </a:extLst>
          </p:cNvPr>
          <p:cNvSpPr txBox="1">
            <a:spLocks noChangeArrowheads="1"/>
          </p:cNvSpPr>
          <p:nvPr/>
        </p:nvSpPr>
        <p:spPr bwMode="auto">
          <a:xfrm>
            <a:off x="381000" y="5638800"/>
            <a:ext cx="80930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This is called an LP subproblem.  Solve using the simplex method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8485">
                                            <p:txEl>
                                              <p:pRg st="0" end="0"/>
                                            </p:txEl>
                                          </p:spTgt>
                                        </p:tgtEl>
                                        <p:attrNameLst>
                                          <p:attrName>style.visibility</p:attrName>
                                        </p:attrNameLst>
                                      </p:cBhvr>
                                      <p:to>
                                        <p:strVal val="visible"/>
                                      </p:to>
                                    </p:set>
                                    <p:anim calcmode="lin" valueType="num">
                                      <p:cBhvr additive="base">
                                        <p:cTn id="7" dur="500" fill="hold"/>
                                        <p:tgtEl>
                                          <p:spTgt spid="14848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84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8487"/>
                                        </p:tgtEl>
                                        <p:attrNameLst>
                                          <p:attrName>style.visibility</p:attrName>
                                        </p:attrNameLst>
                                      </p:cBhvr>
                                      <p:to>
                                        <p:strVal val="visible"/>
                                      </p:to>
                                    </p:set>
                                    <p:anim calcmode="lin" valueType="num">
                                      <p:cBhvr additive="base">
                                        <p:cTn id="13" dur="500" fill="hold"/>
                                        <p:tgtEl>
                                          <p:spTgt spid="148487"/>
                                        </p:tgtEl>
                                        <p:attrNameLst>
                                          <p:attrName>ppt_x</p:attrName>
                                        </p:attrNameLst>
                                      </p:cBhvr>
                                      <p:tavLst>
                                        <p:tav tm="0">
                                          <p:val>
                                            <p:strVal val="0-#ppt_w/2"/>
                                          </p:val>
                                        </p:tav>
                                        <p:tav tm="100000">
                                          <p:val>
                                            <p:strVal val="#ppt_x"/>
                                          </p:val>
                                        </p:tav>
                                      </p:tavLst>
                                    </p:anim>
                                    <p:anim calcmode="lin" valueType="num">
                                      <p:cBhvr additive="base">
                                        <p:cTn id="14" dur="500" fill="hold"/>
                                        <p:tgtEl>
                                          <p:spTgt spid="14848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48488"/>
                                        </p:tgtEl>
                                        <p:attrNameLst>
                                          <p:attrName>style.visibility</p:attrName>
                                        </p:attrNameLst>
                                      </p:cBhvr>
                                      <p:to>
                                        <p:strVal val="visible"/>
                                      </p:to>
                                    </p:set>
                                    <p:anim calcmode="lin" valueType="num">
                                      <p:cBhvr additive="base">
                                        <p:cTn id="19" dur="500" fill="hold"/>
                                        <p:tgtEl>
                                          <p:spTgt spid="148488"/>
                                        </p:tgtEl>
                                        <p:attrNameLst>
                                          <p:attrName>ppt_x</p:attrName>
                                        </p:attrNameLst>
                                      </p:cBhvr>
                                      <p:tavLst>
                                        <p:tav tm="0">
                                          <p:val>
                                            <p:strVal val="0-#ppt_w/2"/>
                                          </p:val>
                                        </p:tav>
                                        <p:tav tm="100000">
                                          <p:val>
                                            <p:strVal val="#ppt_x"/>
                                          </p:val>
                                        </p:tav>
                                      </p:tavLst>
                                    </p:anim>
                                    <p:anim calcmode="lin" valueType="num">
                                      <p:cBhvr additive="base">
                                        <p:cTn id="20" dur="500" fill="hold"/>
                                        <p:tgtEl>
                                          <p:spTgt spid="14848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48486"/>
                                        </p:tgtEl>
                                        <p:attrNameLst>
                                          <p:attrName>style.visibility</p:attrName>
                                        </p:attrNameLst>
                                      </p:cBhvr>
                                      <p:to>
                                        <p:strVal val="visible"/>
                                      </p:to>
                                    </p:set>
                                    <p:anim calcmode="lin" valueType="num">
                                      <p:cBhvr additive="base">
                                        <p:cTn id="25" dur="500" fill="hold"/>
                                        <p:tgtEl>
                                          <p:spTgt spid="148486"/>
                                        </p:tgtEl>
                                        <p:attrNameLst>
                                          <p:attrName>ppt_x</p:attrName>
                                        </p:attrNameLst>
                                      </p:cBhvr>
                                      <p:tavLst>
                                        <p:tav tm="0">
                                          <p:val>
                                            <p:strVal val="0-#ppt_w/2"/>
                                          </p:val>
                                        </p:tav>
                                        <p:tav tm="100000">
                                          <p:val>
                                            <p:strVal val="#ppt_x"/>
                                          </p:val>
                                        </p:tav>
                                      </p:tavLst>
                                    </p:anim>
                                    <p:anim calcmode="lin" valueType="num">
                                      <p:cBhvr additive="base">
                                        <p:cTn id="26" dur="500" fill="hold"/>
                                        <p:tgtEl>
                                          <p:spTgt spid="14848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48489"/>
                                        </p:tgtEl>
                                        <p:attrNameLst>
                                          <p:attrName>style.visibility</p:attrName>
                                        </p:attrNameLst>
                                      </p:cBhvr>
                                      <p:to>
                                        <p:strVal val="visible"/>
                                      </p:to>
                                    </p:set>
                                    <p:anim calcmode="lin" valueType="num">
                                      <p:cBhvr additive="base">
                                        <p:cTn id="31" dur="500" fill="hold"/>
                                        <p:tgtEl>
                                          <p:spTgt spid="148489"/>
                                        </p:tgtEl>
                                        <p:attrNameLst>
                                          <p:attrName>ppt_x</p:attrName>
                                        </p:attrNameLst>
                                      </p:cBhvr>
                                      <p:tavLst>
                                        <p:tav tm="0">
                                          <p:val>
                                            <p:strVal val="0-#ppt_w/2"/>
                                          </p:val>
                                        </p:tav>
                                        <p:tav tm="100000">
                                          <p:val>
                                            <p:strVal val="#ppt_x"/>
                                          </p:val>
                                        </p:tav>
                                      </p:tavLst>
                                    </p:anim>
                                    <p:anim calcmode="lin" valueType="num">
                                      <p:cBhvr additive="base">
                                        <p:cTn id="32" dur="500" fill="hold"/>
                                        <p:tgtEl>
                                          <p:spTgt spid="1484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5" grpId="0" build="p" autoUpdateAnimBg="0"/>
      <p:bldP spid="148488" grpId="0" autoUpdateAnimBg="0"/>
      <p:bldP spid="148489"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FFA9FEA-C299-07E5-E0A6-F8C4EA5D70D4}"/>
              </a:ext>
            </a:extLst>
          </p:cNvPr>
          <p:cNvSpPr>
            <a:spLocks noGrp="1" noChangeArrowheads="1"/>
          </p:cNvSpPr>
          <p:nvPr>
            <p:ph type="title"/>
          </p:nvPr>
        </p:nvSpPr>
        <p:spPr>
          <a:xfrm>
            <a:off x="685800" y="0"/>
            <a:ext cx="7772400" cy="1143000"/>
          </a:xfrm>
        </p:spPr>
        <p:txBody>
          <a:bodyPr/>
          <a:lstStyle/>
          <a:p>
            <a:pPr>
              <a:lnSpc>
                <a:spcPct val="80000"/>
              </a:lnSpc>
            </a:pPr>
            <a:r>
              <a:rPr lang="en-US" altLang="en-US" sz="4600"/>
              <a:t>LP subproblem #1</a:t>
            </a:r>
          </a:p>
        </p:txBody>
      </p:sp>
      <p:sp>
        <p:nvSpPr>
          <p:cNvPr id="13315" name="Rectangle 3">
            <a:extLst>
              <a:ext uri="{FF2B5EF4-FFF2-40B4-BE49-F238E27FC236}">
                <a16:creationId xmlns:a16="http://schemas.microsoft.com/office/drawing/2014/main" id="{78C84502-0D35-89AF-80C2-CEC0CC2FC2A2}"/>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16" name="Rectangle 4">
            <a:extLst>
              <a:ext uri="{FF2B5EF4-FFF2-40B4-BE49-F238E27FC236}">
                <a16:creationId xmlns:a16="http://schemas.microsoft.com/office/drawing/2014/main" id="{AC92C282-6909-CC41-0EEA-27C38B0C514A}"/>
              </a:ext>
            </a:extLst>
          </p:cNvPr>
          <p:cNvSpPr>
            <a:spLocks noChangeArrowheads="1"/>
          </p:cNvSpPr>
          <p:nvPr/>
        </p:nvSpPr>
        <p:spPr bwMode="auto">
          <a:xfrm>
            <a:off x="6477000" y="61722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20</a:t>
            </a:r>
          </a:p>
        </p:txBody>
      </p:sp>
      <p:sp>
        <p:nvSpPr>
          <p:cNvPr id="149509" name="Text Box 5">
            <a:extLst>
              <a:ext uri="{FF2B5EF4-FFF2-40B4-BE49-F238E27FC236}">
                <a16:creationId xmlns:a16="http://schemas.microsoft.com/office/drawing/2014/main" id="{9A2DC6C5-4956-0235-D641-2963EC242C19}"/>
              </a:ext>
            </a:extLst>
          </p:cNvPr>
          <p:cNvSpPr txBox="1">
            <a:spLocks noChangeArrowheads="1"/>
          </p:cNvSpPr>
          <p:nvPr/>
        </p:nvSpPr>
        <p:spPr bwMode="auto">
          <a:xfrm>
            <a:off x="304800" y="5562600"/>
            <a:ext cx="815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Note the optimum lies at [3,3] – we moved as far as we could.  No original constraint is active.</a:t>
            </a:r>
          </a:p>
        </p:txBody>
      </p:sp>
      <p:grpSp>
        <p:nvGrpSpPr>
          <p:cNvPr id="2" name="Group 57">
            <a:extLst>
              <a:ext uri="{FF2B5EF4-FFF2-40B4-BE49-F238E27FC236}">
                <a16:creationId xmlns:a16="http://schemas.microsoft.com/office/drawing/2014/main" id="{D294A91A-7A66-32B3-858C-0A2A41DF5BC9}"/>
              </a:ext>
            </a:extLst>
          </p:cNvPr>
          <p:cNvGrpSpPr>
            <a:grpSpLocks/>
          </p:cNvGrpSpPr>
          <p:nvPr/>
        </p:nvGrpSpPr>
        <p:grpSpPr bwMode="auto">
          <a:xfrm>
            <a:off x="3352800" y="1981200"/>
            <a:ext cx="5029200" cy="3352800"/>
            <a:chOff x="2112" y="1248"/>
            <a:chExt cx="3168" cy="2112"/>
          </a:xfrm>
        </p:grpSpPr>
        <p:grpSp>
          <p:nvGrpSpPr>
            <p:cNvPr id="13324" name="Group 7">
              <a:extLst>
                <a:ext uri="{FF2B5EF4-FFF2-40B4-BE49-F238E27FC236}">
                  <a16:creationId xmlns:a16="http://schemas.microsoft.com/office/drawing/2014/main" id="{6DB50E67-8A3D-D1C2-D239-E1F3383EE2FB}"/>
                </a:ext>
              </a:extLst>
            </p:cNvPr>
            <p:cNvGrpSpPr>
              <a:grpSpLocks/>
            </p:cNvGrpSpPr>
            <p:nvPr/>
          </p:nvGrpSpPr>
          <p:grpSpPr bwMode="auto">
            <a:xfrm>
              <a:off x="2112" y="1248"/>
              <a:ext cx="3168" cy="2112"/>
              <a:chOff x="2112" y="1248"/>
              <a:chExt cx="3168" cy="2112"/>
            </a:xfrm>
          </p:grpSpPr>
          <p:sp>
            <p:nvSpPr>
              <p:cNvPr id="13328" name="Line 8">
                <a:extLst>
                  <a:ext uri="{FF2B5EF4-FFF2-40B4-BE49-F238E27FC236}">
                    <a16:creationId xmlns:a16="http://schemas.microsoft.com/office/drawing/2014/main" id="{0C740E7E-1F18-CB2A-14CA-62BFF7447370}"/>
                  </a:ext>
                </a:extLst>
              </p:cNvPr>
              <p:cNvSpPr>
                <a:spLocks noChangeShapeType="1"/>
              </p:cNvSpPr>
              <p:nvPr/>
            </p:nvSpPr>
            <p:spPr bwMode="auto">
              <a:xfrm flipV="1">
                <a:off x="2832" y="1248"/>
                <a:ext cx="0" cy="211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9" name="Line 9">
                <a:extLst>
                  <a:ext uri="{FF2B5EF4-FFF2-40B4-BE49-F238E27FC236}">
                    <a16:creationId xmlns:a16="http://schemas.microsoft.com/office/drawing/2014/main" id="{C3532A4B-08F8-D71C-7B75-092746B954BD}"/>
                  </a:ext>
                </a:extLst>
              </p:cNvPr>
              <p:cNvSpPr>
                <a:spLocks noChangeShapeType="1"/>
              </p:cNvSpPr>
              <p:nvPr/>
            </p:nvSpPr>
            <p:spPr bwMode="auto">
              <a:xfrm>
                <a:off x="2784" y="168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0" name="Line 10">
                <a:extLst>
                  <a:ext uri="{FF2B5EF4-FFF2-40B4-BE49-F238E27FC236}">
                    <a16:creationId xmlns:a16="http://schemas.microsoft.com/office/drawing/2014/main" id="{0AAFB58D-CEF1-729C-C761-A38AB86CDE81}"/>
                  </a:ext>
                </a:extLst>
              </p:cNvPr>
              <p:cNvSpPr>
                <a:spLocks noChangeShapeType="1"/>
              </p:cNvSpPr>
              <p:nvPr/>
            </p:nvSpPr>
            <p:spPr bwMode="auto">
              <a:xfrm>
                <a:off x="2784" y="187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1" name="Line 11">
                <a:extLst>
                  <a:ext uri="{FF2B5EF4-FFF2-40B4-BE49-F238E27FC236}">
                    <a16:creationId xmlns:a16="http://schemas.microsoft.com/office/drawing/2014/main" id="{28508514-05F8-1A39-7CB5-FACB77313941}"/>
                  </a:ext>
                </a:extLst>
              </p:cNvPr>
              <p:cNvSpPr>
                <a:spLocks noChangeShapeType="1"/>
              </p:cNvSpPr>
              <p:nvPr/>
            </p:nvSpPr>
            <p:spPr bwMode="auto">
              <a:xfrm>
                <a:off x="2784" y="2064"/>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2" name="Line 12">
                <a:extLst>
                  <a:ext uri="{FF2B5EF4-FFF2-40B4-BE49-F238E27FC236}">
                    <a16:creationId xmlns:a16="http://schemas.microsoft.com/office/drawing/2014/main" id="{249C0E77-2A85-2AE7-A914-BA2A9DF62D5A}"/>
                  </a:ext>
                </a:extLst>
              </p:cNvPr>
              <p:cNvSpPr>
                <a:spLocks noChangeShapeType="1"/>
              </p:cNvSpPr>
              <p:nvPr/>
            </p:nvSpPr>
            <p:spPr bwMode="auto">
              <a:xfrm>
                <a:off x="2784" y="2256"/>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3" name="Text Box 13">
                <a:extLst>
                  <a:ext uri="{FF2B5EF4-FFF2-40B4-BE49-F238E27FC236}">
                    <a16:creationId xmlns:a16="http://schemas.microsoft.com/office/drawing/2014/main" id="{6E705634-8FF8-9374-F56D-3AA15FAD5A78}"/>
                  </a:ext>
                </a:extLst>
              </p:cNvPr>
              <p:cNvSpPr txBox="1">
                <a:spLocks noChangeArrowheads="1"/>
              </p:cNvSpPr>
              <p:nvPr/>
            </p:nvSpPr>
            <p:spPr bwMode="auto">
              <a:xfrm>
                <a:off x="2536" y="1968"/>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  4</a:t>
                </a:r>
              </a:p>
            </p:txBody>
          </p:sp>
          <p:sp>
            <p:nvSpPr>
              <p:cNvPr id="13334" name="Text Box 14">
                <a:extLst>
                  <a:ext uri="{FF2B5EF4-FFF2-40B4-BE49-F238E27FC236}">
                    <a16:creationId xmlns:a16="http://schemas.microsoft.com/office/drawing/2014/main" id="{BB3726FE-25B4-DE2A-A01B-56503F207E8A}"/>
                  </a:ext>
                </a:extLst>
              </p:cNvPr>
              <p:cNvSpPr txBox="1">
                <a:spLocks noChangeArrowheads="1"/>
              </p:cNvSpPr>
              <p:nvPr/>
            </p:nvSpPr>
            <p:spPr bwMode="auto">
              <a:xfrm>
                <a:off x="2536" y="2160"/>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  3</a:t>
                </a:r>
              </a:p>
            </p:txBody>
          </p:sp>
          <p:sp>
            <p:nvSpPr>
              <p:cNvPr id="13335" name="Text Box 15">
                <a:extLst>
                  <a:ext uri="{FF2B5EF4-FFF2-40B4-BE49-F238E27FC236}">
                    <a16:creationId xmlns:a16="http://schemas.microsoft.com/office/drawing/2014/main" id="{47D353BA-F10E-BD9C-1960-DF3F425057F5}"/>
                  </a:ext>
                </a:extLst>
              </p:cNvPr>
              <p:cNvSpPr txBox="1">
                <a:spLocks noChangeArrowheads="1"/>
              </p:cNvSpPr>
              <p:nvPr/>
            </p:nvSpPr>
            <p:spPr bwMode="auto">
              <a:xfrm>
                <a:off x="2536" y="2352"/>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  2</a:t>
                </a:r>
              </a:p>
            </p:txBody>
          </p:sp>
          <p:sp>
            <p:nvSpPr>
              <p:cNvPr id="13336" name="Text Box 16">
                <a:extLst>
                  <a:ext uri="{FF2B5EF4-FFF2-40B4-BE49-F238E27FC236}">
                    <a16:creationId xmlns:a16="http://schemas.microsoft.com/office/drawing/2014/main" id="{BE66EB23-099F-B911-F522-307937A13041}"/>
                  </a:ext>
                </a:extLst>
              </p:cNvPr>
              <p:cNvSpPr txBox="1">
                <a:spLocks noChangeArrowheads="1"/>
              </p:cNvSpPr>
              <p:nvPr/>
            </p:nvSpPr>
            <p:spPr bwMode="auto">
              <a:xfrm>
                <a:off x="2536" y="2544"/>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  1</a:t>
                </a:r>
              </a:p>
            </p:txBody>
          </p:sp>
          <p:sp>
            <p:nvSpPr>
              <p:cNvPr id="13337" name="Line 17">
                <a:extLst>
                  <a:ext uri="{FF2B5EF4-FFF2-40B4-BE49-F238E27FC236}">
                    <a16:creationId xmlns:a16="http://schemas.microsoft.com/office/drawing/2014/main" id="{DD3569A1-A67C-5430-509E-17FA9CD8AB7E}"/>
                  </a:ext>
                </a:extLst>
              </p:cNvPr>
              <p:cNvSpPr>
                <a:spLocks noChangeShapeType="1"/>
              </p:cNvSpPr>
              <p:nvPr/>
            </p:nvSpPr>
            <p:spPr bwMode="auto">
              <a:xfrm>
                <a:off x="2112" y="2832"/>
                <a:ext cx="316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38" name="Line 18">
                <a:extLst>
                  <a:ext uri="{FF2B5EF4-FFF2-40B4-BE49-F238E27FC236}">
                    <a16:creationId xmlns:a16="http://schemas.microsoft.com/office/drawing/2014/main" id="{1B88A80B-A411-0734-971B-3DFFC288B7C6}"/>
                  </a:ext>
                </a:extLst>
              </p:cNvPr>
              <p:cNvSpPr>
                <a:spLocks noChangeShapeType="1"/>
              </p:cNvSpPr>
              <p:nvPr/>
            </p:nvSpPr>
            <p:spPr bwMode="auto">
              <a:xfrm>
                <a:off x="2784" y="2448"/>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9" name="Line 19">
                <a:extLst>
                  <a:ext uri="{FF2B5EF4-FFF2-40B4-BE49-F238E27FC236}">
                    <a16:creationId xmlns:a16="http://schemas.microsoft.com/office/drawing/2014/main" id="{A58E9CAB-7962-F81D-0562-15F78D0582AE}"/>
                  </a:ext>
                </a:extLst>
              </p:cNvPr>
              <p:cNvSpPr>
                <a:spLocks noChangeShapeType="1"/>
              </p:cNvSpPr>
              <p:nvPr/>
            </p:nvSpPr>
            <p:spPr bwMode="auto">
              <a:xfrm>
                <a:off x="2784" y="264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0" name="Line 20">
                <a:extLst>
                  <a:ext uri="{FF2B5EF4-FFF2-40B4-BE49-F238E27FC236}">
                    <a16:creationId xmlns:a16="http://schemas.microsoft.com/office/drawing/2014/main" id="{4C203BEB-8EBC-C8FB-3C40-5997E2DEBCE9}"/>
                  </a:ext>
                </a:extLst>
              </p:cNvPr>
              <p:cNvSpPr>
                <a:spLocks noChangeShapeType="1"/>
              </p:cNvSpPr>
              <p:nvPr/>
            </p:nvSpPr>
            <p:spPr bwMode="auto">
              <a:xfrm rot="-5471610">
                <a:off x="295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1" name="Line 21">
                <a:extLst>
                  <a:ext uri="{FF2B5EF4-FFF2-40B4-BE49-F238E27FC236}">
                    <a16:creationId xmlns:a16="http://schemas.microsoft.com/office/drawing/2014/main" id="{1F44EEB2-CB71-AC21-8627-674FFB66DE09}"/>
                  </a:ext>
                </a:extLst>
              </p:cNvPr>
              <p:cNvSpPr>
                <a:spLocks noChangeShapeType="1"/>
              </p:cNvSpPr>
              <p:nvPr/>
            </p:nvSpPr>
            <p:spPr bwMode="auto">
              <a:xfrm rot="-5471610">
                <a:off x="319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2" name="Line 22">
                <a:extLst>
                  <a:ext uri="{FF2B5EF4-FFF2-40B4-BE49-F238E27FC236}">
                    <a16:creationId xmlns:a16="http://schemas.microsoft.com/office/drawing/2014/main" id="{5034F44A-7E7D-EA7E-1D4F-B045865D9FA0}"/>
                  </a:ext>
                </a:extLst>
              </p:cNvPr>
              <p:cNvSpPr>
                <a:spLocks noChangeShapeType="1"/>
              </p:cNvSpPr>
              <p:nvPr/>
            </p:nvSpPr>
            <p:spPr bwMode="auto">
              <a:xfrm rot="-5471610">
                <a:off x="343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3" name="Line 23">
                <a:extLst>
                  <a:ext uri="{FF2B5EF4-FFF2-40B4-BE49-F238E27FC236}">
                    <a16:creationId xmlns:a16="http://schemas.microsoft.com/office/drawing/2014/main" id="{9B3A5C5C-6BD8-4681-A95A-4ED951EE64B4}"/>
                  </a:ext>
                </a:extLst>
              </p:cNvPr>
              <p:cNvSpPr>
                <a:spLocks noChangeShapeType="1"/>
              </p:cNvSpPr>
              <p:nvPr/>
            </p:nvSpPr>
            <p:spPr bwMode="auto">
              <a:xfrm rot="-5471610">
                <a:off x="367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4" name="Line 24">
                <a:extLst>
                  <a:ext uri="{FF2B5EF4-FFF2-40B4-BE49-F238E27FC236}">
                    <a16:creationId xmlns:a16="http://schemas.microsoft.com/office/drawing/2014/main" id="{EDBB8CF2-2C68-4F81-F284-158084C8F921}"/>
                  </a:ext>
                </a:extLst>
              </p:cNvPr>
              <p:cNvSpPr>
                <a:spLocks noChangeShapeType="1"/>
              </p:cNvSpPr>
              <p:nvPr/>
            </p:nvSpPr>
            <p:spPr bwMode="auto">
              <a:xfrm rot="-5471610">
                <a:off x="391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5" name="Line 25">
                <a:extLst>
                  <a:ext uri="{FF2B5EF4-FFF2-40B4-BE49-F238E27FC236}">
                    <a16:creationId xmlns:a16="http://schemas.microsoft.com/office/drawing/2014/main" id="{5B9288C1-BA4B-3AA5-3469-2E599608E8DF}"/>
                  </a:ext>
                </a:extLst>
              </p:cNvPr>
              <p:cNvSpPr>
                <a:spLocks noChangeShapeType="1"/>
              </p:cNvSpPr>
              <p:nvPr/>
            </p:nvSpPr>
            <p:spPr bwMode="auto">
              <a:xfrm rot="-5471610">
                <a:off x="415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6" name="Line 26">
                <a:extLst>
                  <a:ext uri="{FF2B5EF4-FFF2-40B4-BE49-F238E27FC236}">
                    <a16:creationId xmlns:a16="http://schemas.microsoft.com/office/drawing/2014/main" id="{498C0EF8-9AEE-8E2D-B9E4-B7FAF8468110}"/>
                  </a:ext>
                </a:extLst>
              </p:cNvPr>
              <p:cNvSpPr>
                <a:spLocks noChangeShapeType="1"/>
              </p:cNvSpPr>
              <p:nvPr/>
            </p:nvSpPr>
            <p:spPr bwMode="auto">
              <a:xfrm rot="-5471610">
                <a:off x="439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7" name="Line 27">
                <a:extLst>
                  <a:ext uri="{FF2B5EF4-FFF2-40B4-BE49-F238E27FC236}">
                    <a16:creationId xmlns:a16="http://schemas.microsoft.com/office/drawing/2014/main" id="{A2A524A5-3892-895B-2E00-42161297A872}"/>
                  </a:ext>
                </a:extLst>
              </p:cNvPr>
              <p:cNvSpPr>
                <a:spLocks noChangeShapeType="1"/>
              </p:cNvSpPr>
              <p:nvPr/>
            </p:nvSpPr>
            <p:spPr bwMode="auto">
              <a:xfrm rot="-5471610">
                <a:off x="4633" y="2831"/>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8" name="Text Box 28">
                <a:extLst>
                  <a:ext uri="{FF2B5EF4-FFF2-40B4-BE49-F238E27FC236}">
                    <a16:creationId xmlns:a16="http://schemas.microsoft.com/office/drawing/2014/main" id="{208EF29E-5266-ADE9-8FF9-F61A27A02625}"/>
                  </a:ext>
                </a:extLst>
              </p:cNvPr>
              <p:cNvSpPr txBox="1">
                <a:spLocks noChangeArrowheads="1"/>
              </p:cNvSpPr>
              <p:nvPr/>
            </p:nvSpPr>
            <p:spPr bwMode="auto">
              <a:xfrm>
                <a:off x="2464" y="2928"/>
                <a:ext cx="1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a:p>
            </p:txBody>
          </p:sp>
          <p:sp>
            <p:nvSpPr>
              <p:cNvPr id="13349" name="Text Box 29">
                <a:extLst>
                  <a:ext uri="{FF2B5EF4-FFF2-40B4-BE49-F238E27FC236}">
                    <a16:creationId xmlns:a16="http://schemas.microsoft.com/office/drawing/2014/main" id="{63D3A404-91C5-24FA-1C6D-0E0722FA8FEE}"/>
                  </a:ext>
                </a:extLst>
              </p:cNvPr>
              <p:cNvSpPr txBox="1">
                <a:spLocks noChangeArrowheads="1"/>
              </p:cNvSpPr>
              <p:nvPr/>
            </p:nvSpPr>
            <p:spPr bwMode="auto">
              <a:xfrm>
                <a:off x="362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a:t>
                </a:r>
              </a:p>
            </p:txBody>
          </p:sp>
          <p:sp>
            <p:nvSpPr>
              <p:cNvPr id="13350" name="Text Box 30">
                <a:extLst>
                  <a:ext uri="{FF2B5EF4-FFF2-40B4-BE49-F238E27FC236}">
                    <a16:creationId xmlns:a16="http://schemas.microsoft.com/office/drawing/2014/main" id="{3C720C6F-F364-1B95-4458-8540EFD94082}"/>
                  </a:ext>
                </a:extLst>
              </p:cNvPr>
              <p:cNvSpPr txBox="1">
                <a:spLocks noChangeArrowheads="1"/>
              </p:cNvSpPr>
              <p:nvPr/>
            </p:nvSpPr>
            <p:spPr bwMode="auto">
              <a:xfrm>
                <a:off x="290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a:t>
                </a:r>
              </a:p>
            </p:txBody>
          </p:sp>
          <p:sp>
            <p:nvSpPr>
              <p:cNvPr id="13351" name="Text Box 31">
                <a:extLst>
                  <a:ext uri="{FF2B5EF4-FFF2-40B4-BE49-F238E27FC236}">
                    <a16:creationId xmlns:a16="http://schemas.microsoft.com/office/drawing/2014/main" id="{A1818EF5-B52D-9A14-E330-9E16C039FFD5}"/>
                  </a:ext>
                </a:extLst>
              </p:cNvPr>
              <p:cNvSpPr txBox="1">
                <a:spLocks noChangeArrowheads="1"/>
              </p:cNvSpPr>
              <p:nvPr/>
            </p:nvSpPr>
            <p:spPr bwMode="auto">
              <a:xfrm>
                <a:off x="314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a:t>
                </a:r>
              </a:p>
            </p:txBody>
          </p:sp>
          <p:sp>
            <p:nvSpPr>
              <p:cNvPr id="13352" name="Text Box 32">
                <a:extLst>
                  <a:ext uri="{FF2B5EF4-FFF2-40B4-BE49-F238E27FC236}">
                    <a16:creationId xmlns:a16="http://schemas.microsoft.com/office/drawing/2014/main" id="{9C64DF69-0824-4E64-0FC6-010494DC045B}"/>
                  </a:ext>
                </a:extLst>
              </p:cNvPr>
              <p:cNvSpPr txBox="1">
                <a:spLocks noChangeArrowheads="1"/>
              </p:cNvSpPr>
              <p:nvPr/>
            </p:nvSpPr>
            <p:spPr bwMode="auto">
              <a:xfrm>
                <a:off x="338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a:t>
                </a:r>
              </a:p>
            </p:txBody>
          </p:sp>
          <p:sp>
            <p:nvSpPr>
              <p:cNvPr id="13353" name="Text Box 33">
                <a:extLst>
                  <a:ext uri="{FF2B5EF4-FFF2-40B4-BE49-F238E27FC236}">
                    <a16:creationId xmlns:a16="http://schemas.microsoft.com/office/drawing/2014/main" id="{5A99F3CD-F87C-0D9A-8208-A4321D4EC448}"/>
                  </a:ext>
                </a:extLst>
              </p:cNvPr>
              <p:cNvSpPr txBox="1">
                <a:spLocks noChangeArrowheads="1"/>
              </p:cNvSpPr>
              <p:nvPr/>
            </p:nvSpPr>
            <p:spPr bwMode="auto">
              <a:xfrm>
                <a:off x="386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5</a:t>
                </a:r>
              </a:p>
            </p:txBody>
          </p:sp>
          <p:sp>
            <p:nvSpPr>
              <p:cNvPr id="13354" name="Text Box 34">
                <a:extLst>
                  <a:ext uri="{FF2B5EF4-FFF2-40B4-BE49-F238E27FC236}">
                    <a16:creationId xmlns:a16="http://schemas.microsoft.com/office/drawing/2014/main" id="{825939B2-2A32-2846-33A4-593FA4EE2456}"/>
                  </a:ext>
                </a:extLst>
              </p:cNvPr>
              <p:cNvSpPr txBox="1">
                <a:spLocks noChangeArrowheads="1"/>
              </p:cNvSpPr>
              <p:nvPr/>
            </p:nvSpPr>
            <p:spPr bwMode="auto">
              <a:xfrm>
                <a:off x="410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6</a:t>
                </a:r>
              </a:p>
            </p:txBody>
          </p:sp>
          <p:sp>
            <p:nvSpPr>
              <p:cNvPr id="13355" name="Text Box 35">
                <a:extLst>
                  <a:ext uri="{FF2B5EF4-FFF2-40B4-BE49-F238E27FC236}">
                    <a16:creationId xmlns:a16="http://schemas.microsoft.com/office/drawing/2014/main" id="{BE57A867-3758-3D5F-92FE-4C2731F8FFA4}"/>
                  </a:ext>
                </a:extLst>
              </p:cNvPr>
              <p:cNvSpPr txBox="1">
                <a:spLocks noChangeArrowheads="1"/>
              </p:cNvSpPr>
              <p:nvPr/>
            </p:nvSpPr>
            <p:spPr bwMode="auto">
              <a:xfrm>
                <a:off x="434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7</a:t>
                </a:r>
              </a:p>
            </p:txBody>
          </p:sp>
          <p:sp>
            <p:nvSpPr>
              <p:cNvPr id="13356" name="Text Box 36">
                <a:extLst>
                  <a:ext uri="{FF2B5EF4-FFF2-40B4-BE49-F238E27FC236}">
                    <a16:creationId xmlns:a16="http://schemas.microsoft.com/office/drawing/2014/main" id="{AC4180F8-F5E6-CAC8-F2B9-9855950144FD}"/>
                  </a:ext>
                </a:extLst>
              </p:cNvPr>
              <p:cNvSpPr txBox="1">
                <a:spLocks noChangeArrowheads="1"/>
              </p:cNvSpPr>
              <p:nvPr/>
            </p:nvSpPr>
            <p:spPr bwMode="auto">
              <a:xfrm>
                <a:off x="4584"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8</a:t>
                </a:r>
              </a:p>
            </p:txBody>
          </p:sp>
          <p:sp>
            <p:nvSpPr>
              <p:cNvPr id="13357" name="Text Box 37">
                <a:extLst>
                  <a:ext uri="{FF2B5EF4-FFF2-40B4-BE49-F238E27FC236}">
                    <a16:creationId xmlns:a16="http://schemas.microsoft.com/office/drawing/2014/main" id="{D1EC13D9-99E4-A6E9-8FEE-7F99A8691CE5}"/>
                  </a:ext>
                </a:extLst>
              </p:cNvPr>
              <p:cNvSpPr txBox="1">
                <a:spLocks noChangeArrowheads="1"/>
              </p:cNvSpPr>
              <p:nvPr/>
            </p:nvSpPr>
            <p:spPr bwMode="auto">
              <a:xfrm>
                <a:off x="4958" y="2810"/>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x</a:t>
                </a:r>
                <a:r>
                  <a:rPr lang="en-US" altLang="en-US" sz="2400" baseline="-25000"/>
                  <a:t>1</a:t>
                </a:r>
                <a:endParaRPr lang="en-US" altLang="en-US" sz="2400" i="1"/>
              </a:p>
            </p:txBody>
          </p:sp>
          <p:sp>
            <p:nvSpPr>
              <p:cNvPr id="13358" name="Text Box 38">
                <a:extLst>
                  <a:ext uri="{FF2B5EF4-FFF2-40B4-BE49-F238E27FC236}">
                    <a16:creationId xmlns:a16="http://schemas.microsoft.com/office/drawing/2014/main" id="{A185CC66-B91B-03A8-C27F-96A8F4FB1DE5}"/>
                  </a:ext>
                </a:extLst>
              </p:cNvPr>
              <p:cNvSpPr txBox="1">
                <a:spLocks noChangeArrowheads="1"/>
              </p:cNvSpPr>
              <p:nvPr/>
            </p:nvSpPr>
            <p:spPr bwMode="auto">
              <a:xfrm>
                <a:off x="2208" y="2160"/>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x</a:t>
                </a:r>
                <a:r>
                  <a:rPr lang="en-US" altLang="en-US" sz="2400" baseline="-25000"/>
                  <a:t>2</a:t>
                </a:r>
                <a:endParaRPr lang="en-US" altLang="en-US" sz="2400" i="1"/>
              </a:p>
            </p:txBody>
          </p:sp>
          <p:sp>
            <p:nvSpPr>
              <p:cNvPr id="13359" name="Text Box 39">
                <a:extLst>
                  <a:ext uri="{FF2B5EF4-FFF2-40B4-BE49-F238E27FC236}">
                    <a16:creationId xmlns:a16="http://schemas.microsoft.com/office/drawing/2014/main" id="{0A4DA032-0F16-AFFA-6320-8A75F0C7C89D}"/>
                  </a:ext>
                </a:extLst>
              </p:cNvPr>
              <p:cNvSpPr txBox="1">
                <a:spLocks noChangeArrowheads="1"/>
              </p:cNvSpPr>
              <p:nvPr/>
            </p:nvSpPr>
            <p:spPr bwMode="auto">
              <a:xfrm>
                <a:off x="2536" y="1776"/>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  5</a:t>
                </a:r>
              </a:p>
            </p:txBody>
          </p:sp>
          <p:sp>
            <p:nvSpPr>
              <p:cNvPr id="13360" name="Text Box 40">
                <a:extLst>
                  <a:ext uri="{FF2B5EF4-FFF2-40B4-BE49-F238E27FC236}">
                    <a16:creationId xmlns:a16="http://schemas.microsoft.com/office/drawing/2014/main" id="{579A4AD3-766D-75B6-F1B1-1DEF0A5BD3BB}"/>
                  </a:ext>
                </a:extLst>
              </p:cNvPr>
              <p:cNvSpPr txBox="1">
                <a:spLocks noChangeArrowheads="1"/>
              </p:cNvSpPr>
              <p:nvPr/>
            </p:nvSpPr>
            <p:spPr bwMode="auto">
              <a:xfrm>
                <a:off x="2592" y="15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6</a:t>
                </a:r>
              </a:p>
            </p:txBody>
          </p:sp>
          <p:sp>
            <p:nvSpPr>
              <p:cNvPr id="13361" name="Freeform 41">
                <a:extLst>
                  <a:ext uri="{FF2B5EF4-FFF2-40B4-BE49-F238E27FC236}">
                    <a16:creationId xmlns:a16="http://schemas.microsoft.com/office/drawing/2014/main" id="{814D6015-5502-C15A-235E-33869D66E539}"/>
                  </a:ext>
                </a:extLst>
              </p:cNvPr>
              <p:cNvSpPr>
                <a:spLocks/>
              </p:cNvSpPr>
              <p:nvPr/>
            </p:nvSpPr>
            <p:spPr bwMode="auto">
              <a:xfrm>
                <a:off x="2832" y="1872"/>
                <a:ext cx="1152" cy="960"/>
              </a:xfrm>
              <a:custGeom>
                <a:avLst/>
                <a:gdLst>
                  <a:gd name="T0" fmla="*/ 0 w 1152"/>
                  <a:gd name="T1" fmla="*/ 0 h 960"/>
                  <a:gd name="T2" fmla="*/ 768 w 1152"/>
                  <a:gd name="T3" fmla="*/ 336 h 960"/>
                  <a:gd name="T4" fmla="*/ 1152 w 1152"/>
                  <a:gd name="T5" fmla="*/ 960 h 960"/>
                  <a:gd name="T6" fmla="*/ 0 60000 65536"/>
                  <a:gd name="T7" fmla="*/ 0 60000 65536"/>
                  <a:gd name="T8" fmla="*/ 0 60000 65536"/>
                  <a:gd name="T9" fmla="*/ 0 w 1152"/>
                  <a:gd name="T10" fmla="*/ 0 h 960"/>
                  <a:gd name="T11" fmla="*/ 1152 w 1152"/>
                  <a:gd name="T12" fmla="*/ 960 h 960"/>
                </a:gdLst>
                <a:ahLst/>
                <a:cxnLst>
                  <a:cxn ang="T6">
                    <a:pos x="T0" y="T1"/>
                  </a:cxn>
                  <a:cxn ang="T7">
                    <a:pos x="T2" y="T3"/>
                  </a:cxn>
                  <a:cxn ang="T8">
                    <a:pos x="T4" y="T5"/>
                  </a:cxn>
                </a:cxnLst>
                <a:rect l="T9" t="T10" r="T11" b="T12"/>
                <a:pathLst>
                  <a:path w="1152" h="960">
                    <a:moveTo>
                      <a:pt x="0" y="0"/>
                    </a:moveTo>
                    <a:cubicBezTo>
                      <a:pt x="288" y="88"/>
                      <a:pt x="576" y="176"/>
                      <a:pt x="768" y="336"/>
                    </a:cubicBezTo>
                    <a:cubicBezTo>
                      <a:pt x="960" y="496"/>
                      <a:pt x="1088" y="856"/>
                      <a:pt x="1152" y="960"/>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62" name="Freeform 42">
                <a:extLst>
                  <a:ext uri="{FF2B5EF4-FFF2-40B4-BE49-F238E27FC236}">
                    <a16:creationId xmlns:a16="http://schemas.microsoft.com/office/drawing/2014/main" id="{6C7A845A-4D3D-907C-6DD9-F0742A1DBA0E}"/>
                  </a:ext>
                </a:extLst>
              </p:cNvPr>
              <p:cNvSpPr>
                <a:spLocks/>
              </p:cNvSpPr>
              <p:nvPr/>
            </p:nvSpPr>
            <p:spPr bwMode="auto">
              <a:xfrm>
                <a:off x="3408" y="1632"/>
                <a:ext cx="1008" cy="1200"/>
              </a:xfrm>
              <a:custGeom>
                <a:avLst/>
                <a:gdLst>
                  <a:gd name="T0" fmla="*/ 0 w 1008"/>
                  <a:gd name="T1" fmla="*/ 1200 h 1200"/>
                  <a:gd name="T2" fmla="*/ 192 w 1008"/>
                  <a:gd name="T3" fmla="*/ 720 h 1200"/>
                  <a:gd name="T4" fmla="*/ 1008 w 1008"/>
                  <a:gd name="T5" fmla="*/ 0 h 1200"/>
                  <a:gd name="T6" fmla="*/ 0 60000 65536"/>
                  <a:gd name="T7" fmla="*/ 0 60000 65536"/>
                  <a:gd name="T8" fmla="*/ 0 60000 65536"/>
                  <a:gd name="T9" fmla="*/ 0 w 1008"/>
                  <a:gd name="T10" fmla="*/ 0 h 1200"/>
                  <a:gd name="T11" fmla="*/ 1008 w 1008"/>
                  <a:gd name="T12" fmla="*/ 1200 h 1200"/>
                </a:gdLst>
                <a:ahLst/>
                <a:cxnLst>
                  <a:cxn ang="T6">
                    <a:pos x="T0" y="T1"/>
                  </a:cxn>
                  <a:cxn ang="T7">
                    <a:pos x="T2" y="T3"/>
                  </a:cxn>
                  <a:cxn ang="T8">
                    <a:pos x="T4" y="T5"/>
                  </a:cxn>
                </a:cxnLst>
                <a:rect l="T9" t="T10" r="T11" b="T12"/>
                <a:pathLst>
                  <a:path w="1008" h="1200">
                    <a:moveTo>
                      <a:pt x="0" y="1200"/>
                    </a:moveTo>
                    <a:cubicBezTo>
                      <a:pt x="12" y="1060"/>
                      <a:pt x="24" y="920"/>
                      <a:pt x="192" y="720"/>
                    </a:cubicBezTo>
                    <a:cubicBezTo>
                      <a:pt x="360" y="520"/>
                      <a:pt x="872" y="120"/>
                      <a:pt x="1008" y="0"/>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63" name="Oval 43">
                <a:extLst>
                  <a:ext uri="{FF2B5EF4-FFF2-40B4-BE49-F238E27FC236}">
                    <a16:creationId xmlns:a16="http://schemas.microsoft.com/office/drawing/2014/main" id="{EA14C650-CD3C-7A9E-3CC1-42A38337C485}"/>
                  </a:ext>
                </a:extLst>
              </p:cNvPr>
              <p:cNvSpPr>
                <a:spLocks noChangeArrowheads="1"/>
              </p:cNvSpPr>
              <p:nvPr/>
            </p:nvSpPr>
            <p:spPr bwMode="auto">
              <a:xfrm>
                <a:off x="3648" y="225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64" name="Line 44">
                <a:extLst>
                  <a:ext uri="{FF2B5EF4-FFF2-40B4-BE49-F238E27FC236}">
                    <a16:creationId xmlns:a16="http://schemas.microsoft.com/office/drawing/2014/main" id="{BC80EEA7-9CD9-752B-152E-CD60445EE641}"/>
                  </a:ext>
                </a:extLst>
              </p:cNvPr>
              <p:cNvSpPr>
                <a:spLocks noChangeShapeType="1"/>
              </p:cNvSpPr>
              <p:nvPr/>
            </p:nvSpPr>
            <p:spPr bwMode="auto">
              <a:xfrm flipH="1" flipV="1">
                <a:off x="3072" y="1488"/>
                <a:ext cx="1008" cy="134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3365" name="Line 45">
                <a:extLst>
                  <a:ext uri="{FF2B5EF4-FFF2-40B4-BE49-F238E27FC236}">
                    <a16:creationId xmlns:a16="http://schemas.microsoft.com/office/drawing/2014/main" id="{39D41356-DC4D-BE8B-42F6-3293EB0E5DA4}"/>
                  </a:ext>
                </a:extLst>
              </p:cNvPr>
              <p:cNvSpPr>
                <a:spLocks noChangeShapeType="1"/>
              </p:cNvSpPr>
              <p:nvPr/>
            </p:nvSpPr>
            <p:spPr bwMode="auto">
              <a:xfrm flipH="1">
                <a:off x="3072" y="1968"/>
                <a:ext cx="4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66" name="Line 46">
                <a:extLst>
                  <a:ext uri="{FF2B5EF4-FFF2-40B4-BE49-F238E27FC236}">
                    <a16:creationId xmlns:a16="http://schemas.microsoft.com/office/drawing/2014/main" id="{D3ED7284-A312-2940-588D-24B9E893DDCA}"/>
                  </a:ext>
                </a:extLst>
              </p:cNvPr>
              <p:cNvSpPr>
                <a:spLocks noChangeShapeType="1"/>
              </p:cNvSpPr>
              <p:nvPr/>
            </p:nvSpPr>
            <p:spPr bwMode="auto">
              <a:xfrm flipH="1">
                <a:off x="3744" y="2592"/>
                <a:ext cx="96" cy="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67" name="Line 47">
                <a:extLst>
                  <a:ext uri="{FF2B5EF4-FFF2-40B4-BE49-F238E27FC236}">
                    <a16:creationId xmlns:a16="http://schemas.microsoft.com/office/drawing/2014/main" id="{614E68EE-EDEE-A585-8DB4-4CE92744199F}"/>
                  </a:ext>
                </a:extLst>
              </p:cNvPr>
              <p:cNvSpPr>
                <a:spLocks noChangeShapeType="1"/>
              </p:cNvSpPr>
              <p:nvPr/>
            </p:nvSpPr>
            <p:spPr bwMode="auto">
              <a:xfrm flipH="1" flipV="1">
                <a:off x="4080" y="1632"/>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68" name="Line 48">
                <a:extLst>
                  <a:ext uri="{FF2B5EF4-FFF2-40B4-BE49-F238E27FC236}">
                    <a16:creationId xmlns:a16="http://schemas.microsoft.com/office/drawing/2014/main" id="{385522B4-4BC0-1216-71EF-86437EC8418E}"/>
                  </a:ext>
                </a:extLst>
              </p:cNvPr>
              <p:cNvSpPr>
                <a:spLocks noChangeShapeType="1"/>
              </p:cNvSpPr>
              <p:nvPr/>
            </p:nvSpPr>
            <p:spPr bwMode="auto">
              <a:xfrm flipH="1" flipV="1">
                <a:off x="3312" y="2448"/>
                <a:ext cx="144"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aphicFrame>
          <p:nvGraphicFramePr>
            <p:cNvPr id="13325" name="Object 49">
              <a:extLst>
                <a:ext uri="{FF2B5EF4-FFF2-40B4-BE49-F238E27FC236}">
                  <a16:creationId xmlns:a16="http://schemas.microsoft.com/office/drawing/2014/main" id="{9ECBE446-370F-A84B-2033-6278BA8023E9}"/>
                </a:ext>
              </a:extLst>
            </p:cNvPr>
            <p:cNvGraphicFramePr>
              <a:graphicFrameLocks noChangeAspect="1"/>
            </p:cNvGraphicFramePr>
            <p:nvPr/>
          </p:nvGraphicFramePr>
          <p:xfrm>
            <a:off x="3072" y="1248"/>
            <a:ext cx="1056" cy="285"/>
          </p:xfrm>
          <a:graphic>
            <a:graphicData uri="http://schemas.openxmlformats.org/presentationml/2006/ole">
              <mc:AlternateContent xmlns:mc="http://schemas.openxmlformats.org/markup-compatibility/2006">
                <mc:Choice xmlns:v="urn:schemas-microsoft-com:vml" Requires="v">
                  <p:oleObj name="Equation" r:id="rId2" imgW="799753" imgH="215806" progId="Equation.3">
                    <p:embed/>
                  </p:oleObj>
                </mc:Choice>
                <mc:Fallback>
                  <p:oleObj name="Equation" r:id="rId2" imgW="799753" imgH="215806" progId="Equation.3">
                    <p:embed/>
                    <p:pic>
                      <p:nvPicPr>
                        <p:cNvPr id="13325" name="Object 49">
                          <a:extLst>
                            <a:ext uri="{FF2B5EF4-FFF2-40B4-BE49-F238E27FC236}">
                              <a16:creationId xmlns:a16="http://schemas.microsoft.com/office/drawing/2014/main" id="{9ECBE446-370F-A84B-2033-6278BA8023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2" y="1248"/>
                          <a:ext cx="1056"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6" name="Object 50">
              <a:extLst>
                <a:ext uri="{FF2B5EF4-FFF2-40B4-BE49-F238E27FC236}">
                  <a16:creationId xmlns:a16="http://schemas.microsoft.com/office/drawing/2014/main" id="{19E28E84-5574-E0EA-7126-AB8C21C7318A}"/>
                </a:ext>
              </a:extLst>
            </p:cNvPr>
            <p:cNvGraphicFramePr>
              <a:graphicFrameLocks noChangeAspect="1"/>
            </p:cNvGraphicFramePr>
            <p:nvPr/>
          </p:nvGraphicFramePr>
          <p:xfrm>
            <a:off x="3936" y="2352"/>
            <a:ext cx="1022" cy="302"/>
          </p:xfrm>
          <a:graphic>
            <a:graphicData uri="http://schemas.openxmlformats.org/presentationml/2006/ole">
              <mc:AlternateContent xmlns:mc="http://schemas.openxmlformats.org/markup-compatibility/2006">
                <mc:Choice xmlns:v="urn:schemas-microsoft-com:vml" Requires="v">
                  <p:oleObj name="Equation" r:id="rId4" imgW="774364" imgH="228501" progId="Equation.3">
                    <p:embed/>
                  </p:oleObj>
                </mc:Choice>
                <mc:Fallback>
                  <p:oleObj name="Equation" r:id="rId4" imgW="774364" imgH="228501" progId="Equation.3">
                    <p:embed/>
                    <p:pic>
                      <p:nvPicPr>
                        <p:cNvPr id="13326" name="Object 50">
                          <a:extLst>
                            <a:ext uri="{FF2B5EF4-FFF2-40B4-BE49-F238E27FC236}">
                              <a16:creationId xmlns:a16="http://schemas.microsoft.com/office/drawing/2014/main" id="{19E28E84-5574-E0EA-7126-AB8C21C731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6" y="2352"/>
                          <a:ext cx="1022"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7" name="Object 51">
              <a:extLst>
                <a:ext uri="{FF2B5EF4-FFF2-40B4-BE49-F238E27FC236}">
                  <a16:creationId xmlns:a16="http://schemas.microsoft.com/office/drawing/2014/main" id="{E9CDA888-0739-FA4F-004C-76E6D9D5C957}"/>
                </a:ext>
              </a:extLst>
            </p:cNvPr>
            <p:cNvGraphicFramePr>
              <a:graphicFrameLocks noChangeAspect="1"/>
            </p:cNvGraphicFramePr>
            <p:nvPr/>
          </p:nvGraphicFramePr>
          <p:xfrm>
            <a:off x="4339" y="1672"/>
            <a:ext cx="921" cy="302"/>
          </p:xfrm>
          <a:graphic>
            <a:graphicData uri="http://schemas.openxmlformats.org/presentationml/2006/ole">
              <mc:AlternateContent xmlns:mc="http://schemas.openxmlformats.org/markup-compatibility/2006">
                <mc:Choice xmlns:v="urn:schemas-microsoft-com:vml" Requires="v">
                  <p:oleObj name="Equation" r:id="rId6" imgW="698500" imgH="228600" progId="Equation.3">
                    <p:embed/>
                  </p:oleObj>
                </mc:Choice>
                <mc:Fallback>
                  <p:oleObj name="Equation" r:id="rId6" imgW="698500" imgH="228600" progId="Equation.3">
                    <p:embed/>
                    <p:pic>
                      <p:nvPicPr>
                        <p:cNvPr id="13327" name="Object 51">
                          <a:extLst>
                            <a:ext uri="{FF2B5EF4-FFF2-40B4-BE49-F238E27FC236}">
                              <a16:creationId xmlns:a16="http://schemas.microsoft.com/office/drawing/2014/main" id="{E9CDA888-0739-FA4F-004C-76E6D9D5C9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9" y="1672"/>
                          <a:ext cx="921"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56">
            <a:extLst>
              <a:ext uri="{FF2B5EF4-FFF2-40B4-BE49-F238E27FC236}">
                <a16:creationId xmlns:a16="http://schemas.microsoft.com/office/drawing/2014/main" id="{2F0E88CF-2152-75F7-F9DB-6D725A2A1D92}"/>
              </a:ext>
            </a:extLst>
          </p:cNvPr>
          <p:cNvGrpSpPr>
            <a:grpSpLocks/>
          </p:cNvGrpSpPr>
          <p:nvPr/>
        </p:nvGrpSpPr>
        <p:grpSpPr bwMode="auto">
          <a:xfrm>
            <a:off x="4724400" y="3543300"/>
            <a:ext cx="762000" cy="685800"/>
            <a:chOff x="2976" y="2256"/>
            <a:chExt cx="480" cy="432"/>
          </a:xfrm>
        </p:grpSpPr>
        <p:sp>
          <p:nvSpPr>
            <p:cNvPr id="13321" name="Oval 52">
              <a:extLst>
                <a:ext uri="{FF2B5EF4-FFF2-40B4-BE49-F238E27FC236}">
                  <a16:creationId xmlns:a16="http://schemas.microsoft.com/office/drawing/2014/main" id="{DCB7441D-F2B0-10A1-1B9D-B8C672EFF730}"/>
                </a:ext>
              </a:extLst>
            </p:cNvPr>
            <p:cNvSpPr>
              <a:spLocks noChangeArrowheads="1"/>
            </p:cNvSpPr>
            <p:nvPr/>
          </p:nvSpPr>
          <p:spPr bwMode="auto">
            <a:xfrm>
              <a:off x="3216" y="2448"/>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22" name="Rectangle 53">
              <a:extLst>
                <a:ext uri="{FF2B5EF4-FFF2-40B4-BE49-F238E27FC236}">
                  <a16:creationId xmlns:a16="http://schemas.microsoft.com/office/drawing/2014/main" id="{BCD75D7E-298B-EEC4-5521-DB299012023D}"/>
                </a:ext>
              </a:extLst>
            </p:cNvPr>
            <p:cNvSpPr>
              <a:spLocks noChangeArrowheads="1"/>
            </p:cNvSpPr>
            <p:nvPr/>
          </p:nvSpPr>
          <p:spPr bwMode="auto">
            <a:xfrm>
              <a:off x="2976" y="2256"/>
              <a:ext cx="480"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23" name="Oval 54">
              <a:extLst>
                <a:ext uri="{FF2B5EF4-FFF2-40B4-BE49-F238E27FC236}">
                  <a16:creationId xmlns:a16="http://schemas.microsoft.com/office/drawing/2014/main" id="{2DA817D5-E79C-8218-0012-2BA510210185}"/>
                </a:ext>
              </a:extLst>
            </p:cNvPr>
            <p:cNvSpPr>
              <a:spLocks noChangeArrowheads="1"/>
            </p:cNvSpPr>
            <p:nvPr/>
          </p:nvSpPr>
          <p:spPr bwMode="auto">
            <a:xfrm>
              <a:off x="3408" y="2256"/>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pSp>
      <p:graphicFrame>
        <p:nvGraphicFramePr>
          <p:cNvPr id="13320" name="Object 55">
            <a:extLst>
              <a:ext uri="{FF2B5EF4-FFF2-40B4-BE49-F238E27FC236}">
                <a16:creationId xmlns:a16="http://schemas.microsoft.com/office/drawing/2014/main" id="{65F86861-AD26-0D1E-BCB9-28D7789F0E9C}"/>
              </a:ext>
            </a:extLst>
          </p:cNvPr>
          <p:cNvGraphicFramePr>
            <a:graphicFrameLocks noChangeAspect="1"/>
          </p:cNvGraphicFramePr>
          <p:nvPr/>
        </p:nvGraphicFramePr>
        <p:xfrm>
          <a:off x="228600" y="1066800"/>
          <a:ext cx="3733800" cy="2122488"/>
        </p:xfrm>
        <a:graphic>
          <a:graphicData uri="http://schemas.openxmlformats.org/presentationml/2006/ole">
            <mc:AlternateContent xmlns:mc="http://schemas.openxmlformats.org/markup-compatibility/2006">
              <mc:Choice xmlns:v="urn:schemas-microsoft-com:vml" Requires="v">
                <p:oleObj name="Equation" r:id="rId8" imgW="2006600" imgH="1143000" progId="Equation.3">
                  <p:embed/>
                </p:oleObj>
              </mc:Choice>
              <mc:Fallback>
                <p:oleObj name="Equation" r:id="rId8" imgW="2006600" imgH="1143000" progId="Equation.3">
                  <p:embed/>
                  <p:pic>
                    <p:nvPicPr>
                      <p:cNvPr id="13320" name="Object 55">
                        <a:extLst>
                          <a:ext uri="{FF2B5EF4-FFF2-40B4-BE49-F238E27FC236}">
                            <a16:creationId xmlns:a16="http://schemas.microsoft.com/office/drawing/2014/main" id="{65F86861-AD26-0D1E-BCB9-28D7789F0E9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 y="1066800"/>
                        <a:ext cx="3733800" cy="212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49509"/>
                                        </p:tgtEl>
                                        <p:attrNameLst>
                                          <p:attrName>style.visibility</p:attrName>
                                        </p:attrNameLst>
                                      </p:cBhvr>
                                      <p:to>
                                        <p:strVal val="visible"/>
                                      </p:to>
                                    </p:set>
                                    <p:anim calcmode="lin" valueType="num">
                                      <p:cBhvr additive="base">
                                        <p:cTn id="19" dur="500" fill="hold"/>
                                        <p:tgtEl>
                                          <p:spTgt spid="149509"/>
                                        </p:tgtEl>
                                        <p:attrNameLst>
                                          <p:attrName>ppt_x</p:attrName>
                                        </p:attrNameLst>
                                      </p:cBhvr>
                                      <p:tavLst>
                                        <p:tav tm="0">
                                          <p:val>
                                            <p:strVal val="0-#ppt_w/2"/>
                                          </p:val>
                                        </p:tav>
                                        <p:tav tm="100000">
                                          <p:val>
                                            <p:strVal val="#ppt_x"/>
                                          </p:val>
                                        </p:tav>
                                      </p:tavLst>
                                    </p:anim>
                                    <p:anim calcmode="lin" valueType="num">
                                      <p:cBhvr additive="base">
                                        <p:cTn id="20" dur="500" fill="hold"/>
                                        <p:tgtEl>
                                          <p:spTgt spid="1495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90E04FA-A562-A99D-A79D-DC7C2FD5C5BA}"/>
              </a:ext>
            </a:extLst>
          </p:cNvPr>
          <p:cNvSpPr>
            <a:spLocks noGrp="1" noChangeArrowheads="1"/>
          </p:cNvSpPr>
          <p:nvPr>
            <p:ph type="title"/>
          </p:nvPr>
        </p:nvSpPr>
        <p:spPr>
          <a:xfrm>
            <a:off x="533400" y="0"/>
            <a:ext cx="8077200" cy="1143000"/>
          </a:xfrm>
        </p:spPr>
        <p:txBody>
          <a:bodyPr/>
          <a:lstStyle/>
          <a:p>
            <a:pPr>
              <a:lnSpc>
                <a:spcPct val="80000"/>
              </a:lnSpc>
            </a:pPr>
            <a:r>
              <a:rPr lang="en-US" altLang="en-US" sz="3800"/>
              <a:t>LP subproblem #2</a:t>
            </a:r>
          </a:p>
        </p:txBody>
      </p:sp>
      <p:sp>
        <p:nvSpPr>
          <p:cNvPr id="14339" name="Rectangle 3">
            <a:extLst>
              <a:ext uri="{FF2B5EF4-FFF2-40B4-BE49-F238E27FC236}">
                <a16:creationId xmlns:a16="http://schemas.microsoft.com/office/drawing/2014/main" id="{2ACF12CA-D3DB-DA6D-DF2F-979D46385E49}"/>
              </a:ext>
            </a:extLst>
          </p:cNvPr>
          <p:cNvSpPr>
            <a:spLocks noChangeArrowheads="1"/>
          </p:cNvSpPr>
          <p:nvPr/>
        </p:nvSpPr>
        <p:spPr bwMode="auto">
          <a:xfrm>
            <a:off x="228600" y="152400"/>
            <a:ext cx="87630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4340" name="Rectangle 4">
            <a:extLst>
              <a:ext uri="{FF2B5EF4-FFF2-40B4-BE49-F238E27FC236}">
                <a16:creationId xmlns:a16="http://schemas.microsoft.com/office/drawing/2014/main" id="{40D4B09E-8D37-118E-0BA6-4E1AC4C9F968}"/>
              </a:ext>
            </a:extLst>
          </p:cNvPr>
          <p:cNvSpPr>
            <a:spLocks noChangeArrowheads="1"/>
          </p:cNvSpPr>
          <p:nvPr/>
        </p:nvSpPr>
        <p:spPr bwMode="auto">
          <a:xfrm>
            <a:off x="6400800" y="61722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20</a:t>
            </a:r>
          </a:p>
        </p:txBody>
      </p:sp>
      <p:sp>
        <p:nvSpPr>
          <p:cNvPr id="150533" name="Rectangle 5">
            <a:extLst>
              <a:ext uri="{FF2B5EF4-FFF2-40B4-BE49-F238E27FC236}">
                <a16:creationId xmlns:a16="http://schemas.microsoft.com/office/drawing/2014/main" id="{EEE1EA33-74F8-86F8-7AC0-10693D53D536}"/>
              </a:ext>
            </a:extLst>
          </p:cNvPr>
          <p:cNvSpPr>
            <a:spLocks noGrp="1" noChangeArrowheads="1"/>
          </p:cNvSpPr>
          <p:nvPr>
            <p:ph type="body" idx="1"/>
          </p:nvPr>
        </p:nvSpPr>
        <p:spPr>
          <a:xfrm>
            <a:off x="342900" y="838200"/>
            <a:ext cx="8458200" cy="5410200"/>
          </a:xfrm>
        </p:spPr>
        <p:txBody>
          <a:bodyPr/>
          <a:lstStyle/>
          <a:p>
            <a:pPr>
              <a:tabLst>
                <a:tab pos="5087938" algn="l"/>
              </a:tabLst>
            </a:pPr>
            <a:r>
              <a:rPr lang="en-US" altLang="en-US" sz="3000"/>
              <a:t>Now, check and make sure [3,3] is better than [2,2], to make sure we’re converging.</a:t>
            </a:r>
          </a:p>
          <a:p>
            <a:pPr>
              <a:tabLst>
                <a:tab pos="5087938" algn="l"/>
              </a:tabLst>
            </a:pPr>
            <a:r>
              <a:rPr lang="en-US" altLang="en-US" sz="3000" i="1"/>
              <a:t>f</a:t>
            </a:r>
            <a:r>
              <a:rPr lang="en-US" altLang="en-US" sz="3000"/>
              <a:t>(2,2)=6, </a:t>
            </a:r>
            <a:r>
              <a:rPr lang="en-US" altLang="en-US" sz="3000" i="1"/>
              <a:t>f</a:t>
            </a:r>
            <a:r>
              <a:rPr lang="en-US" altLang="en-US" sz="3000"/>
              <a:t>(3,3)=9, OK</a:t>
            </a:r>
          </a:p>
          <a:p>
            <a:pPr>
              <a:tabLst>
                <a:tab pos="5087938" algn="l"/>
              </a:tabLst>
            </a:pPr>
            <a:r>
              <a:rPr lang="en-US" altLang="en-US" sz="3000"/>
              <a:t>Now set up the next LP, by linearizing around [3,3]:</a:t>
            </a:r>
          </a:p>
        </p:txBody>
      </p:sp>
      <p:graphicFrame>
        <p:nvGraphicFramePr>
          <p:cNvPr id="150534" name="Object 6">
            <a:extLst>
              <a:ext uri="{FF2B5EF4-FFF2-40B4-BE49-F238E27FC236}">
                <a16:creationId xmlns:a16="http://schemas.microsoft.com/office/drawing/2014/main" id="{C43F0DCE-1377-D55A-7E82-DC82EF776560}"/>
              </a:ext>
            </a:extLst>
          </p:cNvPr>
          <p:cNvGraphicFramePr>
            <a:graphicFrameLocks noChangeAspect="1"/>
          </p:cNvGraphicFramePr>
          <p:nvPr/>
        </p:nvGraphicFramePr>
        <p:xfrm>
          <a:off x="2133600" y="3124200"/>
          <a:ext cx="4387850" cy="2967038"/>
        </p:xfrm>
        <a:graphic>
          <a:graphicData uri="http://schemas.openxmlformats.org/presentationml/2006/ole">
            <mc:AlternateContent xmlns:mc="http://schemas.openxmlformats.org/markup-compatibility/2006">
              <mc:Choice xmlns:v="urn:schemas-microsoft-com:vml" Requires="v">
                <p:oleObj name="Equation" r:id="rId2" imgW="1930400" imgH="1308100" progId="Equation.3">
                  <p:embed/>
                </p:oleObj>
              </mc:Choice>
              <mc:Fallback>
                <p:oleObj name="Equation" r:id="rId2" imgW="1930400" imgH="1308100" progId="Equation.3">
                  <p:embed/>
                  <p:pic>
                    <p:nvPicPr>
                      <p:cNvPr id="150534" name="Object 6">
                        <a:extLst>
                          <a:ext uri="{FF2B5EF4-FFF2-40B4-BE49-F238E27FC236}">
                            <a16:creationId xmlns:a16="http://schemas.microsoft.com/office/drawing/2014/main" id="{C43F0DCE-1377-D55A-7E82-DC82EF7765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124200"/>
                        <a:ext cx="4387850" cy="296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0533">
                                            <p:txEl>
                                              <p:pRg st="0" end="0"/>
                                            </p:txEl>
                                          </p:spTgt>
                                        </p:tgtEl>
                                        <p:attrNameLst>
                                          <p:attrName>style.visibility</p:attrName>
                                        </p:attrNameLst>
                                      </p:cBhvr>
                                      <p:to>
                                        <p:strVal val="visible"/>
                                      </p:to>
                                    </p:set>
                                    <p:anim calcmode="lin" valueType="num">
                                      <p:cBhvr additive="base">
                                        <p:cTn id="7" dur="500" fill="hold"/>
                                        <p:tgtEl>
                                          <p:spTgt spid="15053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053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50533">
                                            <p:txEl>
                                              <p:pRg st="1" end="1"/>
                                            </p:txEl>
                                          </p:spTgt>
                                        </p:tgtEl>
                                        <p:attrNameLst>
                                          <p:attrName>style.visibility</p:attrName>
                                        </p:attrNameLst>
                                      </p:cBhvr>
                                      <p:to>
                                        <p:strVal val="visible"/>
                                      </p:to>
                                    </p:set>
                                    <p:anim calcmode="lin" valueType="num">
                                      <p:cBhvr additive="base">
                                        <p:cTn id="13" dur="500" fill="hold"/>
                                        <p:tgtEl>
                                          <p:spTgt spid="15053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053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50533">
                                            <p:txEl>
                                              <p:pRg st="2" end="2"/>
                                            </p:txEl>
                                          </p:spTgt>
                                        </p:tgtEl>
                                        <p:attrNameLst>
                                          <p:attrName>style.visibility</p:attrName>
                                        </p:attrNameLst>
                                      </p:cBhvr>
                                      <p:to>
                                        <p:strVal val="visible"/>
                                      </p:to>
                                    </p:set>
                                    <p:anim calcmode="lin" valueType="num">
                                      <p:cBhvr additive="base">
                                        <p:cTn id="19" dur="500" fill="hold"/>
                                        <p:tgtEl>
                                          <p:spTgt spid="15053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053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50534"/>
                                        </p:tgtEl>
                                        <p:attrNameLst>
                                          <p:attrName>style.visibility</p:attrName>
                                        </p:attrNameLst>
                                      </p:cBhvr>
                                      <p:to>
                                        <p:strVal val="visible"/>
                                      </p:to>
                                    </p:set>
                                    <p:anim calcmode="lin" valueType="num">
                                      <p:cBhvr additive="base">
                                        <p:cTn id="25" dur="500" fill="hold"/>
                                        <p:tgtEl>
                                          <p:spTgt spid="150534"/>
                                        </p:tgtEl>
                                        <p:attrNameLst>
                                          <p:attrName>ppt_x</p:attrName>
                                        </p:attrNameLst>
                                      </p:cBhvr>
                                      <p:tavLst>
                                        <p:tav tm="0">
                                          <p:val>
                                            <p:strVal val="0-#ppt_w/2"/>
                                          </p:val>
                                        </p:tav>
                                        <p:tav tm="100000">
                                          <p:val>
                                            <p:strVal val="#ppt_x"/>
                                          </p:val>
                                        </p:tav>
                                      </p:tavLst>
                                    </p:anim>
                                    <p:anim calcmode="lin" valueType="num">
                                      <p:cBhvr additive="base">
                                        <p:cTn id="26" dur="500" fill="hold"/>
                                        <p:tgtEl>
                                          <p:spTgt spid="1505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20D505C-79ED-0FC1-1233-D0117F3C87DD}"/>
              </a:ext>
            </a:extLst>
          </p:cNvPr>
          <p:cNvSpPr>
            <a:spLocks noGrp="1" noChangeArrowheads="1"/>
          </p:cNvSpPr>
          <p:nvPr>
            <p:ph type="title"/>
          </p:nvPr>
        </p:nvSpPr>
        <p:spPr>
          <a:xfrm>
            <a:off x="533400" y="0"/>
            <a:ext cx="8077200" cy="1143000"/>
          </a:xfrm>
        </p:spPr>
        <p:txBody>
          <a:bodyPr/>
          <a:lstStyle/>
          <a:p>
            <a:pPr>
              <a:lnSpc>
                <a:spcPct val="80000"/>
              </a:lnSpc>
            </a:pPr>
            <a:r>
              <a:rPr lang="en-US" altLang="en-US" sz="3800"/>
              <a:t>Further Iterations</a:t>
            </a:r>
          </a:p>
        </p:txBody>
      </p:sp>
      <p:sp>
        <p:nvSpPr>
          <p:cNvPr id="15363" name="Rectangle 3">
            <a:extLst>
              <a:ext uri="{FF2B5EF4-FFF2-40B4-BE49-F238E27FC236}">
                <a16:creationId xmlns:a16="http://schemas.microsoft.com/office/drawing/2014/main" id="{528442B8-3A21-E9F4-8414-B76B4BDC7371}"/>
              </a:ext>
            </a:extLst>
          </p:cNvPr>
          <p:cNvSpPr>
            <a:spLocks noChangeArrowheads="1"/>
          </p:cNvSpPr>
          <p:nvPr/>
        </p:nvSpPr>
        <p:spPr bwMode="auto">
          <a:xfrm>
            <a:off x="228600" y="152400"/>
            <a:ext cx="87630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5364" name="Rectangle 4">
            <a:extLst>
              <a:ext uri="{FF2B5EF4-FFF2-40B4-BE49-F238E27FC236}">
                <a16:creationId xmlns:a16="http://schemas.microsoft.com/office/drawing/2014/main" id="{415E1E13-F765-68E6-95E7-231F59DF291A}"/>
              </a:ext>
            </a:extLst>
          </p:cNvPr>
          <p:cNvSpPr>
            <a:spLocks noChangeArrowheads="1"/>
          </p:cNvSpPr>
          <p:nvPr/>
        </p:nvSpPr>
        <p:spPr bwMode="auto">
          <a:xfrm>
            <a:off x="6400800" y="61722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20</a:t>
            </a:r>
          </a:p>
        </p:txBody>
      </p:sp>
      <p:sp>
        <p:nvSpPr>
          <p:cNvPr id="151557" name="Rectangle 5">
            <a:extLst>
              <a:ext uri="{FF2B5EF4-FFF2-40B4-BE49-F238E27FC236}">
                <a16:creationId xmlns:a16="http://schemas.microsoft.com/office/drawing/2014/main" id="{E469F32E-12D8-F8D9-A015-8D6979ED9A90}"/>
              </a:ext>
            </a:extLst>
          </p:cNvPr>
          <p:cNvSpPr>
            <a:spLocks noGrp="1" noChangeArrowheads="1"/>
          </p:cNvSpPr>
          <p:nvPr>
            <p:ph type="body" idx="1"/>
          </p:nvPr>
        </p:nvSpPr>
        <p:spPr>
          <a:xfrm>
            <a:off x="276225" y="942975"/>
            <a:ext cx="8343900" cy="5791200"/>
          </a:xfrm>
        </p:spPr>
        <p:txBody>
          <a:bodyPr/>
          <a:lstStyle/>
          <a:p>
            <a:pPr>
              <a:lnSpc>
                <a:spcPct val="90000"/>
              </a:lnSpc>
              <a:tabLst>
                <a:tab pos="5087938" algn="l"/>
              </a:tabLst>
            </a:pPr>
            <a:r>
              <a:rPr lang="en-US" altLang="en-US" sz="2800"/>
              <a:t>The solution to LP #2 is [4,3.167]</a:t>
            </a:r>
          </a:p>
          <a:p>
            <a:pPr>
              <a:lnSpc>
                <a:spcPct val="90000"/>
              </a:lnSpc>
              <a:tabLst>
                <a:tab pos="5087938" algn="l"/>
              </a:tabLst>
            </a:pPr>
            <a:r>
              <a:rPr lang="en-US" altLang="en-US" sz="2800"/>
              <a:t>Note this is infeasible to the original NLP – not a problem, but don’t use intermediate solutions!</a:t>
            </a:r>
          </a:p>
          <a:p>
            <a:pPr>
              <a:lnSpc>
                <a:spcPct val="90000"/>
              </a:lnSpc>
              <a:tabLst>
                <a:tab pos="5087938" algn="l"/>
              </a:tabLst>
            </a:pPr>
            <a:r>
              <a:rPr lang="en-US" altLang="en-US" sz="2800"/>
              <a:t>After the third LP, we get to [4,3.005], still infeasible but very close to the optimum</a:t>
            </a:r>
          </a:p>
          <a:p>
            <a:pPr>
              <a:lnSpc>
                <a:spcPct val="90000"/>
              </a:lnSpc>
              <a:tabLst>
                <a:tab pos="5087938" algn="l"/>
              </a:tabLst>
            </a:pPr>
            <a:r>
              <a:rPr lang="en-US" altLang="en-US" sz="2800"/>
              <a:t>This method does not always converge, but an improvement does:</a:t>
            </a:r>
          </a:p>
          <a:p>
            <a:pPr>
              <a:lnSpc>
                <a:spcPct val="90000"/>
              </a:lnSpc>
              <a:tabLst>
                <a:tab pos="5087938" algn="l"/>
              </a:tabLst>
            </a:pPr>
            <a:r>
              <a:rPr lang="en-US" altLang="en-US" sz="2800"/>
              <a:t>Penalty Successive Linear Programming changes the step bounds in each step using a penalty function, causing the method to never step too far and thus always converge</a:t>
            </a:r>
          </a:p>
          <a:p>
            <a:pPr>
              <a:lnSpc>
                <a:spcPct val="90000"/>
              </a:lnSpc>
              <a:tabLst>
                <a:tab pos="5087938" algn="l"/>
              </a:tabLst>
            </a:pPr>
            <a:r>
              <a:rPr lang="en-US" altLang="en-US" sz="2800"/>
              <a:t>This method is used in many commercial NLP codes, but sometimes converges slowly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1557">
                                            <p:txEl>
                                              <p:pRg st="0" end="0"/>
                                            </p:txEl>
                                          </p:spTgt>
                                        </p:tgtEl>
                                        <p:attrNameLst>
                                          <p:attrName>style.visibility</p:attrName>
                                        </p:attrNameLst>
                                      </p:cBhvr>
                                      <p:to>
                                        <p:strVal val="visible"/>
                                      </p:to>
                                    </p:set>
                                    <p:anim calcmode="lin" valueType="num">
                                      <p:cBhvr additive="base">
                                        <p:cTn id="7" dur="500" fill="hold"/>
                                        <p:tgtEl>
                                          <p:spTgt spid="1515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15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51557">
                                            <p:txEl>
                                              <p:pRg st="1" end="1"/>
                                            </p:txEl>
                                          </p:spTgt>
                                        </p:tgtEl>
                                        <p:attrNameLst>
                                          <p:attrName>style.visibility</p:attrName>
                                        </p:attrNameLst>
                                      </p:cBhvr>
                                      <p:to>
                                        <p:strVal val="visible"/>
                                      </p:to>
                                    </p:set>
                                    <p:anim calcmode="lin" valueType="num">
                                      <p:cBhvr additive="base">
                                        <p:cTn id="13" dur="500" fill="hold"/>
                                        <p:tgtEl>
                                          <p:spTgt spid="15155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155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51557">
                                            <p:txEl>
                                              <p:pRg st="2" end="2"/>
                                            </p:txEl>
                                          </p:spTgt>
                                        </p:tgtEl>
                                        <p:attrNameLst>
                                          <p:attrName>style.visibility</p:attrName>
                                        </p:attrNameLst>
                                      </p:cBhvr>
                                      <p:to>
                                        <p:strVal val="visible"/>
                                      </p:to>
                                    </p:set>
                                    <p:anim calcmode="lin" valueType="num">
                                      <p:cBhvr additive="base">
                                        <p:cTn id="19" dur="500" fill="hold"/>
                                        <p:tgtEl>
                                          <p:spTgt spid="15155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155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51557">
                                            <p:txEl>
                                              <p:pRg st="3" end="3"/>
                                            </p:txEl>
                                          </p:spTgt>
                                        </p:tgtEl>
                                        <p:attrNameLst>
                                          <p:attrName>style.visibility</p:attrName>
                                        </p:attrNameLst>
                                      </p:cBhvr>
                                      <p:to>
                                        <p:strVal val="visible"/>
                                      </p:to>
                                    </p:set>
                                    <p:anim calcmode="lin" valueType="num">
                                      <p:cBhvr additive="base">
                                        <p:cTn id="25" dur="500" fill="hold"/>
                                        <p:tgtEl>
                                          <p:spTgt spid="15155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155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51557">
                                            <p:txEl>
                                              <p:pRg st="4" end="4"/>
                                            </p:txEl>
                                          </p:spTgt>
                                        </p:tgtEl>
                                        <p:attrNameLst>
                                          <p:attrName>style.visibility</p:attrName>
                                        </p:attrNameLst>
                                      </p:cBhvr>
                                      <p:to>
                                        <p:strVal val="visible"/>
                                      </p:to>
                                    </p:set>
                                    <p:anim calcmode="lin" valueType="num">
                                      <p:cBhvr additive="base">
                                        <p:cTn id="31" dur="500" fill="hold"/>
                                        <p:tgtEl>
                                          <p:spTgt spid="15155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155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51557">
                                            <p:txEl>
                                              <p:pRg st="5" end="5"/>
                                            </p:txEl>
                                          </p:spTgt>
                                        </p:tgtEl>
                                        <p:attrNameLst>
                                          <p:attrName>style.visibility</p:attrName>
                                        </p:attrNameLst>
                                      </p:cBhvr>
                                      <p:to>
                                        <p:strVal val="visible"/>
                                      </p:to>
                                    </p:set>
                                    <p:anim calcmode="lin" valueType="num">
                                      <p:cBhvr additive="base">
                                        <p:cTn id="37" dur="500" fill="hold"/>
                                        <p:tgtEl>
                                          <p:spTgt spid="15155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155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7"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FF79FFD-66B6-6DA3-CAED-817F0A0AFE38}"/>
              </a:ext>
            </a:extLst>
          </p:cNvPr>
          <p:cNvSpPr>
            <a:spLocks noGrp="1" noChangeArrowheads="1"/>
          </p:cNvSpPr>
          <p:nvPr>
            <p:ph type="title"/>
          </p:nvPr>
        </p:nvSpPr>
        <p:spPr>
          <a:xfrm>
            <a:off x="533400" y="0"/>
            <a:ext cx="8077200" cy="1143000"/>
          </a:xfrm>
        </p:spPr>
        <p:txBody>
          <a:bodyPr/>
          <a:lstStyle/>
          <a:p>
            <a:pPr>
              <a:lnSpc>
                <a:spcPct val="80000"/>
              </a:lnSpc>
            </a:pPr>
            <a:r>
              <a:rPr lang="en-US" altLang="en-US"/>
              <a:t>Conclusions</a:t>
            </a:r>
          </a:p>
        </p:txBody>
      </p:sp>
      <p:sp>
        <p:nvSpPr>
          <p:cNvPr id="16387" name="Rectangle 3">
            <a:extLst>
              <a:ext uri="{FF2B5EF4-FFF2-40B4-BE49-F238E27FC236}">
                <a16:creationId xmlns:a16="http://schemas.microsoft.com/office/drawing/2014/main" id="{84964622-9894-8871-198D-47E6DD110264}"/>
              </a:ext>
            </a:extLst>
          </p:cNvPr>
          <p:cNvSpPr>
            <a:spLocks noChangeArrowheads="1"/>
          </p:cNvSpPr>
          <p:nvPr/>
        </p:nvSpPr>
        <p:spPr bwMode="auto">
          <a:xfrm>
            <a:off x="228600" y="152400"/>
            <a:ext cx="86868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6388" name="Rectangle 4">
            <a:extLst>
              <a:ext uri="{FF2B5EF4-FFF2-40B4-BE49-F238E27FC236}">
                <a16:creationId xmlns:a16="http://schemas.microsoft.com/office/drawing/2014/main" id="{1A4597C8-7B13-C2B3-F4C2-D388BC516278}"/>
              </a:ext>
            </a:extLst>
          </p:cNvPr>
          <p:cNvSpPr>
            <a:spLocks noChangeArrowheads="1"/>
          </p:cNvSpPr>
          <p:nvPr/>
        </p:nvSpPr>
        <p:spPr bwMode="auto">
          <a:xfrm>
            <a:off x="6400800" y="61722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20</a:t>
            </a:r>
          </a:p>
        </p:txBody>
      </p:sp>
      <p:sp>
        <p:nvSpPr>
          <p:cNvPr id="120837" name="Rectangle 5">
            <a:extLst>
              <a:ext uri="{FF2B5EF4-FFF2-40B4-BE49-F238E27FC236}">
                <a16:creationId xmlns:a16="http://schemas.microsoft.com/office/drawing/2014/main" id="{E1136F31-46EB-3633-AA2D-1B5CFF1CD524}"/>
              </a:ext>
            </a:extLst>
          </p:cNvPr>
          <p:cNvSpPr>
            <a:spLocks noGrp="1" noChangeArrowheads="1"/>
          </p:cNvSpPr>
          <p:nvPr>
            <p:ph type="body" idx="1"/>
          </p:nvPr>
        </p:nvSpPr>
        <p:spPr>
          <a:xfrm>
            <a:off x="338138" y="1381125"/>
            <a:ext cx="8305800" cy="3124200"/>
          </a:xfrm>
        </p:spPr>
        <p:txBody>
          <a:bodyPr>
            <a:normAutofit lnSpcReduction="10000"/>
          </a:bodyPr>
          <a:lstStyle/>
          <a:p>
            <a:r>
              <a:rPr lang="en-US" altLang="en-US"/>
              <a:t>Penalty function and barrier function methods do not work well to solve NLPs as stand-alone algorithms, but many other methods use such functions to improve convergence</a:t>
            </a:r>
          </a:p>
          <a:p>
            <a:r>
              <a:rPr lang="en-US" altLang="en-US"/>
              <a:t>Successive Linear Programming converts the NLP to a series of LPs.  This does work well, if we change the step bounds using a penalty function.  Convergence can be slow for many-variable problems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0837">
                                            <p:txEl>
                                              <p:pRg st="0" end="0"/>
                                            </p:txEl>
                                          </p:spTgt>
                                        </p:tgtEl>
                                        <p:attrNameLst>
                                          <p:attrName>style.visibility</p:attrName>
                                        </p:attrNameLst>
                                      </p:cBhvr>
                                      <p:to>
                                        <p:strVal val="visible"/>
                                      </p:to>
                                    </p:set>
                                    <p:anim calcmode="lin" valueType="num">
                                      <p:cBhvr additive="base">
                                        <p:cTn id="7" dur="500" fill="hold"/>
                                        <p:tgtEl>
                                          <p:spTgt spid="12083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08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0837">
                                            <p:txEl>
                                              <p:pRg st="1" end="1"/>
                                            </p:txEl>
                                          </p:spTgt>
                                        </p:tgtEl>
                                        <p:attrNameLst>
                                          <p:attrName>style.visibility</p:attrName>
                                        </p:attrNameLst>
                                      </p:cBhvr>
                                      <p:to>
                                        <p:strVal val="visible"/>
                                      </p:to>
                                    </p:set>
                                    <p:anim calcmode="lin" valueType="num">
                                      <p:cBhvr additive="base">
                                        <p:cTn id="13" dur="500" fill="hold"/>
                                        <p:tgtEl>
                                          <p:spTgt spid="12083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083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7"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2DDF025-29D8-B3DC-21F4-EF06E5E7C60D}"/>
              </a:ext>
            </a:extLst>
          </p:cNvPr>
          <p:cNvSpPr>
            <a:spLocks noGrp="1" noChangeArrowheads="1"/>
          </p:cNvSpPr>
          <p:nvPr>
            <p:ph type="title"/>
          </p:nvPr>
        </p:nvSpPr>
        <p:spPr>
          <a:xfrm>
            <a:off x="533400" y="457200"/>
            <a:ext cx="8077200" cy="1143000"/>
          </a:xfrm>
        </p:spPr>
        <p:txBody>
          <a:bodyPr>
            <a:normAutofit fontScale="90000"/>
          </a:bodyPr>
          <a:lstStyle/>
          <a:p>
            <a:pPr>
              <a:lnSpc>
                <a:spcPct val="80000"/>
              </a:lnSpc>
            </a:pPr>
            <a:r>
              <a:rPr lang="en-US" altLang="en-US"/>
              <a:t>GRG: The Generalized Reduced Gradient Method</a:t>
            </a:r>
          </a:p>
        </p:txBody>
      </p:sp>
      <p:sp>
        <p:nvSpPr>
          <p:cNvPr id="4099" name="Rectangle 3">
            <a:extLst>
              <a:ext uri="{FF2B5EF4-FFF2-40B4-BE49-F238E27FC236}">
                <a16:creationId xmlns:a16="http://schemas.microsoft.com/office/drawing/2014/main" id="{DD508AC8-E045-D991-5E47-AEB5904CA0A7}"/>
              </a:ext>
            </a:extLst>
          </p:cNvPr>
          <p:cNvSpPr>
            <a:spLocks noChangeArrowheads="1"/>
          </p:cNvSpPr>
          <p:nvPr/>
        </p:nvSpPr>
        <p:spPr bwMode="auto">
          <a:xfrm>
            <a:off x="228600" y="228600"/>
            <a:ext cx="8686800" cy="64008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0" name="Rectangle 4">
            <a:extLst>
              <a:ext uri="{FF2B5EF4-FFF2-40B4-BE49-F238E27FC236}">
                <a16:creationId xmlns:a16="http://schemas.microsoft.com/office/drawing/2014/main" id="{25893696-E4DB-067F-FB9C-6CECF283EBC9}"/>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21</a:t>
            </a:r>
          </a:p>
        </p:txBody>
      </p:sp>
      <p:sp>
        <p:nvSpPr>
          <p:cNvPr id="125957" name="Rectangle 5">
            <a:extLst>
              <a:ext uri="{FF2B5EF4-FFF2-40B4-BE49-F238E27FC236}">
                <a16:creationId xmlns:a16="http://schemas.microsoft.com/office/drawing/2014/main" id="{386A9383-506E-FB36-0F69-C20E1AB9C019}"/>
              </a:ext>
            </a:extLst>
          </p:cNvPr>
          <p:cNvSpPr>
            <a:spLocks noGrp="1" noChangeArrowheads="1"/>
          </p:cNvSpPr>
          <p:nvPr>
            <p:ph type="body" idx="1"/>
          </p:nvPr>
        </p:nvSpPr>
        <p:spPr>
          <a:xfrm>
            <a:off x="304800" y="1828800"/>
            <a:ext cx="8534400" cy="4495800"/>
          </a:xfrm>
        </p:spPr>
        <p:txBody>
          <a:bodyPr/>
          <a:lstStyle/>
          <a:p>
            <a:r>
              <a:rPr lang="en-US" altLang="en-US" sz="3400"/>
              <a:t>Iteratively solves a constrained NLP without relaxation</a:t>
            </a:r>
          </a:p>
          <a:p>
            <a:r>
              <a:rPr lang="en-US" altLang="en-US" sz="3400"/>
              <a:t>Includes a fast unconstrained NLP solver, and deals with each constraint separately</a:t>
            </a:r>
          </a:p>
          <a:p>
            <a:r>
              <a:rPr lang="en-US" altLang="en-US" sz="3400"/>
              <a:t>Implemented in CONOPT within the GAMS modeling system</a:t>
            </a:r>
          </a:p>
          <a:p>
            <a:pPr>
              <a:buFontTx/>
              <a:buNone/>
            </a:pPr>
            <a:r>
              <a:rPr lang="en-US" altLang="en-US" sz="30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5957">
                                            <p:txEl>
                                              <p:pRg st="0" end="0"/>
                                            </p:txEl>
                                          </p:spTgt>
                                        </p:tgtEl>
                                        <p:attrNameLst>
                                          <p:attrName>style.visibility</p:attrName>
                                        </p:attrNameLst>
                                      </p:cBhvr>
                                      <p:to>
                                        <p:strVal val="visible"/>
                                      </p:to>
                                    </p:set>
                                    <p:anim calcmode="lin" valueType="num">
                                      <p:cBhvr additive="base">
                                        <p:cTn id="7" dur="500" fill="hold"/>
                                        <p:tgtEl>
                                          <p:spTgt spid="1259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59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5957">
                                            <p:txEl>
                                              <p:pRg st="1" end="1"/>
                                            </p:txEl>
                                          </p:spTgt>
                                        </p:tgtEl>
                                        <p:attrNameLst>
                                          <p:attrName>style.visibility</p:attrName>
                                        </p:attrNameLst>
                                      </p:cBhvr>
                                      <p:to>
                                        <p:strVal val="visible"/>
                                      </p:to>
                                    </p:set>
                                    <p:anim calcmode="lin" valueType="num">
                                      <p:cBhvr additive="base">
                                        <p:cTn id="13" dur="500" fill="hold"/>
                                        <p:tgtEl>
                                          <p:spTgt spid="12595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595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5957">
                                            <p:txEl>
                                              <p:pRg st="2" end="2"/>
                                            </p:txEl>
                                          </p:spTgt>
                                        </p:tgtEl>
                                        <p:attrNameLst>
                                          <p:attrName>style.visibility</p:attrName>
                                        </p:attrNameLst>
                                      </p:cBhvr>
                                      <p:to>
                                        <p:strVal val="visible"/>
                                      </p:to>
                                    </p:set>
                                    <p:anim calcmode="lin" valueType="num">
                                      <p:cBhvr additive="base">
                                        <p:cTn id="19" dur="500" fill="hold"/>
                                        <p:tgtEl>
                                          <p:spTgt spid="12595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595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5957">
                                            <p:txEl>
                                              <p:pRg st="3" end="3"/>
                                            </p:txEl>
                                          </p:spTgt>
                                        </p:tgtEl>
                                        <p:attrNameLst>
                                          <p:attrName>style.visibility</p:attrName>
                                        </p:attrNameLst>
                                      </p:cBhvr>
                                      <p:to>
                                        <p:strVal val="visible"/>
                                      </p:to>
                                    </p:set>
                                    <p:anim calcmode="lin" valueType="num">
                                      <p:cBhvr additive="base">
                                        <p:cTn id="25" dur="500" fill="hold"/>
                                        <p:tgtEl>
                                          <p:spTgt spid="12595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595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7"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4D5FEF24-5EF7-22D9-079D-43F260B9EDA8}"/>
              </a:ext>
            </a:extLst>
          </p:cNvPr>
          <p:cNvSpPr>
            <a:spLocks noGrp="1" noChangeArrowheads="1"/>
          </p:cNvSpPr>
          <p:nvPr>
            <p:ph type="title"/>
          </p:nvPr>
        </p:nvSpPr>
        <p:spPr>
          <a:xfrm>
            <a:off x="685800" y="0"/>
            <a:ext cx="7772400" cy="1143000"/>
          </a:xfrm>
        </p:spPr>
        <p:txBody>
          <a:bodyPr/>
          <a:lstStyle/>
          <a:p>
            <a:pPr>
              <a:lnSpc>
                <a:spcPct val="80000"/>
              </a:lnSpc>
            </a:pPr>
            <a:r>
              <a:rPr lang="en-US" altLang="en-US" sz="4600"/>
              <a:t>GRG: Ideas</a:t>
            </a:r>
          </a:p>
        </p:txBody>
      </p:sp>
      <p:sp>
        <p:nvSpPr>
          <p:cNvPr id="5123" name="Rectangle 3">
            <a:extLst>
              <a:ext uri="{FF2B5EF4-FFF2-40B4-BE49-F238E27FC236}">
                <a16:creationId xmlns:a16="http://schemas.microsoft.com/office/drawing/2014/main" id="{862CDF4C-175C-B358-E89A-8E302C9A70C4}"/>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5124" name="Rectangle 4">
            <a:extLst>
              <a:ext uri="{FF2B5EF4-FFF2-40B4-BE49-F238E27FC236}">
                <a16:creationId xmlns:a16="http://schemas.microsoft.com/office/drawing/2014/main" id="{3E3465CD-0A75-E94D-418D-CDCC62BC459F}"/>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21</a:t>
            </a:r>
          </a:p>
        </p:txBody>
      </p:sp>
      <p:sp>
        <p:nvSpPr>
          <p:cNvPr id="142341" name="Text Box 5">
            <a:extLst>
              <a:ext uri="{FF2B5EF4-FFF2-40B4-BE49-F238E27FC236}">
                <a16:creationId xmlns:a16="http://schemas.microsoft.com/office/drawing/2014/main" id="{4D4EF36C-9201-3CFA-72B0-791439A748EE}"/>
              </a:ext>
            </a:extLst>
          </p:cNvPr>
          <p:cNvSpPr txBox="1">
            <a:spLocks noChangeArrowheads="1"/>
          </p:cNvSpPr>
          <p:nvPr/>
        </p:nvSpPr>
        <p:spPr bwMode="auto">
          <a:xfrm>
            <a:off x="495300" y="990600"/>
            <a:ext cx="81534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If we could put all constraints into the objective function, or start from a feasible point at which no constraint is active, then we could perform at least one step of an unconstrained NLP algorithm and improve our initial guess. How do we make that step?</a:t>
            </a:r>
          </a:p>
        </p:txBody>
      </p:sp>
      <p:sp>
        <p:nvSpPr>
          <p:cNvPr id="142385" name="Text Box 49">
            <a:extLst>
              <a:ext uri="{FF2B5EF4-FFF2-40B4-BE49-F238E27FC236}">
                <a16:creationId xmlns:a16="http://schemas.microsoft.com/office/drawing/2014/main" id="{585DACC0-387D-074B-0912-11030921F1FE}"/>
              </a:ext>
            </a:extLst>
          </p:cNvPr>
          <p:cNvSpPr txBox="1">
            <a:spLocks noChangeArrowheads="1"/>
          </p:cNvSpPr>
          <p:nvPr/>
        </p:nvSpPr>
        <p:spPr bwMode="auto">
          <a:xfrm>
            <a:off x="533400" y="3276600"/>
            <a:ext cx="80772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AutoNum type="arabicPeriod"/>
            </a:pPr>
            <a:r>
              <a:rPr lang="en-US" altLang="en-US" sz="2800"/>
              <a:t>Compute grad </a:t>
            </a:r>
            <a:r>
              <a:rPr lang="en-US" altLang="en-US" sz="2800" i="1"/>
              <a:t>f(x)</a:t>
            </a:r>
            <a:r>
              <a:rPr lang="en-US" altLang="en-US" sz="2800"/>
              <a:t> at the current point</a:t>
            </a:r>
          </a:p>
          <a:p>
            <a:pPr>
              <a:spcBef>
                <a:spcPct val="0"/>
              </a:spcBef>
              <a:buFontTx/>
              <a:buAutoNum type="arabicPeriod"/>
            </a:pPr>
            <a:r>
              <a:rPr lang="en-US" altLang="en-US" sz="2800"/>
              <a:t>Test to see if the iterations are converging</a:t>
            </a:r>
          </a:p>
          <a:p>
            <a:pPr>
              <a:spcBef>
                <a:spcPct val="0"/>
              </a:spcBef>
              <a:buFontTx/>
              <a:buAutoNum type="arabicPeriod"/>
            </a:pPr>
            <a:r>
              <a:rPr lang="en-US" altLang="en-US" sz="2800"/>
              <a:t>Compute a search direction based on grad </a:t>
            </a:r>
            <a:r>
              <a:rPr lang="en-US" altLang="en-US" sz="2800" i="1"/>
              <a:t>f(x)</a:t>
            </a:r>
            <a:r>
              <a:rPr lang="en-US" altLang="en-US" sz="2800"/>
              <a:t> (like steepest descent) plus other information</a:t>
            </a:r>
          </a:p>
          <a:p>
            <a:pPr>
              <a:spcBef>
                <a:spcPct val="0"/>
              </a:spcBef>
              <a:buFontTx/>
              <a:buAutoNum type="arabicPeriod"/>
            </a:pPr>
            <a:r>
              <a:rPr lang="en-US" altLang="en-US" sz="2800"/>
              <a:t>Perform a line search to figure out how far to move in the search direction</a:t>
            </a:r>
          </a:p>
          <a:p>
            <a:pPr>
              <a:spcBef>
                <a:spcPct val="0"/>
              </a:spcBef>
              <a:buFontTx/>
              <a:buAutoNum type="arabicPeriod"/>
            </a:pPr>
            <a:r>
              <a:rPr lang="en-US" altLang="en-US" sz="2800"/>
              <a:t>Repeat if still “unconstrained”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2341"/>
                                        </p:tgtEl>
                                        <p:attrNameLst>
                                          <p:attrName>style.visibility</p:attrName>
                                        </p:attrNameLst>
                                      </p:cBhvr>
                                      <p:to>
                                        <p:strVal val="visible"/>
                                      </p:to>
                                    </p:set>
                                    <p:anim calcmode="lin" valueType="num">
                                      <p:cBhvr additive="base">
                                        <p:cTn id="7" dur="500" fill="hold"/>
                                        <p:tgtEl>
                                          <p:spTgt spid="142341"/>
                                        </p:tgtEl>
                                        <p:attrNameLst>
                                          <p:attrName>ppt_x</p:attrName>
                                        </p:attrNameLst>
                                      </p:cBhvr>
                                      <p:tavLst>
                                        <p:tav tm="0">
                                          <p:val>
                                            <p:strVal val="0-#ppt_w/2"/>
                                          </p:val>
                                        </p:tav>
                                        <p:tav tm="100000">
                                          <p:val>
                                            <p:strVal val="#ppt_x"/>
                                          </p:val>
                                        </p:tav>
                                      </p:tavLst>
                                    </p:anim>
                                    <p:anim calcmode="lin" valueType="num">
                                      <p:cBhvr additive="base">
                                        <p:cTn id="8" dur="500" fill="hold"/>
                                        <p:tgtEl>
                                          <p:spTgt spid="14234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2385">
                                            <p:txEl>
                                              <p:pRg st="0" end="0"/>
                                            </p:txEl>
                                          </p:spTgt>
                                        </p:tgtEl>
                                        <p:attrNameLst>
                                          <p:attrName>style.visibility</p:attrName>
                                        </p:attrNameLst>
                                      </p:cBhvr>
                                      <p:to>
                                        <p:strVal val="visible"/>
                                      </p:to>
                                    </p:set>
                                    <p:anim calcmode="lin" valueType="num">
                                      <p:cBhvr additive="base">
                                        <p:cTn id="13" dur="500" fill="hold"/>
                                        <p:tgtEl>
                                          <p:spTgt spid="14238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23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42385">
                                            <p:txEl>
                                              <p:pRg st="1" end="1"/>
                                            </p:txEl>
                                          </p:spTgt>
                                        </p:tgtEl>
                                        <p:attrNameLst>
                                          <p:attrName>style.visibility</p:attrName>
                                        </p:attrNameLst>
                                      </p:cBhvr>
                                      <p:to>
                                        <p:strVal val="visible"/>
                                      </p:to>
                                    </p:set>
                                    <p:anim calcmode="lin" valueType="num">
                                      <p:cBhvr additive="base">
                                        <p:cTn id="19" dur="500" fill="hold"/>
                                        <p:tgtEl>
                                          <p:spTgt spid="142385">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238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42385">
                                            <p:txEl>
                                              <p:pRg st="2" end="2"/>
                                            </p:txEl>
                                          </p:spTgt>
                                        </p:tgtEl>
                                        <p:attrNameLst>
                                          <p:attrName>style.visibility</p:attrName>
                                        </p:attrNameLst>
                                      </p:cBhvr>
                                      <p:to>
                                        <p:strVal val="visible"/>
                                      </p:to>
                                    </p:set>
                                    <p:anim calcmode="lin" valueType="num">
                                      <p:cBhvr additive="base">
                                        <p:cTn id="25" dur="500" fill="hold"/>
                                        <p:tgtEl>
                                          <p:spTgt spid="142385">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238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42385">
                                            <p:txEl>
                                              <p:pRg st="3" end="3"/>
                                            </p:txEl>
                                          </p:spTgt>
                                        </p:tgtEl>
                                        <p:attrNameLst>
                                          <p:attrName>style.visibility</p:attrName>
                                        </p:attrNameLst>
                                      </p:cBhvr>
                                      <p:to>
                                        <p:strVal val="visible"/>
                                      </p:to>
                                    </p:set>
                                    <p:anim calcmode="lin" valueType="num">
                                      <p:cBhvr additive="base">
                                        <p:cTn id="31" dur="500" fill="hold"/>
                                        <p:tgtEl>
                                          <p:spTgt spid="142385">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238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42385">
                                            <p:txEl>
                                              <p:pRg st="4" end="4"/>
                                            </p:txEl>
                                          </p:spTgt>
                                        </p:tgtEl>
                                        <p:attrNameLst>
                                          <p:attrName>style.visibility</p:attrName>
                                        </p:attrNameLst>
                                      </p:cBhvr>
                                      <p:to>
                                        <p:strVal val="visible"/>
                                      </p:to>
                                    </p:set>
                                    <p:anim calcmode="lin" valueType="num">
                                      <p:cBhvr additive="base">
                                        <p:cTn id="37" dur="500" fill="hold"/>
                                        <p:tgtEl>
                                          <p:spTgt spid="142385">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4238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1" grpId="0" autoUpdateAnimBg="0"/>
      <p:bldP spid="142385"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661EF68-DC9C-DA77-E1DE-6FAF13CFDC75}"/>
              </a:ext>
            </a:extLst>
          </p:cNvPr>
          <p:cNvSpPr>
            <a:spLocks noGrp="1" noChangeArrowheads="1"/>
          </p:cNvSpPr>
          <p:nvPr>
            <p:ph type="title"/>
          </p:nvPr>
        </p:nvSpPr>
        <p:spPr>
          <a:xfrm>
            <a:off x="685800" y="0"/>
            <a:ext cx="7772400" cy="1143000"/>
          </a:xfrm>
        </p:spPr>
        <p:txBody>
          <a:bodyPr/>
          <a:lstStyle/>
          <a:p>
            <a:pPr>
              <a:lnSpc>
                <a:spcPct val="80000"/>
              </a:lnSpc>
            </a:pPr>
            <a:r>
              <a:rPr lang="en-US" altLang="en-US" sz="4600"/>
              <a:t>GRG: Dealing with Constraints</a:t>
            </a:r>
          </a:p>
        </p:txBody>
      </p:sp>
      <p:sp>
        <p:nvSpPr>
          <p:cNvPr id="6147" name="Rectangle 3">
            <a:extLst>
              <a:ext uri="{FF2B5EF4-FFF2-40B4-BE49-F238E27FC236}">
                <a16:creationId xmlns:a16="http://schemas.microsoft.com/office/drawing/2014/main" id="{700D8717-C745-0A41-7BA1-5A4E99C19B99}"/>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48" name="Rectangle 4">
            <a:extLst>
              <a:ext uri="{FF2B5EF4-FFF2-40B4-BE49-F238E27FC236}">
                <a16:creationId xmlns:a16="http://schemas.microsoft.com/office/drawing/2014/main" id="{892EA1DC-2D7D-C7B0-64B7-6885497F2396}"/>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21</a:t>
            </a:r>
          </a:p>
        </p:txBody>
      </p:sp>
      <p:sp>
        <p:nvSpPr>
          <p:cNvPr id="152581" name="Text Box 5">
            <a:extLst>
              <a:ext uri="{FF2B5EF4-FFF2-40B4-BE49-F238E27FC236}">
                <a16:creationId xmlns:a16="http://schemas.microsoft.com/office/drawing/2014/main" id="{89ABEBCD-0685-3A41-070A-F3E4D01D29E4}"/>
              </a:ext>
            </a:extLst>
          </p:cNvPr>
          <p:cNvSpPr txBox="1">
            <a:spLocks noChangeArrowheads="1"/>
          </p:cNvSpPr>
          <p:nvPr/>
        </p:nvSpPr>
        <p:spPr bwMode="auto">
          <a:xfrm>
            <a:off x="381000" y="1143000"/>
            <a:ext cx="81534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Simplest case – a linear equality constraint</a:t>
            </a:r>
          </a:p>
          <a:p>
            <a:pPr lvl="1">
              <a:spcBef>
                <a:spcPct val="0"/>
              </a:spcBef>
              <a:buFontTx/>
              <a:buChar char="•"/>
            </a:pPr>
            <a:r>
              <a:rPr lang="en-US" altLang="en-US"/>
              <a:t> We can solve for one variable and eliminate it from the other constraints and from the objective function</a:t>
            </a:r>
          </a:p>
          <a:p>
            <a:pPr>
              <a:spcBef>
                <a:spcPct val="0"/>
              </a:spcBef>
            </a:pPr>
            <a:r>
              <a:rPr lang="en-US" altLang="en-US" sz="2800"/>
              <a:t>  Example:</a:t>
            </a:r>
          </a:p>
        </p:txBody>
      </p:sp>
      <p:sp>
        <p:nvSpPr>
          <p:cNvPr id="6150" name="Line 11">
            <a:extLst>
              <a:ext uri="{FF2B5EF4-FFF2-40B4-BE49-F238E27FC236}">
                <a16:creationId xmlns:a16="http://schemas.microsoft.com/office/drawing/2014/main" id="{A34425CD-BE00-D304-7029-5894B0530CE4}"/>
              </a:ext>
            </a:extLst>
          </p:cNvPr>
          <p:cNvSpPr>
            <a:spLocks noChangeShapeType="1"/>
          </p:cNvSpPr>
          <p:nvPr/>
        </p:nvSpPr>
        <p:spPr bwMode="auto">
          <a:xfrm flipV="1">
            <a:off x="4724400" y="2743200"/>
            <a:ext cx="0" cy="335280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51" name="Line 12">
            <a:extLst>
              <a:ext uri="{FF2B5EF4-FFF2-40B4-BE49-F238E27FC236}">
                <a16:creationId xmlns:a16="http://schemas.microsoft.com/office/drawing/2014/main" id="{AFAE90B0-7EC0-B08C-26E9-FEDD3680B0F4}"/>
              </a:ext>
            </a:extLst>
          </p:cNvPr>
          <p:cNvSpPr>
            <a:spLocks noChangeShapeType="1"/>
          </p:cNvSpPr>
          <p:nvPr/>
        </p:nvSpPr>
        <p:spPr bwMode="auto">
          <a:xfrm>
            <a:off x="4648200" y="32004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2" name="Line 13">
            <a:extLst>
              <a:ext uri="{FF2B5EF4-FFF2-40B4-BE49-F238E27FC236}">
                <a16:creationId xmlns:a16="http://schemas.microsoft.com/office/drawing/2014/main" id="{B9AD0B54-46AC-2C58-1D92-E0D99722AFA8}"/>
              </a:ext>
            </a:extLst>
          </p:cNvPr>
          <p:cNvSpPr>
            <a:spLocks noChangeShapeType="1"/>
          </p:cNvSpPr>
          <p:nvPr/>
        </p:nvSpPr>
        <p:spPr bwMode="auto">
          <a:xfrm>
            <a:off x="4648200" y="35052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3" name="Line 14">
            <a:extLst>
              <a:ext uri="{FF2B5EF4-FFF2-40B4-BE49-F238E27FC236}">
                <a16:creationId xmlns:a16="http://schemas.microsoft.com/office/drawing/2014/main" id="{C032F910-3E3C-4C6D-AD06-87F9E921B207}"/>
              </a:ext>
            </a:extLst>
          </p:cNvPr>
          <p:cNvSpPr>
            <a:spLocks noChangeShapeType="1"/>
          </p:cNvSpPr>
          <p:nvPr/>
        </p:nvSpPr>
        <p:spPr bwMode="auto">
          <a:xfrm>
            <a:off x="4648200" y="37338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4" name="Line 15">
            <a:extLst>
              <a:ext uri="{FF2B5EF4-FFF2-40B4-BE49-F238E27FC236}">
                <a16:creationId xmlns:a16="http://schemas.microsoft.com/office/drawing/2014/main" id="{AB543094-4055-785D-576A-C97984BE5A19}"/>
              </a:ext>
            </a:extLst>
          </p:cNvPr>
          <p:cNvSpPr>
            <a:spLocks noChangeShapeType="1"/>
          </p:cNvSpPr>
          <p:nvPr/>
        </p:nvSpPr>
        <p:spPr bwMode="auto">
          <a:xfrm>
            <a:off x="4648200" y="40386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5" name="Line 16">
            <a:extLst>
              <a:ext uri="{FF2B5EF4-FFF2-40B4-BE49-F238E27FC236}">
                <a16:creationId xmlns:a16="http://schemas.microsoft.com/office/drawing/2014/main" id="{73347977-4345-A69E-D0F1-7AF36D285341}"/>
              </a:ext>
            </a:extLst>
          </p:cNvPr>
          <p:cNvSpPr>
            <a:spLocks noChangeShapeType="1"/>
          </p:cNvSpPr>
          <p:nvPr/>
        </p:nvSpPr>
        <p:spPr bwMode="auto">
          <a:xfrm>
            <a:off x="4648200" y="43434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6" name="Text Box 17">
            <a:extLst>
              <a:ext uri="{FF2B5EF4-FFF2-40B4-BE49-F238E27FC236}">
                <a16:creationId xmlns:a16="http://schemas.microsoft.com/office/drawing/2014/main" id="{5681A0C1-8F9B-490C-1CE5-6CB3AF1F8DE6}"/>
              </a:ext>
            </a:extLst>
          </p:cNvPr>
          <p:cNvSpPr txBox="1">
            <a:spLocks noChangeArrowheads="1"/>
          </p:cNvSpPr>
          <p:nvPr/>
        </p:nvSpPr>
        <p:spPr bwMode="auto">
          <a:xfrm>
            <a:off x="4254500" y="38862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2.0</a:t>
            </a:r>
          </a:p>
        </p:txBody>
      </p:sp>
      <p:sp>
        <p:nvSpPr>
          <p:cNvPr id="6157" name="Text Box 18">
            <a:extLst>
              <a:ext uri="{FF2B5EF4-FFF2-40B4-BE49-F238E27FC236}">
                <a16:creationId xmlns:a16="http://schemas.microsoft.com/office/drawing/2014/main" id="{18DC3B09-965A-9677-6BFB-2420A7F64123}"/>
              </a:ext>
            </a:extLst>
          </p:cNvPr>
          <p:cNvSpPr txBox="1">
            <a:spLocks noChangeArrowheads="1"/>
          </p:cNvSpPr>
          <p:nvPr/>
        </p:nvSpPr>
        <p:spPr bwMode="auto">
          <a:xfrm>
            <a:off x="4254500" y="41910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1.5</a:t>
            </a:r>
          </a:p>
        </p:txBody>
      </p:sp>
      <p:sp>
        <p:nvSpPr>
          <p:cNvPr id="6158" name="Text Box 19">
            <a:extLst>
              <a:ext uri="{FF2B5EF4-FFF2-40B4-BE49-F238E27FC236}">
                <a16:creationId xmlns:a16="http://schemas.microsoft.com/office/drawing/2014/main" id="{DD0D14CA-893B-B5D6-0C0F-80262AB8A163}"/>
              </a:ext>
            </a:extLst>
          </p:cNvPr>
          <p:cNvSpPr txBox="1">
            <a:spLocks noChangeArrowheads="1"/>
          </p:cNvSpPr>
          <p:nvPr/>
        </p:nvSpPr>
        <p:spPr bwMode="auto">
          <a:xfrm>
            <a:off x="4254500" y="44958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1.0</a:t>
            </a:r>
          </a:p>
        </p:txBody>
      </p:sp>
      <p:sp>
        <p:nvSpPr>
          <p:cNvPr id="6159" name="Text Box 20">
            <a:extLst>
              <a:ext uri="{FF2B5EF4-FFF2-40B4-BE49-F238E27FC236}">
                <a16:creationId xmlns:a16="http://schemas.microsoft.com/office/drawing/2014/main" id="{A60A10F8-858B-CAAF-D101-8007B892A8A2}"/>
              </a:ext>
            </a:extLst>
          </p:cNvPr>
          <p:cNvSpPr txBox="1">
            <a:spLocks noChangeArrowheads="1"/>
          </p:cNvSpPr>
          <p:nvPr/>
        </p:nvSpPr>
        <p:spPr bwMode="auto">
          <a:xfrm>
            <a:off x="4254500" y="48006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0.5</a:t>
            </a:r>
          </a:p>
        </p:txBody>
      </p:sp>
      <p:grpSp>
        <p:nvGrpSpPr>
          <p:cNvPr id="6160" name="Group 21">
            <a:extLst>
              <a:ext uri="{FF2B5EF4-FFF2-40B4-BE49-F238E27FC236}">
                <a16:creationId xmlns:a16="http://schemas.microsoft.com/office/drawing/2014/main" id="{FA40CCA0-C6D3-98AD-66CE-87413B0F3B63}"/>
              </a:ext>
            </a:extLst>
          </p:cNvPr>
          <p:cNvGrpSpPr>
            <a:grpSpLocks/>
          </p:cNvGrpSpPr>
          <p:nvPr/>
        </p:nvGrpSpPr>
        <p:grpSpPr bwMode="auto">
          <a:xfrm>
            <a:off x="4038600" y="4648200"/>
            <a:ext cx="1447800" cy="1295400"/>
            <a:chOff x="2880" y="2400"/>
            <a:chExt cx="912" cy="816"/>
          </a:xfrm>
        </p:grpSpPr>
        <p:sp>
          <p:nvSpPr>
            <p:cNvPr id="6188" name="Oval 22">
              <a:extLst>
                <a:ext uri="{FF2B5EF4-FFF2-40B4-BE49-F238E27FC236}">
                  <a16:creationId xmlns:a16="http://schemas.microsoft.com/office/drawing/2014/main" id="{1381D6B9-A7C3-B595-83D3-4237081B0D28}"/>
                </a:ext>
              </a:extLst>
            </p:cNvPr>
            <p:cNvSpPr>
              <a:spLocks noChangeArrowheads="1"/>
            </p:cNvSpPr>
            <p:nvPr/>
          </p:nvSpPr>
          <p:spPr bwMode="auto">
            <a:xfrm>
              <a:off x="2880" y="2400"/>
              <a:ext cx="912" cy="816"/>
            </a:xfrm>
            <a:prstGeom prst="ellipse">
              <a:avLst/>
            </a:prstGeom>
            <a:noFill/>
            <a:ln w="9525">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89" name="Oval 23">
              <a:extLst>
                <a:ext uri="{FF2B5EF4-FFF2-40B4-BE49-F238E27FC236}">
                  <a16:creationId xmlns:a16="http://schemas.microsoft.com/office/drawing/2014/main" id="{F973C501-9034-F71A-6077-E2A5E35F3056}"/>
                </a:ext>
              </a:extLst>
            </p:cNvPr>
            <p:cNvSpPr>
              <a:spLocks noChangeArrowheads="1"/>
            </p:cNvSpPr>
            <p:nvPr/>
          </p:nvSpPr>
          <p:spPr bwMode="auto">
            <a:xfrm>
              <a:off x="3072" y="2592"/>
              <a:ext cx="480" cy="432"/>
            </a:xfrm>
            <a:prstGeom prst="ellipse">
              <a:avLst/>
            </a:prstGeom>
            <a:noFill/>
            <a:ln w="9525">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pSp>
      <p:sp>
        <p:nvSpPr>
          <p:cNvPr id="6161" name="Line 24">
            <a:extLst>
              <a:ext uri="{FF2B5EF4-FFF2-40B4-BE49-F238E27FC236}">
                <a16:creationId xmlns:a16="http://schemas.microsoft.com/office/drawing/2014/main" id="{B2F9BA24-A117-C7E1-A4B3-D46EE2C0E24E}"/>
              </a:ext>
            </a:extLst>
          </p:cNvPr>
          <p:cNvSpPr>
            <a:spLocks noChangeShapeType="1"/>
          </p:cNvSpPr>
          <p:nvPr/>
        </p:nvSpPr>
        <p:spPr bwMode="auto">
          <a:xfrm>
            <a:off x="3581400" y="5257800"/>
            <a:ext cx="5029200"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62" name="Line 25">
            <a:extLst>
              <a:ext uri="{FF2B5EF4-FFF2-40B4-BE49-F238E27FC236}">
                <a16:creationId xmlns:a16="http://schemas.microsoft.com/office/drawing/2014/main" id="{07B838DD-D86A-71F5-5669-B72C3FDA9850}"/>
              </a:ext>
            </a:extLst>
          </p:cNvPr>
          <p:cNvSpPr>
            <a:spLocks noChangeShapeType="1"/>
          </p:cNvSpPr>
          <p:nvPr/>
        </p:nvSpPr>
        <p:spPr bwMode="auto">
          <a:xfrm>
            <a:off x="4648200" y="46482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3" name="Line 26">
            <a:extLst>
              <a:ext uri="{FF2B5EF4-FFF2-40B4-BE49-F238E27FC236}">
                <a16:creationId xmlns:a16="http://schemas.microsoft.com/office/drawing/2014/main" id="{C55F97F1-900E-5E86-408A-E853F3B88B22}"/>
              </a:ext>
            </a:extLst>
          </p:cNvPr>
          <p:cNvSpPr>
            <a:spLocks noChangeShapeType="1"/>
          </p:cNvSpPr>
          <p:nvPr/>
        </p:nvSpPr>
        <p:spPr bwMode="auto">
          <a:xfrm>
            <a:off x="4648200" y="49530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4" name="Line 27">
            <a:extLst>
              <a:ext uri="{FF2B5EF4-FFF2-40B4-BE49-F238E27FC236}">
                <a16:creationId xmlns:a16="http://schemas.microsoft.com/office/drawing/2014/main" id="{F6A3A666-9840-9B39-676E-BC7B82D0626C}"/>
              </a:ext>
            </a:extLst>
          </p:cNvPr>
          <p:cNvSpPr>
            <a:spLocks noChangeShapeType="1"/>
          </p:cNvSpPr>
          <p:nvPr/>
        </p:nvSpPr>
        <p:spPr bwMode="auto">
          <a:xfrm rot="-5471610">
            <a:off x="4915694" y="5257006"/>
            <a:ext cx="152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5" name="Line 28">
            <a:extLst>
              <a:ext uri="{FF2B5EF4-FFF2-40B4-BE49-F238E27FC236}">
                <a16:creationId xmlns:a16="http://schemas.microsoft.com/office/drawing/2014/main" id="{0EF2C3E5-E285-B329-FBDE-6E53279217F9}"/>
              </a:ext>
            </a:extLst>
          </p:cNvPr>
          <p:cNvSpPr>
            <a:spLocks noChangeShapeType="1"/>
          </p:cNvSpPr>
          <p:nvPr/>
        </p:nvSpPr>
        <p:spPr bwMode="auto">
          <a:xfrm rot="-5471610">
            <a:off x="5296694" y="5257006"/>
            <a:ext cx="152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6" name="Line 29">
            <a:extLst>
              <a:ext uri="{FF2B5EF4-FFF2-40B4-BE49-F238E27FC236}">
                <a16:creationId xmlns:a16="http://schemas.microsoft.com/office/drawing/2014/main" id="{364E14E8-A5E6-1F8C-6E91-5C0370AF19FC}"/>
              </a:ext>
            </a:extLst>
          </p:cNvPr>
          <p:cNvSpPr>
            <a:spLocks noChangeShapeType="1"/>
          </p:cNvSpPr>
          <p:nvPr/>
        </p:nvSpPr>
        <p:spPr bwMode="auto">
          <a:xfrm rot="-5471610">
            <a:off x="5677694" y="5257006"/>
            <a:ext cx="152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7" name="Line 30">
            <a:extLst>
              <a:ext uri="{FF2B5EF4-FFF2-40B4-BE49-F238E27FC236}">
                <a16:creationId xmlns:a16="http://schemas.microsoft.com/office/drawing/2014/main" id="{CECAD17C-3E54-2B07-84E3-BD4638162848}"/>
              </a:ext>
            </a:extLst>
          </p:cNvPr>
          <p:cNvSpPr>
            <a:spLocks noChangeShapeType="1"/>
          </p:cNvSpPr>
          <p:nvPr/>
        </p:nvSpPr>
        <p:spPr bwMode="auto">
          <a:xfrm rot="-5471610">
            <a:off x="6058694" y="5257006"/>
            <a:ext cx="152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8" name="Line 31">
            <a:extLst>
              <a:ext uri="{FF2B5EF4-FFF2-40B4-BE49-F238E27FC236}">
                <a16:creationId xmlns:a16="http://schemas.microsoft.com/office/drawing/2014/main" id="{8708EEFA-6224-AD8F-D02A-2A452BB42966}"/>
              </a:ext>
            </a:extLst>
          </p:cNvPr>
          <p:cNvSpPr>
            <a:spLocks noChangeShapeType="1"/>
          </p:cNvSpPr>
          <p:nvPr/>
        </p:nvSpPr>
        <p:spPr bwMode="auto">
          <a:xfrm rot="-5471610">
            <a:off x="6439694" y="5257006"/>
            <a:ext cx="152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9" name="Line 32">
            <a:extLst>
              <a:ext uri="{FF2B5EF4-FFF2-40B4-BE49-F238E27FC236}">
                <a16:creationId xmlns:a16="http://schemas.microsoft.com/office/drawing/2014/main" id="{8DD5A082-C3B4-6FF7-729B-27CAF84FC94C}"/>
              </a:ext>
            </a:extLst>
          </p:cNvPr>
          <p:cNvSpPr>
            <a:spLocks noChangeShapeType="1"/>
          </p:cNvSpPr>
          <p:nvPr/>
        </p:nvSpPr>
        <p:spPr bwMode="auto">
          <a:xfrm rot="-5471610">
            <a:off x="6820694" y="5257006"/>
            <a:ext cx="152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70" name="Line 33">
            <a:extLst>
              <a:ext uri="{FF2B5EF4-FFF2-40B4-BE49-F238E27FC236}">
                <a16:creationId xmlns:a16="http://schemas.microsoft.com/office/drawing/2014/main" id="{160D6C41-F456-4240-01F6-53ED4C580F69}"/>
              </a:ext>
            </a:extLst>
          </p:cNvPr>
          <p:cNvSpPr>
            <a:spLocks noChangeShapeType="1"/>
          </p:cNvSpPr>
          <p:nvPr/>
        </p:nvSpPr>
        <p:spPr bwMode="auto">
          <a:xfrm rot="-5471610">
            <a:off x="7201694" y="5257006"/>
            <a:ext cx="152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71" name="Line 34">
            <a:extLst>
              <a:ext uri="{FF2B5EF4-FFF2-40B4-BE49-F238E27FC236}">
                <a16:creationId xmlns:a16="http://schemas.microsoft.com/office/drawing/2014/main" id="{D55EEAF9-ED24-AF4B-922B-5CE3E3B1AE6C}"/>
              </a:ext>
            </a:extLst>
          </p:cNvPr>
          <p:cNvSpPr>
            <a:spLocks noChangeShapeType="1"/>
          </p:cNvSpPr>
          <p:nvPr/>
        </p:nvSpPr>
        <p:spPr bwMode="auto">
          <a:xfrm rot="-5471610">
            <a:off x="7582694" y="5257006"/>
            <a:ext cx="152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72" name="Text Box 35">
            <a:extLst>
              <a:ext uri="{FF2B5EF4-FFF2-40B4-BE49-F238E27FC236}">
                <a16:creationId xmlns:a16="http://schemas.microsoft.com/office/drawing/2014/main" id="{321EA6C2-659E-FE93-0E1F-990534085C71}"/>
              </a:ext>
            </a:extLst>
          </p:cNvPr>
          <p:cNvSpPr txBox="1">
            <a:spLocks noChangeArrowheads="1"/>
          </p:cNvSpPr>
          <p:nvPr/>
        </p:nvSpPr>
        <p:spPr bwMode="auto">
          <a:xfrm>
            <a:off x="4140200" y="54102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a:p>
        </p:txBody>
      </p:sp>
      <p:sp>
        <p:nvSpPr>
          <p:cNvPr id="6173" name="Text Box 36">
            <a:extLst>
              <a:ext uri="{FF2B5EF4-FFF2-40B4-BE49-F238E27FC236}">
                <a16:creationId xmlns:a16="http://schemas.microsoft.com/office/drawing/2014/main" id="{57B75BAB-4369-4E9E-593E-0B055BBAAD07}"/>
              </a:ext>
            </a:extLst>
          </p:cNvPr>
          <p:cNvSpPr txBox="1">
            <a:spLocks noChangeArrowheads="1"/>
          </p:cNvSpPr>
          <p:nvPr/>
        </p:nvSpPr>
        <p:spPr bwMode="auto">
          <a:xfrm>
            <a:off x="5981700" y="53340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2.0</a:t>
            </a:r>
          </a:p>
        </p:txBody>
      </p:sp>
      <p:sp>
        <p:nvSpPr>
          <p:cNvPr id="6174" name="Text Box 37">
            <a:extLst>
              <a:ext uri="{FF2B5EF4-FFF2-40B4-BE49-F238E27FC236}">
                <a16:creationId xmlns:a16="http://schemas.microsoft.com/office/drawing/2014/main" id="{F5A92CCF-3646-316F-0043-4B0318C1A06C}"/>
              </a:ext>
            </a:extLst>
          </p:cNvPr>
          <p:cNvSpPr txBox="1">
            <a:spLocks noChangeArrowheads="1"/>
          </p:cNvSpPr>
          <p:nvPr/>
        </p:nvSpPr>
        <p:spPr bwMode="auto">
          <a:xfrm>
            <a:off x="4838700" y="53340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0.5</a:t>
            </a:r>
          </a:p>
        </p:txBody>
      </p:sp>
      <p:sp>
        <p:nvSpPr>
          <p:cNvPr id="6175" name="Text Box 38">
            <a:extLst>
              <a:ext uri="{FF2B5EF4-FFF2-40B4-BE49-F238E27FC236}">
                <a16:creationId xmlns:a16="http://schemas.microsoft.com/office/drawing/2014/main" id="{0F0ED27C-30AD-7335-FE38-A8D5F0D12072}"/>
              </a:ext>
            </a:extLst>
          </p:cNvPr>
          <p:cNvSpPr txBox="1">
            <a:spLocks noChangeArrowheads="1"/>
          </p:cNvSpPr>
          <p:nvPr/>
        </p:nvSpPr>
        <p:spPr bwMode="auto">
          <a:xfrm>
            <a:off x="5219700" y="53340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1.0</a:t>
            </a:r>
          </a:p>
        </p:txBody>
      </p:sp>
      <p:sp>
        <p:nvSpPr>
          <p:cNvPr id="6176" name="Text Box 39">
            <a:extLst>
              <a:ext uri="{FF2B5EF4-FFF2-40B4-BE49-F238E27FC236}">
                <a16:creationId xmlns:a16="http://schemas.microsoft.com/office/drawing/2014/main" id="{371F2733-6BD8-F0B1-046B-FD0F4F94160C}"/>
              </a:ext>
            </a:extLst>
          </p:cNvPr>
          <p:cNvSpPr txBox="1">
            <a:spLocks noChangeArrowheads="1"/>
          </p:cNvSpPr>
          <p:nvPr/>
        </p:nvSpPr>
        <p:spPr bwMode="auto">
          <a:xfrm>
            <a:off x="5600700" y="53340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1.5</a:t>
            </a:r>
          </a:p>
        </p:txBody>
      </p:sp>
      <p:sp>
        <p:nvSpPr>
          <p:cNvPr id="6177" name="Text Box 40">
            <a:extLst>
              <a:ext uri="{FF2B5EF4-FFF2-40B4-BE49-F238E27FC236}">
                <a16:creationId xmlns:a16="http://schemas.microsoft.com/office/drawing/2014/main" id="{E76DD955-7CCB-6316-2AA8-BF74F4B8F60F}"/>
              </a:ext>
            </a:extLst>
          </p:cNvPr>
          <p:cNvSpPr txBox="1">
            <a:spLocks noChangeArrowheads="1"/>
          </p:cNvSpPr>
          <p:nvPr/>
        </p:nvSpPr>
        <p:spPr bwMode="auto">
          <a:xfrm>
            <a:off x="6362700" y="53340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2.5</a:t>
            </a:r>
          </a:p>
        </p:txBody>
      </p:sp>
      <p:sp>
        <p:nvSpPr>
          <p:cNvPr id="6178" name="Text Box 41">
            <a:extLst>
              <a:ext uri="{FF2B5EF4-FFF2-40B4-BE49-F238E27FC236}">
                <a16:creationId xmlns:a16="http://schemas.microsoft.com/office/drawing/2014/main" id="{B9A89651-073B-039C-DF80-DBB138B64676}"/>
              </a:ext>
            </a:extLst>
          </p:cNvPr>
          <p:cNvSpPr txBox="1">
            <a:spLocks noChangeArrowheads="1"/>
          </p:cNvSpPr>
          <p:nvPr/>
        </p:nvSpPr>
        <p:spPr bwMode="auto">
          <a:xfrm>
            <a:off x="6743700" y="53340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3.0</a:t>
            </a:r>
          </a:p>
        </p:txBody>
      </p:sp>
      <p:sp>
        <p:nvSpPr>
          <p:cNvPr id="6179" name="Text Box 42">
            <a:extLst>
              <a:ext uri="{FF2B5EF4-FFF2-40B4-BE49-F238E27FC236}">
                <a16:creationId xmlns:a16="http://schemas.microsoft.com/office/drawing/2014/main" id="{1323CFE2-89C0-D124-E292-96178F259231}"/>
              </a:ext>
            </a:extLst>
          </p:cNvPr>
          <p:cNvSpPr txBox="1">
            <a:spLocks noChangeArrowheads="1"/>
          </p:cNvSpPr>
          <p:nvPr/>
        </p:nvSpPr>
        <p:spPr bwMode="auto">
          <a:xfrm>
            <a:off x="7124700" y="53340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3.5</a:t>
            </a:r>
          </a:p>
        </p:txBody>
      </p:sp>
      <p:sp>
        <p:nvSpPr>
          <p:cNvPr id="6180" name="Text Box 43">
            <a:extLst>
              <a:ext uri="{FF2B5EF4-FFF2-40B4-BE49-F238E27FC236}">
                <a16:creationId xmlns:a16="http://schemas.microsoft.com/office/drawing/2014/main" id="{CD1EBE2F-B488-D2EB-56B2-2B33339CEF4F}"/>
              </a:ext>
            </a:extLst>
          </p:cNvPr>
          <p:cNvSpPr txBox="1">
            <a:spLocks noChangeArrowheads="1"/>
          </p:cNvSpPr>
          <p:nvPr/>
        </p:nvSpPr>
        <p:spPr bwMode="auto">
          <a:xfrm>
            <a:off x="7505700" y="53340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4.0</a:t>
            </a:r>
          </a:p>
        </p:txBody>
      </p:sp>
      <p:sp>
        <p:nvSpPr>
          <p:cNvPr id="6181" name="Text Box 44">
            <a:extLst>
              <a:ext uri="{FF2B5EF4-FFF2-40B4-BE49-F238E27FC236}">
                <a16:creationId xmlns:a16="http://schemas.microsoft.com/office/drawing/2014/main" id="{A7B55035-2D26-1A4B-CC89-33581736E2A1}"/>
              </a:ext>
            </a:extLst>
          </p:cNvPr>
          <p:cNvSpPr txBox="1">
            <a:spLocks noChangeArrowheads="1"/>
          </p:cNvSpPr>
          <p:nvPr/>
        </p:nvSpPr>
        <p:spPr bwMode="auto">
          <a:xfrm>
            <a:off x="8099425" y="5222875"/>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x</a:t>
            </a:r>
            <a:r>
              <a:rPr lang="en-US" altLang="en-US" sz="2400" baseline="-25000"/>
              <a:t>1</a:t>
            </a:r>
            <a:endParaRPr lang="en-US" altLang="en-US" sz="2400" i="1"/>
          </a:p>
        </p:txBody>
      </p:sp>
      <p:sp>
        <p:nvSpPr>
          <p:cNvPr id="6182" name="Text Box 45">
            <a:extLst>
              <a:ext uri="{FF2B5EF4-FFF2-40B4-BE49-F238E27FC236}">
                <a16:creationId xmlns:a16="http://schemas.microsoft.com/office/drawing/2014/main" id="{0B768F9F-446E-5FC3-A9A3-7D3E317A9481}"/>
              </a:ext>
            </a:extLst>
          </p:cNvPr>
          <p:cNvSpPr txBox="1">
            <a:spLocks noChangeArrowheads="1"/>
          </p:cNvSpPr>
          <p:nvPr/>
        </p:nvSpPr>
        <p:spPr bwMode="auto">
          <a:xfrm>
            <a:off x="3733800" y="4191000"/>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p>
        </p:txBody>
      </p:sp>
      <p:sp>
        <p:nvSpPr>
          <p:cNvPr id="6183" name="Text Box 46">
            <a:extLst>
              <a:ext uri="{FF2B5EF4-FFF2-40B4-BE49-F238E27FC236}">
                <a16:creationId xmlns:a16="http://schemas.microsoft.com/office/drawing/2014/main" id="{1B05AE34-36C4-8D97-AA44-CB4F3881A1D5}"/>
              </a:ext>
            </a:extLst>
          </p:cNvPr>
          <p:cNvSpPr txBox="1">
            <a:spLocks noChangeArrowheads="1"/>
          </p:cNvSpPr>
          <p:nvPr/>
        </p:nvSpPr>
        <p:spPr bwMode="auto">
          <a:xfrm>
            <a:off x="4254500" y="35814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2.5</a:t>
            </a:r>
          </a:p>
        </p:txBody>
      </p:sp>
      <p:sp>
        <p:nvSpPr>
          <p:cNvPr id="6184" name="Text Box 47">
            <a:extLst>
              <a:ext uri="{FF2B5EF4-FFF2-40B4-BE49-F238E27FC236}">
                <a16:creationId xmlns:a16="http://schemas.microsoft.com/office/drawing/2014/main" id="{CCC1C58A-0009-AF52-A61F-30D2B4BBB0F2}"/>
              </a:ext>
            </a:extLst>
          </p:cNvPr>
          <p:cNvSpPr txBox="1">
            <a:spLocks noChangeArrowheads="1"/>
          </p:cNvSpPr>
          <p:nvPr/>
        </p:nvSpPr>
        <p:spPr bwMode="auto">
          <a:xfrm>
            <a:off x="4254500" y="33528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3.0</a:t>
            </a:r>
          </a:p>
        </p:txBody>
      </p:sp>
      <p:sp>
        <p:nvSpPr>
          <p:cNvPr id="6185" name="Text Box 48">
            <a:extLst>
              <a:ext uri="{FF2B5EF4-FFF2-40B4-BE49-F238E27FC236}">
                <a16:creationId xmlns:a16="http://schemas.microsoft.com/office/drawing/2014/main" id="{044A17EA-F69C-57D5-DA37-9CE1B27EEFEE}"/>
              </a:ext>
            </a:extLst>
          </p:cNvPr>
          <p:cNvSpPr txBox="1">
            <a:spLocks noChangeArrowheads="1"/>
          </p:cNvSpPr>
          <p:nvPr/>
        </p:nvSpPr>
        <p:spPr bwMode="auto">
          <a:xfrm>
            <a:off x="4254500" y="2986088"/>
            <a:ext cx="469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4.0</a:t>
            </a:r>
          </a:p>
        </p:txBody>
      </p:sp>
      <p:sp>
        <p:nvSpPr>
          <p:cNvPr id="6186" name="Line 49">
            <a:extLst>
              <a:ext uri="{FF2B5EF4-FFF2-40B4-BE49-F238E27FC236}">
                <a16:creationId xmlns:a16="http://schemas.microsoft.com/office/drawing/2014/main" id="{05B00B89-F144-39D1-9B83-68A7A2401253}"/>
              </a:ext>
            </a:extLst>
          </p:cNvPr>
          <p:cNvSpPr>
            <a:spLocks noChangeShapeType="1"/>
          </p:cNvSpPr>
          <p:nvPr/>
        </p:nvSpPr>
        <p:spPr bwMode="auto">
          <a:xfrm>
            <a:off x="4724400" y="3200400"/>
            <a:ext cx="2971800" cy="2057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152628" name="Object 52">
            <a:extLst>
              <a:ext uri="{FF2B5EF4-FFF2-40B4-BE49-F238E27FC236}">
                <a16:creationId xmlns:a16="http://schemas.microsoft.com/office/drawing/2014/main" id="{6EBED29A-1878-5611-089D-5448885ADB24}"/>
              </a:ext>
            </a:extLst>
          </p:cNvPr>
          <p:cNvGraphicFramePr>
            <a:graphicFrameLocks noChangeAspect="1"/>
          </p:cNvGraphicFramePr>
          <p:nvPr/>
        </p:nvGraphicFramePr>
        <p:xfrm>
          <a:off x="609600" y="3733800"/>
          <a:ext cx="2654300" cy="1122363"/>
        </p:xfrm>
        <a:graphic>
          <a:graphicData uri="http://schemas.openxmlformats.org/presentationml/2006/ole">
            <mc:AlternateContent xmlns:mc="http://schemas.openxmlformats.org/markup-compatibility/2006">
              <mc:Choice xmlns:v="urn:schemas-microsoft-com:vml" Requires="v">
                <p:oleObj name="Equation" r:id="rId2" imgW="1079500" imgH="457200" progId="Equation.3">
                  <p:embed/>
                </p:oleObj>
              </mc:Choice>
              <mc:Fallback>
                <p:oleObj name="Equation" r:id="rId2" imgW="1079500" imgH="457200" progId="Equation.3">
                  <p:embed/>
                  <p:pic>
                    <p:nvPicPr>
                      <p:cNvPr id="152628" name="Object 52">
                        <a:extLst>
                          <a:ext uri="{FF2B5EF4-FFF2-40B4-BE49-F238E27FC236}">
                            <a16:creationId xmlns:a16="http://schemas.microsoft.com/office/drawing/2014/main" id="{6EBED29A-1878-5611-089D-5448885ADB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733800"/>
                        <a:ext cx="2654300"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2581">
                                            <p:txEl>
                                              <p:pRg st="0" end="0"/>
                                            </p:txEl>
                                          </p:spTgt>
                                        </p:tgtEl>
                                        <p:attrNameLst>
                                          <p:attrName>style.visibility</p:attrName>
                                        </p:attrNameLst>
                                      </p:cBhvr>
                                      <p:to>
                                        <p:strVal val="visible"/>
                                      </p:to>
                                    </p:set>
                                    <p:anim calcmode="lin" valueType="num">
                                      <p:cBhvr additive="base">
                                        <p:cTn id="7" dur="500" fill="hold"/>
                                        <p:tgtEl>
                                          <p:spTgt spid="15258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258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52581">
                                            <p:txEl>
                                              <p:pRg st="1" end="1"/>
                                            </p:txEl>
                                          </p:spTgt>
                                        </p:tgtEl>
                                        <p:attrNameLst>
                                          <p:attrName>style.visibility</p:attrName>
                                        </p:attrNameLst>
                                      </p:cBhvr>
                                      <p:to>
                                        <p:strVal val="visible"/>
                                      </p:to>
                                    </p:set>
                                    <p:anim calcmode="lin" valueType="num">
                                      <p:cBhvr additive="base">
                                        <p:cTn id="13" dur="500" fill="hold"/>
                                        <p:tgtEl>
                                          <p:spTgt spid="15258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258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52581">
                                            <p:txEl>
                                              <p:pRg st="2" end="2"/>
                                            </p:txEl>
                                          </p:spTgt>
                                        </p:tgtEl>
                                        <p:attrNameLst>
                                          <p:attrName>style.visibility</p:attrName>
                                        </p:attrNameLst>
                                      </p:cBhvr>
                                      <p:to>
                                        <p:strVal val="visible"/>
                                      </p:to>
                                    </p:set>
                                    <p:anim calcmode="lin" valueType="num">
                                      <p:cBhvr additive="base">
                                        <p:cTn id="19" dur="500" fill="hold"/>
                                        <p:tgtEl>
                                          <p:spTgt spid="15258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258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52628"/>
                                        </p:tgtEl>
                                        <p:attrNameLst>
                                          <p:attrName>style.visibility</p:attrName>
                                        </p:attrNameLst>
                                      </p:cBhvr>
                                      <p:to>
                                        <p:strVal val="visible"/>
                                      </p:to>
                                    </p:set>
                                    <p:anim calcmode="lin" valueType="num">
                                      <p:cBhvr additive="base">
                                        <p:cTn id="25" dur="500" fill="hold"/>
                                        <p:tgtEl>
                                          <p:spTgt spid="152628"/>
                                        </p:tgtEl>
                                        <p:attrNameLst>
                                          <p:attrName>ppt_x</p:attrName>
                                        </p:attrNameLst>
                                      </p:cBhvr>
                                      <p:tavLst>
                                        <p:tav tm="0">
                                          <p:val>
                                            <p:strVal val="0-#ppt_w/2"/>
                                          </p:val>
                                        </p:tav>
                                        <p:tav tm="100000">
                                          <p:val>
                                            <p:strVal val="#ppt_x"/>
                                          </p:val>
                                        </p:tav>
                                      </p:tavLst>
                                    </p:anim>
                                    <p:anim calcmode="lin" valueType="num">
                                      <p:cBhvr additive="base">
                                        <p:cTn id="26" dur="500" fill="hold"/>
                                        <p:tgtEl>
                                          <p:spTgt spid="1526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1" grpId="0" build="p" bldLvl="2"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FC410A7-5CEE-00DF-369F-38C35C34A1FE}"/>
              </a:ext>
            </a:extLst>
          </p:cNvPr>
          <p:cNvSpPr>
            <a:spLocks noGrp="1" noChangeArrowheads="1"/>
          </p:cNvSpPr>
          <p:nvPr>
            <p:ph type="title"/>
          </p:nvPr>
        </p:nvSpPr>
        <p:spPr>
          <a:xfrm>
            <a:off x="533400" y="228600"/>
            <a:ext cx="8077200" cy="1143000"/>
          </a:xfrm>
        </p:spPr>
        <p:txBody>
          <a:bodyPr/>
          <a:lstStyle/>
          <a:p>
            <a:pPr>
              <a:lnSpc>
                <a:spcPct val="80000"/>
              </a:lnSpc>
            </a:pPr>
            <a:r>
              <a:rPr lang="en-US" altLang="en-US"/>
              <a:t>Basic Variables for GRG</a:t>
            </a:r>
          </a:p>
        </p:txBody>
      </p:sp>
      <p:sp>
        <p:nvSpPr>
          <p:cNvPr id="7171" name="Rectangle 3">
            <a:extLst>
              <a:ext uri="{FF2B5EF4-FFF2-40B4-BE49-F238E27FC236}">
                <a16:creationId xmlns:a16="http://schemas.microsoft.com/office/drawing/2014/main" id="{74EB0615-1072-A55B-7067-C6A4837B624B}"/>
              </a:ext>
            </a:extLst>
          </p:cNvPr>
          <p:cNvSpPr>
            <a:spLocks noChangeArrowheads="1"/>
          </p:cNvSpPr>
          <p:nvPr/>
        </p:nvSpPr>
        <p:spPr bwMode="auto">
          <a:xfrm>
            <a:off x="228600" y="228600"/>
            <a:ext cx="8686800" cy="64008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72" name="Rectangle 4">
            <a:extLst>
              <a:ext uri="{FF2B5EF4-FFF2-40B4-BE49-F238E27FC236}">
                <a16:creationId xmlns:a16="http://schemas.microsoft.com/office/drawing/2014/main" id="{91AFE1BA-80C4-3FD7-ADE3-F821BBC7E776}"/>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21</a:t>
            </a:r>
          </a:p>
        </p:txBody>
      </p:sp>
      <p:graphicFrame>
        <p:nvGraphicFramePr>
          <p:cNvPr id="153607" name="Object 7">
            <a:extLst>
              <a:ext uri="{FF2B5EF4-FFF2-40B4-BE49-F238E27FC236}">
                <a16:creationId xmlns:a16="http://schemas.microsoft.com/office/drawing/2014/main" id="{2B3F5ED8-8B53-D6D3-E6E1-DFCD502AC652}"/>
              </a:ext>
            </a:extLst>
          </p:cNvPr>
          <p:cNvGraphicFramePr>
            <a:graphicFrameLocks noChangeAspect="1"/>
          </p:cNvGraphicFramePr>
          <p:nvPr/>
        </p:nvGraphicFramePr>
        <p:xfrm>
          <a:off x="3244850" y="1295400"/>
          <a:ext cx="2654300" cy="1122363"/>
        </p:xfrm>
        <a:graphic>
          <a:graphicData uri="http://schemas.openxmlformats.org/presentationml/2006/ole">
            <mc:AlternateContent xmlns:mc="http://schemas.openxmlformats.org/markup-compatibility/2006">
              <mc:Choice xmlns:v="urn:schemas-microsoft-com:vml" Requires="v">
                <p:oleObj name="Equation" r:id="rId2" imgW="1079500" imgH="457200" progId="Equation.3">
                  <p:embed/>
                </p:oleObj>
              </mc:Choice>
              <mc:Fallback>
                <p:oleObj name="Equation" r:id="rId2" imgW="1079500" imgH="457200" progId="Equation.3">
                  <p:embed/>
                  <p:pic>
                    <p:nvPicPr>
                      <p:cNvPr id="153607" name="Object 7">
                        <a:extLst>
                          <a:ext uri="{FF2B5EF4-FFF2-40B4-BE49-F238E27FC236}">
                            <a16:creationId xmlns:a16="http://schemas.microsoft.com/office/drawing/2014/main" id="{2B3F5ED8-8B53-D6D3-E6E1-DFCD502AC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4850" y="1295400"/>
                        <a:ext cx="2654300"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09" name="Text Box 9">
            <a:extLst>
              <a:ext uri="{FF2B5EF4-FFF2-40B4-BE49-F238E27FC236}">
                <a16:creationId xmlns:a16="http://schemas.microsoft.com/office/drawing/2014/main" id="{650B8C4C-7677-0FDD-C0EB-515DC00CF74B}"/>
              </a:ext>
            </a:extLst>
          </p:cNvPr>
          <p:cNvSpPr txBox="1">
            <a:spLocks noChangeArrowheads="1"/>
          </p:cNvSpPr>
          <p:nvPr/>
        </p:nvSpPr>
        <p:spPr bwMode="auto">
          <a:xfrm>
            <a:off x="336550" y="3419475"/>
            <a:ext cx="8274050"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a:t>  Call the variable being substituted out of the problem </a:t>
            </a:r>
            <a:r>
              <a:rPr lang="en-US" altLang="en-US" u="sng"/>
              <a:t>basic</a:t>
            </a:r>
            <a:endParaRPr lang="en-US" altLang="en-US"/>
          </a:p>
          <a:p>
            <a:r>
              <a:rPr lang="en-US" altLang="en-US"/>
              <a:t>  All other variables are considered </a:t>
            </a:r>
            <a:r>
              <a:rPr lang="en-US" altLang="en-US" u="sng"/>
              <a:t>non-basic</a:t>
            </a:r>
            <a:endParaRPr lang="en-US" altLang="en-US"/>
          </a:p>
          <a:p>
            <a:pPr>
              <a:spcBef>
                <a:spcPct val="0"/>
              </a:spcBef>
              <a:buFontTx/>
              <a:buNone/>
            </a:pPr>
            <a:endParaRPr lang="en-US" altLang="en-US" sz="3600"/>
          </a:p>
        </p:txBody>
      </p:sp>
      <p:grpSp>
        <p:nvGrpSpPr>
          <p:cNvPr id="2" name="Group 13">
            <a:extLst>
              <a:ext uri="{FF2B5EF4-FFF2-40B4-BE49-F238E27FC236}">
                <a16:creationId xmlns:a16="http://schemas.microsoft.com/office/drawing/2014/main" id="{54F0D523-5FE2-1187-FD29-3AE8D76D62D6}"/>
              </a:ext>
            </a:extLst>
          </p:cNvPr>
          <p:cNvGrpSpPr>
            <a:grpSpLocks/>
          </p:cNvGrpSpPr>
          <p:nvPr/>
        </p:nvGrpSpPr>
        <p:grpSpPr bwMode="auto">
          <a:xfrm>
            <a:off x="336550" y="2743200"/>
            <a:ext cx="7097713" cy="584200"/>
            <a:chOff x="206" y="1722"/>
            <a:chExt cx="4471" cy="368"/>
          </a:xfrm>
        </p:grpSpPr>
        <p:graphicFrame>
          <p:nvGraphicFramePr>
            <p:cNvPr id="7176" name="Object 8">
              <a:extLst>
                <a:ext uri="{FF2B5EF4-FFF2-40B4-BE49-F238E27FC236}">
                  <a16:creationId xmlns:a16="http://schemas.microsoft.com/office/drawing/2014/main" id="{0DBB91FE-5319-5546-6D0C-D3C660FA6F58}"/>
                </a:ext>
              </a:extLst>
            </p:cNvPr>
            <p:cNvGraphicFramePr>
              <a:graphicFrameLocks noChangeAspect="1"/>
            </p:cNvGraphicFramePr>
            <p:nvPr/>
          </p:nvGraphicFramePr>
          <p:xfrm>
            <a:off x="3792" y="1776"/>
            <a:ext cx="885" cy="314"/>
          </p:xfrm>
          <a:graphic>
            <a:graphicData uri="http://schemas.openxmlformats.org/presentationml/2006/ole">
              <mc:AlternateContent xmlns:mc="http://schemas.openxmlformats.org/markup-compatibility/2006">
                <mc:Choice xmlns:v="urn:schemas-microsoft-com:vml" Requires="v">
                  <p:oleObj name="Equation" r:id="rId4" imgW="571252" imgH="203112" progId="Equation.3">
                    <p:embed/>
                  </p:oleObj>
                </mc:Choice>
                <mc:Fallback>
                  <p:oleObj name="Equation" r:id="rId4" imgW="571252" imgH="203112" progId="Equation.3">
                    <p:embed/>
                    <p:pic>
                      <p:nvPicPr>
                        <p:cNvPr id="7176" name="Object 8">
                          <a:extLst>
                            <a:ext uri="{FF2B5EF4-FFF2-40B4-BE49-F238E27FC236}">
                              <a16:creationId xmlns:a16="http://schemas.microsoft.com/office/drawing/2014/main" id="{0DBB91FE-5319-5546-6D0C-D3C660FA6F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2" y="1776"/>
                          <a:ext cx="885"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7" name="Text Box 12">
              <a:extLst>
                <a:ext uri="{FF2B5EF4-FFF2-40B4-BE49-F238E27FC236}">
                  <a16:creationId xmlns:a16="http://schemas.microsoft.com/office/drawing/2014/main" id="{7E368E9D-285E-13D0-5B9C-887114E257EE}"/>
                </a:ext>
              </a:extLst>
            </p:cNvPr>
            <p:cNvSpPr txBox="1">
              <a:spLocks noChangeArrowheads="1"/>
            </p:cNvSpPr>
            <p:nvPr/>
          </p:nvSpPr>
          <p:spPr bwMode="auto">
            <a:xfrm>
              <a:off x="206" y="1722"/>
              <a:ext cx="347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a:t>  Rearrange the constraint to get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3607"/>
                                        </p:tgtEl>
                                        <p:attrNameLst>
                                          <p:attrName>style.visibility</p:attrName>
                                        </p:attrNameLst>
                                      </p:cBhvr>
                                      <p:to>
                                        <p:strVal val="visible"/>
                                      </p:to>
                                    </p:set>
                                    <p:anim calcmode="lin" valueType="num">
                                      <p:cBhvr additive="base">
                                        <p:cTn id="7" dur="500" fill="hold"/>
                                        <p:tgtEl>
                                          <p:spTgt spid="153607"/>
                                        </p:tgtEl>
                                        <p:attrNameLst>
                                          <p:attrName>ppt_x</p:attrName>
                                        </p:attrNameLst>
                                      </p:cBhvr>
                                      <p:tavLst>
                                        <p:tav tm="0">
                                          <p:val>
                                            <p:strVal val="0-#ppt_w/2"/>
                                          </p:val>
                                        </p:tav>
                                        <p:tav tm="100000">
                                          <p:val>
                                            <p:strVal val="#ppt_x"/>
                                          </p:val>
                                        </p:tav>
                                      </p:tavLst>
                                    </p:anim>
                                    <p:anim calcmode="lin" valueType="num">
                                      <p:cBhvr additive="base">
                                        <p:cTn id="8" dur="500" fill="hold"/>
                                        <p:tgtEl>
                                          <p:spTgt spid="15360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53609">
                                            <p:txEl>
                                              <p:pRg st="0" end="0"/>
                                            </p:txEl>
                                          </p:spTgt>
                                        </p:tgtEl>
                                        <p:attrNameLst>
                                          <p:attrName>style.visibility</p:attrName>
                                        </p:attrNameLst>
                                      </p:cBhvr>
                                      <p:to>
                                        <p:strVal val="visible"/>
                                      </p:to>
                                    </p:set>
                                    <p:anim calcmode="lin" valueType="num">
                                      <p:cBhvr additive="base">
                                        <p:cTn id="19" dur="500" fill="hold"/>
                                        <p:tgtEl>
                                          <p:spTgt spid="153609">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36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53609">
                                            <p:txEl>
                                              <p:pRg st="1" end="1"/>
                                            </p:txEl>
                                          </p:spTgt>
                                        </p:tgtEl>
                                        <p:attrNameLst>
                                          <p:attrName>style.visibility</p:attrName>
                                        </p:attrNameLst>
                                      </p:cBhvr>
                                      <p:to>
                                        <p:strVal val="visible"/>
                                      </p:to>
                                    </p:set>
                                    <p:anim calcmode="lin" valueType="num">
                                      <p:cBhvr additive="base">
                                        <p:cTn id="25" dur="500" fill="hold"/>
                                        <p:tgtEl>
                                          <p:spTgt spid="153609">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360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9"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00B0FCE-45AA-9BDE-5293-2F29A27A9F9F}"/>
              </a:ext>
            </a:extLst>
          </p:cNvPr>
          <p:cNvSpPr>
            <a:spLocks noGrp="1" noChangeArrowheads="1"/>
          </p:cNvSpPr>
          <p:nvPr>
            <p:ph type="title"/>
          </p:nvPr>
        </p:nvSpPr>
        <p:spPr>
          <a:xfrm>
            <a:off x="533400" y="152400"/>
            <a:ext cx="8077200" cy="1143000"/>
          </a:xfrm>
        </p:spPr>
        <p:txBody>
          <a:bodyPr/>
          <a:lstStyle/>
          <a:p>
            <a:pPr>
              <a:lnSpc>
                <a:spcPct val="80000"/>
              </a:lnSpc>
            </a:pPr>
            <a:r>
              <a:rPr lang="en-US" altLang="en-US"/>
              <a:t>Substituting In</a:t>
            </a:r>
          </a:p>
        </p:txBody>
      </p:sp>
      <p:sp>
        <p:nvSpPr>
          <p:cNvPr id="8195" name="Rectangle 3">
            <a:extLst>
              <a:ext uri="{FF2B5EF4-FFF2-40B4-BE49-F238E27FC236}">
                <a16:creationId xmlns:a16="http://schemas.microsoft.com/office/drawing/2014/main" id="{672414DD-E2A4-C5BF-E393-2661391BD02A}"/>
              </a:ext>
            </a:extLst>
          </p:cNvPr>
          <p:cNvSpPr>
            <a:spLocks noChangeArrowheads="1"/>
          </p:cNvSpPr>
          <p:nvPr/>
        </p:nvSpPr>
        <p:spPr bwMode="auto">
          <a:xfrm>
            <a:off x="228600" y="228600"/>
            <a:ext cx="8686800" cy="64008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196" name="Rectangle 4">
            <a:extLst>
              <a:ext uri="{FF2B5EF4-FFF2-40B4-BE49-F238E27FC236}">
                <a16:creationId xmlns:a16="http://schemas.microsoft.com/office/drawing/2014/main" id="{B46C61AA-F3BF-7B97-5BCF-DD97CF8F1465}"/>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21</a:t>
            </a:r>
          </a:p>
        </p:txBody>
      </p:sp>
      <p:sp>
        <p:nvSpPr>
          <p:cNvPr id="154629" name="Rectangle 5">
            <a:extLst>
              <a:ext uri="{FF2B5EF4-FFF2-40B4-BE49-F238E27FC236}">
                <a16:creationId xmlns:a16="http://schemas.microsoft.com/office/drawing/2014/main" id="{5641EF32-0567-F866-F612-F0C0AE15453D}"/>
              </a:ext>
            </a:extLst>
          </p:cNvPr>
          <p:cNvSpPr>
            <a:spLocks noGrp="1" noChangeArrowheads="1"/>
          </p:cNvSpPr>
          <p:nvPr>
            <p:ph type="body" idx="1"/>
          </p:nvPr>
        </p:nvSpPr>
        <p:spPr>
          <a:xfrm>
            <a:off x="419100" y="1143000"/>
            <a:ext cx="8305800" cy="1295400"/>
          </a:xfrm>
        </p:spPr>
        <p:txBody>
          <a:bodyPr/>
          <a:lstStyle/>
          <a:p>
            <a:r>
              <a:rPr lang="en-US" altLang="en-US" sz="3000"/>
              <a:t>Put this in the objective function:</a:t>
            </a:r>
          </a:p>
        </p:txBody>
      </p:sp>
      <p:graphicFrame>
        <p:nvGraphicFramePr>
          <p:cNvPr id="167936" name="Object 0">
            <a:extLst>
              <a:ext uri="{FF2B5EF4-FFF2-40B4-BE49-F238E27FC236}">
                <a16:creationId xmlns:a16="http://schemas.microsoft.com/office/drawing/2014/main" id="{AE286EAC-285A-50D3-BE2E-C024B4FE3176}"/>
              </a:ext>
            </a:extLst>
          </p:cNvPr>
          <p:cNvGraphicFramePr>
            <a:graphicFrameLocks noChangeAspect="1"/>
          </p:cNvGraphicFramePr>
          <p:nvPr/>
        </p:nvGraphicFramePr>
        <p:xfrm>
          <a:off x="3132138" y="1905000"/>
          <a:ext cx="2879725" cy="523875"/>
        </p:xfrm>
        <a:graphic>
          <a:graphicData uri="http://schemas.openxmlformats.org/presentationml/2006/ole">
            <mc:AlternateContent xmlns:mc="http://schemas.openxmlformats.org/markup-compatibility/2006">
              <mc:Choice xmlns:v="urn:schemas-microsoft-com:vml" Requires="v">
                <p:oleObj name="Equation" r:id="rId2" imgW="1257300" imgH="228600" progId="Equation.3">
                  <p:embed/>
                </p:oleObj>
              </mc:Choice>
              <mc:Fallback>
                <p:oleObj name="Equation" r:id="rId2" imgW="1257300" imgH="228600" progId="Equation.3">
                  <p:embed/>
                  <p:pic>
                    <p:nvPicPr>
                      <p:cNvPr id="167936" name="Object 0">
                        <a:extLst>
                          <a:ext uri="{FF2B5EF4-FFF2-40B4-BE49-F238E27FC236}">
                            <a16:creationId xmlns:a16="http://schemas.microsoft.com/office/drawing/2014/main" id="{AE286EAC-285A-50D3-BE2E-C024B4FE31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1905000"/>
                        <a:ext cx="287972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31" name="Rectangle 7">
            <a:extLst>
              <a:ext uri="{FF2B5EF4-FFF2-40B4-BE49-F238E27FC236}">
                <a16:creationId xmlns:a16="http://schemas.microsoft.com/office/drawing/2014/main" id="{94569E8D-AB8C-2C58-A4A0-E1160696678A}"/>
              </a:ext>
            </a:extLst>
          </p:cNvPr>
          <p:cNvSpPr>
            <a:spLocks noChangeArrowheads="1"/>
          </p:cNvSpPr>
          <p:nvPr/>
        </p:nvSpPr>
        <p:spPr bwMode="auto">
          <a:xfrm>
            <a:off x="419100" y="2514600"/>
            <a:ext cx="8305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sz="3000"/>
              <a:t>Now we can solve by setting the derivative =0 (GRG does this automatically for differentiable functions):</a:t>
            </a:r>
          </a:p>
          <a:p>
            <a:pPr>
              <a:buFontTx/>
              <a:buNone/>
            </a:pPr>
            <a:endParaRPr lang="en-US" altLang="en-US" sz="3000"/>
          </a:p>
        </p:txBody>
      </p:sp>
      <p:graphicFrame>
        <p:nvGraphicFramePr>
          <p:cNvPr id="167937" name="Object 1">
            <a:extLst>
              <a:ext uri="{FF2B5EF4-FFF2-40B4-BE49-F238E27FC236}">
                <a16:creationId xmlns:a16="http://schemas.microsoft.com/office/drawing/2014/main" id="{6141C4FB-666D-5067-DA28-062EBF35A965}"/>
              </a:ext>
            </a:extLst>
          </p:cNvPr>
          <p:cNvGraphicFramePr>
            <a:graphicFrameLocks noChangeAspect="1"/>
          </p:cNvGraphicFramePr>
          <p:nvPr/>
        </p:nvGraphicFramePr>
        <p:xfrm>
          <a:off x="2463800" y="3990975"/>
          <a:ext cx="4622800" cy="552450"/>
        </p:xfrm>
        <a:graphic>
          <a:graphicData uri="http://schemas.openxmlformats.org/presentationml/2006/ole">
            <mc:AlternateContent xmlns:mc="http://schemas.openxmlformats.org/markup-compatibility/2006">
              <mc:Choice xmlns:v="urn:schemas-microsoft-com:vml" Requires="v">
                <p:oleObj name="Equation" r:id="rId4" imgW="1701800" imgH="203200" progId="Equation.3">
                  <p:embed/>
                </p:oleObj>
              </mc:Choice>
              <mc:Fallback>
                <p:oleObj name="Equation" r:id="rId4" imgW="1701800" imgH="203200" progId="Equation.3">
                  <p:embed/>
                  <p:pic>
                    <p:nvPicPr>
                      <p:cNvPr id="167937" name="Object 1">
                        <a:extLst>
                          <a:ext uri="{FF2B5EF4-FFF2-40B4-BE49-F238E27FC236}">
                            <a16:creationId xmlns:a16="http://schemas.microsoft.com/office/drawing/2014/main" id="{6141C4FB-666D-5067-DA28-062EBF35A9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3800" y="3990975"/>
                        <a:ext cx="462280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33" name="Rectangle 9">
            <a:extLst>
              <a:ext uri="{FF2B5EF4-FFF2-40B4-BE49-F238E27FC236}">
                <a16:creationId xmlns:a16="http://schemas.microsoft.com/office/drawing/2014/main" id="{35AAF317-CBD7-BDAE-2B95-E7F5777A90A1}"/>
              </a:ext>
            </a:extLst>
          </p:cNvPr>
          <p:cNvSpPr>
            <a:spLocks noChangeArrowheads="1"/>
          </p:cNvSpPr>
          <p:nvPr/>
        </p:nvSpPr>
        <p:spPr bwMode="auto">
          <a:xfrm>
            <a:off x="419100" y="4572000"/>
            <a:ext cx="8305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sz="3000"/>
              <a:t>This is called the </a:t>
            </a:r>
            <a:r>
              <a:rPr lang="en-US" altLang="en-US" sz="3000" u="sng"/>
              <a:t>reduced gradient</a:t>
            </a:r>
            <a:r>
              <a:rPr lang="en-US" altLang="en-US" sz="3000"/>
              <a:t>, hence the name GRG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4629">
                                            <p:txEl>
                                              <p:pRg st="0" end="0"/>
                                            </p:txEl>
                                          </p:spTgt>
                                        </p:tgtEl>
                                        <p:attrNameLst>
                                          <p:attrName>style.visibility</p:attrName>
                                        </p:attrNameLst>
                                      </p:cBhvr>
                                      <p:to>
                                        <p:strVal val="visible"/>
                                      </p:to>
                                    </p:set>
                                    <p:anim calcmode="lin" valueType="num">
                                      <p:cBhvr additive="base">
                                        <p:cTn id="7" dur="500" fill="hold"/>
                                        <p:tgtEl>
                                          <p:spTgt spid="15462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462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67936"/>
                                        </p:tgtEl>
                                        <p:attrNameLst>
                                          <p:attrName>style.visibility</p:attrName>
                                        </p:attrNameLst>
                                      </p:cBhvr>
                                      <p:to>
                                        <p:strVal val="visible"/>
                                      </p:to>
                                    </p:set>
                                    <p:anim calcmode="lin" valueType="num">
                                      <p:cBhvr additive="base">
                                        <p:cTn id="13" dur="500" fill="hold"/>
                                        <p:tgtEl>
                                          <p:spTgt spid="167936"/>
                                        </p:tgtEl>
                                        <p:attrNameLst>
                                          <p:attrName>ppt_x</p:attrName>
                                        </p:attrNameLst>
                                      </p:cBhvr>
                                      <p:tavLst>
                                        <p:tav tm="0">
                                          <p:val>
                                            <p:strVal val="0-#ppt_w/2"/>
                                          </p:val>
                                        </p:tav>
                                        <p:tav tm="100000">
                                          <p:val>
                                            <p:strVal val="#ppt_x"/>
                                          </p:val>
                                        </p:tav>
                                      </p:tavLst>
                                    </p:anim>
                                    <p:anim calcmode="lin" valueType="num">
                                      <p:cBhvr additive="base">
                                        <p:cTn id="14" dur="500" fill="hold"/>
                                        <p:tgtEl>
                                          <p:spTgt spid="16793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54631"/>
                                        </p:tgtEl>
                                        <p:attrNameLst>
                                          <p:attrName>style.visibility</p:attrName>
                                        </p:attrNameLst>
                                      </p:cBhvr>
                                      <p:to>
                                        <p:strVal val="visible"/>
                                      </p:to>
                                    </p:set>
                                    <p:anim calcmode="lin" valueType="num">
                                      <p:cBhvr additive="base">
                                        <p:cTn id="19" dur="500" fill="hold"/>
                                        <p:tgtEl>
                                          <p:spTgt spid="154631"/>
                                        </p:tgtEl>
                                        <p:attrNameLst>
                                          <p:attrName>ppt_x</p:attrName>
                                        </p:attrNameLst>
                                      </p:cBhvr>
                                      <p:tavLst>
                                        <p:tav tm="0">
                                          <p:val>
                                            <p:strVal val="0-#ppt_w/2"/>
                                          </p:val>
                                        </p:tav>
                                        <p:tav tm="100000">
                                          <p:val>
                                            <p:strVal val="#ppt_x"/>
                                          </p:val>
                                        </p:tav>
                                      </p:tavLst>
                                    </p:anim>
                                    <p:anim calcmode="lin" valueType="num">
                                      <p:cBhvr additive="base">
                                        <p:cTn id="20" dur="500" fill="hold"/>
                                        <p:tgtEl>
                                          <p:spTgt spid="15463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67937"/>
                                        </p:tgtEl>
                                        <p:attrNameLst>
                                          <p:attrName>style.visibility</p:attrName>
                                        </p:attrNameLst>
                                      </p:cBhvr>
                                      <p:to>
                                        <p:strVal val="visible"/>
                                      </p:to>
                                    </p:set>
                                    <p:anim calcmode="lin" valueType="num">
                                      <p:cBhvr additive="base">
                                        <p:cTn id="25" dur="500" fill="hold"/>
                                        <p:tgtEl>
                                          <p:spTgt spid="167937"/>
                                        </p:tgtEl>
                                        <p:attrNameLst>
                                          <p:attrName>ppt_x</p:attrName>
                                        </p:attrNameLst>
                                      </p:cBhvr>
                                      <p:tavLst>
                                        <p:tav tm="0">
                                          <p:val>
                                            <p:strVal val="0-#ppt_w/2"/>
                                          </p:val>
                                        </p:tav>
                                        <p:tav tm="100000">
                                          <p:val>
                                            <p:strVal val="#ppt_x"/>
                                          </p:val>
                                        </p:tav>
                                      </p:tavLst>
                                    </p:anim>
                                    <p:anim calcmode="lin" valueType="num">
                                      <p:cBhvr additive="base">
                                        <p:cTn id="26" dur="500" fill="hold"/>
                                        <p:tgtEl>
                                          <p:spTgt spid="16793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54633"/>
                                        </p:tgtEl>
                                        <p:attrNameLst>
                                          <p:attrName>style.visibility</p:attrName>
                                        </p:attrNameLst>
                                      </p:cBhvr>
                                      <p:to>
                                        <p:strVal val="visible"/>
                                      </p:to>
                                    </p:set>
                                    <p:anim calcmode="lin" valueType="num">
                                      <p:cBhvr additive="base">
                                        <p:cTn id="31" dur="500" fill="hold"/>
                                        <p:tgtEl>
                                          <p:spTgt spid="154633"/>
                                        </p:tgtEl>
                                        <p:attrNameLst>
                                          <p:attrName>ppt_x</p:attrName>
                                        </p:attrNameLst>
                                      </p:cBhvr>
                                      <p:tavLst>
                                        <p:tav tm="0">
                                          <p:val>
                                            <p:strVal val="0-#ppt_w/2"/>
                                          </p:val>
                                        </p:tav>
                                        <p:tav tm="100000">
                                          <p:val>
                                            <p:strVal val="#ppt_x"/>
                                          </p:val>
                                        </p:tav>
                                      </p:tavLst>
                                    </p:anim>
                                    <p:anim calcmode="lin" valueType="num">
                                      <p:cBhvr additive="base">
                                        <p:cTn id="32" dur="500" fill="hold"/>
                                        <p:tgtEl>
                                          <p:spTgt spid="1546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9" grpId="0" build="p" autoUpdateAnimBg="0"/>
      <p:bldP spid="154631" grpId="0" autoUpdateAnimBg="0"/>
      <p:bldP spid="15463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0BB9EA7-F9E2-0344-D48C-EB3C8B307368}"/>
              </a:ext>
            </a:extLst>
          </p:cNvPr>
          <p:cNvSpPr>
            <a:spLocks noGrp="1" noChangeArrowheads="1"/>
          </p:cNvSpPr>
          <p:nvPr>
            <p:ph type="title"/>
          </p:nvPr>
        </p:nvSpPr>
        <p:spPr>
          <a:xfrm>
            <a:off x="533400" y="152400"/>
            <a:ext cx="8077200" cy="1143000"/>
          </a:xfrm>
        </p:spPr>
        <p:txBody>
          <a:bodyPr/>
          <a:lstStyle/>
          <a:p>
            <a:pPr>
              <a:lnSpc>
                <a:spcPct val="80000"/>
              </a:lnSpc>
            </a:pPr>
            <a:r>
              <a:rPr lang="en-US" altLang="en-US"/>
              <a:t>Using Steepest Descent</a:t>
            </a:r>
          </a:p>
        </p:txBody>
      </p:sp>
      <p:sp>
        <p:nvSpPr>
          <p:cNvPr id="9219" name="Rectangle 3">
            <a:extLst>
              <a:ext uri="{FF2B5EF4-FFF2-40B4-BE49-F238E27FC236}">
                <a16:creationId xmlns:a16="http://schemas.microsoft.com/office/drawing/2014/main" id="{5B482903-D90C-EF21-43E2-982BAEBA3025}"/>
              </a:ext>
            </a:extLst>
          </p:cNvPr>
          <p:cNvSpPr>
            <a:spLocks noChangeArrowheads="1"/>
          </p:cNvSpPr>
          <p:nvPr/>
        </p:nvSpPr>
        <p:spPr bwMode="auto">
          <a:xfrm>
            <a:off x="228600" y="228600"/>
            <a:ext cx="8686800" cy="64008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0" name="Rectangle 4">
            <a:extLst>
              <a:ext uri="{FF2B5EF4-FFF2-40B4-BE49-F238E27FC236}">
                <a16:creationId xmlns:a16="http://schemas.microsoft.com/office/drawing/2014/main" id="{7F05BEF9-43E6-6FFD-9DB5-BC4D71BD170B}"/>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21</a:t>
            </a:r>
          </a:p>
        </p:txBody>
      </p:sp>
      <p:sp>
        <p:nvSpPr>
          <p:cNvPr id="158725" name="Rectangle 5">
            <a:extLst>
              <a:ext uri="{FF2B5EF4-FFF2-40B4-BE49-F238E27FC236}">
                <a16:creationId xmlns:a16="http://schemas.microsoft.com/office/drawing/2014/main" id="{A0639D19-51E9-FB71-4EE7-DDDE18A416BC}"/>
              </a:ext>
            </a:extLst>
          </p:cNvPr>
          <p:cNvSpPr>
            <a:spLocks noGrp="1" noChangeArrowheads="1"/>
          </p:cNvSpPr>
          <p:nvPr>
            <p:ph type="body" idx="1"/>
          </p:nvPr>
        </p:nvSpPr>
        <p:spPr>
          <a:xfrm>
            <a:off x="419100" y="1143000"/>
            <a:ext cx="8305800" cy="1295400"/>
          </a:xfrm>
        </p:spPr>
        <p:txBody>
          <a:bodyPr/>
          <a:lstStyle/>
          <a:p>
            <a:r>
              <a:rPr lang="en-US" altLang="en-US" sz="3000"/>
              <a:t>Solve this to find </a:t>
            </a:r>
            <a:r>
              <a:rPr lang="en-US" altLang="en-US" sz="3000" i="1"/>
              <a:t>x</a:t>
            </a:r>
            <a:r>
              <a:rPr lang="en-US" altLang="en-US" sz="3000"/>
              <a:t>,</a:t>
            </a:r>
            <a:r>
              <a:rPr lang="en-US" altLang="en-US" sz="3000" i="1"/>
              <a:t>y</a:t>
            </a:r>
            <a:r>
              <a:rPr lang="en-US" altLang="en-US" sz="3000"/>
              <a:t>:</a:t>
            </a:r>
          </a:p>
        </p:txBody>
      </p:sp>
      <p:graphicFrame>
        <p:nvGraphicFramePr>
          <p:cNvPr id="158726" name="Object 6">
            <a:extLst>
              <a:ext uri="{FF2B5EF4-FFF2-40B4-BE49-F238E27FC236}">
                <a16:creationId xmlns:a16="http://schemas.microsoft.com/office/drawing/2014/main" id="{92E92CFD-06CE-3682-1861-2382FBBD0863}"/>
              </a:ext>
            </a:extLst>
          </p:cNvPr>
          <p:cNvGraphicFramePr>
            <a:graphicFrameLocks noChangeAspect="1"/>
          </p:cNvGraphicFramePr>
          <p:nvPr/>
        </p:nvGraphicFramePr>
        <p:xfrm>
          <a:off x="2986088" y="1673225"/>
          <a:ext cx="3171825" cy="989013"/>
        </p:xfrm>
        <a:graphic>
          <a:graphicData uri="http://schemas.openxmlformats.org/presentationml/2006/ole">
            <mc:AlternateContent xmlns:mc="http://schemas.openxmlformats.org/markup-compatibility/2006">
              <mc:Choice xmlns:v="urn:schemas-microsoft-com:vml" Requires="v">
                <p:oleObj name="Equation" r:id="rId2" imgW="1384300" imgH="431800" progId="Equation.3">
                  <p:embed/>
                </p:oleObj>
              </mc:Choice>
              <mc:Fallback>
                <p:oleObj name="Equation" r:id="rId2" imgW="1384300" imgH="431800" progId="Equation.3">
                  <p:embed/>
                  <p:pic>
                    <p:nvPicPr>
                      <p:cNvPr id="158726" name="Object 6">
                        <a:extLst>
                          <a:ext uri="{FF2B5EF4-FFF2-40B4-BE49-F238E27FC236}">
                            <a16:creationId xmlns:a16="http://schemas.microsoft.com/office/drawing/2014/main" id="{92E92CFD-06CE-3682-1861-2382FBBD08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6088" y="1673225"/>
                        <a:ext cx="3171825" cy="989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8727" name="Rectangle 7">
            <a:extLst>
              <a:ext uri="{FF2B5EF4-FFF2-40B4-BE49-F238E27FC236}">
                <a16:creationId xmlns:a16="http://schemas.microsoft.com/office/drawing/2014/main" id="{9722CDCF-C9E2-F335-BA00-5FBE2715FD23}"/>
              </a:ext>
            </a:extLst>
          </p:cNvPr>
          <p:cNvSpPr>
            <a:spLocks noChangeArrowheads="1"/>
          </p:cNvSpPr>
          <p:nvPr/>
        </p:nvSpPr>
        <p:spPr bwMode="auto">
          <a:xfrm>
            <a:off x="419100" y="2781300"/>
            <a:ext cx="8305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sz="3000"/>
              <a:t>What if we used the descent algorithm here?  We could get a new value for </a:t>
            </a:r>
            <a:r>
              <a:rPr lang="en-US" altLang="en-US" sz="3000" i="1"/>
              <a:t>y</a:t>
            </a:r>
            <a:r>
              <a:rPr lang="en-US" altLang="en-US" sz="3000"/>
              <a:t> using</a:t>
            </a:r>
          </a:p>
          <a:p>
            <a:pPr>
              <a:buFontTx/>
              <a:buNone/>
            </a:pPr>
            <a:endParaRPr lang="en-US" altLang="en-US" sz="3000"/>
          </a:p>
        </p:txBody>
      </p:sp>
      <p:graphicFrame>
        <p:nvGraphicFramePr>
          <p:cNvPr id="158728" name="Object 8">
            <a:extLst>
              <a:ext uri="{FF2B5EF4-FFF2-40B4-BE49-F238E27FC236}">
                <a16:creationId xmlns:a16="http://schemas.microsoft.com/office/drawing/2014/main" id="{AF1FA64F-3B2F-FCCB-D659-FE031DA04A59}"/>
              </a:ext>
            </a:extLst>
          </p:cNvPr>
          <p:cNvGraphicFramePr>
            <a:graphicFrameLocks noChangeAspect="1"/>
          </p:cNvGraphicFramePr>
          <p:nvPr/>
        </p:nvGraphicFramePr>
        <p:xfrm>
          <a:off x="3549650" y="3956050"/>
          <a:ext cx="2449513" cy="622300"/>
        </p:xfrm>
        <a:graphic>
          <a:graphicData uri="http://schemas.openxmlformats.org/presentationml/2006/ole">
            <mc:AlternateContent xmlns:mc="http://schemas.openxmlformats.org/markup-compatibility/2006">
              <mc:Choice xmlns:v="urn:schemas-microsoft-com:vml" Requires="v">
                <p:oleObj name="Equation" r:id="rId4" imgW="901309" imgH="228501" progId="Equation.3">
                  <p:embed/>
                </p:oleObj>
              </mc:Choice>
              <mc:Fallback>
                <p:oleObj name="Equation" r:id="rId4" imgW="901309" imgH="228501" progId="Equation.3">
                  <p:embed/>
                  <p:pic>
                    <p:nvPicPr>
                      <p:cNvPr id="158728" name="Object 8">
                        <a:extLst>
                          <a:ext uri="{FF2B5EF4-FFF2-40B4-BE49-F238E27FC236}">
                            <a16:creationId xmlns:a16="http://schemas.microsoft.com/office/drawing/2014/main" id="{AF1FA64F-3B2F-FCCB-D659-FE031DA04A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9650" y="3956050"/>
                        <a:ext cx="2449513"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8729" name="Rectangle 9">
            <a:extLst>
              <a:ext uri="{FF2B5EF4-FFF2-40B4-BE49-F238E27FC236}">
                <a16:creationId xmlns:a16="http://schemas.microsoft.com/office/drawing/2014/main" id="{1BA4A0B8-E09B-8D00-7FBC-77A9E1A9C5CD}"/>
              </a:ext>
            </a:extLst>
          </p:cNvPr>
          <p:cNvSpPr>
            <a:spLocks noChangeArrowheads="1"/>
          </p:cNvSpPr>
          <p:nvPr/>
        </p:nvSpPr>
        <p:spPr bwMode="auto">
          <a:xfrm>
            <a:off x="419100" y="4648200"/>
            <a:ext cx="8305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sz="3000"/>
              <a:t>Start with a feasible point – how do we find one?</a:t>
            </a:r>
          </a:p>
          <a:p>
            <a:pPr>
              <a:buFontTx/>
              <a:buNone/>
            </a:pPr>
            <a:r>
              <a:rPr lang="en-US" altLang="en-US" sz="3000"/>
              <a:t>    Note we have one degree of freedom in the constraints – set </a:t>
            </a:r>
            <a:r>
              <a:rPr lang="en-US" altLang="en-US" sz="3000" i="1"/>
              <a:t>y</a:t>
            </a:r>
            <a:r>
              <a:rPr lang="en-US" altLang="en-US" sz="3000"/>
              <a:t>=0, solve for </a:t>
            </a:r>
            <a:r>
              <a:rPr lang="en-US" altLang="en-US" sz="3000" i="1"/>
              <a:t>x</a:t>
            </a:r>
            <a:r>
              <a:rPr lang="en-US" altLang="en-US" sz="3000"/>
              <a:t>:  [4,0]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8725">
                                            <p:txEl>
                                              <p:pRg st="0" end="0"/>
                                            </p:txEl>
                                          </p:spTgt>
                                        </p:tgtEl>
                                        <p:attrNameLst>
                                          <p:attrName>style.visibility</p:attrName>
                                        </p:attrNameLst>
                                      </p:cBhvr>
                                      <p:to>
                                        <p:strVal val="visible"/>
                                      </p:to>
                                    </p:set>
                                    <p:anim calcmode="lin" valueType="num">
                                      <p:cBhvr additive="base">
                                        <p:cTn id="7" dur="500" fill="hold"/>
                                        <p:tgtEl>
                                          <p:spTgt spid="15872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872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58726"/>
                                        </p:tgtEl>
                                        <p:attrNameLst>
                                          <p:attrName>style.visibility</p:attrName>
                                        </p:attrNameLst>
                                      </p:cBhvr>
                                      <p:to>
                                        <p:strVal val="visible"/>
                                      </p:to>
                                    </p:set>
                                    <p:anim calcmode="lin" valueType="num">
                                      <p:cBhvr additive="base">
                                        <p:cTn id="13" dur="500" fill="hold"/>
                                        <p:tgtEl>
                                          <p:spTgt spid="158726"/>
                                        </p:tgtEl>
                                        <p:attrNameLst>
                                          <p:attrName>ppt_x</p:attrName>
                                        </p:attrNameLst>
                                      </p:cBhvr>
                                      <p:tavLst>
                                        <p:tav tm="0">
                                          <p:val>
                                            <p:strVal val="0-#ppt_w/2"/>
                                          </p:val>
                                        </p:tav>
                                        <p:tav tm="100000">
                                          <p:val>
                                            <p:strVal val="#ppt_x"/>
                                          </p:val>
                                        </p:tav>
                                      </p:tavLst>
                                    </p:anim>
                                    <p:anim calcmode="lin" valueType="num">
                                      <p:cBhvr additive="base">
                                        <p:cTn id="14" dur="500" fill="hold"/>
                                        <p:tgtEl>
                                          <p:spTgt spid="15872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58727">
                                            <p:txEl>
                                              <p:pRg st="0" end="0"/>
                                            </p:txEl>
                                          </p:spTgt>
                                        </p:tgtEl>
                                        <p:attrNameLst>
                                          <p:attrName>style.visibility</p:attrName>
                                        </p:attrNameLst>
                                      </p:cBhvr>
                                      <p:to>
                                        <p:strVal val="visible"/>
                                      </p:to>
                                    </p:set>
                                    <p:anim calcmode="lin" valueType="num">
                                      <p:cBhvr additive="base">
                                        <p:cTn id="19" dur="500" fill="hold"/>
                                        <p:tgtEl>
                                          <p:spTgt spid="15872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87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58728"/>
                                        </p:tgtEl>
                                        <p:attrNameLst>
                                          <p:attrName>style.visibility</p:attrName>
                                        </p:attrNameLst>
                                      </p:cBhvr>
                                      <p:to>
                                        <p:strVal val="visible"/>
                                      </p:to>
                                    </p:set>
                                    <p:anim calcmode="lin" valueType="num">
                                      <p:cBhvr additive="base">
                                        <p:cTn id="25" dur="500" fill="hold"/>
                                        <p:tgtEl>
                                          <p:spTgt spid="158728"/>
                                        </p:tgtEl>
                                        <p:attrNameLst>
                                          <p:attrName>ppt_x</p:attrName>
                                        </p:attrNameLst>
                                      </p:cBhvr>
                                      <p:tavLst>
                                        <p:tav tm="0">
                                          <p:val>
                                            <p:strVal val="0-#ppt_w/2"/>
                                          </p:val>
                                        </p:tav>
                                        <p:tav tm="100000">
                                          <p:val>
                                            <p:strVal val="#ppt_x"/>
                                          </p:val>
                                        </p:tav>
                                      </p:tavLst>
                                    </p:anim>
                                    <p:anim calcmode="lin" valueType="num">
                                      <p:cBhvr additive="base">
                                        <p:cTn id="26" dur="500" fill="hold"/>
                                        <p:tgtEl>
                                          <p:spTgt spid="15872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58729">
                                            <p:txEl>
                                              <p:pRg st="0" end="0"/>
                                            </p:txEl>
                                          </p:spTgt>
                                        </p:tgtEl>
                                        <p:attrNameLst>
                                          <p:attrName>style.visibility</p:attrName>
                                        </p:attrNameLst>
                                      </p:cBhvr>
                                      <p:to>
                                        <p:strVal val="visible"/>
                                      </p:to>
                                    </p:set>
                                    <p:anim calcmode="lin" valueType="num">
                                      <p:cBhvr additive="base">
                                        <p:cTn id="31" dur="500" fill="hold"/>
                                        <p:tgtEl>
                                          <p:spTgt spid="158729">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872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58729">
                                            <p:txEl>
                                              <p:pRg st="1" end="1"/>
                                            </p:txEl>
                                          </p:spTgt>
                                        </p:tgtEl>
                                        <p:attrNameLst>
                                          <p:attrName>style.visibility</p:attrName>
                                        </p:attrNameLst>
                                      </p:cBhvr>
                                      <p:to>
                                        <p:strVal val="visible"/>
                                      </p:to>
                                    </p:set>
                                    <p:anim calcmode="lin" valueType="num">
                                      <p:cBhvr additive="base">
                                        <p:cTn id="37" dur="500" fill="hold"/>
                                        <p:tgtEl>
                                          <p:spTgt spid="158729">
                                            <p:txEl>
                                              <p:pRg st="1" end="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872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5" grpId="0" build="p" bldLvl="2" autoUpdateAnimBg="0"/>
      <p:bldP spid="158727" grpId="0" build="p" bldLvl="2" autoUpdateAnimBg="0"/>
      <p:bldP spid="158729" grpId="0" build="p" bldLvl="2"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71D3DAEE-766D-4310-865F-7A660CFBF277}"/>
              </a:ext>
            </a:extLst>
          </p:cNvPr>
          <p:cNvSpPr>
            <a:spLocks noGrp="1" noChangeArrowheads="1"/>
          </p:cNvSpPr>
          <p:nvPr>
            <p:ph type="title"/>
          </p:nvPr>
        </p:nvSpPr>
        <p:spPr>
          <a:xfrm>
            <a:off x="533400" y="152400"/>
            <a:ext cx="8077200" cy="1143000"/>
          </a:xfrm>
        </p:spPr>
        <p:txBody>
          <a:bodyPr/>
          <a:lstStyle/>
          <a:p>
            <a:pPr>
              <a:lnSpc>
                <a:spcPct val="80000"/>
              </a:lnSpc>
            </a:pPr>
            <a:r>
              <a:rPr lang="en-US" altLang="en-US"/>
              <a:t>More Steepest Descent</a:t>
            </a:r>
          </a:p>
        </p:txBody>
      </p:sp>
      <p:sp>
        <p:nvSpPr>
          <p:cNvPr id="10243" name="Rectangle 3">
            <a:extLst>
              <a:ext uri="{FF2B5EF4-FFF2-40B4-BE49-F238E27FC236}">
                <a16:creationId xmlns:a16="http://schemas.microsoft.com/office/drawing/2014/main" id="{2AC3CA46-F249-203C-4C77-F7E71CEAB862}"/>
              </a:ext>
            </a:extLst>
          </p:cNvPr>
          <p:cNvSpPr>
            <a:spLocks noChangeArrowheads="1"/>
          </p:cNvSpPr>
          <p:nvPr/>
        </p:nvSpPr>
        <p:spPr bwMode="auto">
          <a:xfrm>
            <a:off x="228600" y="228600"/>
            <a:ext cx="8686800" cy="64008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0244" name="Rectangle 4">
            <a:extLst>
              <a:ext uri="{FF2B5EF4-FFF2-40B4-BE49-F238E27FC236}">
                <a16:creationId xmlns:a16="http://schemas.microsoft.com/office/drawing/2014/main" id="{1FA0A6E2-EFDB-1007-4B40-228AD541029B}"/>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21</a:t>
            </a:r>
          </a:p>
        </p:txBody>
      </p:sp>
      <p:sp>
        <p:nvSpPr>
          <p:cNvPr id="159749" name="Rectangle 5">
            <a:extLst>
              <a:ext uri="{FF2B5EF4-FFF2-40B4-BE49-F238E27FC236}">
                <a16:creationId xmlns:a16="http://schemas.microsoft.com/office/drawing/2014/main" id="{D4FA20A7-F446-8B26-86E6-DDCDE825DD8D}"/>
              </a:ext>
            </a:extLst>
          </p:cNvPr>
          <p:cNvSpPr>
            <a:spLocks noGrp="1" noChangeArrowheads="1"/>
          </p:cNvSpPr>
          <p:nvPr>
            <p:ph type="body" idx="1"/>
          </p:nvPr>
        </p:nvSpPr>
        <p:spPr>
          <a:xfrm>
            <a:off x="419100" y="1143000"/>
            <a:ext cx="8305800" cy="1295400"/>
          </a:xfrm>
        </p:spPr>
        <p:txBody>
          <a:bodyPr/>
          <a:lstStyle/>
          <a:p>
            <a:r>
              <a:rPr lang="en-US" altLang="en-US" sz="3000"/>
              <a:t>Now we get</a:t>
            </a:r>
          </a:p>
        </p:txBody>
      </p:sp>
      <p:graphicFrame>
        <p:nvGraphicFramePr>
          <p:cNvPr id="159750" name="Object 6">
            <a:extLst>
              <a:ext uri="{FF2B5EF4-FFF2-40B4-BE49-F238E27FC236}">
                <a16:creationId xmlns:a16="http://schemas.microsoft.com/office/drawing/2014/main" id="{8E1DE112-52AA-8B87-CC33-90A997DF0597}"/>
              </a:ext>
            </a:extLst>
          </p:cNvPr>
          <p:cNvGraphicFramePr>
            <a:graphicFrameLocks noChangeAspect="1"/>
          </p:cNvGraphicFramePr>
          <p:nvPr/>
        </p:nvGraphicFramePr>
        <p:xfrm>
          <a:off x="2076450" y="3749675"/>
          <a:ext cx="4991100" cy="1838325"/>
        </p:xfrm>
        <a:graphic>
          <a:graphicData uri="http://schemas.openxmlformats.org/presentationml/2006/ole">
            <mc:AlternateContent xmlns:mc="http://schemas.openxmlformats.org/markup-compatibility/2006">
              <mc:Choice xmlns:v="urn:schemas-microsoft-com:vml" Requires="v">
                <p:oleObj name="Equation" r:id="rId2" imgW="1828800" imgH="673100" progId="Equation.3">
                  <p:embed/>
                </p:oleObj>
              </mc:Choice>
              <mc:Fallback>
                <p:oleObj name="Equation" r:id="rId2" imgW="1828800" imgH="673100" progId="Equation.3">
                  <p:embed/>
                  <p:pic>
                    <p:nvPicPr>
                      <p:cNvPr id="159750" name="Object 6">
                        <a:extLst>
                          <a:ext uri="{FF2B5EF4-FFF2-40B4-BE49-F238E27FC236}">
                            <a16:creationId xmlns:a16="http://schemas.microsoft.com/office/drawing/2014/main" id="{8E1DE112-52AA-8B87-CC33-90A997DF05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6450" y="3749675"/>
                        <a:ext cx="4991100" cy="183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9751" name="Rectangle 7">
            <a:extLst>
              <a:ext uri="{FF2B5EF4-FFF2-40B4-BE49-F238E27FC236}">
                <a16:creationId xmlns:a16="http://schemas.microsoft.com/office/drawing/2014/main" id="{F1F16ADA-4ED4-7BC8-A20C-FD7023070B8D}"/>
              </a:ext>
            </a:extLst>
          </p:cNvPr>
          <p:cNvSpPr>
            <a:spLocks noChangeArrowheads="1"/>
          </p:cNvSpPr>
          <p:nvPr/>
        </p:nvSpPr>
        <p:spPr bwMode="auto">
          <a:xfrm>
            <a:off x="419100" y="2438400"/>
            <a:ext cx="8305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sz="3000"/>
              <a:t>What is d?</a:t>
            </a:r>
          </a:p>
          <a:p>
            <a:pPr>
              <a:buFontTx/>
              <a:buNone/>
            </a:pPr>
            <a:r>
              <a:rPr lang="en-US" altLang="en-US" sz="3000"/>
              <a:t>	The negative gradient:</a:t>
            </a:r>
          </a:p>
          <a:p>
            <a:pPr>
              <a:buFontTx/>
              <a:buNone/>
            </a:pPr>
            <a:endParaRPr lang="en-US" altLang="en-US" sz="3000"/>
          </a:p>
        </p:txBody>
      </p:sp>
      <p:graphicFrame>
        <p:nvGraphicFramePr>
          <p:cNvPr id="159752" name="Object 8">
            <a:extLst>
              <a:ext uri="{FF2B5EF4-FFF2-40B4-BE49-F238E27FC236}">
                <a16:creationId xmlns:a16="http://schemas.microsoft.com/office/drawing/2014/main" id="{03C3DEC8-A1D1-6C8B-ABE6-5E28660ADDE8}"/>
              </a:ext>
            </a:extLst>
          </p:cNvPr>
          <p:cNvGraphicFramePr>
            <a:graphicFrameLocks noChangeAspect="1"/>
          </p:cNvGraphicFramePr>
          <p:nvPr/>
        </p:nvGraphicFramePr>
        <p:xfrm>
          <a:off x="3133725" y="1676400"/>
          <a:ext cx="2276475" cy="622300"/>
        </p:xfrm>
        <a:graphic>
          <a:graphicData uri="http://schemas.openxmlformats.org/presentationml/2006/ole">
            <mc:AlternateContent xmlns:mc="http://schemas.openxmlformats.org/markup-compatibility/2006">
              <mc:Choice xmlns:v="urn:schemas-microsoft-com:vml" Requires="v">
                <p:oleObj name="Equation" r:id="rId4" imgW="838200" imgH="228600" progId="Equation.3">
                  <p:embed/>
                </p:oleObj>
              </mc:Choice>
              <mc:Fallback>
                <p:oleObj name="Equation" r:id="rId4" imgW="838200" imgH="228600" progId="Equation.3">
                  <p:embed/>
                  <p:pic>
                    <p:nvPicPr>
                      <p:cNvPr id="159752" name="Object 8">
                        <a:extLst>
                          <a:ext uri="{FF2B5EF4-FFF2-40B4-BE49-F238E27FC236}">
                            <a16:creationId xmlns:a16="http://schemas.microsoft.com/office/drawing/2014/main" id="{03C3DEC8-A1D1-6C8B-ABE6-5E28660ADD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3725" y="1676400"/>
                        <a:ext cx="2276475"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9749">
                                            <p:txEl>
                                              <p:pRg st="0" end="0"/>
                                            </p:txEl>
                                          </p:spTgt>
                                        </p:tgtEl>
                                        <p:attrNameLst>
                                          <p:attrName>style.visibility</p:attrName>
                                        </p:attrNameLst>
                                      </p:cBhvr>
                                      <p:to>
                                        <p:strVal val="visible"/>
                                      </p:to>
                                    </p:set>
                                    <p:anim calcmode="lin" valueType="num">
                                      <p:cBhvr additive="base">
                                        <p:cTn id="7" dur="500" fill="hold"/>
                                        <p:tgtEl>
                                          <p:spTgt spid="15974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974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59752"/>
                                        </p:tgtEl>
                                        <p:attrNameLst>
                                          <p:attrName>style.visibility</p:attrName>
                                        </p:attrNameLst>
                                      </p:cBhvr>
                                      <p:to>
                                        <p:strVal val="visible"/>
                                      </p:to>
                                    </p:set>
                                    <p:anim calcmode="lin" valueType="num">
                                      <p:cBhvr additive="base">
                                        <p:cTn id="13" dur="500" fill="hold"/>
                                        <p:tgtEl>
                                          <p:spTgt spid="159752"/>
                                        </p:tgtEl>
                                        <p:attrNameLst>
                                          <p:attrName>ppt_x</p:attrName>
                                        </p:attrNameLst>
                                      </p:cBhvr>
                                      <p:tavLst>
                                        <p:tav tm="0">
                                          <p:val>
                                            <p:strVal val="0-#ppt_w/2"/>
                                          </p:val>
                                        </p:tav>
                                        <p:tav tm="100000">
                                          <p:val>
                                            <p:strVal val="#ppt_x"/>
                                          </p:val>
                                        </p:tav>
                                      </p:tavLst>
                                    </p:anim>
                                    <p:anim calcmode="lin" valueType="num">
                                      <p:cBhvr additive="base">
                                        <p:cTn id="14" dur="500" fill="hold"/>
                                        <p:tgtEl>
                                          <p:spTgt spid="15975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59751">
                                            <p:txEl>
                                              <p:pRg st="0" end="0"/>
                                            </p:txEl>
                                          </p:spTgt>
                                        </p:tgtEl>
                                        <p:attrNameLst>
                                          <p:attrName>style.visibility</p:attrName>
                                        </p:attrNameLst>
                                      </p:cBhvr>
                                      <p:to>
                                        <p:strVal val="visible"/>
                                      </p:to>
                                    </p:set>
                                    <p:anim calcmode="lin" valueType="num">
                                      <p:cBhvr additive="base">
                                        <p:cTn id="19" dur="500" fill="hold"/>
                                        <p:tgtEl>
                                          <p:spTgt spid="159751">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97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59751">
                                            <p:txEl>
                                              <p:pRg st="1" end="1"/>
                                            </p:txEl>
                                          </p:spTgt>
                                        </p:tgtEl>
                                        <p:attrNameLst>
                                          <p:attrName>style.visibility</p:attrName>
                                        </p:attrNameLst>
                                      </p:cBhvr>
                                      <p:to>
                                        <p:strVal val="visible"/>
                                      </p:to>
                                    </p:set>
                                    <p:anim calcmode="lin" valueType="num">
                                      <p:cBhvr additive="base">
                                        <p:cTn id="25" dur="500" fill="hold"/>
                                        <p:tgtEl>
                                          <p:spTgt spid="159751">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97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59750"/>
                                        </p:tgtEl>
                                        <p:attrNameLst>
                                          <p:attrName>style.visibility</p:attrName>
                                        </p:attrNameLst>
                                      </p:cBhvr>
                                      <p:to>
                                        <p:strVal val="visible"/>
                                      </p:to>
                                    </p:set>
                                    <p:anim calcmode="lin" valueType="num">
                                      <p:cBhvr additive="base">
                                        <p:cTn id="31" dur="500" fill="hold"/>
                                        <p:tgtEl>
                                          <p:spTgt spid="159750"/>
                                        </p:tgtEl>
                                        <p:attrNameLst>
                                          <p:attrName>ppt_x</p:attrName>
                                        </p:attrNameLst>
                                      </p:cBhvr>
                                      <p:tavLst>
                                        <p:tav tm="0">
                                          <p:val>
                                            <p:strVal val="0-#ppt_w/2"/>
                                          </p:val>
                                        </p:tav>
                                        <p:tav tm="100000">
                                          <p:val>
                                            <p:strVal val="#ppt_x"/>
                                          </p:val>
                                        </p:tav>
                                      </p:tavLst>
                                    </p:anim>
                                    <p:anim calcmode="lin" valueType="num">
                                      <p:cBhvr additive="base">
                                        <p:cTn id="32" dur="500" fill="hold"/>
                                        <p:tgtEl>
                                          <p:spTgt spid="1597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9" grpId="0" build="p" bldLvl="2" autoUpdateAnimBg="0"/>
      <p:bldP spid="159751" grpId="0" build="p" bldLvl="2"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B7917084-46C8-B505-AFC4-1EBF4AA9B400}"/>
              </a:ext>
            </a:extLst>
          </p:cNvPr>
          <p:cNvSpPr>
            <a:spLocks noGrp="1" noChangeArrowheads="1"/>
          </p:cNvSpPr>
          <p:nvPr>
            <p:ph type="title"/>
          </p:nvPr>
        </p:nvSpPr>
        <p:spPr>
          <a:xfrm>
            <a:off x="533400" y="0"/>
            <a:ext cx="8077200" cy="1143000"/>
          </a:xfrm>
        </p:spPr>
        <p:txBody>
          <a:bodyPr/>
          <a:lstStyle/>
          <a:p>
            <a:pPr>
              <a:lnSpc>
                <a:spcPct val="80000"/>
              </a:lnSpc>
            </a:pPr>
            <a:r>
              <a:rPr lang="en-US" altLang="en-US"/>
              <a:t>Performing the Line Search</a:t>
            </a:r>
          </a:p>
        </p:txBody>
      </p:sp>
      <p:sp>
        <p:nvSpPr>
          <p:cNvPr id="11267" name="Rectangle 3">
            <a:extLst>
              <a:ext uri="{FF2B5EF4-FFF2-40B4-BE49-F238E27FC236}">
                <a16:creationId xmlns:a16="http://schemas.microsoft.com/office/drawing/2014/main" id="{604B1F6C-4394-2A16-0EED-9267A4DA028D}"/>
              </a:ext>
            </a:extLst>
          </p:cNvPr>
          <p:cNvSpPr>
            <a:spLocks noChangeArrowheads="1"/>
          </p:cNvSpPr>
          <p:nvPr/>
        </p:nvSpPr>
        <p:spPr bwMode="auto">
          <a:xfrm>
            <a:off x="228600" y="228600"/>
            <a:ext cx="8686800" cy="64008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68" name="Rectangle 4">
            <a:extLst>
              <a:ext uri="{FF2B5EF4-FFF2-40B4-BE49-F238E27FC236}">
                <a16:creationId xmlns:a16="http://schemas.microsoft.com/office/drawing/2014/main" id="{D7C1416C-4311-0617-8A28-BC1F2A904D95}"/>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21</a:t>
            </a:r>
          </a:p>
        </p:txBody>
      </p:sp>
      <p:sp>
        <p:nvSpPr>
          <p:cNvPr id="160773" name="Rectangle 5">
            <a:extLst>
              <a:ext uri="{FF2B5EF4-FFF2-40B4-BE49-F238E27FC236}">
                <a16:creationId xmlns:a16="http://schemas.microsoft.com/office/drawing/2014/main" id="{D2F3BEB2-6AED-5D5B-702A-9B644FD6CE69}"/>
              </a:ext>
            </a:extLst>
          </p:cNvPr>
          <p:cNvSpPr>
            <a:spLocks noGrp="1" noChangeArrowheads="1"/>
          </p:cNvSpPr>
          <p:nvPr>
            <p:ph type="body" idx="1"/>
          </p:nvPr>
        </p:nvSpPr>
        <p:spPr>
          <a:xfrm>
            <a:off x="419100" y="990600"/>
            <a:ext cx="8305800" cy="1295400"/>
          </a:xfrm>
        </p:spPr>
        <p:txBody>
          <a:bodyPr/>
          <a:lstStyle/>
          <a:p>
            <a:r>
              <a:rPr lang="en-US" altLang="en-US" sz="3000"/>
              <a:t>Now we need to find </a:t>
            </a:r>
            <a:r>
              <a:rPr lang="en-US" altLang="en-US" sz="3000">
                <a:sym typeface="Symbol" panose="05050102010706020507" pitchFamily="18" charset="2"/>
              </a:rPr>
              <a:t>:  Solve</a:t>
            </a:r>
            <a:endParaRPr lang="en-US" altLang="en-US" sz="3000"/>
          </a:p>
        </p:txBody>
      </p:sp>
      <p:graphicFrame>
        <p:nvGraphicFramePr>
          <p:cNvPr id="168960" name="Object 0">
            <a:extLst>
              <a:ext uri="{FF2B5EF4-FFF2-40B4-BE49-F238E27FC236}">
                <a16:creationId xmlns:a16="http://schemas.microsoft.com/office/drawing/2014/main" id="{0175494C-13EF-3F83-5DBC-D5CCB058FA3F}"/>
              </a:ext>
            </a:extLst>
          </p:cNvPr>
          <p:cNvGraphicFramePr>
            <a:graphicFrameLocks noChangeAspect="1"/>
          </p:cNvGraphicFramePr>
          <p:nvPr/>
        </p:nvGraphicFramePr>
        <p:xfrm>
          <a:off x="2041525" y="2805113"/>
          <a:ext cx="5060950" cy="623887"/>
        </p:xfrm>
        <a:graphic>
          <a:graphicData uri="http://schemas.openxmlformats.org/presentationml/2006/ole">
            <mc:AlternateContent xmlns:mc="http://schemas.openxmlformats.org/markup-compatibility/2006">
              <mc:Choice xmlns:v="urn:schemas-microsoft-com:vml" Requires="v">
                <p:oleObj name="Equation" r:id="rId2" imgW="1854200" imgH="228600" progId="Equation.3">
                  <p:embed/>
                </p:oleObj>
              </mc:Choice>
              <mc:Fallback>
                <p:oleObj name="Equation" r:id="rId2" imgW="1854200" imgH="228600" progId="Equation.3">
                  <p:embed/>
                  <p:pic>
                    <p:nvPicPr>
                      <p:cNvPr id="168960" name="Object 0">
                        <a:extLst>
                          <a:ext uri="{FF2B5EF4-FFF2-40B4-BE49-F238E27FC236}">
                            <a16:creationId xmlns:a16="http://schemas.microsoft.com/office/drawing/2014/main" id="{0175494C-13EF-3F83-5DBC-D5CCB058FA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1525" y="2805113"/>
                        <a:ext cx="5060950"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0775" name="Rectangle 7">
            <a:extLst>
              <a:ext uri="{FF2B5EF4-FFF2-40B4-BE49-F238E27FC236}">
                <a16:creationId xmlns:a16="http://schemas.microsoft.com/office/drawing/2014/main" id="{EB84EF98-9E66-77AC-E4CF-9F3EB340F257}"/>
              </a:ext>
            </a:extLst>
          </p:cNvPr>
          <p:cNvSpPr>
            <a:spLocks noChangeArrowheads="1"/>
          </p:cNvSpPr>
          <p:nvPr/>
        </p:nvSpPr>
        <p:spPr bwMode="auto">
          <a:xfrm>
            <a:off x="419100" y="2133600"/>
            <a:ext cx="8305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sz="3000"/>
              <a:t>This becomes:</a:t>
            </a:r>
          </a:p>
          <a:p>
            <a:pPr>
              <a:buFontTx/>
              <a:buNone/>
            </a:pPr>
            <a:endParaRPr lang="en-US" altLang="en-US" sz="3000"/>
          </a:p>
        </p:txBody>
      </p:sp>
      <p:graphicFrame>
        <p:nvGraphicFramePr>
          <p:cNvPr id="168961" name="Object 1">
            <a:extLst>
              <a:ext uri="{FF2B5EF4-FFF2-40B4-BE49-F238E27FC236}">
                <a16:creationId xmlns:a16="http://schemas.microsoft.com/office/drawing/2014/main" id="{F0E18B5D-35C6-BC73-ABB4-A4E316D9444D}"/>
              </a:ext>
            </a:extLst>
          </p:cNvPr>
          <p:cNvGraphicFramePr>
            <a:graphicFrameLocks noChangeAspect="1"/>
          </p:cNvGraphicFramePr>
          <p:nvPr/>
        </p:nvGraphicFramePr>
        <p:xfrm>
          <a:off x="3605213" y="1600200"/>
          <a:ext cx="1931987" cy="588963"/>
        </p:xfrm>
        <a:graphic>
          <a:graphicData uri="http://schemas.openxmlformats.org/presentationml/2006/ole">
            <mc:AlternateContent xmlns:mc="http://schemas.openxmlformats.org/markup-compatibility/2006">
              <mc:Choice xmlns:v="urn:schemas-microsoft-com:vml" Requires="v">
                <p:oleObj name="Equation" r:id="rId4" imgW="710891" imgH="215806" progId="Equation.3">
                  <p:embed/>
                </p:oleObj>
              </mc:Choice>
              <mc:Fallback>
                <p:oleObj name="Equation" r:id="rId4" imgW="710891" imgH="215806" progId="Equation.3">
                  <p:embed/>
                  <p:pic>
                    <p:nvPicPr>
                      <p:cNvPr id="168961" name="Object 1">
                        <a:extLst>
                          <a:ext uri="{FF2B5EF4-FFF2-40B4-BE49-F238E27FC236}">
                            <a16:creationId xmlns:a16="http://schemas.microsoft.com/office/drawing/2014/main" id="{F0E18B5D-35C6-BC73-ABB4-A4E316D944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1600200"/>
                        <a:ext cx="1931987"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0777" name="Rectangle 9">
            <a:extLst>
              <a:ext uri="{FF2B5EF4-FFF2-40B4-BE49-F238E27FC236}">
                <a16:creationId xmlns:a16="http://schemas.microsoft.com/office/drawing/2014/main" id="{517C74CF-B24C-5B03-1B5A-3D02F1603AD1}"/>
              </a:ext>
            </a:extLst>
          </p:cNvPr>
          <p:cNvSpPr>
            <a:spLocks noChangeArrowheads="1"/>
          </p:cNvSpPr>
          <p:nvPr/>
        </p:nvSpPr>
        <p:spPr bwMode="auto">
          <a:xfrm>
            <a:off x="419100" y="3429000"/>
            <a:ext cx="8305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sz="3000"/>
              <a:t>Solve by taking the derivative again:</a:t>
            </a:r>
          </a:p>
          <a:p>
            <a:pPr>
              <a:buFontTx/>
              <a:buNone/>
            </a:pPr>
            <a:endParaRPr lang="en-US" altLang="en-US" sz="3000"/>
          </a:p>
        </p:txBody>
      </p:sp>
      <p:graphicFrame>
        <p:nvGraphicFramePr>
          <p:cNvPr id="168962" name="Object 2">
            <a:extLst>
              <a:ext uri="{FF2B5EF4-FFF2-40B4-BE49-F238E27FC236}">
                <a16:creationId xmlns:a16="http://schemas.microsoft.com/office/drawing/2014/main" id="{12F65026-869A-B16A-245B-1C99F0086F57}"/>
              </a:ext>
            </a:extLst>
          </p:cNvPr>
          <p:cNvGraphicFramePr>
            <a:graphicFrameLocks noChangeAspect="1"/>
          </p:cNvGraphicFramePr>
          <p:nvPr/>
        </p:nvGraphicFramePr>
        <p:xfrm>
          <a:off x="2124075" y="4038600"/>
          <a:ext cx="4895850" cy="2200275"/>
        </p:xfrm>
        <a:graphic>
          <a:graphicData uri="http://schemas.openxmlformats.org/presentationml/2006/ole">
            <mc:AlternateContent xmlns:mc="http://schemas.openxmlformats.org/markup-compatibility/2006">
              <mc:Choice xmlns:v="urn:schemas-microsoft-com:vml" Requires="v">
                <p:oleObj name="Equation" r:id="rId6" imgW="1803400" imgH="939800" progId="Equation.3">
                  <p:embed/>
                </p:oleObj>
              </mc:Choice>
              <mc:Fallback>
                <p:oleObj name="Equation" r:id="rId6" imgW="1803400" imgH="939800" progId="Equation.3">
                  <p:embed/>
                  <p:pic>
                    <p:nvPicPr>
                      <p:cNvPr id="168962" name="Object 2">
                        <a:extLst>
                          <a:ext uri="{FF2B5EF4-FFF2-40B4-BE49-F238E27FC236}">
                            <a16:creationId xmlns:a16="http://schemas.microsoft.com/office/drawing/2014/main" id="{12F65026-869A-B16A-245B-1C99F0086F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4075" y="4038600"/>
                        <a:ext cx="4895850" cy="2200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8963" name="Object 3">
            <a:extLst>
              <a:ext uri="{FF2B5EF4-FFF2-40B4-BE49-F238E27FC236}">
                <a16:creationId xmlns:a16="http://schemas.microsoft.com/office/drawing/2014/main" id="{619D5BA1-D857-90C2-E432-1307E2B0C532}"/>
              </a:ext>
            </a:extLst>
          </p:cNvPr>
          <p:cNvGraphicFramePr>
            <a:graphicFrameLocks noChangeAspect="1"/>
          </p:cNvGraphicFramePr>
          <p:nvPr/>
        </p:nvGraphicFramePr>
        <p:xfrm>
          <a:off x="762000" y="5715000"/>
          <a:ext cx="7620000" cy="552450"/>
        </p:xfrm>
        <a:graphic>
          <a:graphicData uri="http://schemas.openxmlformats.org/presentationml/2006/ole">
            <mc:AlternateContent xmlns:mc="http://schemas.openxmlformats.org/markup-compatibility/2006">
              <mc:Choice xmlns:v="urn:schemas-microsoft-com:vml" Requires="v">
                <p:oleObj name="Equation" r:id="rId8" imgW="2984500" imgH="215900" progId="Equation.3">
                  <p:embed/>
                </p:oleObj>
              </mc:Choice>
              <mc:Fallback>
                <p:oleObj name="Equation" r:id="rId8" imgW="2984500" imgH="215900" progId="Equation.3">
                  <p:embed/>
                  <p:pic>
                    <p:nvPicPr>
                      <p:cNvPr id="168963" name="Object 3">
                        <a:extLst>
                          <a:ext uri="{FF2B5EF4-FFF2-40B4-BE49-F238E27FC236}">
                            <a16:creationId xmlns:a16="http://schemas.microsoft.com/office/drawing/2014/main" id="{619D5BA1-D857-90C2-E432-1307E2B0C53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0" y="5715000"/>
                        <a:ext cx="762000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0773">
                                            <p:txEl>
                                              <p:pRg st="0" end="0"/>
                                            </p:txEl>
                                          </p:spTgt>
                                        </p:tgtEl>
                                        <p:attrNameLst>
                                          <p:attrName>style.visibility</p:attrName>
                                        </p:attrNameLst>
                                      </p:cBhvr>
                                      <p:to>
                                        <p:strVal val="visible"/>
                                      </p:to>
                                    </p:set>
                                    <p:anim calcmode="lin" valueType="num">
                                      <p:cBhvr additive="base">
                                        <p:cTn id="7" dur="500" fill="hold"/>
                                        <p:tgtEl>
                                          <p:spTgt spid="16077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077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68961"/>
                                        </p:tgtEl>
                                        <p:attrNameLst>
                                          <p:attrName>style.visibility</p:attrName>
                                        </p:attrNameLst>
                                      </p:cBhvr>
                                      <p:to>
                                        <p:strVal val="visible"/>
                                      </p:to>
                                    </p:set>
                                    <p:anim calcmode="lin" valueType="num">
                                      <p:cBhvr additive="base">
                                        <p:cTn id="13" dur="500" fill="hold"/>
                                        <p:tgtEl>
                                          <p:spTgt spid="168961"/>
                                        </p:tgtEl>
                                        <p:attrNameLst>
                                          <p:attrName>ppt_x</p:attrName>
                                        </p:attrNameLst>
                                      </p:cBhvr>
                                      <p:tavLst>
                                        <p:tav tm="0">
                                          <p:val>
                                            <p:strVal val="0-#ppt_w/2"/>
                                          </p:val>
                                        </p:tav>
                                        <p:tav tm="100000">
                                          <p:val>
                                            <p:strVal val="#ppt_x"/>
                                          </p:val>
                                        </p:tav>
                                      </p:tavLst>
                                    </p:anim>
                                    <p:anim calcmode="lin" valueType="num">
                                      <p:cBhvr additive="base">
                                        <p:cTn id="14" dur="500" fill="hold"/>
                                        <p:tgtEl>
                                          <p:spTgt spid="16896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60775">
                                            <p:txEl>
                                              <p:pRg st="0" end="0"/>
                                            </p:txEl>
                                          </p:spTgt>
                                        </p:tgtEl>
                                        <p:attrNameLst>
                                          <p:attrName>style.visibility</p:attrName>
                                        </p:attrNameLst>
                                      </p:cBhvr>
                                      <p:to>
                                        <p:strVal val="visible"/>
                                      </p:to>
                                    </p:set>
                                    <p:anim calcmode="lin" valueType="num">
                                      <p:cBhvr additive="base">
                                        <p:cTn id="19" dur="500" fill="hold"/>
                                        <p:tgtEl>
                                          <p:spTgt spid="160775">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07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68960"/>
                                        </p:tgtEl>
                                        <p:attrNameLst>
                                          <p:attrName>style.visibility</p:attrName>
                                        </p:attrNameLst>
                                      </p:cBhvr>
                                      <p:to>
                                        <p:strVal val="visible"/>
                                      </p:to>
                                    </p:set>
                                    <p:anim calcmode="lin" valueType="num">
                                      <p:cBhvr additive="base">
                                        <p:cTn id="25" dur="500" fill="hold"/>
                                        <p:tgtEl>
                                          <p:spTgt spid="168960"/>
                                        </p:tgtEl>
                                        <p:attrNameLst>
                                          <p:attrName>ppt_x</p:attrName>
                                        </p:attrNameLst>
                                      </p:cBhvr>
                                      <p:tavLst>
                                        <p:tav tm="0">
                                          <p:val>
                                            <p:strVal val="0-#ppt_w/2"/>
                                          </p:val>
                                        </p:tav>
                                        <p:tav tm="100000">
                                          <p:val>
                                            <p:strVal val="#ppt_x"/>
                                          </p:val>
                                        </p:tav>
                                      </p:tavLst>
                                    </p:anim>
                                    <p:anim calcmode="lin" valueType="num">
                                      <p:cBhvr additive="base">
                                        <p:cTn id="26" dur="500" fill="hold"/>
                                        <p:tgtEl>
                                          <p:spTgt spid="16896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60777">
                                            <p:txEl>
                                              <p:pRg st="0" end="0"/>
                                            </p:txEl>
                                          </p:spTgt>
                                        </p:tgtEl>
                                        <p:attrNameLst>
                                          <p:attrName>style.visibility</p:attrName>
                                        </p:attrNameLst>
                                      </p:cBhvr>
                                      <p:to>
                                        <p:strVal val="visible"/>
                                      </p:to>
                                    </p:set>
                                    <p:anim calcmode="lin" valueType="num">
                                      <p:cBhvr additive="base">
                                        <p:cTn id="31" dur="500" fill="hold"/>
                                        <p:tgtEl>
                                          <p:spTgt spid="160777">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6077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68962"/>
                                        </p:tgtEl>
                                        <p:attrNameLst>
                                          <p:attrName>style.visibility</p:attrName>
                                        </p:attrNameLst>
                                      </p:cBhvr>
                                      <p:to>
                                        <p:strVal val="visible"/>
                                      </p:to>
                                    </p:set>
                                    <p:anim calcmode="lin" valueType="num">
                                      <p:cBhvr additive="base">
                                        <p:cTn id="37" dur="500" fill="hold"/>
                                        <p:tgtEl>
                                          <p:spTgt spid="168962"/>
                                        </p:tgtEl>
                                        <p:attrNameLst>
                                          <p:attrName>ppt_x</p:attrName>
                                        </p:attrNameLst>
                                      </p:cBhvr>
                                      <p:tavLst>
                                        <p:tav tm="0">
                                          <p:val>
                                            <p:strVal val="0-#ppt_w/2"/>
                                          </p:val>
                                        </p:tav>
                                        <p:tav tm="100000">
                                          <p:val>
                                            <p:strVal val="#ppt_x"/>
                                          </p:val>
                                        </p:tav>
                                      </p:tavLst>
                                    </p:anim>
                                    <p:anim calcmode="lin" valueType="num">
                                      <p:cBhvr additive="base">
                                        <p:cTn id="38" dur="500" fill="hold"/>
                                        <p:tgtEl>
                                          <p:spTgt spid="16896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68963"/>
                                        </p:tgtEl>
                                        <p:attrNameLst>
                                          <p:attrName>style.visibility</p:attrName>
                                        </p:attrNameLst>
                                      </p:cBhvr>
                                      <p:to>
                                        <p:strVal val="visible"/>
                                      </p:to>
                                    </p:set>
                                    <p:anim calcmode="lin" valueType="num">
                                      <p:cBhvr additive="base">
                                        <p:cTn id="43" dur="500" fill="hold"/>
                                        <p:tgtEl>
                                          <p:spTgt spid="168963"/>
                                        </p:tgtEl>
                                        <p:attrNameLst>
                                          <p:attrName>ppt_x</p:attrName>
                                        </p:attrNameLst>
                                      </p:cBhvr>
                                      <p:tavLst>
                                        <p:tav tm="0">
                                          <p:val>
                                            <p:strVal val="0-#ppt_w/2"/>
                                          </p:val>
                                        </p:tav>
                                        <p:tav tm="100000">
                                          <p:val>
                                            <p:strVal val="#ppt_x"/>
                                          </p:val>
                                        </p:tav>
                                      </p:tavLst>
                                    </p:anim>
                                    <p:anim calcmode="lin" valueType="num">
                                      <p:cBhvr additive="base">
                                        <p:cTn id="44" dur="500" fill="hold"/>
                                        <p:tgtEl>
                                          <p:spTgt spid="1689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3" grpId="0" build="p" bldLvl="2" autoUpdateAnimBg="0"/>
      <p:bldP spid="160775" grpId="0" build="p" bldLvl="2" autoUpdateAnimBg="0"/>
      <p:bldP spid="160777" grpId="0" build="p" bldLvl="2"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1C201CA-4D36-8002-00FB-3DA92073C61D}"/>
              </a:ext>
            </a:extLst>
          </p:cNvPr>
          <p:cNvSpPr>
            <a:spLocks noGrp="1" noChangeArrowheads="1"/>
          </p:cNvSpPr>
          <p:nvPr>
            <p:ph type="title"/>
          </p:nvPr>
        </p:nvSpPr>
        <p:spPr>
          <a:xfrm>
            <a:off x="342900" y="152400"/>
            <a:ext cx="8458200" cy="1143000"/>
          </a:xfrm>
        </p:spPr>
        <p:txBody>
          <a:bodyPr/>
          <a:lstStyle/>
          <a:p>
            <a:pPr>
              <a:lnSpc>
                <a:spcPct val="80000"/>
              </a:lnSpc>
            </a:pPr>
            <a:r>
              <a:rPr lang="en-US" altLang="en-US" sz="4200"/>
              <a:t>GRG: Details</a:t>
            </a:r>
          </a:p>
        </p:txBody>
      </p:sp>
      <p:sp>
        <p:nvSpPr>
          <p:cNvPr id="12291" name="Rectangle 3">
            <a:extLst>
              <a:ext uri="{FF2B5EF4-FFF2-40B4-BE49-F238E27FC236}">
                <a16:creationId xmlns:a16="http://schemas.microsoft.com/office/drawing/2014/main" id="{3EA02E1F-50B7-BD85-35D0-C456932EC6A1}"/>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292" name="Rectangle 4">
            <a:extLst>
              <a:ext uri="{FF2B5EF4-FFF2-40B4-BE49-F238E27FC236}">
                <a16:creationId xmlns:a16="http://schemas.microsoft.com/office/drawing/2014/main" id="{D8B137A5-A9D1-C63E-D9E0-E8BD3EEBFDC6}"/>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21</a:t>
            </a:r>
          </a:p>
        </p:txBody>
      </p:sp>
      <p:sp>
        <p:nvSpPr>
          <p:cNvPr id="137221" name="Text Box 5">
            <a:extLst>
              <a:ext uri="{FF2B5EF4-FFF2-40B4-BE49-F238E27FC236}">
                <a16:creationId xmlns:a16="http://schemas.microsoft.com/office/drawing/2014/main" id="{4B6526C8-CDE7-0927-2383-A17FEA95231D}"/>
              </a:ext>
            </a:extLst>
          </p:cNvPr>
          <p:cNvSpPr txBox="1">
            <a:spLocks noChangeArrowheads="1"/>
          </p:cNvSpPr>
          <p:nvPr/>
        </p:nvSpPr>
        <p:spPr bwMode="auto">
          <a:xfrm>
            <a:off x="304800" y="1066800"/>
            <a:ext cx="79406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600"/>
              <a:t>  What if the equality constraint is nonlinear?</a:t>
            </a:r>
          </a:p>
        </p:txBody>
      </p:sp>
      <p:graphicFrame>
        <p:nvGraphicFramePr>
          <p:cNvPr id="12294" name="Object 9">
            <a:extLst>
              <a:ext uri="{FF2B5EF4-FFF2-40B4-BE49-F238E27FC236}">
                <a16:creationId xmlns:a16="http://schemas.microsoft.com/office/drawing/2014/main" id="{DE9B36B8-A39B-4564-3901-EA9AE85A3122}"/>
              </a:ext>
            </a:extLst>
          </p:cNvPr>
          <p:cNvGraphicFramePr>
            <a:graphicFrameLocks noChangeAspect="1"/>
          </p:cNvGraphicFramePr>
          <p:nvPr/>
        </p:nvGraphicFramePr>
        <p:xfrm>
          <a:off x="4565650" y="2749550"/>
          <a:ext cx="312738" cy="592138"/>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12294" name="Object 9">
                        <a:extLst>
                          <a:ext uri="{FF2B5EF4-FFF2-40B4-BE49-F238E27FC236}">
                            <a16:creationId xmlns:a16="http://schemas.microsoft.com/office/drawing/2014/main" id="{DE9B36B8-A39B-4564-3901-EA9AE85A31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5650" y="2749550"/>
                        <a:ext cx="312738" cy="592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27" name="Text Box 11">
            <a:extLst>
              <a:ext uri="{FF2B5EF4-FFF2-40B4-BE49-F238E27FC236}">
                <a16:creationId xmlns:a16="http://schemas.microsoft.com/office/drawing/2014/main" id="{D4758935-FB27-0138-F7CA-BD9B42A97C2B}"/>
              </a:ext>
            </a:extLst>
          </p:cNvPr>
          <p:cNvSpPr txBox="1">
            <a:spLocks noChangeArrowheads="1"/>
          </p:cNvSpPr>
          <p:nvPr/>
        </p:nvSpPr>
        <p:spPr bwMode="auto">
          <a:xfrm>
            <a:off x="304800" y="2362200"/>
            <a:ext cx="8016875" cy="297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buFontTx/>
              <a:buNone/>
            </a:pPr>
            <a:r>
              <a:rPr lang="en-US" altLang="en-US" sz="3600"/>
              <a:t>  GRG uses an approximation procedure similar to Newton’s method to solve for the basic variables</a:t>
            </a:r>
          </a:p>
          <a:p>
            <a:pPr>
              <a:lnSpc>
                <a:spcPct val="90000"/>
              </a:lnSpc>
              <a:spcBef>
                <a:spcPct val="0"/>
              </a:spcBef>
            </a:pPr>
            <a:endParaRPr lang="en-US" altLang="en-US" sz="1800" u="sng"/>
          </a:p>
          <a:p>
            <a:pPr>
              <a:lnSpc>
                <a:spcPct val="90000"/>
              </a:lnSpc>
              <a:spcBef>
                <a:spcPct val="0"/>
              </a:spcBef>
            </a:pPr>
            <a:r>
              <a:rPr lang="en-US" altLang="en-US" sz="3600"/>
              <a:t>  How do we handle inequalities?</a:t>
            </a:r>
          </a:p>
          <a:p>
            <a:pPr>
              <a:lnSpc>
                <a:spcPct val="90000"/>
              </a:lnSpc>
              <a:spcBef>
                <a:spcPct val="0"/>
              </a:spcBef>
            </a:pPr>
            <a:endParaRPr lang="en-US" altLang="en-US" sz="1200"/>
          </a:p>
          <a:p>
            <a:pPr>
              <a:lnSpc>
                <a:spcPct val="90000"/>
              </a:lnSpc>
              <a:spcBef>
                <a:spcPct val="0"/>
              </a:spcBef>
              <a:buFontTx/>
              <a:buNone/>
            </a:pPr>
            <a:r>
              <a:rPr lang="en-US" altLang="en-US" sz="3600"/>
              <a:t>  Add slack variables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7221"/>
                                        </p:tgtEl>
                                        <p:attrNameLst>
                                          <p:attrName>style.visibility</p:attrName>
                                        </p:attrNameLst>
                                      </p:cBhvr>
                                      <p:to>
                                        <p:strVal val="visible"/>
                                      </p:to>
                                    </p:set>
                                    <p:anim calcmode="lin" valueType="num">
                                      <p:cBhvr additive="base">
                                        <p:cTn id="7" dur="500" fill="hold"/>
                                        <p:tgtEl>
                                          <p:spTgt spid="137221"/>
                                        </p:tgtEl>
                                        <p:attrNameLst>
                                          <p:attrName>ppt_x</p:attrName>
                                        </p:attrNameLst>
                                      </p:cBhvr>
                                      <p:tavLst>
                                        <p:tav tm="0">
                                          <p:val>
                                            <p:strVal val="0-#ppt_w/2"/>
                                          </p:val>
                                        </p:tav>
                                        <p:tav tm="100000">
                                          <p:val>
                                            <p:strVal val="#ppt_x"/>
                                          </p:val>
                                        </p:tav>
                                      </p:tavLst>
                                    </p:anim>
                                    <p:anim calcmode="lin" valueType="num">
                                      <p:cBhvr additive="base">
                                        <p:cTn id="8" dur="500" fill="hold"/>
                                        <p:tgtEl>
                                          <p:spTgt spid="13722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7227">
                                            <p:txEl>
                                              <p:pRg st="0" end="0"/>
                                            </p:txEl>
                                          </p:spTgt>
                                        </p:tgtEl>
                                        <p:attrNameLst>
                                          <p:attrName>style.visibility</p:attrName>
                                        </p:attrNameLst>
                                      </p:cBhvr>
                                      <p:to>
                                        <p:strVal val="visible"/>
                                      </p:to>
                                    </p:set>
                                    <p:anim calcmode="lin" valueType="num">
                                      <p:cBhvr additive="base">
                                        <p:cTn id="13" dur="500" fill="hold"/>
                                        <p:tgtEl>
                                          <p:spTgt spid="13722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72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7227">
                                            <p:txEl>
                                              <p:pRg st="2" end="2"/>
                                            </p:txEl>
                                          </p:spTgt>
                                        </p:tgtEl>
                                        <p:attrNameLst>
                                          <p:attrName>style.visibility</p:attrName>
                                        </p:attrNameLst>
                                      </p:cBhvr>
                                      <p:to>
                                        <p:strVal val="visible"/>
                                      </p:to>
                                    </p:set>
                                    <p:anim calcmode="lin" valueType="num">
                                      <p:cBhvr additive="base">
                                        <p:cTn id="19" dur="500" fill="hold"/>
                                        <p:tgtEl>
                                          <p:spTgt spid="1372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72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7227">
                                            <p:txEl>
                                              <p:pRg st="4" end="4"/>
                                            </p:txEl>
                                          </p:spTgt>
                                        </p:tgtEl>
                                        <p:attrNameLst>
                                          <p:attrName>style.visibility</p:attrName>
                                        </p:attrNameLst>
                                      </p:cBhvr>
                                      <p:to>
                                        <p:strVal val="visible"/>
                                      </p:to>
                                    </p:set>
                                    <p:anim calcmode="lin" valueType="num">
                                      <p:cBhvr additive="base">
                                        <p:cTn id="25" dur="500" fill="hold"/>
                                        <p:tgtEl>
                                          <p:spTgt spid="13722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722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1" grpId="0" autoUpdateAnimBg="0"/>
      <p:bldP spid="137227"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DA5FA4D9-DFCB-F5DE-DEE3-2636FE55899C}"/>
              </a:ext>
            </a:extLst>
          </p:cNvPr>
          <p:cNvSpPr>
            <a:spLocks noGrp="1" noChangeArrowheads="1"/>
          </p:cNvSpPr>
          <p:nvPr>
            <p:ph type="title"/>
          </p:nvPr>
        </p:nvSpPr>
        <p:spPr>
          <a:xfrm>
            <a:off x="533400" y="0"/>
            <a:ext cx="8077200" cy="1143000"/>
          </a:xfrm>
        </p:spPr>
        <p:txBody>
          <a:bodyPr/>
          <a:lstStyle/>
          <a:p>
            <a:pPr>
              <a:lnSpc>
                <a:spcPct val="80000"/>
              </a:lnSpc>
            </a:pPr>
            <a:r>
              <a:rPr lang="en-US" altLang="en-US"/>
              <a:t>Superbasic Variables</a:t>
            </a:r>
          </a:p>
        </p:txBody>
      </p:sp>
      <p:sp>
        <p:nvSpPr>
          <p:cNvPr id="13315" name="Rectangle 3">
            <a:extLst>
              <a:ext uri="{FF2B5EF4-FFF2-40B4-BE49-F238E27FC236}">
                <a16:creationId xmlns:a16="http://schemas.microsoft.com/office/drawing/2014/main" id="{EE074909-BECB-DC86-9ADA-11C5B22CD722}"/>
              </a:ext>
            </a:extLst>
          </p:cNvPr>
          <p:cNvSpPr>
            <a:spLocks noChangeArrowheads="1"/>
          </p:cNvSpPr>
          <p:nvPr/>
        </p:nvSpPr>
        <p:spPr bwMode="auto">
          <a:xfrm>
            <a:off x="228600" y="152400"/>
            <a:ext cx="86868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16" name="Rectangle 4">
            <a:extLst>
              <a:ext uri="{FF2B5EF4-FFF2-40B4-BE49-F238E27FC236}">
                <a16:creationId xmlns:a16="http://schemas.microsoft.com/office/drawing/2014/main" id="{2F4DF243-DE29-38FC-293E-06B9DBF16568}"/>
              </a:ext>
            </a:extLst>
          </p:cNvPr>
          <p:cNvSpPr>
            <a:spLocks noChangeArrowheads="1"/>
          </p:cNvSpPr>
          <p:nvPr/>
        </p:nvSpPr>
        <p:spPr bwMode="auto">
          <a:xfrm>
            <a:off x="64008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21</a:t>
            </a:r>
          </a:p>
        </p:txBody>
      </p:sp>
      <p:sp>
        <p:nvSpPr>
          <p:cNvPr id="13317" name="Rectangle 5">
            <a:extLst>
              <a:ext uri="{FF2B5EF4-FFF2-40B4-BE49-F238E27FC236}">
                <a16:creationId xmlns:a16="http://schemas.microsoft.com/office/drawing/2014/main" id="{F2DE155C-0A5E-D401-118D-68AB37C77BBB}"/>
              </a:ext>
            </a:extLst>
          </p:cNvPr>
          <p:cNvSpPr>
            <a:spLocks noGrp="1" noChangeArrowheads="1"/>
          </p:cNvSpPr>
          <p:nvPr>
            <p:ph type="body" idx="1"/>
          </p:nvPr>
        </p:nvSpPr>
        <p:spPr>
          <a:xfrm>
            <a:off x="381000" y="990599"/>
            <a:ext cx="8305800" cy="5548347"/>
          </a:xfrm>
        </p:spPr>
        <p:txBody>
          <a:bodyPr>
            <a:normAutofit/>
          </a:bodyPr>
          <a:lstStyle/>
          <a:p>
            <a:pPr marL="533400" indent="-533400">
              <a:lnSpc>
                <a:spcPct val="90000"/>
              </a:lnSpc>
            </a:pPr>
            <a:r>
              <a:rPr lang="en-US" altLang="en-US" dirty="0"/>
              <a:t>If we have inequality bounds on variables, these can cause convergence of GRG to be slow if we wish to remain feasible at every iteration</a:t>
            </a:r>
          </a:p>
          <a:p>
            <a:pPr marL="533400" indent="-533400">
              <a:lnSpc>
                <a:spcPct val="90000"/>
              </a:lnSpc>
            </a:pPr>
            <a:r>
              <a:rPr lang="en-US" altLang="en-US" dirty="0"/>
              <a:t>If we allow some variables to violate their bounds, those variables are called </a:t>
            </a:r>
            <a:r>
              <a:rPr lang="en-US" altLang="en-US" u="sng" dirty="0" err="1"/>
              <a:t>superbasic</a:t>
            </a:r>
            <a:r>
              <a:rPr lang="en-US" altLang="en-US" dirty="0"/>
              <a:t> for a given iteration</a:t>
            </a:r>
          </a:p>
          <a:p>
            <a:pPr marL="533400" indent="-533400">
              <a:lnSpc>
                <a:spcPct val="90000"/>
              </a:lnSpc>
            </a:pPr>
            <a:r>
              <a:rPr lang="en-US" altLang="en-US" dirty="0"/>
              <a:t>GRG within GAMS is efficient because it makes wise choices for basic, non-basic and </a:t>
            </a:r>
            <a:r>
              <a:rPr lang="en-US" altLang="en-US" dirty="0" err="1"/>
              <a:t>superbasic</a:t>
            </a:r>
            <a:r>
              <a:rPr lang="en-US" altLang="en-US" dirty="0"/>
              <a:t> variables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8DE47BDF-E0BD-C592-DAC6-3426FD5FB444}"/>
              </a:ext>
            </a:extLst>
          </p:cNvPr>
          <p:cNvSpPr>
            <a:spLocks noGrp="1" noChangeArrowheads="1"/>
          </p:cNvSpPr>
          <p:nvPr>
            <p:ph type="ctrTitle"/>
          </p:nvPr>
        </p:nvSpPr>
        <p:spPr>
          <a:xfrm>
            <a:off x="457200" y="0"/>
            <a:ext cx="7772400" cy="1143000"/>
          </a:xfrm>
        </p:spPr>
        <p:txBody>
          <a:bodyPr/>
          <a:lstStyle/>
          <a:p>
            <a:r>
              <a:rPr lang="en-US" altLang="en-US" sz="5000"/>
              <a:t>Basic Algorithm</a:t>
            </a:r>
          </a:p>
        </p:txBody>
      </p:sp>
      <p:sp>
        <p:nvSpPr>
          <p:cNvPr id="4099" name="Rectangle 3">
            <a:extLst>
              <a:ext uri="{FF2B5EF4-FFF2-40B4-BE49-F238E27FC236}">
                <a16:creationId xmlns:a16="http://schemas.microsoft.com/office/drawing/2014/main" id="{BC81E99C-6609-A237-DBFC-A2AF0EC0B69A}"/>
              </a:ext>
            </a:extLst>
          </p:cNvPr>
          <p:cNvSpPr>
            <a:spLocks noGrp="1" noChangeArrowheads="1"/>
          </p:cNvSpPr>
          <p:nvPr>
            <p:ph type="subTitle" idx="1"/>
          </p:nvPr>
        </p:nvSpPr>
        <p:spPr>
          <a:xfrm>
            <a:off x="457200" y="1143000"/>
            <a:ext cx="8229600" cy="685800"/>
          </a:xfrm>
        </p:spPr>
        <p:txBody>
          <a:bodyPr>
            <a:normAutofit fontScale="25000" lnSpcReduction="20000"/>
          </a:bodyPr>
          <a:lstStyle/>
          <a:p>
            <a:pPr algn="l">
              <a:lnSpc>
                <a:spcPct val="90000"/>
              </a:lnSpc>
              <a:buFontTx/>
              <a:buChar char="•"/>
            </a:pPr>
            <a:r>
              <a:rPr lang="en-US" altLang="en-US"/>
              <a:t>  Tabu search is a stochastic algorithm which is primarily used to solve large NLP and MINLP problems.  As with simulated annealing, we need a way to escape local minima (particularly if they are shallow).</a:t>
            </a:r>
          </a:p>
          <a:p>
            <a:pPr algn="l">
              <a:lnSpc>
                <a:spcPct val="90000"/>
              </a:lnSpc>
              <a:buFontTx/>
              <a:buChar char="•"/>
            </a:pPr>
            <a:r>
              <a:rPr lang="en-US" altLang="en-US"/>
              <a:t>  To set up the algorithm, you need to define a </a:t>
            </a:r>
            <a:r>
              <a:rPr lang="en-US" altLang="en-US" u="sng"/>
              <a:t>move</a:t>
            </a:r>
            <a:r>
              <a:rPr lang="en-US" altLang="en-US"/>
              <a:t>, that is, a way to change the variables of the system to get from one feasible solution to the next.  In Tabu search, the size (distance) of the move can change based on the local environment, and based on the </a:t>
            </a:r>
            <a:r>
              <a:rPr lang="en-US" altLang="en-US" u="sng"/>
              <a:t>history</a:t>
            </a:r>
            <a:r>
              <a:rPr lang="en-US" altLang="en-US"/>
              <a:t> of the search process</a:t>
            </a:r>
          </a:p>
          <a:p>
            <a:pPr algn="l">
              <a:lnSpc>
                <a:spcPct val="90000"/>
              </a:lnSpc>
            </a:pPr>
            <a:r>
              <a:rPr lang="en-US" altLang="en-US" i="1"/>
              <a:t>	</a:t>
            </a:r>
          </a:p>
        </p:txBody>
      </p:sp>
      <p:sp>
        <p:nvSpPr>
          <p:cNvPr id="4100" name="Rectangle 4">
            <a:extLst>
              <a:ext uri="{FF2B5EF4-FFF2-40B4-BE49-F238E27FC236}">
                <a16:creationId xmlns:a16="http://schemas.microsoft.com/office/drawing/2014/main" id="{968F1BCD-8B5A-6560-39E1-4981239102E3}"/>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400"/>
          </a:p>
        </p:txBody>
      </p:sp>
      <p:sp>
        <p:nvSpPr>
          <p:cNvPr id="4101" name="Text Box 5">
            <a:extLst>
              <a:ext uri="{FF2B5EF4-FFF2-40B4-BE49-F238E27FC236}">
                <a16:creationId xmlns:a16="http://schemas.microsoft.com/office/drawing/2014/main" id="{90A9BB99-1EB2-0DAF-F610-5B760D60843B}"/>
              </a:ext>
            </a:extLst>
          </p:cNvPr>
          <p:cNvSpPr txBox="1">
            <a:spLocks noChangeArrowheads="1"/>
          </p:cNvSpPr>
          <p:nvPr/>
        </p:nvSpPr>
        <p:spPr bwMode="auto">
          <a:xfrm>
            <a:off x="6400800" y="6248400"/>
            <a:ext cx="2562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679BD22B-22A4-0130-F1D2-99281B2216B7}"/>
              </a:ext>
            </a:extLst>
          </p:cNvPr>
          <p:cNvSpPr>
            <a:spLocks noGrp="1" noChangeArrowheads="1"/>
          </p:cNvSpPr>
          <p:nvPr>
            <p:ph type="ctrTitle"/>
          </p:nvPr>
        </p:nvSpPr>
        <p:spPr>
          <a:xfrm>
            <a:off x="457200" y="0"/>
            <a:ext cx="7772400" cy="1143000"/>
          </a:xfrm>
        </p:spPr>
        <p:txBody>
          <a:bodyPr/>
          <a:lstStyle/>
          <a:p>
            <a:r>
              <a:rPr lang="en-US" altLang="en-US" sz="5000"/>
              <a:t>Tabu Search: Basic Ideas</a:t>
            </a:r>
          </a:p>
        </p:txBody>
      </p:sp>
      <p:sp>
        <p:nvSpPr>
          <p:cNvPr id="250883" name="Rectangle 3">
            <a:extLst>
              <a:ext uri="{FF2B5EF4-FFF2-40B4-BE49-F238E27FC236}">
                <a16:creationId xmlns:a16="http://schemas.microsoft.com/office/drawing/2014/main" id="{766F8641-129B-E503-546E-27CDCFF3F774}"/>
              </a:ext>
            </a:extLst>
          </p:cNvPr>
          <p:cNvSpPr>
            <a:spLocks noGrp="1" noChangeArrowheads="1"/>
          </p:cNvSpPr>
          <p:nvPr>
            <p:ph type="subTitle" idx="1"/>
          </p:nvPr>
        </p:nvSpPr>
        <p:spPr>
          <a:xfrm>
            <a:off x="457200" y="914400"/>
            <a:ext cx="8229600" cy="1752600"/>
          </a:xfrm>
        </p:spPr>
        <p:txBody>
          <a:bodyPr>
            <a:normAutofit fontScale="55000" lnSpcReduction="20000"/>
          </a:bodyPr>
          <a:lstStyle/>
          <a:p>
            <a:pPr algn="l">
              <a:lnSpc>
                <a:spcPct val="90000"/>
              </a:lnSpc>
              <a:buFontTx/>
              <a:buChar char="•"/>
            </a:pPr>
            <a:r>
              <a:rPr lang="en-US" altLang="en-US"/>
              <a:t>  </a:t>
            </a:r>
            <a:r>
              <a:rPr lang="en-US" altLang="en-US" sz="3000"/>
              <a:t>As with all stochastic algorithms, TS requires an initial feasible solution.  It can be parallelized naively just by running multiple simultaneous searches, and comparing results at the end</a:t>
            </a:r>
          </a:p>
          <a:p>
            <a:pPr algn="l">
              <a:lnSpc>
                <a:spcPct val="90000"/>
              </a:lnSpc>
              <a:buFontTx/>
              <a:buChar char="•"/>
            </a:pPr>
            <a:r>
              <a:rPr lang="en-US" altLang="en-US" sz="3000"/>
              <a:t>  At each iteration, TS computes a set of random moves, and accepts the best move unless the move makes the solution infeasible, or the new point is on the </a:t>
            </a:r>
            <a:r>
              <a:rPr lang="en-US" altLang="en-US" sz="3000" u="sng"/>
              <a:t>Tabu list</a:t>
            </a:r>
            <a:r>
              <a:rPr lang="en-US" altLang="en-US" sz="3000"/>
              <a:t>.</a:t>
            </a:r>
          </a:p>
          <a:p>
            <a:pPr lvl="1" algn="l">
              <a:lnSpc>
                <a:spcPct val="80000"/>
              </a:lnSpc>
              <a:buFontTx/>
              <a:buChar char="–"/>
            </a:pPr>
            <a:r>
              <a:rPr lang="en-US" altLang="en-US"/>
              <a:t>  </a:t>
            </a:r>
            <a:r>
              <a:rPr lang="en-US" altLang="en-US" sz="2600"/>
              <a:t>A prespecified number of previously visited solutions are stored in the Tabu list</a:t>
            </a:r>
          </a:p>
          <a:p>
            <a:pPr lvl="1" algn="l">
              <a:lnSpc>
                <a:spcPct val="80000"/>
              </a:lnSpc>
              <a:buFontTx/>
              <a:buChar char="–"/>
            </a:pPr>
            <a:r>
              <a:rPr lang="en-US" altLang="en-US" sz="2600"/>
              <a:t>  This forces the search out of shallow minima, and prevents cycling</a:t>
            </a:r>
          </a:p>
          <a:p>
            <a:pPr lvl="1" algn="l">
              <a:lnSpc>
                <a:spcPct val="80000"/>
              </a:lnSpc>
              <a:buFontTx/>
              <a:buChar char="–"/>
            </a:pPr>
            <a:r>
              <a:rPr lang="en-US" altLang="en-US" sz="2600"/>
              <a:t>  A very good solution can be revisited by overruling the Tabu restriction.</a:t>
            </a:r>
            <a:r>
              <a:rPr lang="en-US" altLang="en-US"/>
              <a:t>  </a:t>
            </a:r>
            <a:endParaRPr lang="en-US" altLang="en-US" sz="3200" i="1">
              <a:sym typeface="Symbol" panose="05050102010706020507" pitchFamily="18" charset="2"/>
            </a:endParaRPr>
          </a:p>
        </p:txBody>
      </p:sp>
      <p:sp>
        <p:nvSpPr>
          <p:cNvPr id="5124" name="Rectangle 4">
            <a:extLst>
              <a:ext uri="{FF2B5EF4-FFF2-40B4-BE49-F238E27FC236}">
                <a16:creationId xmlns:a16="http://schemas.microsoft.com/office/drawing/2014/main" id="{58C2014E-1E9F-3AE7-ED87-5340733FD502}"/>
              </a:ext>
            </a:extLst>
          </p:cNvPr>
          <p:cNvSpPr>
            <a:spLocks noChangeArrowheads="1"/>
          </p:cNvSpPr>
          <p:nvPr/>
        </p:nvSpPr>
        <p:spPr bwMode="auto">
          <a:xfrm>
            <a:off x="247650" y="103188"/>
            <a:ext cx="8686800" cy="6734175"/>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400"/>
          </a:p>
        </p:txBody>
      </p:sp>
      <p:sp>
        <p:nvSpPr>
          <p:cNvPr id="5125" name="Text Box 5">
            <a:extLst>
              <a:ext uri="{FF2B5EF4-FFF2-40B4-BE49-F238E27FC236}">
                <a16:creationId xmlns:a16="http://schemas.microsoft.com/office/drawing/2014/main" id="{CD5D7C09-4C43-DD77-EADC-32DEB2625188}"/>
              </a:ext>
            </a:extLst>
          </p:cNvPr>
          <p:cNvSpPr txBox="1">
            <a:spLocks noChangeArrowheads="1"/>
          </p:cNvSpPr>
          <p:nvPr/>
        </p:nvSpPr>
        <p:spPr bwMode="auto">
          <a:xfrm>
            <a:off x="6462713" y="6372225"/>
            <a:ext cx="2562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0883">
                                            <p:txEl>
                                              <p:pRg st="0" end="0"/>
                                            </p:txEl>
                                          </p:spTgt>
                                        </p:tgtEl>
                                        <p:attrNameLst>
                                          <p:attrName>style.visibility</p:attrName>
                                        </p:attrNameLst>
                                      </p:cBhvr>
                                      <p:to>
                                        <p:strVal val="visible"/>
                                      </p:to>
                                    </p:set>
                                    <p:anim calcmode="lin" valueType="num">
                                      <p:cBhvr additive="base">
                                        <p:cTn id="7" dur="500" fill="hold"/>
                                        <p:tgtEl>
                                          <p:spTgt spid="2508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0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0883">
                                            <p:txEl>
                                              <p:pRg st="1" end="1"/>
                                            </p:txEl>
                                          </p:spTgt>
                                        </p:tgtEl>
                                        <p:attrNameLst>
                                          <p:attrName>style.visibility</p:attrName>
                                        </p:attrNameLst>
                                      </p:cBhvr>
                                      <p:to>
                                        <p:strVal val="visible"/>
                                      </p:to>
                                    </p:set>
                                    <p:anim calcmode="lin" valueType="num">
                                      <p:cBhvr additive="base">
                                        <p:cTn id="13" dur="500" fill="hold"/>
                                        <p:tgtEl>
                                          <p:spTgt spid="2508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0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0883">
                                            <p:txEl>
                                              <p:pRg st="2" end="2"/>
                                            </p:txEl>
                                          </p:spTgt>
                                        </p:tgtEl>
                                        <p:attrNameLst>
                                          <p:attrName>style.visibility</p:attrName>
                                        </p:attrNameLst>
                                      </p:cBhvr>
                                      <p:to>
                                        <p:strVal val="visible"/>
                                      </p:to>
                                    </p:set>
                                    <p:anim calcmode="lin" valueType="num">
                                      <p:cBhvr additive="base">
                                        <p:cTn id="19" dur="500" fill="hold"/>
                                        <p:tgtEl>
                                          <p:spTgt spid="2508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08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0883">
                                            <p:txEl>
                                              <p:pRg st="3" end="3"/>
                                            </p:txEl>
                                          </p:spTgt>
                                        </p:tgtEl>
                                        <p:attrNameLst>
                                          <p:attrName>style.visibility</p:attrName>
                                        </p:attrNameLst>
                                      </p:cBhvr>
                                      <p:to>
                                        <p:strVal val="visible"/>
                                      </p:to>
                                    </p:set>
                                    <p:anim calcmode="lin" valueType="num">
                                      <p:cBhvr additive="base">
                                        <p:cTn id="25" dur="500" fill="hold"/>
                                        <p:tgtEl>
                                          <p:spTgt spid="2508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08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0883">
                                            <p:txEl>
                                              <p:pRg st="4" end="4"/>
                                            </p:txEl>
                                          </p:spTgt>
                                        </p:tgtEl>
                                        <p:attrNameLst>
                                          <p:attrName>style.visibility</p:attrName>
                                        </p:attrNameLst>
                                      </p:cBhvr>
                                      <p:to>
                                        <p:strVal val="visible"/>
                                      </p:to>
                                    </p:set>
                                    <p:anim calcmode="lin" valueType="num">
                                      <p:cBhvr additive="base">
                                        <p:cTn id="31" dur="500" fill="hold"/>
                                        <p:tgtEl>
                                          <p:spTgt spid="2508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088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build="p" bldLvl="3"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69A4625-AF5B-4AFD-E607-F160B1C299C4}"/>
              </a:ext>
            </a:extLst>
          </p:cNvPr>
          <p:cNvSpPr>
            <a:spLocks noGrp="1" noChangeArrowheads="1"/>
          </p:cNvSpPr>
          <p:nvPr>
            <p:ph type="title"/>
          </p:nvPr>
        </p:nvSpPr>
        <p:spPr>
          <a:xfrm>
            <a:off x="381000" y="76200"/>
            <a:ext cx="8382000" cy="1143000"/>
          </a:xfrm>
        </p:spPr>
        <p:txBody>
          <a:bodyPr/>
          <a:lstStyle/>
          <a:p>
            <a:pPr>
              <a:lnSpc>
                <a:spcPct val="80000"/>
              </a:lnSpc>
            </a:pPr>
            <a:r>
              <a:rPr lang="en-US" altLang="en-US" sz="4600"/>
              <a:t>More Uses of the Tabu List</a:t>
            </a:r>
          </a:p>
        </p:txBody>
      </p:sp>
      <p:sp>
        <p:nvSpPr>
          <p:cNvPr id="6147" name="Rectangle 3">
            <a:extLst>
              <a:ext uri="{FF2B5EF4-FFF2-40B4-BE49-F238E27FC236}">
                <a16:creationId xmlns:a16="http://schemas.microsoft.com/office/drawing/2014/main" id="{51261CC9-EBA4-DB3B-48AB-35650F9B4244}"/>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48" name="Rectangle 4">
            <a:extLst>
              <a:ext uri="{FF2B5EF4-FFF2-40B4-BE49-F238E27FC236}">
                <a16:creationId xmlns:a16="http://schemas.microsoft.com/office/drawing/2014/main" id="{A6E9B9A7-9335-806A-B12D-DE6B5C2EA4B1}"/>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22</a:t>
            </a:r>
          </a:p>
        </p:txBody>
      </p:sp>
      <p:sp>
        <p:nvSpPr>
          <p:cNvPr id="219141" name="Text Box 5">
            <a:extLst>
              <a:ext uri="{FF2B5EF4-FFF2-40B4-BE49-F238E27FC236}">
                <a16:creationId xmlns:a16="http://schemas.microsoft.com/office/drawing/2014/main" id="{100AF39E-E5A9-DC82-9A3F-8CB65B6A1C4C}"/>
              </a:ext>
            </a:extLst>
          </p:cNvPr>
          <p:cNvSpPr txBox="1">
            <a:spLocks noChangeArrowheads="1"/>
          </p:cNvSpPr>
          <p:nvPr/>
        </p:nvSpPr>
        <p:spPr bwMode="auto">
          <a:xfrm>
            <a:off x="304800" y="1066800"/>
            <a:ext cx="8458200"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After a few moves, we can tell if the solutions are improving or not.  If we look to be in a local well, then use </a:t>
            </a:r>
            <a:r>
              <a:rPr lang="en-US" altLang="en-US" sz="3000" u="sng"/>
              <a:t>local intensification</a:t>
            </a:r>
            <a:r>
              <a:rPr lang="en-US" altLang="en-US" sz="3000"/>
              <a:t>:  decrease the size of the moves to narrow in on a likely good local minimum</a:t>
            </a:r>
          </a:p>
          <a:p>
            <a:pPr>
              <a:spcBef>
                <a:spcPct val="0"/>
              </a:spcBef>
            </a:pPr>
            <a:r>
              <a:rPr lang="en-US" altLang="en-US" sz="3000"/>
              <a:t>If the area is unpromising, then use </a:t>
            </a:r>
            <a:r>
              <a:rPr lang="en-US" altLang="en-US" sz="3000" u="sng"/>
              <a:t>diversification</a:t>
            </a:r>
            <a:r>
              <a:rPr lang="en-US" altLang="en-US" sz="3000"/>
              <a:t>: make a large move in a random direction, and restart the search.  Do not reset the Tabu list, in case the new area has been searched in the recent past</a:t>
            </a:r>
          </a:p>
          <a:p>
            <a:pPr>
              <a:spcBef>
                <a:spcPct val="0"/>
              </a:spcBef>
            </a:pPr>
            <a:r>
              <a:rPr lang="en-US" altLang="en-US" sz="3000"/>
              <a:t>Using the history of the search in this way is called an </a:t>
            </a:r>
            <a:r>
              <a:rPr lang="en-US" altLang="en-US" sz="3000" u="sng"/>
              <a:t>Adaptive Memory Strategy</a:t>
            </a:r>
            <a:endParaRPr lang="en-US" altLang="en-US" sz="3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9141">
                                            <p:txEl>
                                              <p:pRg st="0" end="0"/>
                                            </p:txEl>
                                          </p:spTgt>
                                        </p:tgtEl>
                                        <p:attrNameLst>
                                          <p:attrName>style.visibility</p:attrName>
                                        </p:attrNameLst>
                                      </p:cBhvr>
                                      <p:to>
                                        <p:strVal val="visible"/>
                                      </p:to>
                                    </p:set>
                                    <p:anim calcmode="lin" valueType="num">
                                      <p:cBhvr additive="base">
                                        <p:cTn id="7" dur="500" fill="hold"/>
                                        <p:tgtEl>
                                          <p:spTgt spid="21914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914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9141">
                                            <p:txEl>
                                              <p:pRg st="1" end="1"/>
                                            </p:txEl>
                                          </p:spTgt>
                                        </p:tgtEl>
                                        <p:attrNameLst>
                                          <p:attrName>style.visibility</p:attrName>
                                        </p:attrNameLst>
                                      </p:cBhvr>
                                      <p:to>
                                        <p:strVal val="visible"/>
                                      </p:to>
                                    </p:set>
                                    <p:anim calcmode="lin" valueType="num">
                                      <p:cBhvr additive="base">
                                        <p:cTn id="13" dur="500" fill="hold"/>
                                        <p:tgtEl>
                                          <p:spTgt spid="21914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914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9141">
                                            <p:txEl>
                                              <p:pRg st="2" end="2"/>
                                            </p:txEl>
                                          </p:spTgt>
                                        </p:tgtEl>
                                        <p:attrNameLst>
                                          <p:attrName>style.visibility</p:attrName>
                                        </p:attrNameLst>
                                      </p:cBhvr>
                                      <p:to>
                                        <p:strVal val="visible"/>
                                      </p:to>
                                    </p:set>
                                    <p:anim calcmode="lin" valueType="num">
                                      <p:cBhvr additive="base">
                                        <p:cTn id="19" dur="500" fill="hold"/>
                                        <p:tgtEl>
                                          <p:spTgt spid="21914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914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1"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E2EEA10-BA7F-8FE0-DD9A-50D9725AD60B}"/>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Adaptive Memory </a:t>
            </a:r>
          </a:p>
        </p:txBody>
      </p:sp>
      <p:sp>
        <p:nvSpPr>
          <p:cNvPr id="7171" name="Rectangle 3">
            <a:extLst>
              <a:ext uri="{FF2B5EF4-FFF2-40B4-BE49-F238E27FC236}">
                <a16:creationId xmlns:a16="http://schemas.microsoft.com/office/drawing/2014/main" id="{86BAD5A3-A54A-A1D3-86BF-30B88DC0E997}"/>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72" name="Rectangle 4">
            <a:extLst>
              <a:ext uri="{FF2B5EF4-FFF2-40B4-BE49-F238E27FC236}">
                <a16:creationId xmlns:a16="http://schemas.microsoft.com/office/drawing/2014/main" id="{68F34782-B5F3-7A80-BE96-5150308EA5B7}"/>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22</a:t>
            </a:r>
          </a:p>
        </p:txBody>
      </p:sp>
      <p:sp>
        <p:nvSpPr>
          <p:cNvPr id="242693" name="Text Box 5">
            <a:extLst>
              <a:ext uri="{FF2B5EF4-FFF2-40B4-BE49-F238E27FC236}">
                <a16:creationId xmlns:a16="http://schemas.microsoft.com/office/drawing/2014/main" id="{1A10EAE9-F89E-7181-895E-CA8955CC75B2}"/>
              </a:ext>
            </a:extLst>
          </p:cNvPr>
          <p:cNvSpPr txBox="1">
            <a:spLocks noChangeArrowheads="1"/>
          </p:cNvSpPr>
          <p:nvPr/>
        </p:nvSpPr>
        <p:spPr bwMode="auto">
          <a:xfrm>
            <a:off x="301625" y="866775"/>
            <a:ext cx="8458200" cy="555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914400" indent="-4572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The use of information from previous iterations is common in numerical analysis, not just in optimization.  Can you think of any mathematical methods which use previous history to help lead to an improved solution?</a:t>
            </a:r>
          </a:p>
          <a:p>
            <a:pPr lvl="1">
              <a:spcBef>
                <a:spcPct val="0"/>
              </a:spcBef>
              <a:buFontTx/>
              <a:buChar char="•"/>
            </a:pPr>
            <a:r>
              <a:rPr lang="en-US" altLang="en-US" sz="2600"/>
              <a:t>In control theory, one uses the integral of the process output over time to help predict how the controlled variable will change in the future, and thus design a corrective action</a:t>
            </a:r>
          </a:p>
          <a:p>
            <a:pPr lvl="1">
              <a:spcBef>
                <a:spcPct val="0"/>
              </a:spcBef>
              <a:buFontTx/>
              <a:buChar char="•"/>
            </a:pPr>
            <a:r>
              <a:rPr lang="en-US" altLang="en-US" sz="2600"/>
              <a:t>In conjugate gradient optimization, both current and prior derivative information is used to derive the next iterate.  This leads to better search directions than Newton’s method, which only uses current information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693">
                                            <p:txEl>
                                              <p:pRg st="0" end="0"/>
                                            </p:txEl>
                                          </p:spTgt>
                                        </p:tgtEl>
                                        <p:attrNameLst>
                                          <p:attrName>style.visibility</p:attrName>
                                        </p:attrNameLst>
                                      </p:cBhvr>
                                      <p:to>
                                        <p:strVal val="visible"/>
                                      </p:to>
                                    </p:set>
                                    <p:anim calcmode="lin" valueType="num">
                                      <p:cBhvr additive="base">
                                        <p:cTn id="7" dur="500" fill="hold"/>
                                        <p:tgtEl>
                                          <p:spTgt spid="24269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26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2693">
                                            <p:txEl>
                                              <p:pRg st="1" end="1"/>
                                            </p:txEl>
                                          </p:spTgt>
                                        </p:tgtEl>
                                        <p:attrNameLst>
                                          <p:attrName>style.visibility</p:attrName>
                                        </p:attrNameLst>
                                      </p:cBhvr>
                                      <p:to>
                                        <p:strVal val="visible"/>
                                      </p:to>
                                    </p:set>
                                    <p:anim calcmode="lin" valueType="num">
                                      <p:cBhvr additive="base">
                                        <p:cTn id="13" dur="500" fill="hold"/>
                                        <p:tgtEl>
                                          <p:spTgt spid="24269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269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2693">
                                            <p:txEl>
                                              <p:pRg st="2" end="2"/>
                                            </p:txEl>
                                          </p:spTgt>
                                        </p:tgtEl>
                                        <p:attrNameLst>
                                          <p:attrName>style.visibility</p:attrName>
                                        </p:attrNameLst>
                                      </p:cBhvr>
                                      <p:to>
                                        <p:strVal val="visible"/>
                                      </p:to>
                                    </p:set>
                                    <p:anim calcmode="lin" valueType="num">
                                      <p:cBhvr additive="base">
                                        <p:cTn id="19" dur="500" fill="hold"/>
                                        <p:tgtEl>
                                          <p:spTgt spid="24269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269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3" grpId="0" build="p" bldLvl="2"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D3BA0CE-76E1-7063-3C0E-774A2B8C98CA}"/>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Adjustable Parameters</a:t>
            </a:r>
          </a:p>
        </p:txBody>
      </p:sp>
      <p:sp>
        <p:nvSpPr>
          <p:cNvPr id="8195" name="Rectangle 3">
            <a:extLst>
              <a:ext uri="{FF2B5EF4-FFF2-40B4-BE49-F238E27FC236}">
                <a16:creationId xmlns:a16="http://schemas.microsoft.com/office/drawing/2014/main" id="{0AD0A28B-8DE0-9A64-2337-CD840CBBBCB9}"/>
              </a:ext>
            </a:extLst>
          </p:cNvPr>
          <p:cNvSpPr>
            <a:spLocks noChangeArrowheads="1"/>
          </p:cNvSpPr>
          <p:nvPr/>
        </p:nvSpPr>
        <p:spPr bwMode="auto">
          <a:xfrm>
            <a:off x="152400" y="152400"/>
            <a:ext cx="8839200" cy="67056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196" name="Rectangle 4">
            <a:extLst>
              <a:ext uri="{FF2B5EF4-FFF2-40B4-BE49-F238E27FC236}">
                <a16:creationId xmlns:a16="http://schemas.microsoft.com/office/drawing/2014/main" id="{D89F0EB0-81DC-F17C-5134-6826076D001A}"/>
              </a:ext>
            </a:extLst>
          </p:cNvPr>
          <p:cNvSpPr>
            <a:spLocks noChangeArrowheads="1"/>
          </p:cNvSpPr>
          <p:nvPr/>
        </p:nvSpPr>
        <p:spPr bwMode="auto">
          <a:xfrm>
            <a:off x="6477000" y="64008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22</a:t>
            </a:r>
          </a:p>
        </p:txBody>
      </p:sp>
      <p:sp>
        <p:nvSpPr>
          <p:cNvPr id="225285" name="Text Box 5">
            <a:extLst>
              <a:ext uri="{FF2B5EF4-FFF2-40B4-BE49-F238E27FC236}">
                <a16:creationId xmlns:a16="http://schemas.microsoft.com/office/drawing/2014/main" id="{3897DC2C-4B3D-B7C5-0820-1CB9949DE4E4}"/>
              </a:ext>
            </a:extLst>
          </p:cNvPr>
          <p:cNvSpPr txBox="1">
            <a:spLocks noChangeArrowheads="1"/>
          </p:cNvSpPr>
          <p:nvPr/>
        </p:nvSpPr>
        <p:spPr bwMode="auto">
          <a:xfrm>
            <a:off x="342900" y="908050"/>
            <a:ext cx="8458200" cy="578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914400" indent="-4572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a:t>TS has a number of adjustable parameters, which should be varied in order to improve solutions times on a given problem.  They include:</a:t>
            </a:r>
          </a:p>
          <a:p>
            <a:pPr lvl="1">
              <a:lnSpc>
                <a:spcPct val="90000"/>
              </a:lnSpc>
              <a:spcBef>
                <a:spcPct val="0"/>
              </a:spcBef>
              <a:buFontTx/>
              <a:buChar char="•"/>
            </a:pPr>
            <a:r>
              <a:rPr lang="en-US" altLang="en-US" sz="3200"/>
              <a:t>Length of the Tabu list</a:t>
            </a:r>
          </a:p>
          <a:p>
            <a:pPr lvl="1">
              <a:lnSpc>
                <a:spcPct val="90000"/>
              </a:lnSpc>
              <a:spcBef>
                <a:spcPct val="0"/>
              </a:spcBef>
              <a:buFontTx/>
              <a:buChar char="•"/>
            </a:pPr>
            <a:r>
              <a:rPr lang="en-US" altLang="en-US" sz="3200"/>
              <a:t>Number of solutions considered in each step</a:t>
            </a:r>
          </a:p>
          <a:p>
            <a:pPr lvl="1">
              <a:lnSpc>
                <a:spcPct val="90000"/>
              </a:lnSpc>
              <a:spcBef>
                <a:spcPct val="0"/>
              </a:spcBef>
              <a:buFontTx/>
              <a:buChar char="•"/>
            </a:pPr>
            <a:r>
              <a:rPr lang="en-US" altLang="en-US" sz="3200"/>
              <a:t>Number of iterations with no improvement prior to diversification</a:t>
            </a:r>
          </a:p>
          <a:p>
            <a:pPr lvl="1">
              <a:lnSpc>
                <a:spcPct val="90000"/>
              </a:lnSpc>
              <a:spcBef>
                <a:spcPct val="0"/>
              </a:spcBef>
              <a:buFontTx/>
              <a:buChar char="•"/>
            </a:pPr>
            <a:r>
              <a:rPr lang="en-US" altLang="en-US" sz="3200"/>
              <a:t>Amount of improvement required to initiate local intensification</a:t>
            </a:r>
          </a:p>
          <a:p>
            <a:pPr lvl="1">
              <a:lnSpc>
                <a:spcPct val="90000"/>
              </a:lnSpc>
              <a:spcBef>
                <a:spcPct val="0"/>
              </a:spcBef>
              <a:buFontTx/>
              <a:buChar char="•"/>
            </a:pPr>
            <a:r>
              <a:rPr lang="en-US" altLang="en-US" sz="3200"/>
              <a:t>For problems with continuous variables, how “close” two solutions must be for them to be considered identical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285">
                                            <p:txEl>
                                              <p:pRg st="0" end="0"/>
                                            </p:txEl>
                                          </p:spTgt>
                                        </p:tgtEl>
                                        <p:attrNameLst>
                                          <p:attrName>style.visibility</p:attrName>
                                        </p:attrNameLst>
                                      </p:cBhvr>
                                      <p:to>
                                        <p:strVal val="visible"/>
                                      </p:to>
                                    </p:set>
                                    <p:anim calcmode="lin" valueType="num">
                                      <p:cBhvr additive="base">
                                        <p:cTn id="7" dur="500" fill="hold"/>
                                        <p:tgtEl>
                                          <p:spTgt spid="22528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52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285">
                                            <p:txEl>
                                              <p:pRg st="1" end="1"/>
                                            </p:txEl>
                                          </p:spTgt>
                                        </p:tgtEl>
                                        <p:attrNameLst>
                                          <p:attrName>style.visibility</p:attrName>
                                        </p:attrNameLst>
                                      </p:cBhvr>
                                      <p:to>
                                        <p:strVal val="visible"/>
                                      </p:to>
                                    </p:set>
                                    <p:anim calcmode="lin" valueType="num">
                                      <p:cBhvr additive="base">
                                        <p:cTn id="13" dur="500" fill="hold"/>
                                        <p:tgtEl>
                                          <p:spTgt spid="22528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528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285">
                                            <p:txEl>
                                              <p:pRg st="2" end="2"/>
                                            </p:txEl>
                                          </p:spTgt>
                                        </p:tgtEl>
                                        <p:attrNameLst>
                                          <p:attrName>style.visibility</p:attrName>
                                        </p:attrNameLst>
                                      </p:cBhvr>
                                      <p:to>
                                        <p:strVal val="visible"/>
                                      </p:to>
                                    </p:set>
                                    <p:anim calcmode="lin" valueType="num">
                                      <p:cBhvr additive="base">
                                        <p:cTn id="19" dur="500" fill="hold"/>
                                        <p:tgtEl>
                                          <p:spTgt spid="22528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528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5285">
                                            <p:txEl>
                                              <p:pRg st="3" end="3"/>
                                            </p:txEl>
                                          </p:spTgt>
                                        </p:tgtEl>
                                        <p:attrNameLst>
                                          <p:attrName>style.visibility</p:attrName>
                                        </p:attrNameLst>
                                      </p:cBhvr>
                                      <p:to>
                                        <p:strVal val="visible"/>
                                      </p:to>
                                    </p:set>
                                    <p:anim calcmode="lin" valueType="num">
                                      <p:cBhvr additive="base">
                                        <p:cTn id="25" dur="500" fill="hold"/>
                                        <p:tgtEl>
                                          <p:spTgt spid="22528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528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5285">
                                            <p:txEl>
                                              <p:pRg st="4" end="4"/>
                                            </p:txEl>
                                          </p:spTgt>
                                        </p:tgtEl>
                                        <p:attrNameLst>
                                          <p:attrName>style.visibility</p:attrName>
                                        </p:attrNameLst>
                                      </p:cBhvr>
                                      <p:to>
                                        <p:strVal val="visible"/>
                                      </p:to>
                                    </p:set>
                                    <p:anim calcmode="lin" valueType="num">
                                      <p:cBhvr additive="base">
                                        <p:cTn id="31" dur="500" fill="hold"/>
                                        <p:tgtEl>
                                          <p:spTgt spid="22528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2528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25285">
                                            <p:txEl>
                                              <p:pRg st="5" end="5"/>
                                            </p:txEl>
                                          </p:spTgt>
                                        </p:tgtEl>
                                        <p:attrNameLst>
                                          <p:attrName>style.visibility</p:attrName>
                                        </p:attrNameLst>
                                      </p:cBhvr>
                                      <p:to>
                                        <p:strVal val="visible"/>
                                      </p:to>
                                    </p:set>
                                    <p:anim calcmode="lin" valueType="num">
                                      <p:cBhvr additive="base">
                                        <p:cTn id="37" dur="500" fill="hold"/>
                                        <p:tgtEl>
                                          <p:spTgt spid="22528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2528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5" grpId="0" build="p" bldLvl="2"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45E6506-5C12-46DD-CD93-B491DF155D74}"/>
              </a:ext>
            </a:extLst>
          </p:cNvPr>
          <p:cNvSpPr>
            <a:spLocks noGrp="1" noChangeArrowheads="1"/>
          </p:cNvSpPr>
          <p:nvPr>
            <p:ph type="title"/>
          </p:nvPr>
        </p:nvSpPr>
        <p:spPr>
          <a:xfrm>
            <a:off x="533400" y="0"/>
            <a:ext cx="8077200" cy="1143000"/>
          </a:xfrm>
        </p:spPr>
        <p:txBody>
          <a:bodyPr/>
          <a:lstStyle/>
          <a:p>
            <a:pPr>
              <a:lnSpc>
                <a:spcPct val="80000"/>
              </a:lnSpc>
            </a:pPr>
            <a:r>
              <a:rPr lang="en-US" altLang="en-US" sz="4200"/>
              <a:t>Integer Programs in Engineering</a:t>
            </a:r>
          </a:p>
        </p:txBody>
      </p:sp>
      <p:sp>
        <p:nvSpPr>
          <p:cNvPr id="5123" name="Rectangle 3">
            <a:extLst>
              <a:ext uri="{FF2B5EF4-FFF2-40B4-BE49-F238E27FC236}">
                <a16:creationId xmlns:a16="http://schemas.microsoft.com/office/drawing/2014/main" id="{232C66D7-F8BE-9E02-4B04-E739D7BD3204}"/>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5124" name="Rectangle 4">
            <a:extLst>
              <a:ext uri="{FF2B5EF4-FFF2-40B4-BE49-F238E27FC236}">
                <a16:creationId xmlns:a16="http://schemas.microsoft.com/office/drawing/2014/main" id="{69F2B4A2-27C4-3660-6915-0DA3B9EB52AB}"/>
              </a:ext>
            </a:extLst>
          </p:cNvPr>
          <p:cNvSpPr>
            <a:spLocks noChangeArrowheads="1"/>
          </p:cNvSpPr>
          <p:nvPr/>
        </p:nvSpPr>
        <p:spPr bwMode="auto">
          <a:xfrm>
            <a:off x="64008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23</a:t>
            </a:r>
          </a:p>
        </p:txBody>
      </p:sp>
      <p:sp>
        <p:nvSpPr>
          <p:cNvPr id="125957" name="Rectangle 5">
            <a:extLst>
              <a:ext uri="{FF2B5EF4-FFF2-40B4-BE49-F238E27FC236}">
                <a16:creationId xmlns:a16="http://schemas.microsoft.com/office/drawing/2014/main" id="{004017B3-7A2B-88D2-AE66-A0BA2B1B2E1F}"/>
              </a:ext>
            </a:extLst>
          </p:cNvPr>
          <p:cNvSpPr>
            <a:spLocks noGrp="1" noChangeArrowheads="1"/>
          </p:cNvSpPr>
          <p:nvPr>
            <p:ph type="body" idx="1"/>
          </p:nvPr>
        </p:nvSpPr>
        <p:spPr>
          <a:xfrm>
            <a:off x="304800" y="838200"/>
            <a:ext cx="8534400" cy="7162800"/>
          </a:xfrm>
        </p:spPr>
        <p:txBody>
          <a:bodyPr/>
          <a:lstStyle/>
          <a:p>
            <a:pPr>
              <a:tabLst>
                <a:tab pos="2741613" algn="l"/>
              </a:tabLst>
            </a:pPr>
            <a:r>
              <a:rPr lang="en-US" altLang="en-US" sz="3000"/>
              <a:t>Many engineering problems require the use of discrete variables, to represent</a:t>
            </a:r>
          </a:p>
          <a:p>
            <a:pPr lvl="1">
              <a:tabLst>
                <a:tab pos="2741613" algn="l"/>
              </a:tabLst>
            </a:pPr>
            <a:r>
              <a:rPr lang="en-US" altLang="en-US"/>
              <a:t>Numbers of batches</a:t>
            </a:r>
          </a:p>
          <a:p>
            <a:pPr lvl="1">
              <a:tabLst>
                <a:tab pos="2741613" algn="l"/>
              </a:tabLst>
            </a:pPr>
            <a:r>
              <a:rPr lang="en-US" altLang="en-US"/>
              <a:t>Fixed choices of equipment types</a:t>
            </a:r>
          </a:p>
          <a:p>
            <a:pPr lvl="1">
              <a:tabLst>
                <a:tab pos="2741613" algn="l"/>
              </a:tabLst>
            </a:pPr>
            <a:r>
              <a:rPr lang="en-US" altLang="en-US"/>
              <a:t>Locations of equipment, facilities, wells</a:t>
            </a:r>
          </a:p>
          <a:p>
            <a:pPr lvl="1">
              <a:tabLst>
                <a:tab pos="2741613" algn="l"/>
              </a:tabLst>
            </a:pPr>
            <a:r>
              <a:rPr lang="en-US" altLang="en-US"/>
              <a:t>Tasks to be performed within a given time period</a:t>
            </a:r>
          </a:p>
          <a:p>
            <a:pPr lvl="1">
              <a:tabLst>
                <a:tab pos="2741613" algn="l"/>
              </a:tabLst>
            </a:pPr>
            <a:r>
              <a:rPr lang="en-US" altLang="en-US"/>
              <a:t>Network connections: piping, electrical grids, roads, heat exchangers, reactors, molecules   </a:t>
            </a:r>
          </a:p>
          <a:p>
            <a:pPr lvl="1">
              <a:tabLst>
                <a:tab pos="2741613" algn="l"/>
              </a:tabLst>
            </a:pPr>
            <a:r>
              <a:rPr lang="en-US" altLang="en-US"/>
              <a:t>Selection of solvents, catalysts, reaction chemistries</a:t>
            </a:r>
          </a:p>
          <a:p>
            <a:pPr>
              <a:lnSpc>
                <a:spcPct val="90000"/>
              </a:lnSpc>
              <a:tabLst>
                <a:tab pos="2741613" algn="l"/>
              </a:tabLst>
            </a:pPr>
            <a:r>
              <a:rPr lang="en-US" altLang="en-US" sz="3000"/>
              <a:t>Often, assuming continuous variables and rounding leads to a (significantly) nonoptimal solution</a:t>
            </a:r>
          </a:p>
          <a:p>
            <a:pPr>
              <a:buFontTx/>
              <a:buNone/>
              <a:tabLst>
                <a:tab pos="2741613" algn="l"/>
              </a:tabLst>
            </a:pPr>
            <a:endParaRPr lang="en-US" altLang="en-US" sz="3000"/>
          </a:p>
          <a:p>
            <a:pPr>
              <a:lnSpc>
                <a:spcPct val="90000"/>
              </a:lnSpc>
              <a:buFontTx/>
              <a:buNone/>
              <a:tabLst>
                <a:tab pos="2741613" algn="l"/>
              </a:tabLst>
            </a:pPr>
            <a:r>
              <a:rPr lang="en-US" altLang="en-US" sz="26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5957">
                                            <p:txEl>
                                              <p:pRg st="0" end="0"/>
                                            </p:txEl>
                                          </p:spTgt>
                                        </p:tgtEl>
                                        <p:attrNameLst>
                                          <p:attrName>style.visibility</p:attrName>
                                        </p:attrNameLst>
                                      </p:cBhvr>
                                      <p:to>
                                        <p:strVal val="visible"/>
                                      </p:to>
                                    </p:set>
                                    <p:anim calcmode="lin" valueType="num">
                                      <p:cBhvr additive="base">
                                        <p:cTn id="7" dur="500" fill="hold"/>
                                        <p:tgtEl>
                                          <p:spTgt spid="1259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59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5957">
                                            <p:txEl>
                                              <p:pRg st="1" end="1"/>
                                            </p:txEl>
                                          </p:spTgt>
                                        </p:tgtEl>
                                        <p:attrNameLst>
                                          <p:attrName>style.visibility</p:attrName>
                                        </p:attrNameLst>
                                      </p:cBhvr>
                                      <p:to>
                                        <p:strVal val="visible"/>
                                      </p:to>
                                    </p:set>
                                    <p:anim calcmode="lin" valueType="num">
                                      <p:cBhvr additive="base">
                                        <p:cTn id="13" dur="500" fill="hold"/>
                                        <p:tgtEl>
                                          <p:spTgt spid="12595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595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5957">
                                            <p:txEl>
                                              <p:pRg st="2" end="2"/>
                                            </p:txEl>
                                          </p:spTgt>
                                        </p:tgtEl>
                                        <p:attrNameLst>
                                          <p:attrName>style.visibility</p:attrName>
                                        </p:attrNameLst>
                                      </p:cBhvr>
                                      <p:to>
                                        <p:strVal val="visible"/>
                                      </p:to>
                                    </p:set>
                                    <p:anim calcmode="lin" valueType="num">
                                      <p:cBhvr additive="base">
                                        <p:cTn id="19" dur="500" fill="hold"/>
                                        <p:tgtEl>
                                          <p:spTgt spid="12595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595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5957">
                                            <p:txEl>
                                              <p:pRg st="3" end="3"/>
                                            </p:txEl>
                                          </p:spTgt>
                                        </p:tgtEl>
                                        <p:attrNameLst>
                                          <p:attrName>style.visibility</p:attrName>
                                        </p:attrNameLst>
                                      </p:cBhvr>
                                      <p:to>
                                        <p:strVal val="visible"/>
                                      </p:to>
                                    </p:set>
                                    <p:anim calcmode="lin" valueType="num">
                                      <p:cBhvr additive="base">
                                        <p:cTn id="25" dur="500" fill="hold"/>
                                        <p:tgtEl>
                                          <p:spTgt spid="12595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595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25957">
                                            <p:txEl>
                                              <p:pRg st="4" end="4"/>
                                            </p:txEl>
                                          </p:spTgt>
                                        </p:tgtEl>
                                        <p:attrNameLst>
                                          <p:attrName>style.visibility</p:attrName>
                                        </p:attrNameLst>
                                      </p:cBhvr>
                                      <p:to>
                                        <p:strVal val="visible"/>
                                      </p:to>
                                    </p:set>
                                    <p:anim calcmode="lin" valueType="num">
                                      <p:cBhvr additive="base">
                                        <p:cTn id="31" dur="500" fill="hold"/>
                                        <p:tgtEl>
                                          <p:spTgt spid="12595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2595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25957">
                                            <p:txEl>
                                              <p:pRg st="5" end="5"/>
                                            </p:txEl>
                                          </p:spTgt>
                                        </p:tgtEl>
                                        <p:attrNameLst>
                                          <p:attrName>style.visibility</p:attrName>
                                        </p:attrNameLst>
                                      </p:cBhvr>
                                      <p:to>
                                        <p:strVal val="visible"/>
                                      </p:to>
                                    </p:set>
                                    <p:anim calcmode="lin" valueType="num">
                                      <p:cBhvr additive="base">
                                        <p:cTn id="37" dur="500" fill="hold"/>
                                        <p:tgtEl>
                                          <p:spTgt spid="12595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2595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25957">
                                            <p:txEl>
                                              <p:pRg st="6" end="6"/>
                                            </p:txEl>
                                          </p:spTgt>
                                        </p:tgtEl>
                                        <p:attrNameLst>
                                          <p:attrName>style.visibility</p:attrName>
                                        </p:attrNameLst>
                                      </p:cBhvr>
                                      <p:to>
                                        <p:strVal val="visible"/>
                                      </p:to>
                                    </p:set>
                                    <p:anim calcmode="lin" valueType="num">
                                      <p:cBhvr additive="base">
                                        <p:cTn id="43" dur="500" fill="hold"/>
                                        <p:tgtEl>
                                          <p:spTgt spid="12595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2595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25957">
                                            <p:txEl>
                                              <p:pRg st="7" end="7"/>
                                            </p:txEl>
                                          </p:spTgt>
                                        </p:tgtEl>
                                        <p:attrNameLst>
                                          <p:attrName>style.visibility</p:attrName>
                                        </p:attrNameLst>
                                      </p:cBhvr>
                                      <p:to>
                                        <p:strVal val="visible"/>
                                      </p:to>
                                    </p:set>
                                    <p:anim calcmode="lin" valueType="num">
                                      <p:cBhvr additive="base">
                                        <p:cTn id="49" dur="500" fill="hold"/>
                                        <p:tgtEl>
                                          <p:spTgt spid="12595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2595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125957">
                                            <p:txEl>
                                              <p:pRg st="9" end="9"/>
                                            </p:txEl>
                                          </p:spTgt>
                                        </p:tgtEl>
                                        <p:attrNameLst>
                                          <p:attrName>style.visibility</p:attrName>
                                        </p:attrNameLst>
                                      </p:cBhvr>
                                      <p:to>
                                        <p:strVal val="visible"/>
                                      </p:to>
                                    </p:set>
                                    <p:anim calcmode="lin" valueType="num">
                                      <p:cBhvr additive="base">
                                        <p:cTn id="55" dur="500" fill="hold"/>
                                        <p:tgtEl>
                                          <p:spTgt spid="125957">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25957">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7" grpId="0" build="p" bldLvl="3"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DA77AAF-F01D-C0E7-5916-27A3DEABF8A0}"/>
              </a:ext>
            </a:extLst>
          </p:cNvPr>
          <p:cNvSpPr>
            <a:spLocks noGrp="1" noChangeArrowheads="1"/>
          </p:cNvSpPr>
          <p:nvPr>
            <p:ph type="title"/>
          </p:nvPr>
        </p:nvSpPr>
        <p:spPr>
          <a:xfrm>
            <a:off x="685800" y="0"/>
            <a:ext cx="7772400" cy="1143000"/>
          </a:xfrm>
        </p:spPr>
        <p:txBody>
          <a:bodyPr/>
          <a:lstStyle/>
          <a:p>
            <a:pPr>
              <a:lnSpc>
                <a:spcPct val="80000"/>
              </a:lnSpc>
            </a:pPr>
            <a:r>
              <a:rPr lang="en-US" altLang="en-US" sz="4600"/>
              <a:t>Feasible Region: MILP</a:t>
            </a:r>
          </a:p>
        </p:txBody>
      </p:sp>
      <p:sp>
        <p:nvSpPr>
          <p:cNvPr id="4099" name="Rectangle 3">
            <a:extLst>
              <a:ext uri="{FF2B5EF4-FFF2-40B4-BE49-F238E27FC236}">
                <a16:creationId xmlns:a16="http://schemas.microsoft.com/office/drawing/2014/main" id="{76BCB05C-C6B6-7D68-91E1-DADDC4F488FE}"/>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0" name="Rectangle 4">
            <a:extLst>
              <a:ext uri="{FF2B5EF4-FFF2-40B4-BE49-F238E27FC236}">
                <a16:creationId xmlns:a16="http://schemas.microsoft.com/office/drawing/2014/main" id="{721CA102-A0EB-6770-1B8E-2B5F21EEF6CD}"/>
              </a:ext>
            </a:extLst>
          </p:cNvPr>
          <p:cNvSpPr>
            <a:spLocks noChangeArrowheads="1"/>
          </p:cNvSpPr>
          <p:nvPr/>
        </p:nvSpPr>
        <p:spPr bwMode="auto">
          <a:xfrm>
            <a:off x="6477000" y="61722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23</a:t>
            </a:r>
          </a:p>
        </p:txBody>
      </p:sp>
      <p:sp>
        <p:nvSpPr>
          <p:cNvPr id="171013" name="Text Box 5">
            <a:extLst>
              <a:ext uri="{FF2B5EF4-FFF2-40B4-BE49-F238E27FC236}">
                <a16:creationId xmlns:a16="http://schemas.microsoft.com/office/drawing/2014/main" id="{3EB49216-F75A-3784-35EF-FBAFEBDD1560}"/>
              </a:ext>
            </a:extLst>
          </p:cNvPr>
          <p:cNvSpPr txBox="1">
            <a:spLocks noChangeArrowheads="1"/>
          </p:cNvSpPr>
          <p:nvPr/>
        </p:nvSpPr>
        <p:spPr bwMode="auto">
          <a:xfrm>
            <a:off x="304800" y="5334000"/>
            <a:ext cx="815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Note this is an MILP, and the solution is at [5,0] – a corner of the simplex</a:t>
            </a:r>
          </a:p>
        </p:txBody>
      </p:sp>
      <p:sp>
        <p:nvSpPr>
          <p:cNvPr id="4102" name="Text Box 30">
            <a:extLst>
              <a:ext uri="{FF2B5EF4-FFF2-40B4-BE49-F238E27FC236}">
                <a16:creationId xmlns:a16="http://schemas.microsoft.com/office/drawing/2014/main" id="{E4C8E79C-436A-C83B-F794-1ED6BE6973D8}"/>
              </a:ext>
            </a:extLst>
          </p:cNvPr>
          <p:cNvSpPr txBox="1">
            <a:spLocks noChangeArrowheads="1"/>
          </p:cNvSpPr>
          <p:nvPr/>
        </p:nvSpPr>
        <p:spPr bwMode="auto">
          <a:xfrm>
            <a:off x="4140200" y="54102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a:p>
        </p:txBody>
      </p:sp>
      <p:graphicFrame>
        <p:nvGraphicFramePr>
          <p:cNvPr id="173056" name="Object 0">
            <a:extLst>
              <a:ext uri="{FF2B5EF4-FFF2-40B4-BE49-F238E27FC236}">
                <a16:creationId xmlns:a16="http://schemas.microsoft.com/office/drawing/2014/main" id="{89D4CB0D-8A7B-7FE3-B72C-74F484D075C0}"/>
              </a:ext>
            </a:extLst>
          </p:cNvPr>
          <p:cNvGraphicFramePr>
            <a:graphicFrameLocks noChangeAspect="1"/>
          </p:cNvGraphicFramePr>
          <p:nvPr/>
        </p:nvGraphicFramePr>
        <p:xfrm>
          <a:off x="304800" y="1943100"/>
          <a:ext cx="3560763" cy="2244725"/>
        </p:xfrm>
        <a:graphic>
          <a:graphicData uri="http://schemas.openxmlformats.org/presentationml/2006/ole">
            <mc:AlternateContent xmlns:mc="http://schemas.openxmlformats.org/markup-compatibility/2006">
              <mc:Choice xmlns:v="urn:schemas-microsoft-com:vml" Requires="v">
                <p:oleObj name="Equation" r:id="rId2" imgW="1447800" imgH="914400" progId="Equation.3">
                  <p:embed/>
                </p:oleObj>
              </mc:Choice>
              <mc:Fallback>
                <p:oleObj name="Equation" r:id="rId2" imgW="1447800" imgH="914400" progId="Equation.3">
                  <p:embed/>
                  <p:pic>
                    <p:nvPicPr>
                      <p:cNvPr id="173056" name="Object 0">
                        <a:extLst>
                          <a:ext uri="{FF2B5EF4-FFF2-40B4-BE49-F238E27FC236}">
                            <a16:creationId xmlns:a16="http://schemas.microsoft.com/office/drawing/2014/main" id="{89D4CB0D-8A7B-7FE3-B72C-74F484D075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943100"/>
                        <a:ext cx="3560763" cy="224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74">
            <a:extLst>
              <a:ext uri="{FF2B5EF4-FFF2-40B4-BE49-F238E27FC236}">
                <a16:creationId xmlns:a16="http://schemas.microsoft.com/office/drawing/2014/main" id="{4B105C68-AF98-7B56-90D0-3684A86F4300}"/>
              </a:ext>
            </a:extLst>
          </p:cNvPr>
          <p:cNvGrpSpPr>
            <a:grpSpLocks/>
          </p:cNvGrpSpPr>
          <p:nvPr/>
        </p:nvGrpSpPr>
        <p:grpSpPr bwMode="auto">
          <a:xfrm>
            <a:off x="3657600" y="1752600"/>
            <a:ext cx="5029200" cy="3352800"/>
            <a:chOff x="2304" y="912"/>
            <a:chExt cx="3168" cy="2112"/>
          </a:xfrm>
        </p:grpSpPr>
        <p:sp>
          <p:nvSpPr>
            <p:cNvPr id="4106" name="Line 6">
              <a:extLst>
                <a:ext uri="{FF2B5EF4-FFF2-40B4-BE49-F238E27FC236}">
                  <a16:creationId xmlns:a16="http://schemas.microsoft.com/office/drawing/2014/main" id="{774B1EB4-3F3D-F1DF-10F4-B8400031D562}"/>
                </a:ext>
              </a:extLst>
            </p:cNvPr>
            <p:cNvSpPr>
              <a:spLocks noChangeShapeType="1"/>
            </p:cNvSpPr>
            <p:nvPr/>
          </p:nvSpPr>
          <p:spPr bwMode="auto">
            <a:xfrm flipV="1">
              <a:off x="3072" y="912"/>
              <a:ext cx="0" cy="211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07" name="Line 9">
              <a:extLst>
                <a:ext uri="{FF2B5EF4-FFF2-40B4-BE49-F238E27FC236}">
                  <a16:creationId xmlns:a16="http://schemas.microsoft.com/office/drawing/2014/main" id="{9AC12BEC-5069-8D4A-A368-8EA484159E46}"/>
                </a:ext>
              </a:extLst>
            </p:cNvPr>
            <p:cNvSpPr>
              <a:spLocks noChangeShapeType="1"/>
            </p:cNvSpPr>
            <p:nvPr/>
          </p:nvSpPr>
          <p:spPr bwMode="auto">
            <a:xfrm>
              <a:off x="3024" y="139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8" name="Line 10">
              <a:extLst>
                <a:ext uri="{FF2B5EF4-FFF2-40B4-BE49-F238E27FC236}">
                  <a16:creationId xmlns:a16="http://schemas.microsoft.com/office/drawing/2014/main" id="{EF952931-22E9-6427-F676-73D857968D13}"/>
                </a:ext>
              </a:extLst>
            </p:cNvPr>
            <p:cNvSpPr>
              <a:spLocks noChangeShapeType="1"/>
            </p:cNvSpPr>
            <p:nvPr/>
          </p:nvSpPr>
          <p:spPr bwMode="auto">
            <a:xfrm>
              <a:off x="3024" y="163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9" name="Line 11">
              <a:extLst>
                <a:ext uri="{FF2B5EF4-FFF2-40B4-BE49-F238E27FC236}">
                  <a16:creationId xmlns:a16="http://schemas.microsoft.com/office/drawing/2014/main" id="{69594079-B0A1-461A-6D58-581CE9A151FF}"/>
                </a:ext>
              </a:extLst>
            </p:cNvPr>
            <p:cNvSpPr>
              <a:spLocks noChangeShapeType="1"/>
            </p:cNvSpPr>
            <p:nvPr/>
          </p:nvSpPr>
          <p:spPr bwMode="auto">
            <a:xfrm>
              <a:off x="3024" y="192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0" name="Text Box 12">
              <a:extLst>
                <a:ext uri="{FF2B5EF4-FFF2-40B4-BE49-F238E27FC236}">
                  <a16:creationId xmlns:a16="http://schemas.microsoft.com/office/drawing/2014/main" id="{80119E8F-BBB2-B7DE-B609-FB6233881CDD}"/>
                </a:ext>
              </a:extLst>
            </p:cNvPr>
            <p:cNvSpPr txBox="1">
              <a:spLocks noChangeArrowheads="1"/>
            </p:cNvSpPr>
            <p:nvPr/>
          </p:nvSpPr>
          <p:spPr bwMode="auto">
            <a:xfrm>
              <a:off x="2880" y="204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a:t>
              </a:r>
            </a:p>
          </p:txBody>
        </p:sp>
        <p:sp>
          <p:nvSpPr>
            <p:cNvPr id="4111" name="Text Box 14">
              <a:extLst>
                <a:ext uri="{FF2B5EF4-FFF2-40B4-BE49-F238E27FC236}">
                  <a16:creationId xmlns:a16="http://schemas.microsoft.com/office/drawing/2014/main" id="{0C076F88-BBA3-B226-3F66-4B201E83C758}"/>
                </a:ext>
              </a:extLst>
            </p:cNvPr>
            <p:cNvSpPr txBox="1">
              <a:spLocks noChangeArrowheads="1"/>
            </p:cNvSpPr>
            <p:nvPr/>
          </p:nvSpPr>
          <p:spPr bwMode="auto">
            <a:xfrm>
              <a:off x="2880" y="230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a:t>
              </a:r>
            </a:p>
          </p:txBody>
        </p:sp>
        <p:sp>
          <p:nvSpPr>
            <p:cNvPr id="4112" name="Line 19">
              <a:extLst>
                <a:ext uri="{FF2B5EF4-FFF2-40B4-BE49-F238E27FC236}">
                  <a16:creationId xmlns:a16="http://schemas.microsoft.com/office/drawing/2014/main" id="{DC047449-DFB4-6B8A-0E42-3C3A1A2EB6CF}"/>
                </a:ext>
              </a:extLst>
            </p:cNvPr>
            <p:cNvSpPr>
              <a:spLocks noChangeShapeType="1"/>
            </p:cNvSpPr>
            <p:nvPr/>
          </p:nvSpPr>
          <p:spPr bwMode="auto">
            <a:xfrm>
              <a:off x="2304" y="2640"/>
              <a:ext cx="316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13" name="Line 20">
              <a:extLst>
                <a:ext uri="{FF2B5EF4-FFF2-40B4-BE49-F238E27FC236}">
                  <a16:creationId xmlns:a16="http://schemas.microsoft.com/office/drawing/2014/main" id="{0845C0BF-0E9B-3FFD-3659-677161F6698A}"/>
                </a:ext>
              </a:extLst>
            </p:cNvPr>
            <p:cNvSpPr>
              <a:spLocks noChangeShapeType="1"/>
            </p:cNvSpPr>
            <p:nvPr/>
          </p:nvSpPr>
          <p:spPr bwMode="auto">
            <a:xfrm>
              <a:off x="3024" y="216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4" name="Line 21">
              <a:extLst>
                <a:ext uri="{FF2B5EF4-FFF2-40B4-BE49-F238E27FC236}">
                  <a16:creationId xmlns:a16="http://schemas.microsoft.com/office/drawing/2014/main" id="{F4A92695-1AF5-33CD-C9DA-59E4183D9064}"/>
                </a:ext>
              </a:extLst>
            </p:cNvPr>
            <p:cNvSpPr>
              <a:spLocks noChangeShapeType="1"/>
            </p:cNvSpPr>
            <p:nvPr/>
          </p:nvSpPr>
          <p:spPr bwMode="auto">
            <a:xfrm>
              <a:off x="3024" y="240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5" name="Line 22">
              <a:extLst>
                <a:ext uri="{FF2B5EF4-FFF2-40B4-BE49-F238E27FC236}">
                  <a16:creationId xmlns:a16="http://schemas.microsoft.com/office/drawing/2014/main" id="{9E56C244-FC00-44E4-D76B-DFD7BE6477CD}"/>
                </a:ext>
              </a:extLst>
            </p:cNvPr>
            <p:cNvSpPr>
              <a:spLocks noChangeShapeType="1"/>
            </p:cNvSpPr>
            <p:nvPr/>
          </p:nvSpPr>
          <p:spPr bwMode="auto">
            <a:xfrm rot="-5471610">
              <a:off x="3265"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6" name="Line 23">
              <a:extLst>
                <a:ext uri="{FF2B5EF4-FFF2-40B4-BE49-F238E27FC236}">
                  <a16:creationId xmlns:a16="http://schemas.microsoft.com/office/drawing/2014/main" id="{30E0185D-DD7D-A54B-BD06-8E9EA0C657F7}"/>
                </a:ext>
              </a:extLst>
            </p:cNvPr>
            <p:cNvSpPr>
              <a:spLocks noChangeShapeType="1"/>
            </p:cNvSpPr>
            <p:nvPr/>
          </p:nvSpPr>
          <p:spPr bwMode="auto">
            <a:xfrm rot="-5471610">
              <a:off x="3553"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7" name="Line 24">
              <a:extLst>
                <a:ext uri="{FF2B5EF4-FFF2-40B4-BE49-F238E27FC236}">
                  <a16:creationId xmlns:a16="http://schemas.microsoft.com/office/drawing/2014/main" id="{E41DEC71-F517-CA07-ABBA-2989BA536ABA}"/>
                </a:ext>
              </a:extLst>
            </p:cNvPr>
            <p:cNvSpPr>
              <a:spLocks noChangeShapeType="1"/>
            </p:cNvSpPr>
            <p:nvPr/>
          </p:nvSpPr>
          <p:spPr bwMode="auto">
            <a:xfrm rot="-5471610">
              <a:off x="3841"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8" name="Line 25">
              <a:extLst>
                <a:ext uri="{FF2B5EF4-FFF2-40B4-BE49-F238E27FC236}">
                  <a16:creationId xmlns:a16="http://schemas.microsoft.com/office/drawing/2014/main" id="{D7F7301F-AF35-DF69-5E7A-299D9BA8DCC7}"/>
                </a:ext>
              </a:extLst>
            </p:cNvPr>
            <p:cNvSpPr>
              <a:spLocks noChangeShapeType="1"/>
            </p:cNvSpPr>
            <p:nvPr/>
          </p:nvSpPr>
          <p:spPr bwMode="auto">
            <a:xfrm rot="-5471610">
              <a:off x="4129"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9" name="Line 26">
              <a:extLst>
                <a:ext uri="{FF2B5EF4-FFF2-40B4-BE49-F238E27FC236}">
                  <a16:creationId xmlns:a16="http://schemas.microsoft.com/office/drawing/2014/main" id="{BFC86D0E-371E-4013-E6A9-05ADAB776BD7}"/>
                </a:ext>
              </a:extLst>
            </p:cNvPr>
            <p:cNvSpPr>
              <a:spLocks noChangeShapeType="1"/>
            </p:cNvSpPr>
            <p:nvPr/>
          </p:nvSpPr>
          <p:spPr bwMode="auto">
            <a:xfrm rot="-5471610">
              <a:off x="4417"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20" name="Text Box 39">
              <a:extLst>
                <a:ext uri="{FF2B5EF4-FFF2-40B4-BE49-F238E27FC236}">
                  <a16:creationId xmlns:a16="http://schemas.microsoft.com/office/drawing/2014/main" id="{1C173C33-06C4-5368-5EBD-804612A9A839}"/>
                </a:ext>
              </a:extLst>
            </p:cNvPr>
            <p:cNvSpPr txBox="1">
              <a:spLocks noChangeArrowheads="1"/>
            </p:cNvSpPr>
            <p:nvPr/>
          </p:nvSpPr>
          <p:spPr bwMode="auto">
            <a:xfrm>
              <a:off x="4992" y="2688"/>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baseline="-25000"/>
                <a:t>1</a:t>
              </a:r>
              <a:endParaRPr lang="en-US" altLang="en-US" sz="2400" i="1"/>
            </a:p>
          </p:txBody>
        </p:sp>
        <p:sp>
          <p:nvSpPr>
            <p:cNvPr id="4121" name="Text Box 40">
              <a:extLst>
                <a:ext uri="{FF2B5EF4-FFF2-40B4-BE49-F238E27FC236}">
                  <a16:creationId xmlns:a16="http://schemas.microsoft.com/office/drawing/2014/main" id="{2A3F261C-F73C-9182-A38D-62BBC620F26A}"/>
                </a:ext>
              </a:extLst>
            </p:cNvPr>
            <p:cNvSpPr txBox="1">
              <a:spLocks noChangeArrowheads="1"/>
            </p:cNvSpPr>
            <p:nvPr/>
          </p:nvSpPr>
          <p:spPr bwMode="auto">
            <a:xfrm>
              <a:off x="2747" y="1008"/>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2</a:t>
              </a:r>
              <a:endParaRPr lang="en-US" altLang="en-US" sz="2400" i="1"/>
            </a:p>
          </p:txBody>
        </p:sp>
        <p:sp>
          <p:nvSpPr>
            <p:cNvPr id="4122" name="Text Box 46">
              <a:extLst>
                <a:ext uri="{FF2B5EF4-FFF2-40B4-BE49-F238E27FC236}">
                  <a16:creationId xmlns:a16="http://schemas.microsoft.com/office/drawing/2014/main" id="{6950180A-1A38-AC43-2D4B-34CCA6154AE5}"/>
                </a:ext>
              </a:extLst>
            </p:cNvPr>
            <p:cNvSpPr txBox="1">
              <a:spLocks noChangeArrowheads="1"/>
            </p:cNvSpPr>
            <p:nvPr/>
          </p:nvSpPr>
          <p:spPr bwMode="auto">
            <a:xfrm>
              <a:off x="2880" y="182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a:t>
              </a:r>
            </a:p>
          </p:txBody>
        </p:sp>
        <p:sp>
          <p:nvSpPr>
            <p:cNvPr id="4123" name="Text Box 47">
              <a:extLst>
                <a:ext uri="{FF2B5EF4-FFF2-40B4-BE49-F238E27FC236}">
                  <a16:creationId xmlns:a16="http://schemas.microsoft.com/office/drawing/2014/main" id="{6BD5B96C-4B41-D777-C563-5E80DDB29B89}"/>
                </a:ext>
              </a:extLst>
            </p:cNvPr>
            <p:cNvSpPr txBox="1">
              <a:spLocks noChangeArrowheads="1"/>
            </p:cNvSpPr>
            <p:nvPr/>
          </p:nvSpPr>
          <p:spPr bwMode="auto">
            <a:xfrm>
              <a:off x="2880" y="15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a:t>
              </a:r>
            </a:p>
          </p:txBody>
        </p:sp>
        <p:sp>
          <p:nvSpPr>
            <p:cNvPr id="4124" name="Text Box 48">
              <a:extLst>
                <a:ext uri="{FF2B5EF4-FFF2-40B4-BE49-F238E27FC236}">
                  <a16:creationId xmlns:a16="http://schemas.microsoft.com/office/drawing/2014/main" id="{B26EB4A2-EF6D-64C0-F3A4-D4FC76E30B3C}"/>
                </a:ext>
              </a:extLst>
            </p:cNvPr>
            <p:cNvSpPr txBox="1">
              <a:spLocks noChangeArrowheads="1"/>
            </p:cNvSpPr>
            <p:nvPr/>
          </p:nvSpPr>
          <p:spPr bwMode="auto">
            <a:xfrm>
              <a:off x="2880" y="129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5</a:t>
              </a:r>
            </a:p>
          </p:txBody>
        </p:sp>
        <p:sp>
          <p:nvSpPr>
            <p:cNvPr id="4125" name="Text Box 49">
              <a:extLst>
                <a:ext uri="{FF2B5EF4-FFF2-40B4-BE49-F238E27FC236}">
                  <a16:creationId xmlns:a16="http://schemas.microsoft.com/office/drawing/2014/main" id="{C1703C2D-8847-639E-C163-D18822C4B04A}"/>
                </a:ext>
              </a:extLst>
            </p:cNvPr>
            <p:cNvSpPr txBox="1">
              <a:spLocks noChangeArrowheads="1"/>
            </p:cNvSpPr>
            <p:nvPr/>
          </p:nvSpPr>
          <p:spPr bwMode="auto">
            <a:xfrm>
              <a:off x="3216"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a:t>
              </a:r>
            </a:p>
          </p:txBody>
        </p:sp>
        <p:sp>
          <p:nvSpPr>
            <p:cNvPr id="4126" name="Text Box 50">
              <a:extLst>
                <a:ext uri="{FF2B5EF4-FFF2-40B4-BE49-F238E27FC236}">
                  <a16:creationId xmlns:a16="http://schemas.microsoft.com/office/drawing/2014/main" id="{621BC347-8271-4CD6-6EDB-A7BC0C44E0A5}"/>
                </a:ext>
              </a:extLst>
            </p:cNvPr>
            <p:cNvSpPr txBox="1">
              <a:spLocks noChangeArrowheads="1"/>
            </p:cNvSpPr>
            <p:nvPr/>
          </p:nvSpPr>
          <p:spPr bwMode="auto">
            <a:xfrm>
              <a:off x="3504"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a:t>
              </a:r>
            </a:p>
          </p:txBody>
        </p:sp>
        <p:sp>
          <p:nvSpPr>
            <p:cNvPr id="4127" name="Text Box 51">
              <a:extLst>
                <a:ext uri="{FF2B5EF4-FFF2-40B4-BE49-F238E27FC236}">
                  <a16:creationId xmlns:a16="http://schemas.microsoft.com/office/drawing/2014/main" id="{AB4A0E4C-216E-3334-0C9E-A46663A683F3}"/>
                </a:ext>
              </a:extLst>
            </p:cNvPr>
            <p:cNvSpPr txBox="1">
              <a:spLocks noChangeArrowheads="1"/>
            </p:cNvSpPr>
            <p:nvPr/>
          </p:nvSpPr>
          <p:spPr bwMode="auto">
            <a:xfrm>
              <a:off x="3792"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a:t>
              </a:r>
            </a:p>
          </p:txBody>
        </p:sp>
        <p:sp>
          <p:nvSpPr>
            <p:cNvPr id="4128" name="Text Box 52">
              <a:extLst>
                <a:ext uri="{FF2B5EF4-FFF2-40B4-BE49-F238E27FC236}">
                  <a16:creationId xmlns:a16="http://schemas.microsoft.com/office/drawing/2014/main" id="{B089737B-205E-11A3-4932-9680E67AE110}"/>
                </a:ext>
              </a:extLst>
            </p:cNvPr>
            <p:cNvSpPr txBox="1">
              <a:spLocks noChangeArrowheads="1"/>
            </p:cNvSpPr>
            <p:nvPr/>
          </p:nvSpPr>
          <p:spPr bwMode="auto">
            <a:xfrm>
              <a:off x="4080"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a:t>
              </a:r>
            </a:p>
          </p:txBody>
        </p:sp>
        <p:sp>
          <p:nvSpPr>
            <p:cNvPr id="4129" name="Text Box 53">
              <a:extLst>
                <a:ext uri="{FF2B5EF4-FFF2-40B4-BE49-F238E27FC236}">
                  <a16:creationId xmlns:a16="http://schemas.microsoft.com/office/drawing/2014/main" id="{F280580B-DE3F-B2DF-1C35-64AE88FEA448}"/>
                </a:ext>
              </a:extLst>
            </p:cNvPr>
            <p:cNvSpPr txBox="1">
              <a:spLocks noChangeArrowheads="1"/>
            </p:cNvSpPr>
            <p:nvPr/>
          </p:nvSpPr>
          <p:spPr bwMode="auto">
            <a:xfrm>
              <a:off x="4368"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5</a:t>
              </a:r>
            </a:p>
          </p:txBody>
        </p:sp>
        <p:sp>
          <p:nvSpPr>
            <p:cNvPr id="4130" name="Line 54">
              <a:extLst>
                <a:ext uri="{FF2B5EF4-FFF2-40B4-BE49-F238E27FC236}">
                  <a16:creationId xmlns:a16="http://schemas.microsoft.com/office/drawing/2014/main" id="{08C30C53-7E09-1900-CFD6-B61AD62AD30A}"/>
                </a:ext>
              </a:extLst>
            </p:cNvPr>
            <p:cNvSpPr>
              <a:spLocks noChangeShapeType="1"/>
            </p:cNvSpPr>
            <p:nvPr/>
          </p:nvSpPr>
          <p:spPr bwMode="auto">
            <a:xfrm>
              <a:off x="3072" y="1392"/>
              <a:ext cx="1392" cy="12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31" name="Line 55">
              <a:extLst>
                <a:ext uri="{FF2B5EF4-FFF2-40B4-BE49-F238E27FC236}">
                  <a16:creationId xmlns:a16="http://schemas.microsoft.com/office/drawing/2014/main" id="{4F5C0745-F7A2-2FC3-B968-FAC8104BF3F2}"/>
                </a:ext>
              </a:extLst>
            </p:cNvPr>
            <p:cNvSpPr>
              <a:spLocks noChangeShapeType="1"/>
            </p:cNvSpPr>
            <p:nvPr/>
          </p:nvSpPr>
          <p:spPr bwMode="auto">
            <a:xfrm>
              <a:off x="3072" y="1920"/>
              <a:ext cx="21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32" name="Oval 56">
              <a:extLst>
                <a:ext uri="{FF2B5EF4-FFF2-40B4-BE49-F238E27FC236}">
                  <a16:creationId xmlns:a16="http://schemas.microsoft.com/office/drawing/2014/main" id="{A02BFBE5-D76C-AD16-A8F3-4141BA46602D}"/>
                </a:ext>
              </a:extLst>
            </p:cNvPr>
            <p:cNvSpPr>
              <a:spLocks noChangeArrowheads="1"/>
            </p:cNvSpPr>
            <p:nvPr/>
          </p:nvSpPr>
          <p:spPr bwMode="auto">
            <a:xfrm flipV="1">
              <a:off x="3600" y="187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3" name="Oval 57">
              <a:extLst>
                <a:ext uri="{FF2B5EF4-FFF2-40B4-BE49-F238E27FC236}">
                  <a16:creationId xmlns:a16="http://schemas.microsoft.com/office/drawing/2014/main" id="{1FD3AE34-6CBF-3209-8F0A-47CDE31872E4}"/>
                </a:ext>
              </a:extLst>
            </p:cNvPr>
            <p:cNvSpPr>
              <a:spLocks noChangeArrowheads="1"/>
            </p:cNvSpPr>
            <p:nvPr/>
          </p:nvSpPr>
          <p:spPr bwMode="auto">
            <a:xfrm flipV="1">
              <a:off x="3312" y="187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4" name="Oval 58">
              <a:extLst>
                <a:ext uri="{FF2B5EF4-FFF2-40B4-BE49-F238E27FC236}">
                  <a16:creationId xmlns:a16="http://schemas.microsoft.com/office/drawing/2014/main" id="{A7776D84-9572-B571-092A-13AB5E120CE2}"/>
                </a:ext>
              </a:extLst>
            </p:cNvPr>
            <p:cNvSpPr>
              <a:spLocks noChangeArrowheads="1"/>
            </p:cNvSpPr>
            <p:nvPr/>
          </p:nvSpPr>
          <p:spPr bwMode="auto">
            <a:xfrm flipV="1">
              <a:off x="3072" y="187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5" name="Oval 59">
              <a:extLst>
                <a:ext uri="{FF2B5EF4-FFF2-40B4-BE49-F238E27FC236}">
                  <a16:creationId xmlns:a16="http://schemas.microsoft.com/office/drawing/2014/main" id="{BF560539-6B2A-A5DD-C6EC-D312785C3497}"/>
                </a:ext>
              </a:extLst>
            </p:cNvPr>
            <p:cNvSpPr>
              <a:spLocks noChangeArrowheads="1"/>
            </p:cNvSpPr>
            <p:nvPr/>
          </p:nvSpPr>
          <p:spPr bwMode="auto">
            <a:xfrm flipV="1">
              <a:off x="3072"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6" name="Oval 60">
              <a:extLst>
                <a:ext uri="{FF2B5EF4-FFF2-40B4-BE49-F238E27FC236}">
                  <a16:creationId xmlns:a16="http://schemas.microsoft.com/office/drawing/2014/main" id="{E860AEF9-5899-CB8F-5418-59502C2DFD74}"/>
                </a:ext>
              </a:extLst>
            </p:cNvPr>
            <p:cNvSpPr>
              <a:spLocks noChangeArrowheads="1"/>
            </p:cNvSpPr>
            <p:nvPr/>
          </p:nvSpPr>
          <p:spPr bwMode="auto">
            <a:xfrm flipV="1">
              <a:off x="3312"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7" name="Oval 61">
              <a:extLst>
                <a:ext uri="{FF2B5EF4-FFF2-40B4-BE49-F238E27FC236}">
                  <a16:creationId xmlns:a16="http://schemas.microsoft.com/office/drawing/2014/main" id="{2C98D604-2F35-6DC1-7371-729E495ECEAF}"/>
                </a:ext>
              </a:extLst>
            </p:cNvPr>
            <p:cNvSpPr>
              <a:spLocks noChangeArrowheads="1"/>
            </p:cNvSpPr>
            <p:nvPr/>
          </p:nvSpPr>
          <p:spPr bwMode="auto">
            <a:xfrm flipV="1">
              <a:off x="3600"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8" name="Oval 62">
              <a:extLst>
                <a:ext uri="{FF2B5EF4-FFF2-40B4-BE49-F238E27FC236}">
                  <a16:creationId xmlns:a16="http://schemas.microsoft.com/office/drawing/2014/main" id="{00D1135B-F4E4-462E-4705-0D5A273C5ED9}"/>
                </a:ext>
              </a:extLst>
            </p:cNvPr>
            <p:cNvSpPr>
              <a:spLocks noChangeArrowheads="1"/>
            </p:cNvSpPr>
            <p:nvPr/>
          </p:nvSpPr>
          <p:spPr bwMode="auto">
            <a:xfrm flipV="1">
              <a:off x="3888"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9" name="Oval 63">
              <a:extLst>
                <a:ext uri="{FF2B5EF4-FFF2-40B4-BE49-F238E27FC236}">
                  <a16:creationId xmlns:a16="http://schemas.microsoft.com/office/drawing/2014/main" id="{6E0677E8-F4A5-176A-40D7-CFA973FFDE15}"/>
                </a:ext>
              </a:extLst>
            </p:cNvPr>
            <p:cNvSpPr>
              <a:spLocks noChangeArrowheads="1"/>
            </p:cNvSpPr>
            <p:nvPr/>
          </p:nvSpPr>
          <p:spPr bwMode="auto">
            <a:xfrm flipV="1">
              <a:off x="3072"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0" name="Oval 64">
              <a:extLst>
                <a:ext uri="{FF2B5EF4-FFF2-40B4-BE49-F238E27FC236}">
                  <a16:creationId xmlns:a16="http://schemas.microsoft.com/office/drawing/2014/main" id="{5E2BDFB2-9AC9-519F-2764-C423A03C0C68}"/>
                </a:ext>
              </a:extLst>
            </p:cNvPr>
            <p:cNvSpPr>
              <a:spLocks noChangeArrowheads="1"/>
            </p:cNvSpPr>
            <p:nvPr/>
          </p:nvSpPr>
          <p:spPr bwMode="auto">
            <a:xfrm flipV="1">
              <a:off x="3312"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1" name="Oval 65">
              <a:extLst>
                <a:ext uri="{FF2B5EF4-FFF2-40B4-BE49-F238E27FC236}">
                  <a16:creationId xmlns:a16="http://schemas.microsoft.com/office/drawing/2014/main" id="{3589D573-CDEB-6EDC-ADFF-0A155475B7AC}"/>
                </a:ext>
              </a:extLst>
            </p:cNvPr>
            <p:cNvSpPr>
              <a:spLocks noChangeArrowheads="1"/>
            </p:cNvSpPr>
            <p:nvPr/>
          </p:nvSpPr>
          <p:spPr bwMode="auto">
            <a:xfrm flipV="1">
              <a:off x="3600"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2" name="Oval 66">
              <a:extLst>
                <a:ext uri="{FF2B5EF4-FFF2-40B4-BE49-F238E27FC236}">
                  <a16:creationId xmlns:a16="http://schemas.microsoft.com/office/drawing/2014/main" id="{89EE3557-425F-AF78-C212-73093C827BAD}"/>
                </a:ext>
              </a:extLst>
            </p:cNvPr>
            <p:cNvSpPr>
              <a:spLocks noChangeArrowheads="1"/>
            </p:cNvSpPr>
            <p:nvPr/>
          </p:nvSpPr>
          <p:spPr bwMode="auto">
            <a:xfrm flipV="1">
              <a:off x="3888"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3" name="Oval 67">
              <a:extLst>
                <a:ext uri="{FF2B5EF4-FFF2-40B4-BE49-F238E27FC236}">
                  <a16:creationId xmlns:a16="http://schemas.microsoft.com/office/drawing/2014/main" id="{66683FC4-5F0B-6593-FC3E-857A340561D1}"/>
                </a:ext>
              </a:extLst>
            </p:cNvPr>
            <p:cNvSpPr>
              <a:spLocks noChangeArrowheads="1"/>
            </p:cNvSpPr>
            <p:nvPr/>
          </p:nvSpPr>
          <p:spPr bwMode="auto">
            <a:xfrm flipV="1">
              <a:off x="4176"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4" name="Oval 68">
              <a:extLst>
                <a:ext uri="{FF2B5EF4-FFF2-40B4-BE49-F238E27FC236}">
                  <a16:creationId xmlns:a16="http://schemas.microsoft.com/office/drawing/2014/main" id="{9C0C98C4-8D41-8A73-F4BF-C8F1FDF04882}"/>
                </a:ext>
              </a:extLst>
            </p:cNvPr>
            <p:cNvSpPr>
              <a:spLocks noChangeArrowheads="1"/>
            </p:cNvSpPr>
            <p:nvPr/>
          </p:nvSpPr>
          <p:spPr bwMode="auto">
            <a:xfrm flipV="1">
              <a:off x="3072"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5" name="Oval 69">
              <a:extLst>
                <a:ext uri="{FF2B5EF4-FFF2-40B4-BE49-F238E27FC236}">
                  <a16:creationId xmlns:a16="http://schemas.microsoft.com/office/drawing/2014/main" id="{7C289240-AD40-40B0-78C1-8FF2926CA966}"/>
                </a:ext>
              </a:extLst>
            </p:cNvPr>
            <p:cNvSpPr>
              <a:spLocks noChangeArrowheads="1"/>
            </p:cNvSpPr>
            <p:nvPr/>
          </p:nvSpPr>
          <p:spPr bwMode="auto">
            <a:xfrm flipV="1">
              <a:off x="3312"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6" name="Oval 70">
              <a:extLst>
                <a:ext uri="{FF2B5EF4-FFF2-40B4-BE49-F238E27FC236}">
                  <a16:creationId xmlns:a16="http://schemas.microsoft.com/office/drawing/2014/main" id="{067FA07A-5962-2B4C-0969-A25E300F188A}"/>
                </a:ext>
              </a:extLst>
            </p:cNvPr>
            <p:cNvSpPr>
              <a:spLocks noChangeArrowheads="1"/>
            </p:cNvSpPr>
            <p:nvPr/>
          </p:nvSpPr>
          <p:spPr bwMode="auto">
            <a:xfrm flipV="1">
              <a:off x="3600"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7" name="Oval 71">
              <a:extLst>
                <a:ext uri="{FF2B5EF4-FFF2-40B4-BE49-F238E27FC236}">
                  <a16:creationId xmlns:a16="http://schemas.microsoft.com/office/drawing/2014/main" id="{AD6C59B3-54A7-1ECD-1AF4-53B4CD61A718}"/>
                </a:ext>
              </a:extLst>
            </p:cNvPr>
            <p:cNvSpPr>
              <a:spLocks noChangeArrowheads="1"/>
            </p:cNvSpPr>
            <p:nvPr/>
          </p:nvSpPr>
          <p:spPr bwMode="auto">
            <a:xfrm flipV="1">
              <a:off x="3888"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8" name="Oval 72">
              <a:extLst>
                <a:ext uri="{FF2B5EF4-FFF2-40B4-BE49-F238E27FC236}">
                  <a16:creationId xmlns:a16="http://schemas.microsoft.com/office/drawing/2014/main" id="{E5CC011C-C28F-D09D-5AFB-44F24FF99031}"/>
                </a:ext>
              </a:extLst>
            </p:cNvPr>
            <p:cNvSpPr>
              <a:spLocks noChangeArrowheads="1"/>
            </p:cNvSpPr>
            <p:nvPr/>
          </p:nvSpPr>
          <p:spPr bwMode="auto">
            <a:xfrm flipV="1">
              <a:off x="4176"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9" name="Oval 73">
              <a:extLst>
                <a:ext uri="{FF2B5EF4-FFF2-40B4-BE49-F238E27FC236}">
                  <a16:creationId xmlns:a16="http://schemas.microsoft.com/office/drawing/2014/main" id="{68B6D02D-5562-8082-E9F2-727E7CB55A3E}"/>
                </a:ext>
              </a:extLst>
            </p:cNvPr>
            <p:cNvSpPr>
              <a:spLocks noChangeArrowheads="1"/>
            </p:cNvSpPr>
            <p:nvPr/>
          </p:nvSpPr>
          <p:spPr bwMode="auto">
            <a:xfrm flipV="1">
              <a:off x="4416"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pSp>
      <p:sp>
        <p:nvSpPr>
          <p:cNvPr id="171083" name="Text Box 75">
            <a:extLst>
              <a:ext uri="{FF2B5EF4-FFF2-40B4-BE49-F238E27FC236}">
                <a16:creationId xmlns:a16="http://schemas.microsoft.com/office/drawing/2014/main" id="{8C93D8FC-2DE4-BCA0-FA81-ABC7E20DA63E}"/>
              </a:ext>
            </a:extLst>
          </p:cNvPr>
          <p:cNvSpPr txBox="1">
            <a:spLocks noChangeArrowheads="1"/>
          </p:cNvSpPr>
          <p:nvPr/>
        </p:nvSpPr>
        <p:spPr bwMode="auto">
          <a:xfrm>
            <a:off x="247650" y="1000125"/>
            <a:ext cx="815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Sketch the feasbile region for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1083"/>
                                        </p:tgtEl>
                                        <p:attrNameLst>
                                          <p:attrName>style.visibility</p:attrName>
                                        </p:attrNameLst>
                                      </p:cBhvr>
                                      <p:to>
                                        <p:strVal val="visible"/>
                                      </p:to>
                                    </p:set>
                                    <p:anim calcmode="lin" valueType="num">
                                      <p:cBhvr additive="base">
                                        <p:cTn id="7" dur="500" fill="hold"/>
                                        <p:tgtEl>
                                          <p:spTgt spid="171083"/>
                                        </p:tgtEl>
                                        <p:attrNameLst>
                                          <p:attrName>ppt_x</p:attrName>
                                        </p:attrNameLst>
                                      </p:cBhvr>
                                      <p:tavLst>
                                        <p:tav tm="0">
                                          <p:val>
                                            <p:strVal val="0-#ppt_w/2"/>
                                          </p:val>
                                        </p:tav>
                                        <p:tav tm="100000">
                                          <p:val>
                                            <p:strVal val="#ppt_x"/>
                                          </p:val>
                                        </p:tav>
                                      </p:tavLst>
                                    </p:anim>
                                    <p:anim calcmode="lin" valueType="num">
                                      <p:cBhvr additive="base">
                                        <p:cTn id="8" dur="500" fill="hold"/>
                                        <p:tgtEl>
                                          <p:spTgt spid="17108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3056"/>
                                        </p:tgtEl>
                                        <p:attrNameLst>
                                          <p:attrName>style.visibility</p:attrName>
                                        </p:attrNameLst>
                                      </p:cBhvr>
                                      <p:to>
                                        <p:strVal val="visible"/>
                                      </p:to>
                                    </p:set>
                                    <p:anim calcmode="lin" valueType="num">
                                      <p:cBhvr additive="base">
                                        <p:cTn id="13" dur="500" fill="hold"/>
                                        <p:tgtEl>
                                          <p:spTgt spid="173056"/>
                                        </p:tgtEl>
                                        <p:attrNameLst>
                                          <p:attrName>ppt_x</p:attrName>
                                        </p:attrNameLst>
                                      </p:cBhvr>
                                      <p:tavLst>
                                        <p:tav tm="0">
                                          <p:val>
                                            <p:strVal val="0-#ppt_w/2"/>
                                          </p:val>
                                        </p:tav>
                                        <p:tav tm="100000">
                                          <p:val>
                                            <p:strVal val="#ppt_x"/>
                                          </p:val>
                                        </p:tav>
                                      </p:tavLst>
                                    </p:anim>
                                    <p:anim calcmode="lin" valueType="num">
                                      <p:cBhvr additive="base">
                                        <p:cTn id="14" dur="500" fill="hold"/>
                                        <p:tgtEl>
                                          <p:spTgt spid="17305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1013"/>
                                        </p:tgtEl>
                                        <p:attrNameLst>
                                          <p:attrName>style.visibility</p:attrName>
                                        </p:attrNameLst>
                                      </p:cBhvr>
                                      <p:to>
                                        <p:strVal val="visible"/>
                                      </p:to>
                                    </p:set>
                                    <p:anim calcmode="lin" valueType="num">
                                      <p:cBhvr additive="base">
                                        <p:cTn id="25" dur="500" fill="hold"/>
                                        <p:tgtEl>
                                          <p:spTgt spid="171013"/>
                                        </p:tgtEl>
                                        <p:attrNameLst>
                                          <p:attrName>ppt_x</p:attrName>
                                        </p:attrNameLst>
                                      </p:cBhvr>
                                      <p:tavLst>
                                        <p:tav tm="0">
                                          <p:val>
                                            <p:strVal val="0-#ppt_w/2"/>
                                          </p:val>
                                        </p:tav>
                                        <p:tav tm="100000">
                                          <p:val>
                                            <p:strVal val="#ppt_x"/>
                                          </p:val>
                                        </p:tav>
                                      </p:tavLst>
                                    </p:anim>
                                    <p:anim calcmode="lin" valueType="num">
                                      <p:cBhvr additive="base">
                                        <p:cTn id="26" dur="500" fill="hold"/>
                                        <p:tgtEl>
                                          <p:spTgt spid="1710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autoUpdateAnimBg="0"/>
      <p:bldP spid="171083"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AD7B318-DC22-B367-1752-8A35A1B4FBC1}"/>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Classification of Integer Programs</a:t>
            </a:r>
          </a:p>
        </p:txBody>
      </p:sp>
      <p:sp>
        <p:nvSpPr>
          <p:cNvPr id="6147" name="Rectangle 3">
            <a:extLst>
              <a:ext uri="{FF2B5EF4-FFF2-40B4-BE49-F238E27FC236}">
                <a16:creationId xmlns:a16="http://schemas.microsoft.com/office/drawing/2014/main" id="{2698D56C-7018-8A98-B53A-0412C34F3421}"/>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48" name="Rectangle 4">
            <a:extLst>
              <a:ext uri="{FF2B5EF4-FFF2-40B4-BE49-F238E27FC236}">
                <a16:creationId xmlns:a16="http://schemas.microsoft.com/office/drawing/2014/main" id="{4AA3ACCB-47B7-EBF9-32EC-50E0402D86E5}"/>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23</a:t>
            </a:r>
          </a:p>
        </p:txBody>
      </p:sp>
      <p:sp>
        <p:nvSpPr>
          <p:cNvPr id="142341" name="Text Box 5">
            <a:extLst>
              <a:ext uri="{FF2B5EF4-FFF2-40B4-BE49-F238E27FC236}">
                <a16:creationId xmlns:a16="http://schemas.microsoft.com/office/drawing/2014/main" id="{A37D6CE3-1F5E-9D5D-FA3E-7E6AF21ABA48}"/>
              </a:ext>
            </a:extLst>
          </p:cNvPr>
          <p:cNvSpPr txBox="1">
            <a:spLocks noChangeArrowheads="1"/>
          </p:cNvSpPr>
          <p:nvPr/>
        </p:nvSpPr>
        <p:spPr bwMode="auto">
          <a:xfrm>
            <a:off x="495300" y="990600"/>
            <a:ext cx="815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Specific types of integer programs have been named and some have specialized solvers:</a:t>
            </a:r>
          </a:p>
        </p:txBody>
      </p:sp>
      <p:sp>
        <p:nvSpPr>
          <p:cNvPr id="142385" name="Text Box 49">
            <a:extLst>
              <a:ext uri="{FF2B5EF4-FFF2-40B4-BE49-F238E27FC236}">
                <a16:creationId xmlns:a16="http://schemas.microsoft.com/office/drawing/2014/main" id="{4D1E605C-568D-12DF-88B1-9D99F6FBF1E6}"/>
              </a:ext>
            </a:extLst>
          </p:cNvPr>
          <p:cNvSpPr txBox="1">
            <a:spLocks noChangeArrowheads="1"/>
          </p:cNvSpPr>
          <p:nvPr/>
        </p:nvSpPr>
        <p:spPr bwMode="auto">
          <a:xfrm>
            <a:off x="381000" y="2057400"/>
            <a:ext cx="80772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914400" indent="-4572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 typeface="Wingdings" panose="05000000000000000000" pitchFamily="2" charset="2"/>
              <a:buChar char="Ø"/>
            </a:pPr>
            <a:r>
              <a:rPr lang="en-US" altLang="en-US" sz="2800"/>
              <a:t>All variables binary ([0,1]): binary program, BIP</a:t>
            </a:r>
          </a:p>
          <a:p>
            <a:pPr>
              <a:spcBef>
                <a:spcPct val="0"/>
              </a:spcBef>
              <a:buFont typeface="Wingdings" panose="05000000000000000000" pitchFamily="2" charset="2"/>
              <a:buChar char="Ø"/>
            </a:pPr>
            <a:r>
              <a:rPr lang="en-US" altLang="en-US" sz="2800"/>
              <a:t>All constraints and objective linear, both continuous and integer variables:  MILP</a:t>
            </a:r>
          </a:p>
          <a:p>
            <a:pPr lvl="1">
              <a:spcBef>
                <a:spcPct val="0"/>
              </a:spcBef>
              <a:buFontTx/>
              <a:buChar char="-"/>
            </a:pPr>
            <a:r>
              <a:rPr lang="en-US" altLang="en-US"/>
              <a:t>Like an LP, only global solutions</a:t>
            </a:r>
          </a:p>
          <a:p>
            <a:pPr lvl="1">
              <a:spcBef>
                <a:spcPct val="0"/>
              </a:spcBef>
              <a:buFontTx/>
              <a:buChar char="-"/>
            </a:pPr>
            <a:r>
              <a:rPr lang="en-US" altLang="en-US"/>
              <a:t>Must deal with combinatorial explosion</a:t>
            </a:r>
          </a:p>
          <a:p>
            <a:pPr>
              <a:spcBef>
                <a:spcPct val="0"/>
              </a:spcBef>
              <a:buFont typeface="Wingdings" panose="05000000000000000000" pitchFamily="2" charset="2"/>
              <a:buChar char="Ø"/>
            </a:pPr>
            <a:r>
              <a:rPr lang="en-US" altLang="en-US" sz="2800"/>
              <a:t>All variables integer, all equations linear:   pure IP</a:t>
            </a:r>
          </a:p>
          <a:p>
            <a:pPr>
              <a:spcBef>
                <a:spcPct val="0"/>
              </a:spcBef>
              <a:buFont typeface="Wingdings" panose="05000000000000000000" pitchFamily="2" charset="2"/>
              <a:buChar char="Ø"/>
            </a:pPr>
            <a:r>
              <a:rPr lang="en-US" altLang="en-US" sz="2800"/>
              <a:t>Anything with nonlinear functions &amp; some integer or binary variables: MINLP</a:t>
            </a:r>
          </a:p>
          <a:p>
            <a:pPr lvl="1">
              <a:spcBef>
                <a:spcPct val="0"/>
              </a:spcBef>
              <a:buFontTx/>
              <a:buChar char="-"/>
            </a:pPr>
            <a:r>
              <a:rPr lang="en-US" altLang="en-US"/>
              <a:t>Clearly the toughest, many local solutions, combinatorial explosion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2341"/>
                                        </p:tgtEl>
                                        <p:attrNameLst>
                                          <p:attrName>style.visibility</p:attrName>
                                        </p:attrNameLst>
                                      </p:cBhvr>
                                      <p:to>
                                        <p:strVal val="visible"/>
                                      </p:to>
                                    </p:set>
                                    <p:anim calcmode="lin" valueType="num">
                                      <p:cBhvr additive="base">
                                        <p:cTn id="7" dur="500" fill="hold"/>
                                        <p:tgtEl>
                                          <p:spTgt spid="142341"/>
                                        </p:tgtEl>
                                        <p:attrNameLst>
                                          <p:attrName>ppt_x</p:attrName>
                                        </p:attrNameLst>
                                      </p:cBhvr>
                                      <p:tavLst>
                                        <p:tav tm="0">
                                          <p:val>
                                            <p:strVal val="0-#ppt_w/2"/>
                                          </p:val>
                                        </p:tav>
                                        <p:tav tm="100000">
                                          <p:val>
                                            <p:strVal val="#ppt_x"/>
                                          </p:val>
                                        </p:tav>
                                      </p:tavLst>
                                    </p:anim>
                                    <p:anim calcmode="lin" valueType="num">
                                      <p:cBhvr additive="base">
                                        <p:cTn id="8" dur="500" fill="hold"/>
                                        <p:tgtEl>
                                          <p:spTgt spid="14234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2385">
                                            <p:txEl>
                                              <p:pRg st="0" end="0"/>
                                            </p:txEl>
                                          </p:spTgt>
                                        </p:tgtEl>
                                        <p:attrNameLst>
                                          <p:attrName>style.visibility</p:attrName>
                                        </p:attrNameLst>
                                      </p:cBhvr>
                                      <p:to>
                                        <p:strVal val="visible"/>
                                      </p:to>
                                    </p:set>
                                    <p:anim calcmode="lin" valueType="num">
                                      <p:cBhvr additive="base">
                                        <p:cTn id="13" dur="500" fill="hold"/>
                                        <p:tgtEl>
                                          <p:spTgt spid="14238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23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42385">
                                            <p:txEl>
                                              <p:pRg st="1" end="1"/>
                                            </p:txEl>
                                          </p:spTgt>
                                        </p:tgtEl>
                                        <p:attrNameLst>
                                          <p:attrName>style.visibility</p:attrName>
                                        </p:attrNameLst>
                                      </p:cBhvr>
                                      <p:to>
                                        <p:strVal val="visible"/>
                                      </p:to>
                                    </p:set>
                                    <p:anim calcmode="lin" valueType="num">
                                      <p:cBhvr additive="base">
                                        <p:cTn id="19" dur="500" fill="hold"/>
                                        <p:tgtEl>
                                          <p:spTgt spid="142385">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238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42385">
                                            <p:txEl>
                                              <p:pRg st="2" end="2"/>
                                            </p:txEl>
                                          </p:spTgt>
                                        </p:tgtEl>
                                        <p:attrNameLst>
                                          <p:attrName>style.visibility</p:attrName>
                                        </p:attrNameLst>
                                      </p:cBhvr>
                                      <p:to>
                                        <p:strVal val="visible"/>
                                      </p:to>
                                    </p:set>
                                    <p:anim calcmode="lin" valueType="num">
                                      <p:cBhvr additive="base">
                                        <p:cTn id="25" dur="500" fill="hold"/>
                                        <p:tgtEl>
                                          <p:spTgt spid="142385">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238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42385">
                                            <p:txEl>
                                              <p:pRg st="3" end="3"/>
                                            </p:txEl>
                                          </p:spTgt>
                                        </p:tgtEl>
                                        <p:attrNameLst>
                                          <p:attrName>style.visibility</p:attrName>
                                        </p:attrNameLst>
                                      </p:cBhvr>
                                      <p:to>
                                        <p:strVal val="visible"/>
                                      </p:to>
                                    </p:set>
                                    <p:anim calcmode="lin" valueType="num">
                                      <p:cBhvr additive="base">
                                        <p:cTn id="31" dur="500" fill="hold"/>
                                        <p:tgtEl>
                                          <p:spTgt spid="142385">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238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42385">
                                            <p:txEl>
                                              <p:pRg st="4" end="4"/>
                                            </p:txEl>
                                          </p:spTgt>
                                        </p:tgtEl>
                                        <p:attrNameLst>
                                          <p:attrName>style.visibility</p:attrName>
                                        </p:attrNameLst>
                                      </p:cBhvr>
                                      <p:to>
                                        <p:strVal val="visible"/>
                                      </p:to>
                                    </p:set>
                                    <p:anim calcmode="lin" valueType="num">
                                      <p:cBhvr additive="base">
                                        <p:cTn id="37" dur="500" fill="hold"/>
                                        <p:tgtEl>
                                          <p:spTgt spid="142385">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4238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42385">
                                            <p:txEl>
                                              <p:pRg st="5" end="5"/>
                                            </p:txEl>
                                          </p:spTgt>
                                        </p:tgtEl>
                                        <p:attrNameLst>
                                          <p:attrName>style.visibility</p:attrName>
                                        </p:attrNameLst>
                                      </p:cBhvr>
                                      <p:to>
                                        <p:strVal val="visible"/>
                                      </p:to>
                                    </p:set>
                                    <p:anim calcmode="lin" valueType="num">
                                      <p:cBhvr additive="base">
                                        <p:cTn id="43" dur="500" fill="hold"/>
                                        <p:tgtEl>
                                          <p:spTgt spid="142385">
                                            <p:txEl>
                                              <p:pRg st="5" end="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4238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42385">
                                            <p:txEl>
                                              <p:pRg st="6" end="6"/>
                                            </p:txEl>
                                          </p:spTgt>
                                        </p:tgtEl>
                                        <p:attrNameLst>
                                          <p:attrName>style.visibility</p:attrName>
                                        </p:attrNameLst>
                                      </p:cBhvr>
                                      <p:to>
                                        <p:strVal val="visible"/>
                                      </p:to>
                                    </p:set>
                                    <p:anim calcmode="lin" valueType="num">
                                      <p:cBhvr additive="base">
                                        <p:cTn id="49" dur="500" fill="hold"/>
                                        <p:tgtEl>
                                          <p:spTgt spid="142385">
                                            <p:txEl>
                                              <p:pRg st="6" end="6"/>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4238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1" grpId="0" autoUpdateAnimBg="0"/>
      <p:bldP spid="142385" grpId="0" build="p" bldLvl="2"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77E35C7-BDE7-9412-8D3B-39560C2E0A46}"/>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Example: Chemical Engineering</a:t>
            </a:r>
          </a:p>
        </p:txBody>
      </p:sp>
      <p:sp>
        <p:nvSpPr>
          <p:cNvPr id="7171" name="Rectangle 3">
            <a:extLst>
              <a:ext uri="{FF2B5EF4-FFF2-40B4-BE49-F238E27FC236}">
                <a16:creationId xmlns:a16="http://schemas.microsoft.com/office/drawing/2014/main" id="{96DF42D0-7BCB-A919-1393-B3F62B61C5A5}"/>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72" name="Rectangle 4">
            <a:extLst>
              <a:ext uri="{FF2B5EF4-FFF2-40B4-BE49-F238E27FC236}">
                <a16:creationId xmlns:a16="http://schemas.microsoft.com/office/drawing/2014/main" id="{FA5A826A-2422-29AB-DBA7-DD08A026F467}"/>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23</a:t>
            </a:r>
          </a:p>
        </p:txBody>
      </p:sp>
      <p:sp>
        <p:nvSpPr>
          <p:cNvPr id="165893" name="Text Box 5">
            <a:extLst>
              <a:ext uri="{FF2B5EF4-FFF2-40B4-BE49-F238E27FC236}">
                <a16:creationId xmlns:a16="http://schemas.microsoft.com/office/drawing/2014/main" id="{AB318D8C-C2F4-7F01-F6EC-124F4E31D9D6}"/>
              </a:ext>
            </a:extLst>
          </p:cNvPr>
          <p:cNvSpPr txBox="1">
            <a:spLocks noChangeArrowheads="1"/>
          </p:cNvSpPr>
          <p:nvPr/>
        </p:nvSpPr>
        <p:spPr bwMode="auto">
          <a:xfrm>
            <a:off x="495300" y="914400"/>
            <a:ext cx="8153400" cy="329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a:t>
            </a:r>
            <a:r>
              <a:rPr lang="en-US" altLang="en-US" sz="2600"/>
              <a:t>A consultant has </a:t>
            </a:r>
            <a:r>
              <a:rPr lang="en-US" altLang="en-US" sz="2600" i="1"/>
              <a:t>n</a:t>
            </a:r>
            <a:r>
              <a:rPr lang="en-US" altLang="en-US" sz="2600"/>
              <a:t> jobs which have been offered to her.  Each task requires </a:t>
            </a:r>
            <a:r>
              <a:rPr lang="en-US" altLang="en-US" sz="2600" i="1"/>
              <a:t>w</a:t>
            </a:r>
            <a:r>
              <a:rPr lang="en-US" altLang="en-US" sz="2600" i="1" baseline="-25000"/>
              <a:t>i</a:t>
            </a:r>
            <a:r>
              <a:rPr lang="en-US" altLang="en-US" sz="2600" i="1"/>
              <a:t> </a:t>
            </a:r>
            <a:r>
              <a:rPr lang="en-US" altLang="en-US" sz="2600"/>
              <a:t>hours to perform, and the consultant will be paid </a:t>
            </a:r>
            <a:r>
              <a:rPr lang="en-US" altLang="en-US" sz="2600" i="1"/>
              <a:t>v</a:t>
            </a:r>
            <a:r>
              <a:rPr lang="en-US" altLang="en-US" sz="2600" i="1" baseline="-25000"/>
              <a:t>i</a:t>
            </a:r>
            <a:r>
              <a:rPr lang="en-US" altLang="en-US" sz="2600"/>
              <a:t> dollars if she completes the </a:t>
            </a:r>
            <a:r>
              <a:rPr lang="en-US" altLang="en-US" sz="2600" i="1"/>
              <a:t>i</a:t>
            </a:r>
            <a:r>
              <a:rPr lang="en-US" altLang="en-US" sz="2600" baseline="30000"/>
              <a:t>th</a:t>
            </a:r>
            <a:r>
              <a:rPr lang="en-US" altLang="en-US" sz="2600"/>
              <a:t> task.  Select a subset of the tasks which can be performed within </a:t>
            </a:r>
            <a:r>
              <a:rPr lang="en-US" altLang="en-US" sz="2600" i="1"/>
              <a:t>W</a:t>
            </a:r>
            <a:r>
              <a:rPr lang="en-US" altLang="en-US" sz="2600"/>
              <a:t> total hours which maximizes the consultant’s income.  (Called a </a:t>
            </a:r>
            <a:r>
              <a:rPr lang="en-US" altLang="en-US" sz="2600" u="sng"/>
              <a:t>knapsack problem</a:t>
            </a:r>
            <a:r>
              <a:rPr lang="en-US" altLang="en-US" sz="2600"/>
              <a:t>)</a:t>
            </a:r>
          </a:p>
          <a:p>
            <a:pPr>
              <a:spcBef>
                <a:spcPct val="0"/>
              </a:spcBef>
            </a:pPr>
            <a:r>
              <a:rPr lang="en-US" altLang="en-US" sz="2600"/>
              <a:t>  Formulate this and compute the number of possible (not just feasible) solutions.</a:t>
            </a:r>
          </a:p>
        </p:txBody>
      </p:sp>
      <p:graphicFrame>
        <p:nvGraphicFramePr>
          <p:cNvPr id="165895" name="Object 7">
            <a:extLst>
              <a:ext uri="{FF2B5EF4-FFF2-40B4-BE49-F238E27FC236}">
                <a16:creationId xmlns:a16="http://schemas.microsoft.com/office/drawing/2014/main" id="{28CD8666-ADF1-4071-8177-E3CE06C8329F}"/>
              </a:ext>
            </a:extLst>
          </p:cNvPr>
          <p:cNvGraphicFramePr>
            <a:graphicFrameLocks noChangeAspect="1"/>
          </p:cNvGraphicFramePr>
          <p:nvPr/>
        </p:nvGraphicFramePr>
        <p:xfrm>
          <a:off x="1905000" y="4038600"/>
          <a:ext cx="4432300" cy="2468563"/>
        </p:xfrm>
        <a:graphic>
          <a:graphicData uri="http://schemas.openxmlformats.org/presentationml/2006/ole">
            <mc:AlternateContent xmlns:mc="http://schemas.openxmlformats.org/markup-compatibility/2006">
              <mc:Choice xmlns:v="urn:schemas-microsoft-com:vml" Requires="v">
                <p:oleObj name="Equation" r:id="rId2" imgW="2006600" imgH="1117600" progId="Equation.3">
                  <p:embed/>
                </p:oleObj>
              </mc:Choice>
              <mc:Fallback>
                <p:oleObj name="Equation" r:id="rId2" imgW="2006600" imgH="1117600" progId="Equation.3">
                  <p:embed/>
                  <p:pic>
                    <p:nvPicPr>
                      <p:cNvPr id="165895" name="Object 7">
                        <a:extLst>
                          <a:ext uri="{FF2B5EF4-FFF2-40B4-BE49-F238E27FC236}">
                            <a16:creationId xmlns:a16="http://schemas.microsoft.com/office/drawing/2014/main" id="{28CD8666-ADF1-4071-8177-E3CE06C832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038600"/>
                        <a:ext cx="4432300" cy="2468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5893">
                                            <p:txEl>
                                              <p:pRg st="0" end="0"/>
                                            </p:txEl>
                                          </p:spTgt>
                                        </p:tgtEl>
                                        <p:attrNameLst>
                                          <p:attrName>style.visibility</p:attrName>
                                        </p:attrNameLst>
                                      </p:cBhvr>
                                      <p:to>
                                        <p:strVal val="visible"/>
                                      </p:to>
                                    </p:set>
                                    <p:anim calcmode="lin" valueType="num">
                                      <p:cBhvr additive="base">
                                        <p:cTn id="7" dur="500" fill="hold"/>
                                        <p:tgtEl>
                                          <p:spTgt spid="16589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58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65893">
                                            <p:txEl>
                                              <p:pRg st="1" end="1"/>
                                            </p:txEl>
                                          </p:spTgt>
                                        </p:tgtEl>
                                        <p:attrNameLst>
                                          <p:attrName>style.visibility</p:attrName>
                                        </p:attrNameLst>
                                      </p:cBhvr>
                                      <p:to>
                                        <p:strVal val="visible"/>
                                      </p:to>
                                    </p:set>
                                    <p:anim calcmode="lin" valueType="num">
                                      <p:cBhvr additive="base">
                                        <p:cTn id="13" dur="500" fill="hold"/>
                                        <p:tgtEl>
                                          <p:spTgt spid="16589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589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65895"/>
                                        </p:tgtEl>
                                        <p:attrNameLst>
                                          <p:attrName>style.visibility</p:attrName>
                                        </p:attrNameLst>
                                      </p:cBhvr>
                                      <p:to>
                                        <p:strVal val="visible"/>
                                      </p:to>
                                    </p:set>
                                    <p:anim calcmode="lin" valueType="num">
                                      <p:cBhvr additive="base">
                                        <p:cTn id="19" dur="500" fill="hold"/>
                                        <p:tgtEl>
                                          <p:spTgt spid="165895"/>
                                        </p:tgtEl>
                                        <p:attrNameLst>
                                          <p:attrName>ppt_x</p:attrName>
                                        </p:attrNameLst>
                                      </p:cBhvr>
                                      <p:tavLst>
                                        <p:tav tm="0">
                                          <p:val>
                                            <p:strVal val="0-#ppt_w/2"/>
                                          </p:val>
                                        </p:tav>
                                        <p:tav tm="100000">
                                          <p:val>
                                            <p:strVal val="#ppt_x"/>
                                          </p:val>
                                        </p:tav>
                                      </p:tavLst>
                                    </p:anim>
                                    <p:anim calcmode="lin" valueType="num">
                                      <p:cBhvr additive="base">
                                        <p:cTn id="20" dur="500" fill="hold"/>
                                        <p:tgtEl>
                                          <p:spTgt spid="1658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3"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FB0535F-3D56-9ACB-D22C-D5D9C68383BC}"/>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Example: Economics</a:t>
            </a:r>
          </a:p>
        </p:txBody>
      </p:sp>
      <p:sp>
        <p:nvSpPr>
          <p:cNvPr id="8195" name="Rectangle 3">
            <a:extLst>
              <a:ext uri="{FF2B5EF4-FFF2-40B4-BE49-F238E27FC236}">
                <a16:creationId xmlns:a16="http://schemas.microsoft.com/office/drawing/2014/main" id="{098EE6D0-8CC0-C5CA-B713-96362476AF36}"/>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196" name="Rectangle 4">
            <a:extLst>
              <a:ext uri="{FF2B5EF4-FFF2-40B4-BE49-F238E27FC236}">
                <a16:creationId xmlns:a16="http://schemas.microsoft.com/office/drawing/2014/main" id="{BB43481A-34C6-35CD-0E29-8D49354E2760}"/>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23</a:t>
            </a:r>
          </a:p>
        </p:txBody>
      </p:sp>
      <p:sp>
        <p:nvSpPr>
          <p:cNvPr id="166917" name="Text Box 5">
            <a:extLst>
              <a:ext uri="{FF2B5EF4-FFF2-40B4-BE49-F238E27FC236}">
                <a16:creationId xmlns:a16="http://schemas.microsoft.com/office/drawing/2014/main" id="{E005E50F-86F7-C369-6430-0362CF995CA2}"/>
              </a:ext>
            </a:extLst>
          </p:cNvPr>
          <p:cNvSpPr txBox="1">
            <a:spLocks noChangeArrowheads="1"/>
          </p:cNvSpPr>
          <p:nvPr/>
        </p:nvSpPr>
        <p:spPr bwMode="auto">
          <a:xfrm>
            <a:off x="495300" y="914400"/>
            <a:ext cx="81534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A sales rep must visit clients in </a:t>
            </a:r>
            <a:r>
              <a:rPr lang="en-US" altLang="en-US" sz="2800" i="1"/>
              <a:t>n</a:t>
            </a:r>
            <a:r>
              <a:rPr lang="en-US" altLang="en-US" sz="2800"/>
              <a:t> cities.  The distance between each city is known, and the sales rep needs to visit each client once, and return home.  What order should the cities be visited in to minimize the distance traveled?  (Called the </a:t>
            </a:r>
            <a:r>
              <a:rPr lang="en-US" altLang="en-US" sz="2800" u="sng"/>
              <a:t>Traveling Salesman Problem</a:t>
            </a:r>
            <a:r>
              <a:rPr lang="en-US" altLang="en-US" sz="2800"/>
              <a:t> or TSP)</a:t>
            </a:r>
          </a:p>
        </p:txBody>
      </p:sp>
      <p:graphicFrame>
        <p:nvGraphicFramePr>
          <p:cNvPr id="166918" name="Object 6">
            <a:extLst>
              <a:ext uri="{FF2B5EF4-FFF2-40B4-BE49-F238E27FC236}">
                <a16:creationId xmlns:a16="http://schemas.microsoft.com/office/drawing/2014/main" id="{BA0BDB6E-A6F5-290D-8240-ABAA66240A7A}"/>
              </a:ext>
            </a:extLst>
          </p:cNvPr>
          <p:cNvGraphicFramePr>
            <a:graphicFrameLocks noChangeAspect="1"/>
          </p:cNvGraphicFramePr>
          <p:nvPr/>
        </p:nvGraphicFramePr>
        <p:xfrm>
          <a:off x="1524000" y="3429000"/>
          <a:ext cx="6592888" cy="2019300"/>
        </p:xfrm>
        <a:graphic>
          <a:graphicData uri="http://schemas.openxmlformats.org/presentationml/2006/ole">
            <mc:AlternateContent xmlns:mc="http://schemas.openxmlformats.org/markup-compatibility/2006">
              <mc:Choice xmlns:v="urn:schemas-microsoft-com:vml" Requires="v">
                <p:oleObj name="Equation" r:id="rId2" imgW="2984500" imgH="914400" progId="Equation.3">
                  <p:embed/>
                </p:oleObj>
              </mc:Choice>
              <mc:Fallback>
                <p:oleObj name="Equation" r:id="rId2" imgW="2984500" imgH="914400" progId="Equation.3">
                  <p:embed/>
                  <p:pic>
                    <p:nvPicPr>
                      <p:cNvPr id="166918" name="Object 6">
                        <a:extLst>
                          <a:ext uri="{FF2B5EF4-FFF2-40B4-BE49-F238E27FC236}">
                            <a16:creationId xmlns:a16="http://schemas.microsoft.com/office/drawing/2014/main" id="{BA0BDB6E-A6F5-290D-8240-ABAA66240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429000"/>
                        <a:ext cx="6592888" cy="201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6919" name="Text Box 7">
            <a:extLst>
              <a:ext uri="{FF2B5EF4-FFF2-40B4-BE49-F238E27FC236}">
                <a16:creationId xmlns:a16="http://schemas.microsoft.com/office/drawing/2014/main" id="{D64291C4-0457-38F0-E7BE-AA2F3E6C4966}"/>
              </a:ext>
            </a:extLst>
          </p:cNvPr>
          <p:cNvSpPr txBox="1">
            <a:spLocks noChangeArrowheads="1"/>
          </p:cNvSpPr>
          <p:nvPr/>
        </p:nvSpPr>
        <p:spPr bwMode="auto">
          <a:xfrm>
            <a:off x="533400" y="5638800"/>
            <a:ext cx="322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Is that all we need?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6917">
                                            <p:txEl>
                                              <p:pRg st="0" end="0"/>
                                            </p:txEl>
                                          </p:spTgt>
                                        </p:tgtEl>
                                        <p:attrNameLst>
                                          <p:attrName>style.visibility</p:attrName>
                                        </p:attrNameLst>
                                      </p:cBhvr>
                                      <p:to>
                                        <p:strVal val="visible"/>
                                      </p:to>
                                    </p:set>
                                    <p:anim calcmode="lin" valueType="num">
                                      <p:cBhvr additive="base">
                                        <p:cTn id="7" dur="500" fill="hold"/>
                                        <p:tgtEl>
                                          <p:spTgt spid="16691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69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66918"/>
                                        </p:tgtEl>
                                        <p:attrNameLst>
                                          <p:attrName>style.visibility</p:attrName>
                                        </p:attrNameLst>
                                      </p:cBhvr>
                                      <p:to>
                                        <p:strVal val="visible"/>
                                      </p:to>
                                    </p:set>
                                    <p:anim calcmode="lin" valueType="num">
                                      <p:cBhvr additive="base">
                                        <p:cTn id="13" dur="500" fill="hold"/>
                                        <p:tgtEl>
                                          <p:spTgt spid="166918"/>
                                        </p:tgtEl>
                                        <p:attrNameLst>
                                          <p:attrName>ppt_x</p:attrName>
                                        </p:attrNameLst>
                                      </p:cBhvr>
                                      <p:tavLst>
                                        <p:tav tm="0">
                                          <p:val>
                                            <p:strVal val="0-#ppt_w/2"/>
                                          </p:val>
                                        </p:tav>
                                        <p:tav tm="100000">
                                          <p:val>
                                            <p:strVal val="#ppt_x"/>
                                          </p:val>
                                        </p:tav>
                                      </p:tavLst>
                                    </p:anim>
                                    <p:anim calcmode="lin" valueType="num">
                                      <p:cBhvr additive="base">
                                        <p:cTn id="14" dur="500" fill="hold"/>
                                        <p:tgtEl>
                                          <p:spTgt spid="16691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66919"/>
                                        </p:tgtEl>
                                        <p:attrNameLst>
                                          <p:attrName>style.visibility</p:attrName>
                                        </p:attrNameLst>
                                      </p:cBhvr>
                                      <p:to>
                                        <p:strVal val="visible"/>
                                      </p:to>
                                    </p:set>
                                    <p:anim calcmode="lin" valueType="num">
                                      <p:cBhvr additive="base">
                                        <p:cTn id="19" dur="500" fill="hold"/>
                                        <p:tgtEl>
                                          <p:spTgt spid="166919"/>
                                        </p:tgtEl>
                                        <p:attrNameLst>
                                          <p:attrName>ppt_x</p:attrName>
                                        </p:attrNameLst>
                                      </p:cBhvr>
                                      <p:tavLst>
                                        <p:tav tm="0">
                                          <p:val>
                                            <p:strVal val="0-#ppt_w/2"/>
                                          </p:val>
                                        </p:tav>
                                        <p:tav tm="100000">
                                          <p:val>
                                            <p:strVal val="#ppt_x"/>
                                          </p:val>
                                        </p:tav>
                                      </p:tavLst>
                                    </p:anim>
                                    <p:anim calcmode="lin" valueType="num">
                                      <p:cBhvr additive="base">
                                        <p:cTn id="20" dur="500" fill="hold"/>
                                        <p:tgtEl>
                                          <p:spTgt spid="1669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7" grpId="0" build="p" autoUpdateAnimBg="0"/>
      <p:bldP spid="166919"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5AB2D0A-2274-90B1-CCB4-35D4CE99B43D}"/>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Assignment problems and TSP’s</a:t>
            </a:r>
          </a:p>
        </p:txBody>
      </p:sp>
      <p:sp>
        <p:nvSpPr>
          <p:cNvPr id="9219" name="Rectangle 3">
            <a:extLst>
              <a:ext uri="{FF2B5EF4-FFF2-40B4-BE49-F238E27FC236}">
                <a16:creationId xmlns:a16="http://schemas.microsoft.com/office/drawing/2014/main" id="{35470562-18CE-57D0-B5AD-D026A89C47A1}"/>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0" name="Rectangle 4">
            <a:extLst>
              <a:ext uri="{FF2B5EF4-FFF2-40B4-BE49-F238E27FC236}">
                <a16:creationId xmlns:a16="http://schemas.microsoft.com/office/drawing/2014/main" id="{C152D728-9E11-2A7A-ECD7-8BE68DC56436}"/>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23</a:t>
            </a:r>
          </a:p>
        </p:txBody>
      </p:sp>
      <p:sp>
        <p:nvSpPr>
          <p:cNvPr id="167941" name="Text Box 5">
            <a:extLst>
              <a:ext uri="{FF2B5EF4-FFF2-40B4-BE49-F238E27FC236}">
                <a16:creationId xmlns:a16="http://schemas.microsoft.com/office/drawing/2014/main" id="{A4D95DAD-5911-6539-4378-7ADEDA45E7BE}"/>
              </a:ext>
            </a:extLst>
          </p:cNvPr>
          <p:cNvSpPr txBox="1">
            <a:spLocks noChangeArrowheads="1"/>
          </p:cNvSpPr>
          <p:nvPr/>
        </p:nvSpPr>
        <p:spPr bwMode="auto">
          <a:xfrm>
            <a:off x="495300" y="2743200"/>
            <a:ext cx="815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The problem as stated is called an assignment problem, and allows solutions like:</a:t>
            </a:r>
          </a:p>
        </p:txBody>
      </p:sp>
      <p:graphicFrame>
        <p:nvGraphicFramePr>
          <p:cNvPr id="167942" name="Object 6">
            <a:extLst>
              <a:ext uri="{FF2B5EF4-FFF2-40B4-BE49-F238E27FC236}">
                <a16:creationId xmlns:a16="http://schemas.microsoft.com/office/drawing/2014/main" id="{B06573D1-2A58-41D3-AAA3-E3795B4CE6E3}"/>
              </a:ext>
            </a:extLst>
          </p:cNvPr>
          <p:cNvGraphicFramePr>
            <a:graphicFrameLocks noChangeAspect="1"/>
          </p:cNvGraphicFramePr>
          <p:nvPr/>
        </p:nvGraphicFramePr>
        <p:xfrm>
          <a:off x="1731963" y="990600"/>
          <a:ext cx="5678487" cy="1739900"/>
        </p:xfrm>
        <a:graphic>
          <a:graphicData uri="http://schemas.openxmlformats.org/presentationml/2006/ole">
            <mc:AlternateContent xmlns:mc="http://schemas.openxmlformats.org/markup-compatibility/2006">
              <mc:Choice xmlns:v="urn:schemas-microsoft-com:vml" Requires="v">
                <p:oleObj name="Equation" r:id="rId2" imgW="2984500" imgH="914400" progId="Equation.3">
                  <p:embed/>
                </p:oleObj>
              </mc:Choice>
              <mc:Fallback>
                <p:oleObj name="Equation" r:id="rId2" imgW="2984500" imgH="914400" progId="Equation.3">
                  <p:embed/>
                  <p:pic>
                    <p:nvPicPr>
                      <p:cNvPr id="167942" name="Object 6">
                        <a:extLst>
                          <a:ext uri="{FF2B5EF4-FFF2-40B4-BE49-F238E27FC236}">
                            <a16:creationId xmlns:a16="http://schemas.microsoft.com/office/drawing/2014/main" id="{B06573D1-2A58-41D3-AAA3-E3795B4CE6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1963" y="990600"/>
                        <a:ext cx="5678487" cy="173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7943" name="Text Box 7">
            <a:extLst>
              <a:ext uri="{FF2B5EF4-FFF2-40B4-BE49-F238E27FC236}">
                <a16:creationId xmlns:a16="http://schemas.microsoft.com/office/drawing/2014/main" id="{EF07EFCB-7220-18B8-F895-D8F20C6BB4B4}"/>
              </a:ext>
            </a:extLst>
          </p:cNvPr>
          <p:cNvSpPr txBox="1">
            <a:spLocks noChangeArrowheads="1"/>
          </p:cNvSpPr>
          <p:nvPr/>
        </p:nvSpPr>
        <p:spPr bwMode="auto">
          <a:xfrm>
            <a:off x="457200" y="5334000"/>
            <a:ext cx="8229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To avoid these solutions, we need a “no subtours” constraint – adds many equations and variables</a:t>
            </a:r>
          </a:p>
        </p:txBody>
      </p:sp>
      <p:grpSp>
        <p:nvGrpSpPr>
          <p:cNvPr id="2" name="Group 29">
            <a:extLst>
              <a:ext uri="{FF2B5EF4-FFF2-40B4-BE49-F238E27FC236}">
                <a16:creationId xmlns:a16="http://schemas.microsoft.com/office/drawing/2014/main" id="{EE1E948F-9A83-39AF-8C88-2BD1F200A887}"/>
              </a:ext>
            </a:extLst>
          </p:cNvPr>
          <p:cNvGrpSpPr>
            <a:grpSpLocks/>
          </p:cNvGrpSpPr>
          <p:nvPr/>
        </p:nvGrpSpPr>
        <p:grpSpPr bwMode="auto">
          <a:xfrm>
            <a:off x="2971800" y="3810000"/>
            <a:ext cx="3200400" cy="1219200"/>
            <a:chOff x="1248" y="2400"/>
            <a:chExt cx="2016" cy="768"/>
          </a:xfrm>
        </p:grpSpPr>
        <p:sp>
          <p:nvSpPr>
            <p:cNvPr id="9225" name="Oval 8">
              <a:extLst>
                <a:ext uri="{FF2B5EF4-FFF2-40B4-BE49-F238E27FC236}">
                  <a16:creationId xmlns:a16="http://schemas.microsoft.com/office/drawing/2014/main" id="{2AFDD97C-937E-7588-8206-7FEAC213B215}"/>
                </a:ext>
              </a:extLst>
            </p:cNvPr>
            <p:cNvSpPr>
              <a:spLocks noChangeArrowheads="1"/>
            </p:cNvSpPr>
            <p:nvPr/>
          </p:nvSpPr>
          <p:spPr bwMode="auto">
            <a:xfrm>
              <a:off x="1248" y="2688"/>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6" name="Oval 9">
              <a:extLst>
                <a:ext uri="{FF2B5EF4-FFF2-40B4-BE49-F238E27FC236}">
                  <a16:creationId xmlns:a16="http://schemas.microsoft.com/office/drawing/2014/main" id="{33448917-C7A5-3248-3909-AD5A26FCCCD9}"/>
                </a:ext>
              </a:extLst>
            </p:cNvPr>
            <p:cNvSpPr>
              <a:spLocks noChangeArrowheads="1"/>
            </p:cNvSpPr>
            <p:nvPr/>
          </p:nvSpPr>
          <p:spPr bwMode="auto">
            <a:xfrm>
              <a:off x="1680"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7" name="Oval 10">
              <a:extLst>
                <a:ext uri="{FF2B5EF4-FFF2-40B4-BE49-F238E27FC236}">
                  <a16:creationId xmlns:a16="http://schemas.microsoft.com/office/drawing/2014/main" id="{627664B4-9BEF-C487-715B-E19A41A0CE26}"/>
                </a:ext>
              </a:extLst>
            </p:cNvPr>
            <p:cNvSpPr>
              <a:spLocks noChangeArrowheads="1"/>
            </p:cNvSpPr>
            <p:nvPr/>
          </p:nvSpPr>
          <p:spPr bwMode="auto">
            <a:xfrm>
              <a:off x="2160" y="27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8" name="Oval 11">
              <a:extLst>
                <a:ext uri="{FF2B5EF4-FFF2-40B4-BE49-F238E27FC236}">
                  <a16:creationId xmlns:a16="http://schemas.microsoft.com/office/drawing/2014/main" id="{25F148B5-4BA6-7A97-D06C-17BB98C093E3}"/>
                </a:ext>
              </a:extLst>
            </p:cNvPr>
            <p:cNvSpPr>
              <a:spLocks noChangeArrowheads="1"/>
            </p:cNvSpPr>
            <p:nvPr/>
          </p:nvSpPr>
          <p:spPr bwMode="auto">
            <a:xfrm>
              <a:off x="2688" y="249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9" name="Oval 12">
              <a:extLst>
                <a:ext uri="{FF2B5EF4-FFF2-40B4-BE49-F238E27FC236}">
                  <a16:creationId xmlns:a16="http://schemas.microsoft.com/office/drawing/2014/main" id="{A15E1CD3-6969-8FD9-61E2-AE5F096F8A69}"/>
                </a:ext>
              </a:extLst>
            </p:cNvPr>
            <p:cNvSpPr>
              <a:spLocks noChangeArrowheads="1"/>
            </p:cNvSpPr>
            <p:nvPr/>
          </p:nvSpPr>
          <p:spPr bwMode="auto">
            <a:xfrm>
              <a:off x="3216"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30" name="Oval 13">
              <a:extLst>
                <a:ext uri="{FF2B5EF4-FFF2-40B4-BE49-F238E27FC236}">
                  <a16:creationId xmlns:a16="http://schemas.microsoft.com/office/drawing/2014/main" id="{E48B580E-9E78-6FB9-DDDF-F0D6C4CA5845}"/>
                </a:ext>
              </a:extLst>
            </p:cNvPr>
            <p:cNvSpPr>
              <a:spLocks noChangeArrowheads="1"/>
            </p:cNvSpPr>
            <p:nvPr/>
          </p:nvSpPr>
          <p:spPr bwMode="auto">
            <a:xfrm>
              <a:off x="2592" y="2928"/>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31" name="Oval 14">
              <a:extLst>
                <a:ext uri="{FF2B5EF4-FFF2-40B4-BE49-F238E27FC236}">
                  <a16:creationId xmlns:a16="http://schemas.microsoft.com/office/drawing/2014/main" id="{6604410B-71B9-63C1-0809-70169D256300}"/>
                </a:ext>
              </a:extLst>
            </p:cNvPr>
            <p:cNvSpPr>
              <a:spLocks noChangeArrowheads="1"/>
            </p:cNvSpPr>
            <p:nvPr/>
          </p:nvSpPr>
          <p:spPr bwMode="auto">
            <a:xfrm>
              <a:off x="1248" y="312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32" name="Oval 15">
              <a:extLst>
                <a:ext uri="{FF2B5EF4-FFF2-40B4-BE49-F238E27FC236}">
                  <a16:creationId xmlns:a16="http://schemas.microsoft.com/office/drawing/2014/main" id="{98753AFD-53D3-2ADC-8CDE-65F97665B493}"/>
                </a:ext>
              </a:extLst>
            </p:cNvPr>
            <p:cNvSpPr>
              <a:spLocks noChangeArrowheads="1"/>
            </p:cNvSpPr>
            <p:nvPr/>
          </p:nvSpPr>
          <p:spPr bwMode="auto">
            <a:xfrm>
              <a:off x="1728" y="288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33" name="Oval 16">
              <a:extLst>
                <a:ext uri="{FF2B5EF4-FFF2-40B4-BE49-F238E27FC236}">
                  <a16:creationId xmlns:a16="http://schemas.microsoft.com/office/drawing/2014/main" id="{4E762004-8A7E-9C20-0AC1-45F671B94617}"/>
                </a:ext>
              </a:extLst>
            </p:cNvPr>
            <p:cNvSpPr>
              <a:spLocks noChangeArrowheads="1"/>
            </p:cNvSpPr>
            <p:nvPr/>
          </p:nvSpPr>
          <p:spPr bwMode="auto">
            <a:xfrm>
              <a:off x="1968" y="312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34" name="Line 17">
              <a:extLst>
                <a:ext uri="{FF2B5EF4-FFF2-40B4-BE49-F238E27FC236}">
                  <a16:creationId xmlns:a16="http://schemas.microsoft.com/office/drawing/2014/main" id="{25C0E81B-ABCF-588A-CBA5-CB242015C81C}"/>
                </a:ext>
              </a:extLst>
            </p:cNvPr>
            <p:cNvSpPr>
              <a:spLocks noChangeShapeType="1"/>
            </p:cNvSpPr>
            <p:nvPr/>
          </p:nvSpPr>
          <p:spPr bwMode="auto">
            <a:xfrm flipV="1">
              <a:off x="1248" y="2400"/>
              <a:ext cx="48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5" name="Line 19">
              <a:extLst>
                <a:ext uri="{FF2B5EF4-FFF2-40B4-BE49-F238E27FC236}">
                  <a16:creationId xmlns:a16="http://schemas.microsoft.com/office/drawing/2014/main" id="{A8E968E0-21C0-8FA8-CCC9-076CF7BAC40A}"/>
                </a:ext>
              </a:extLst>
            </p:cNvPr>
            <p:cNvSpPr>
              <a:spLocks noChangeShapeType="1"/>
            </p:cNvSpPr>
            <p:nvPr/>
          </p:nvSpPr>
          <p:spPr bwMode="auto">
            <a:xfrm>
              <a:off x="1728" y="2400"/>
              <a:ext cx="1008"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6" name="Line 20">
              <a:extLst>
                <a:ext uri="{FF2B5EF4-FFF2-40B4-BE49-F238E27FC236}">
                  <a16:creationId xmlns:a16="http://schemas.microsoft.com/office/drawing/2014/main" id="{B187FF08-2046-ACFF-E758-EBFCD78CB105}"/>
                </a:ext>
              </a:extLst>
            </p:cNvPr>
            <p:cNvSpPr>
              <a:spLocks noChangeShapeType="1"/>
            </p:cNvSpPr>
            <p:nvPr/>
          </p:nvSpPr>
          <p:spPr bwMode="auto">
            <a:xfrm>
              <a:off x="2688" y="2496"/>
              <a:ext cx="576"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7" name="Line 21">
              <a:extLst>
                <a:ext uri="{FF2B5EF4-FFF2-40B4-BE49-F238E27FC236}">
                  <a16:creationId xmlns:a16="http://schemas.microsoft.com/office/drawing/2014/main" id="{3198E0BF-C207-E15A-37F9-AD2B06221ABF}"/>
                </a:ext>
              </a:extLst>
            </p:cNvPr>
            <p:cNvSpPr>
              <a:spLocks noChangeShapeType="1"/>
            </p:cNvSpPr>
            <p:nvPr/>
          </p:nvSpPr>
          <p:spPr bwMode="auto">
            <a:xfrm flipH="1">
              <a:off x="2592" y="2640"/>
              <a:ext cx="62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8" name="Line 22">
              <a:extLst>
                <a:ext uri="{FF2B5EF4-FFF2-40B4-BE49-F238E27FC236}">
                  <a16:creationId xmlns:a16="http://schemas.microsoft.com/office/drawing/2014/main" id="{B8240A05-ADBC-06E4-5612-8C93A1143BE5}"/>
                </a:ext>
              </a:extLst>
            </p:cNvPr>
            <p:cNvSpPr>
              <a:spLocks noChangeShapeType="1"/>
            </p:cNvSpPr>
            <p:nvPr/>
          </p:nvSpPr>
          <p:spPr bwMode="auto">
            <a:xfrm flipH="1" flipV="1">
              <a:off x="2208" y="2784"/>
              <a:ext cx="43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9" name="Line 23">
              <a:extLst>
                <a:ext uri="{FF2B5EF4-FFF2-40B4-BE49-F238E27FC236}">
                  <a16:creationId xmlns:a16="http://schemas.microsoft.com/office/drawing/2014/main" id="{677EC7F4-FD64-6A39-BD12-EA56D21FB320}"/>
                </a:ext>
              </a:extLst>
            </p:cNvPr>
            <p:cNvSpPr>
              <a:spLocks noChangeShapeType="1"/>
            </p:cNvSpPr>
            <p:nvPr/>
          </p:nvSpPr>
          <p:spPr bwMode="auto">
            <a:xfrm flipH="1">
              <a:off x="1248" y="2736"/>
              <a:ext cx="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0" name="Line 24">
              <a:extLst>
                <a:ext uri="{FF2B5EF4-FFF2-40B4-BE49-F238E27FC236}">
                  <a16:creationId xmlns:a16="http://schemas.microsoft.com/office/drawing/2014/main" id="{1F7DF6AB-C105-8458-443B-772F9880C4B3}"/>
                </a:ext>
              </a:extLst>
            </p:cNvPr>
            <p:cNvSpPr>
              <a:spLocks noChangeShapeType="1"/>
            </p:cNvSpPr>
            <p:nvPr/>
          </p:nvSpPr>
          <p:spPr bwMode="auto">
            <a:xfrm flipV="1">
              <a:off x="1296" y="2880"/>
              <a:ext cx="48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1" name="Line 26">
              <a:extLst>
                <a:ext uri="{FF2B5EF4-FFF2-40B4-BE49-F238E27FC236}">
                  <a16:creationId xmlns:a16="http://schemas.microsoft.com/office/drawing/2014/main" id="{12E8D9E6-416A-8563-AA6D-EF3D3C4981DB}"/>
                </a:ext>
              </a:extLst>
            </p:cNvPr>
            <p:cNvSpPr>
              <a:spLocks noChangeShapeType="1"/>
            </p:cNvSpPr>
            <p:nvPr/>
          </p:nvSpPr>
          <p:spPr bwMode="auto">
            <a:xfrm>
              <a:off x="1776" y="2928"/>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2" name="Line 28">
              <a:extLst>
                <a:ext uri="{FF2B5EF4-FFF2-40B4-BE49-F238E27FC236}">
                  <a16:creationId xmlns:a16="http://schemas.microsoft.com/office/drawing/2014/main" id="{C249578E-F713-017E-7CCE-54D6ED1DB103}"/>
                </a:ext>
              </a:extLst>
            </p:cNvPr>
            <p:cNvSpPr>
              <a:spLocks noChangeShapeType="1"/>
            </p:cNvSpPr>
            <p:nvPr/>
          </p:nvSpPr>
          <p:spPr bwMode="auto">
            <a:xfrm>
              <a:off x="1296" y="3168"/>
              <a:ext cx="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7942"/>
                                        </p:tgtEl>
                                        <p:attrNameLst>
                                          <p:attrName>style.visibility</p:attrName>
                                        </p:attrNameLst>
                                      </p:cBhvr>
                                      <p:to>
                                        <p:strVal val="visible"/>
                                      </p:to>
                                    </p:set>
                                    <p:anim calcmode="lin" valueType="num">
                                      <p:cBhvr additive="base">
                                        <p:cTn id="7" dur="500" fill="hold"/>
                                        <p:tgtEl>
                                          <p:spTgt spid="167942"/>
                                        </p:tgtEl>
                                        <p:attrNameLst>
                                          <p:attrName>ppt_x</p:attrName>
                                        </p:attrNameLst>
                                      </p:cBhvr>
                                      <p:tavLst>
                                        <p:tav tm="0">
                                          <p:val>
                                            <p:strVal val="0-#ppt_w/2"/>
                                          </p:val>
                                        </p:tav>
                                        <p:tav tm="100000">
                                          <p:val>
                                            <p:strVal val="#ppt_x"/>
                                          </p:val>
                                        </p:tav>
                                      </p:tavLst>
                                    </p:anim>
                                    <p:anim calcmode="lin" valueType="num">
                                      <p:cBhvr additive="base">
                                        <p:cTn id="8" dur="500" fill="hold"/>
                                        <p:tgtEl>
                                          <p:spTgt spid="1679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67941">
                                            <p:txEl>
                                              <p:pRg st="0" end="0"/>
                                            </p:txEl>
                                          </p:spTgt>
                                        </p:tgtEl>
                                        <p:attrNameLst>
                                          <p:attrName>style.visibility</p:attrName>
                                        </p:attrNameLst>
                                      </p:cBhvr>
                                      <p:to>
                                        <p:strVal val="visible"/>
                                      </p:to>
                                    </p:set>
                                    <p:anim calcmode="lin" valueType="num">
                                      <p:cBhvr additive="base">
                                        <p:cTn id="13" dur="500" fill="hold"/>
                                        <p:tgtEl>
                                          <p:spTgt spid="16794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794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67943"/>
                                        </p:tgtEl>
                                        <p:attrNameLst>
                                          <p:attrName>style.visibility</p:attrName>
                                        </p:attrNameLst>
                                      </p:cBhvr>
                                      <p:to>
                                        <p:strVal val="visible"/>
                                      </p:to>
                                    </p:set>
                                    <p:anim calcmode="lin" valueType="num">
                                      <p:cBhvr additive="base">
                                        <p:cTn id="25" dur="500" fill="hold"/>
                                        <p:tgtEl>
                                          <p:spTgt spid="167943"/>
                                        </p:tgtEl>
                                        <p:attrNameLst>
                                          <p:attrName>ppt_x</p:attrName>
                                        </p:attrNameLst>
                                      </p:cBhvr>
                                      <p:tavLst>
                                        <p:tav tm="0">
                                          <p:val>
                                            <p:strVal val="0-#ppt_w/2"/>
                                          </p:val>
                                        </p:tav>
                                        <p:tav tm="100000">
                                          <p:val>
                                            <p:strVal val="#ppt_x"/>
                                          </p:val>
                                        </p:tav>
                                      </p:tavLst>
                                    </p:anim>
                                    <p:anim calcmode="lin" valueType="num">
                                      <p:cBhvr additive="base">
                                        <p:cTn id="26" dur="500" fill="hold"/>
                                        <p:tgtEl>
                                          <p:spTgt spid="1679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1" grpId="0" build="p" autoUpdateAnimBg="0"/>
      <p:bldP spid="167943"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F7F80582-7BD1-956C-3A5C-AACF1DF69D1E}"/>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TSP’s in Chemical Engineering</a:t>
            </a:r>
          </a:p>
        </p:txBody>
      </p:sp>
      <p:sp>
        <p:nvSpPr>
          <p:cNvPr id="10243" name="Rectangle 3">
            <a:extLst>
              <a:ext uri="{FF2B5EF4-FFF2-40B4-BE49-F238E27FC236}">
                <a16:creationId xmlns:a16="http://schemas.microsoft.com/office/drawing/2014/main" id="{51BC4DAA-F2BB-75D4-4794-BE4ACA21DD0E}"/>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0244" name="Rectangle 4">
            <a:extLst>
              <a:ext uri="{FF2B5EF4-FFF2-40B4-BE49-F238E27FC236}">
                <a16:creationId xmlns:a16="http://schemas.microsoft.com/office/drawing/2014/main" id="{3D517BD1-AB4D-0969-4D97-A2FB211B3061}"/>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23</a:t>
            </a:r>
          </a:p>
        </p:txBody>
      </p:sp>
      <p:sp>
        <p:nvSpPr>
          <p:cNvPr id="10245" name="Text Box 5">
            <a:extLst>
              <a:ext uri="{FF2B5EF4-FFF2-40B4-BE49-F238E27FC236}">
                <a16:creationId xmlns:a16="http://schemas.microsoft.com/office/drawing/2014/main" id="{7E8B20EA-90C3-E045-BE2F-0D4ACF49720B}"/>
              </a:ext>
            </a:extLst>
          </p:cNvPr>
          <p:cNvSpPr txBox="1">
            <a:spLocks noChangeArrowheads="1"/>
          </p:cNvSpPr>
          <p:nvPr/>
        </p:nvSpPr>
        <p:spPr bwMode="auto">
          <a:xfrm>
            <a:off x="495300" y="1295400"/>
            <a:ext cx="8153400"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a:t>
            </a:r>
            <a:r>
              <a:rPr lang="en-US" altLang="en-US"/>
              <a:t>Given a batch reactor in a flexible chemical plant which can make </a:t>
            </a:r>
            <a:r>
              <a:rPr lang="en-US" altLang="en-US" i="1"/>
              <a:t>n</a:t>
            </a:r>
            <a:r>
              <a:rPr lang="en-US" altLang="en-US"/>
              <a:t> specialty chemicals, derive the order in which you make each product.  You know the changeover costs to switch from making product </a:t>
            </a:r>
            <a:r>
              <a:rPr lang="en-US" altLang="en-US" i="1"/>
              <a:t>i </a:t>
            </a:r>
            <a:r>
              <a:rPr lang="en-US" altLang="en-US"/>
              <a:t>to product </a:t>
            </a:r>
            <a:r>
              <a:rPr lang="en-US" altLang="en-US" i="1"/>
              <a:t>j</a:t>
            </a:r>
            <a:r>
              <a:rPr lang="en-US" altLang="en-US"/>
              <a:t>, you must make all </a:t>
            </a:r>
            <a:r>
              <a:rPr lang="en-US" altLang="en-US" i="1"/>
              <a:t>n</a:t>
            </a:r>
            <a:r>
              <a:rPr lang="en-US" altLang="en-US"/>
              <a:t> chemicals, and you wish to minimize total production costs</a:t>
            </a:r>
          </a:p>
        </p:txBody>
      </p:sp>
      <p:sp>
        <p:nvSpPr>
          <p:cNvPr id="10246" name="Text Box 7">
            <a:extLst>
              <a:ext uri="{FF2B5EF4-FFF2-40B4-BE49-F238E27FC236}">
                <a16:creationId xmlns:a16="http://schemas.microsoft.com/office/drawing/2014/main" id="{5CE45F51-FA00-77D9-1B21-936855B51F20}"/>
              </a:ext>
            </a:extLst>
          </p:cNvPr>
          <p:cNvSpPr txBox="1">
            <a:spLocks noChangeArrowheads="1"/>
          </p:cNvSpPr>
          <p:nvPr/>
        </p:nvSpPr>
        <p:spPr bwMode="auto">
          <a:xfrm>
            <a:off x="533400" y="4953000"/>
            <a:ext cx="75739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a:t>
            </a:r>
            <a:r>
              <a:rPr lang="en-US" altLang="en-US"/>
              <a:t>This is a TSP as well – very tough to solve for large </a:t>
            </a:r>
            <a:r>
              <a:rPr lang="en-US" altLang="en-US" i="1"/>
              <a:t>n</a:t>
            </a:r>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E1C6A5C-0269-20CA-9551-EAD97152273C}"/>
              </a:ext>
            </a:extLst>
          </p:cNvPr>
          <p:cNvSpPr>
            <a:spLocks noGrp="1" noChangeArrowheads="1"/>
          </p:cNvSpPr>
          <p:nvPr>
            <p:ph type="title"/>
          </p:nvPr>
        </p:nvSpPr>
        <p:spPr>
          <a:xfrm>
            <a:off x="685800" y="0"/>
            <a:ext cx="7772400" cy="1143000"/>
          </a:xfrm>
        </p:spPr>
        <p:txBody>
          <a:bodyPr/>
          <a:lstStyle/>
          <a:p>
            <a:pPr>
              <a:lnSpc>
                <a:spcPct val="80000"/>
              </a:lnSpc>
            </a:pPr>
            <a:r>
              <a:rPr lang="en-US" altLang="en-US" sz="4600"/>
              <a:t>Bounding the Solution </a:t>
            </a:r>
          </a:p>
        </p:txBody>
      </p:sp>
      <p:sp>
        <p:nvSpPr>
          <p:cNvPr id="12291" name="Rectangle 3">
            <a:extLst>
              <a:ext uri="{FF2B5EF4-FFF2-40B4-BE49-F238E27FC236}">
                <a16:creationId xmlns:a16="http://schemas.microsoft.com/office/drawing/2014/main" id="{7D93E7D5-5E87-1023-A4FD-CC326DBE3BEB}"/>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292" name="Rectangle 4">
            <a:extLst>
              <a:ext uri="{FF2B5EF4-FFF2-40B4-BE49-F238E27FC236}">
                <a16:creationId xmlns:a16="http://schemas.microsoft.com/office/drawing/2014/main" id="{07AB3748-41BB-DFA0-29CE-715DAE36A68D}"/>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23</a:t>
            </a:r>
          </a:p>
        </p:txBody>
      </p:sp>
      <p:sp>
        <p:nvSpPr>
          <p:cNvPr id="172037" name="Text Box 5">
            <a:extLst>
              <a:ext uri="{FF2B5EF4-FFF2-40B4-BE49-F238E27FC236}">
                <a16:creationId xmlns:a16="http://schemas.microsoft.com/office/drawing/2014/main" id="{090CF3D6-3405-53EF-24CD-62E52192AA92}"/>
              </a:ext>
            </a:extLst>
          </p:cNvPr>
          <p:cNvSpPr txBox="1">
            <a:spLocks noChangeArrowheads="1"/>
          </p:cNvSpPr>
          <p:nvPr/>
        </p:nvSpPr>
        <p:spPr bwMode="auto">
          <a:xfrm>
            <a:off x="304800" y="838200"/>
            <a:ext cx="3886200"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What happens if we remove the integrality restrictions?</a:t>
            </a:r>
          </a:p>
          <a:p>
            <a:pPr>
              <a:spcBef>
                <a:spcPct val="0"/>
              </a:spcBef>
            </a:pPr>
            <a:r>
              <a:rPr lang="en-US" altLang="en-US" sz="2800"/>
              <a:t>  We get an LP, the solution to which is always </a:t>
            </a:r>
            <a:r>
              <a:rPr lang="en-US" altLang="en-US" sz="2800">
                <a:sym typeface="Symbol" panose="05050102010706020507" pitchFamily="18" charset="2"/>
              </a:rPr>
              <a:t> the solution to the MILP (an </a:t>
            </a:r>
            <a:r>
              <a:rPr lang="en-US" altLang="en-US" sz="2800" u="sng">
                <a:sym typeface="Symbol" panose="05050102010706020507" pitchFamily="18" charset="2"/>
              </a:rPr>
              <a:t>upper bound)</a:t>
            </a:r>
          </a:p>
          <a:p>
            <a:pPr>
              <a:spcBef>
                <a:spcPct val="0"/>
              </a:spcBef>
            </a:pPr>
            <a:r>
              <a:rPr lang="en-US" altLang="en-US" sz="2800">
                <a:sym typeface="Symbol" panose="05050102010706020507" pitchFamily="18" charset="2"/>
              </a:rPr>
              <a:t>  We can use the solution at any feasible point as a </a:t>
            </a:r>
            <a:r>
              <a:rPr lang="en-US" altLang="en-US" sz="2800" u="sng">
                <a:sym typeface="Symbol" panose="05050102010706020507" pitchFamily="18" charset="2"/>
              </a:rPr>
              <a:t>lower bound</a:t>
            </a:r>
            <a:endParaRPr lang="en-US" altLang="en-US" sz="2800">
              <a:sym typeface="Symbol" panose="05050102010706020507" pitchFamily="18" charset="2"/>
            </a:endParaRPr>
          </a:p>
        </p:txBody>
      </p:sp>
      <p:graphicFrame>
        <p:nvGraphicFramePr>
          <p:cNvPr id="12294" name="Object 7">
            <a:extLst>
              <a:ext uri="{FF2B5EF4-FFF2-40B4-BE49-F238E27FC236}">
                <a16:creationId xmlns:a16="http://schemas.microsoft.com/office/drawing/2014/main" id="{AE13D1AA-7624-951D-A447-4B3B3463A338}"/>
              </a:ext>
            </a:extLst>
          </p:cNvPr>
          <p:cNvGraphicFramePr>
            <a:graphicFrameLocks noChangeAspect="1"/>
          </p:cNvGraphicFramePr>
          <p:nvPr/>
        </p:nvGraphicFramePr>
        <p:xfrm>
          <a:off x="5638800" y="914400"/>
          <a:ext cx="3124200" cy="1970088"/>
        </p:xfrm>
        <a:graphic>
          <a:graphicData uri="http://schemas.openxmlformats.org/presentationml/2006/ole">
            <mc:AlternateContent xmlns:mc="http://schemas.openxmlformats.org/markup-compatibility/2006">
              <mc:Choice xmlns:v="urn:schemas-microsoft-com:vml" Requires="v">
                <p:oleObj name="Equation" r:id="rId2" imgW="1447800" imgH="914400" progId="Equation.3">
                  <p:embed/>
                </p:oleObj>
              </mc:Choice>
              <mc:Fallback>
                <p:oleObj name="Equation" r:id="rId2" imgW="1447800" imgH="914400" progId="Equation.3">
                  <p:embed/>
                  <p:pic>
                    <p:nvPicPr>
                      <p:cNvPr id="12294" name="Object 7">
                        <a:extLst>
                          <a:ext uri="{FF2B5EF4-FFF2-40B4-BE49-F238E27FC236}">
                            <a16:creationId xmlns:a16="http://schemas.microsoft.com/office/drawing/2014/main" id="{AE13D1AA-7624-951D-A447-4B3B3463A3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914400"/>
                        <a:ext cx="3124200" cy="197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8">
            <a:extLst>
              <a:ext uri="{FF2B5EF4-FFF2-40B4-BE49-F238E27FC236}">
                <a16:creationId xmlns:a16="http://schemas.microsoft.com/office/drawing/2014/main" id="{01FAF68F-FC95-3C99-CE63-B34C0CE1217F}"/>
              </a:ext>
            </a:extLst>
          </p:cNvPr>
          <p:cNvGrpSpPr>
            <a:grpSpLocks/>
          </p:cNvGrpSpPr>
          <p:nvPr/>
        </p:nvGrpSpPr>
        <p:grpSpPr bwMode="auto">
          <a:xfrm>
            <a:off x="3657600" y="1447800"/>
            <a:ext cx="5029200" cy="3352800"/>
            <a:chOff x="2304" y="912"/>
            <a:chExt cx="3168" cy="2112"/>
          </a:xfrm>
        </p:grpSpPr>
        <p:sp>
          <p:nvSpPr>
            <p:cNvPr id="12297" name="Line 9">
              <a:extLst>
                <a:ext uri="{FF2B5EF4-FFF2-40B4-BE49-F238E27FC236}">
                  <a16:creationId xmlns:a16="http://schemas.microsoft.com/office/drawing/2014/main" id="{7DBEE751-14D5-6C21-2F4A-07B05CCE78DE}"/>
                </a:ext>
              </a:extLst>
            </p:cNvPr>
            <p:cNvSpPr>
              <a:spLocks noChangeShapeType="1"/>
            </p:cNvSpPr>
            <p:nvPr/>
          </p:nvSpPr>
          <p:spPr bwMode="auto">
            <a:xfrm flipV="1">
              <a:off x="3072" y="912"/>
              <a:ext cx="0" cy="211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298" name="Line 10">
              <a:extLst>
                <a:ext uri="{FF2B5EF4-FFF2-40B4-BE49-F238E27FC236}">
                  <a16:creationId xmlns:a16="http://schemas.microsoft.com/office/drawing/2014/main" id="{6109B5A7-520D-2E17-CC2A-264BA17436A6}"/>
                </a:ext>
              </a:extLst>
            </p:cNvPr>
            <p:cNvSpPr>
              <a:spLocks noChangeShapeType="1"/>
            </p:cNvSpPr>
            <p:nvPr/>
          </p:nvSpPr>
          <p:spPr bwMode="auto">
            <a:xfrm>
              <a:off x="3024" y="139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9" name="Line 11">
              <a:extLst>
                <a:ext uri="{FF2B5EF4-FFF2-40B4-BE49-F238E27FC236}">
                  <a16:creationId xmlns:a16="http://schemas.microsoft.com/office/drawing/2014/main" id="{5A47B369-1C9D-A14C-4412-6BF2382FEC99}"/>
                </a:ext>
              </a:extLst>
            </p:cNvPr>
            <p:cNvSpPr>
              <a:spLocks noChangeShapeType="1"/>
            </p:cNvSpPr>
            <p:nvPr/>
          </p:nvSpPr>
          <p:spPr bwMode="auto">
            <a:xfrm>
              <a:off x="3024" y="163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0" name="Line 12">
              <a:extLst>
                <a:ext uri="{FF2B5EF4-FFF2-40B4-BE49-F238E27FC236}">
                  <a16:creationId xmlns:a16="http://schemas.microsoft.com/office/drawing/2014/main" id="{2EB73B46-F578-E330-0EBA-9E02CAD37E5E}"/>
                </a:ext>
              </a:extLst>
            </p:cNvPr>
            <p:cNvSpPr>
              <a:spLocks noChangeShapeType="1"/>
            </p:cNvSpPr>
            <p:nvPr/>
          </p:nvSpPr>
          <p:spPr bwMode="auto">
            <a:xfrm>
              <a:off x="3024" y="192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1" name="Text Box 13">
              <a:extLst>
                <a:ext uri="{FF2B5EF4-FFF2-40B4-BE49-F238E27FC236}">
                  <a16:creationId xmlns:a16="http://schemas.microsoft.com/office/drawing/2014/main" id="{2A7557EA-1320-9E78-A4C2-99B7CB68AFD8}"/>
                </a:ext>
              </a:extLst>
            </p:cNvPr>
            <p:cNvSpPr txBox="1">
              <a:spLocks noChangeArrowheads="1"/>
            </p:cNvSpPr>
            <p:nvPr/>
          </p:nvSpPr>
          <p:spPr bwMode="auto">
            <a:xfrm>
              <a:off x="2880" y="204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a:t>
              </a:r>
            </a:p>
          </p:txBody>
        </p:sp>
        <p:sp>
          <p:nvSpPr>
            <p:cNvPr id="12302" name="Text Box 14">
              <a:extLst>
                <a:ext uri="{FF2B5EF4-FFF2-40B4-BE49-F238E27FC236}">
                  <a16:creationId xmlns:a16="http://schemas.microsoft.com/office/drawing/2014/main" id="{3896FEF2-A35A-D385-95E7-52861FA4A1DF}"/>
                </a:ext>
              </a:extLst>
            </p:cNvPr>
            <p:cNvSpPr txBox="1">
              <a:spLocks noChangeArrowheads="1"/>
            </p:cNvSpPr>
            <p:nvPr/>
          </p:nvSpPr>
          <p:spPr bwMode="auto">
            <a:xfrm>
              <a:off x="2880" y="230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a:t>
              </a:r>
            </a:p>
          </p:txBody>
        </p:sp>
        <p:sp>
          <p:nvSpPr>
            <p:cNvPr id="12303" name="Line 15">
              <a:extLst>
                <a:ext uri="{FF2B5EF4-FFF2-40B4-BE49-F238E27FC236}">
                  <a16:creationId xmlns:a16="http://schemas.microsoft.com/office/drawing/2014/main" id="{66EC6CCA-62CF-C531-1C5E-49A56A2A46F8}"/>
                </a:ext>
              </a:extLst>
            </p:cNvPr>
            <p:cNvSpPr>
              <a:spLocks noChangeShapeType="1"/>
            </p:cNvSpPr>
            <p:nvPr/>
          </p:nvSpPr>
          <p:spPr bwMode="auto">
            <a:xfrm>
              <a:off x="2304" y="2640"/>
              <a:ext cx="316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04" name="Line 16">
              <a:extLst>
                <a:ext uri="{FF2B5EF4-FFF2-40B4-BE49-F238E27FC236}">
                  <a16:creationId xmlns:a16="http://schemas.microsoft.com/office/drawing/2014/main" id="{6DDB8C49-2278-189D-E6A8-0B1E5C1B8AB0}"/>
                </a:ext>
              </a:extLst>
            </p:cNvPr>
            <p:cNvSpPr>
              <a:spLocks noChangeShapeType="1"/>
            </p:cNvSpPr>
            <p:nvPr/>
          </p:nvSpPr>
          <p:spPr bwMode="auto">
            <a:xfrm>
              <a:off x="3024" y="216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5" name="Line 17">
              <a:extLst>
                <a:ext uri="{FF2B5EF4-FFF2-40B4-BE49-F238E27FC236}">
                  <a16:creationId xmlns:a16="http://schemas.microsoft.com/office/drawing/2014/main" id="{93C5D9BE-D450-6642-6943-D4399A33DDE8}"/>
                </a:ext>
              </a:extLst>
            </p:cNvPr>
            <p:cNvSpPr>
              <a:spLocks noChangeShapeType="1"/>
            </p:cNvSpPr>
            <p:nvPr/>
          </p:nvSpPr>
          <p:spPr bwMode="auto">
            <a:xfrm>
              <a:off x="3024" y="240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6" name="Line 18">
              <a:extLst>
                <a:ext uri="{FF2B5EF4-FFF2-40B4-BE49-F238E27FC236}">
                  <a16:creationId xmlns:a16="http://schemas.microsoft.com/office/drawing/2014/main" id="{9486D173-EDCC-13E4-D0DE-337A76F736E4}"/>
                </a:ext>
              </a:extLst>
            </p:cNvPr>
            <p:cNvSpPr>
              <a:spLocks noChangeShapeType="1"/>
            </p:cNvSpPr>
            <p:nvPr/>
          </p:nvSpPr>
          <p:spPr bwMode="auto">
            <a:xfrm rot="-5471610">
              <a:off x="3265"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7" name="Line 19">
              <a:extLst>
                <a:ext uri="{FF2B5EF4-FFF2-40B4-BE49-F238E27FC236}">
                  <a16:creationId xmlns:a16="http://schemas.microsoft.com/office/drawing/2014/main" id="{E3654D92-0851-B885-E489-E223035352B7}"/>
                </a:ext>
              </a:extLst>
            </p:cNvPr>
            <p:cNvSpPr>
              <a:spLocks noChangeShapeType="1"/>
            </p:cNvSpPr>
            <p:nvPr/>
          </p:nvSpPr>
          <p:spPr bwMode="auto">
            <a:xfrm rot="-5471610">
              <a:off x="3553"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8" name="Line 20">
              <a:extLst>
                <a:ext uri="{FF2B5EF4-FFF2-40B4-BE49-F238E27FC236}">
                  <a16:creationId xmlns:a16="http://schemas.microsoft.com/office/drawing/2014/main" id="{C4591A71-4773-760C-E522-58018841A132}"/>
                </a:ext>
              </a:extLst>
            </p:cNvPr>
            <p:cNvSpPr>
              <a:spLocks noChangeShapeType="1"/>
            </p:cNvSpPr>
            <p:nvPr/>
          </p:nvSpPr>
          <p:spPr bwMode="auto">
            <a:xfrm rot="-5471610">
              <a:off x="3841"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9" name="Line 21">
              <a:extLst>
                <a:ext uri="{FF2B5EF4-FFF2-40B4-BE49-F238E27FC236}">
                  <a16:creationId xmlns:a16="http://schemas.microsoft.com/office/drawing/2014/main" id="{3588F5E2-82BF-C6A4-0723-D06946C3A4F8}"/>
                </a:ext>
              </a:extLst>
            </p:cNvPr>
            <p:cNvSpPr>
              <a:spLocks noChangeShapeType="1"/>
            </p:cNvSpPr>
            <p:nvPr/>
          </p:nvSpPr>
          <p:spPr bwMode="auto">
            <a:xfrm rot="-5471610">
              <a:off x="4129"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0" name="Line 22">
              <a:extLst>
                <a:ext uri="{FF2B5EF4-FFF2-40B4-BE49-F238E27FC236}">
                  <a16:creationId xmlns:a16="http://schemas.microsoft.com/office/drawing/2014/main" id="{93ED9B94-928A-BF5E-8372-0DEE296E92A7}"/>
                </a:ext>
              </a:extLst>
            </p:cNvPr>
            <p:cNvSpPr>
              <a:spLocks noChangeShapeType="1"/>
            </p:cNvSpPr>
            <p:nvPr/>
          </p:nvSpPr>
          <p:spPr bwMode="auto">
            <a:xfrm rot="-5471610">
              <a:off x="4417"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1" name="Text Box 23">
              <a:extLst>
                <a:ext uri="{FF2B5EF4-FFF2-40B4-BE49-F238E27FC236}">
                  <a16:creationId xmlns:a16="http://schemas.microsoft.com/office/drawing/2014/main" id="{1339F86E-6B80-8156-B93A-28EDC0660925}"/>
                </a:ext>
              </a:extLst>
            </p:cNvPr>
            <p:cNvSpPr txBox="1">
              <a:spLocks noChangeArrowheads="1"/>
            </p:cNvSpPr>
            <p:nvPr/>
          </p:nvSpPr>
          <p:spPr bwMode="auto">
            <a:xfrm>
              <a:off x="4992" y="2688"/>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baseline="-25000"/>
                <a:t>1</a:t>
              </a:r>
              <a:endParaRPr lang="en-US" altLang="en-US" sz="2400" i="1"/>
            </a:p>
          </p:txBody>
        </p:sp>
        <p:sp>
          <p:nvSpPr>
            <p:cNvPr id="12312" name="Text Box 24">
              <a:extLst>
                <a:ext uri="{FF2B5EF4-FFF2-40B4-BE49-F238E27FC236}">
                  <a16:creationId xmlns:a16="http://schemas.microsoft.com/office/drawing/2014/main" id="{9C5A3390-21AF-C1C2-4174-EFD88A6D0036}"/>
                </a:ext>
              </a:extLst>
            </p:cNvPr>
            <p:cNvSpPr txBox="1">
              <a:spLocks noChangeArrowheads="1"/>
            </p:cNvSpPr>
            <p:nvPr/>
          </p:nvSpPr>
          <p:spPr bwMode="auto">
            <a:xfrm>
              <a:off x="2747" y="1008"/>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2</a:t>
              </a:r>
              <a:endParaRPr lang="en-US" altLang="en-US" sz="2400" i="1"/>
            </a:p>
          </p:txBody>
        </p:sp>
        <p:sp>
          <p:nvSpPr>
            <p:cNvPr id="12313" name="Text Box 25">
              <a:extLst>
                <a:ext uri="{FF2B5EF4-FFF2-40B4-BE49-F238E27FC236}">
                  <a16:creationId xmlns:a16="http://schemas.microsoft.com/office/drawing/2014/main" id="{984FDC0C-B5EA-F854-5B90-9DF3873C67B7}"/>
                </a:ext>
              </a:extLst>
            </p:cNvPr>
            <p:cNvSpPr txBox="1">
              <a:spLocks noChangeArrowheads="1"/>
            </p:cNvSpPr>
            <p:nvPr/>
          </p:nvSpPr>
          <p:spPr bwMode="auto">
            <a:xfrm>
              <a:off x="2880" y="182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a:t>
              </a:r>
            </a:p>
          </p:txBody>
        </p:sp>
        <p:sp>
          <p:nvSpPr>
            <p:cNvPr id="12314" name="Text Box 26">
              <a:extLst>
                <a:ext uri="{FF2B5EF4-FFF2-40B4-BE49-F238E27FC236}">
                  <a16:creationId xmlns:a16="http://schemas.microsoft.com/office/drawing/2014/main" id="{0489F8AA-A4E0-8018-CBDC-4622E07BC13D}"/>
                </a:ext>
              </a:extLst>
            </p:cNvPr>
            <p:cNvSpPr txBox="1">
              <a:spLocks noChangeArrowheads="1"/>
            </p:cNvSpPr>
            <p:nvPr/>
          </p:nvSpPr>
          <p:spPr bwMode="auto">
            <a:xfrm>
              <a:off x="2880" y="15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a:t>
              </a:r>
            </a:p>
          </p:txBody>
        </p:sp>
        <p:sp>
          <p:nvSpPr>
            <p:cNvPr id="12315" name="Text Box 27">
              <a:extLst>
                <a:ext uri="{FF2B5EF4-FFF2-40B4-BE49-F238E27FC236}">
                  <a16:creationId xmlns:a16="http://schemas.microsoft.com/office/drawing/2014/main" id="{F4BDCCEE-DD86-7464-1E3B-96BD49B3330C}"/>
                </a:ext>
              </a:extLst>
            </p:cNvPr>
            <p:cNvSpPr txBox="1">
              <a:spLocks noChangeArrowheads="1"/>
            </p:cNvSpPr>
            <p:nvPr/>
          </p:nvSpPr>
          <p:spPr bwMode="auto">
            <a:xfrm>
              <a:off x="2880" y="129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5</a:t>
              </a:r>
            </a:p>
          </p:txBody>
        </p:sp>
        <p:sp>
          <p:nvSpPr>
            <p:cNvPr id="12316" name="Text Box 28">
              <a:extLst>
                <a:ext uri="{FF2B5EF4-FFF2-40B4-BE49-F238E27FC236}">
                  <a16:creationId xmlns:a16="http://schemas.microsoft.com/office/drawing/2014/main" id="{18F506FF-8B35-D3FA-C32D-C94A026F6F0C}"/>
                </a:ext>
              </a:extLst>
            </p:cNvPr>
            <p:cNvSpPr txBox="1">
              <a:spLocks noChangeArrowheads="1"/>
            </p:cNvSpPr>
            <p:nvPr/>
          </p:nvSpPr>
          <p:spPr bwMode="auto">
            <a:xfrm>
              <a:off x="3216"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a:t>
              </a:r>
            </a:p>
          </p:txBody>
        </p:sp>
        <p:sp>
          <p:nvSpPr>
            <p:cNvPr id="12317" name="Text Box 29">
              <a:extLst>
                <a:ext uri="{FF2B5EF4-FFF2-40B4-BE49-F238E27FC236}">
                  <a16:creationId xmlns:a16="http://schemas.microsoft.com/office/drawing/2014/main" id="{54585CCA-FCCF-CD71-0DF7-D4019147D74D}"/>
                </a:ext>
              </a:extLst>
            </p:cNvPr>
            <p:cNvSpPr txBox="1">
              <a:spLocks noChangeArrowheads="1"/>
            </p:cNvSpPr>
            <p:nvPr/>
          </p:nvSpPr>
          <p:spPr bwMode="auto">
            <a:xfrm>
              <a:off x="3504"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a:t>
              </a:r>
            </a:p>
          </p:txBody>
        </p:sp>
        <p:sp>
          <p:nvSpPr>
            <p:cNvPr id="12318" name="Text Box 30">
              <a:extLst>
                <a:ext uri="{FF2B5EF4-FFF2-40B4-BE49-F238E27FC236}">
                  <a16:creationId xmlns:a16="http://schemas.microsoft.com/office/drawing/2014/main" id="{9BAF4C8F-B14D-D621-88A5-2ECF963B3F96}"/>
                </a:ext>
              </a:extLst>
            </p:cNvPr>
            <p:cNvSpPr txBox="1">
              <a:spLocks noChangeArrowheads="1"/>
            </p:cNvSpPr>
            <p:nvPr/>
          </p:nvSpPr>
          <p:spPr bwMode="auto">
            <a:xfrm>
              <a:off x="3792"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a:t>
              </a:r>
            </a:p>
          </p:txBody>
        </p:sp>
        <p:sp>
          <p:nvSpPr>
            <p:cNvPr id="12319" name="Text Box 31">
              <a:extLst>
                <a:ext uri="{FF2B5EF4-FFF2-40B4-BE49-F238E27FC236}">
                  <a16:creationId xmlns:a16="http://schemas.microsoft.com/office/drawing/2014/main" id="{F088956A-F8C5-90D0-C191-89B0E2DB9CAE}"/>
                </a:ext>
              </a:extLst>
            </p:cNvPr>
            <p:cNvSpPr txBox="1">
              <a:spLocks noChangeArrowheads="1"/>
            </p:cNvSpPr>
            <p:nvPr/>
          </p:nvSpPr>
          <p:spPr bwMode="auto">
            <a:xfrm>
              <a:off x="4080"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a:t>
              </a:r>
            </a:p>
          </p:txBody>
        </p:sp>
        <p:sp>
          <p:nvSpPr>
            <p:cNvPr id="12320" name="Text Box 32">
              <a:extLst>
                <a:ext uri="{FF2B5EF4-FFF2-40B4-BE49-F238E27FC236}">
                  <a16:creationId xmlns:a16="http://schemas.microsoft.com/office/drawing/2014/main" id="{E797D6FF-1557-38BB-3451-D7BBA009A9E0}"/>
                </a:ext>
              </a:extLst>
            </p:cNvPr>
            <p:cNvSpPr txBox="1">
              <a:spLocks noChangeArrowheads="1"/>
            </p:cNvSpPr>
            <p:nvPr/>
          </p:nvSpPr>
          <p:spPr bwMode="auto">
            <a:xfrm>
              <a:off x="4368"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5</a:t>
              </a:r>
            </a:p>
          </p:txBody>
        </p:sp>
        <p:sp>
          <p:nvSpPr>
            <p:cNvPr id="12321" name="Line 33">
              <a:extLst>
                <a:ext uri="{FF2B5EF4-FFF2-40B4-BE49-F238E27FC236}">
                  <a16:creationId xmlns:a16="http://schemas.microsoft.com/office/drawing/2014/main" id="{FEA2C2CB-A085-34BA-6B16-E6A34036FC9D}"/>
                </a:ext>
              </a:extLst>
            </p:cNvPr>
            <p:cNvSpPr>
              <a:spLocks noChangeShapeType="1"/>
            </p:cNvSpPr>
            <p:nvPr/>
          </p:nvSpPr>
          <p:spPr bwMode="auto">
            <a:xfrm>
              <a:off x="3072" y="1392"/>
              <a:ext cx="1392" cy="12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22" name="Line 34">
              <a:extLst>
                <a:ext uri="{FF2B5EF4-FFF2-40B4-BE49-F238E27FC236}">
                  <a16:creationId xmlns:a16="http://schemas.microsoft.com/office/drawing/2014/main" id="{60633ADA-1359-F87C-3C9E-AB1D1C9DC4C8}"/>
                </a:ext>
              </a:extLst>
            </p:cNvPr>
            <p:cNvSpPr>
              <a:spLocks noChangeShapeType="1"/>
            </p:cNvSpPr>
            <p:nvPr/>
          </p:nvSpPr>
          <p:spPr bwMode="auto">
            <a:xfrm>
              <a:off x="3072" y="1920"/>
              <a:ext cx="21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23" name="Oval 35">
              <a:extLst>
                <a:ext uri="{FF2B5EF4-FFF2-40B4-BE49-F238E27FC236}">
                  <a16:creationId xmlns:a16="http://schemas.microsoft.com/office/drawing/2014/main" id="{8FAFD46E-E9D9-C2A6-B19C-7B34357D41DB}"/>
                </a:ext>
              </a:extLst>
            </p:cNvPr>
            <p:cNvSpPr>
              <a:spLocks noChangeArrowheads="1"/>
            </p:cNvSpPr>
            <p:nvPr/>
          </p:nvSpPr>
          <p:spPr bwMode="auto">
            <a:xfrm flipV="1">
              <a:off x="3600" y="187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24" name="Oval 36">
              <a:extLst>
                <a:ext uri="{FF2B5EF4-FFF2-40B4-BE49-F238E27FC236}">
                  <a16:creationId xmlns:a16="http://schemas.microsoft.com/office/drawing/2014/main" id="{506FE068-13D4-0244-25C7-DE7C06C2A265}"/>
                </a:ext>
              </a:extLst>
            </p:cNvPr>
            <p:cNvSpPr>
              <a:spLocks noChangeArrowheads="1"/>
            </p:cNvSpPr>
            <p:nvPr/>
          </p:nvSpPr>
          <p:spPr bwMode="auto">
            <a:xfrm flipV="1">
              <a:off x="3312" y="187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25" name="Oval 37">
              <a:extLst>
                <a:ext uri="{FF2B5EF4-FFF2-40B4-BE49-F238E27FC236}">
                  <a16:creationId xmlns:a16="http://schemas.microsoft.com/office/drawing/2014/main" id="{24487A39-5BC2-987C-67BF-9034F30687CC}"/>
                </a:ext>
              </a:extLst>
            </p:cNvPr>
            <p:cNvSpPr>
              <a:spLocks noChangeArrowheads="1"/>
            </p:cNvSpPr>
            <p:nvPr/>
          </p:nvSpPr>
          <p:spPr bwMode="auto">
            <a:xfrm flipV="1">
              <a:off x="3072" y="187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26" name="Oval 38">
              <a:extLst>
                <a:ext uri="{FF2B5EF4-FFF2-40B4-BE49-F238E27FC236}">
                  <a16:creationId xmlns:a16="http://schemas.microsoft.com/office/drawing/2014/main" id="{BC2BDE81-2D20-DC60-7F16-0A8F3AC0D4BB}"/>
                </a:ext>
              </a:extLst>
            </p:cNvPr>
            <p:cNvSpPr>
              <a:spLocks noChangeArrowheads="1"/>
            </p:cNvSpPr>
            <p:nvPr/>
          </p:nvSpPr>
          <p:spPr bwMode="auto">
            <a:xfrm flipV="1">
              <a:off x="3072"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27" name="Oval 39">
              <a:extLst>
                <a:ext uri="{FF2B5EF4-FFF2-40B4-BE49-F238E27FC236}">
                  <a16:creationId xmlns:a16="http://schemas.microsoft.com/office/drawing/2014/main" id="{C42DE2B4-4C67-A48E-70F7-81B1CD05593F}"/>
                </a:ext>
              </a:extLst>
            </p:cNvPr>
            <p:cNvSpPr>
              <a:spLocks noChangeArrowheads="1"/>
            </p:cNvSpPr>
            <p:nvPr/>
          </p:nvSpPr>
          <p:spPr bwMode="auto">
            <a:xfrm flipV="1">
              <a:off x="3312"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28" name="Oval 40">
              <a:extLst>
                <a:ext uri="{FF2B5EF4-FFF2-40B4-BE49-F238E27FC236}">
                  <a16:creationId xmlns:a16="http://schemas.microsoft.com/office/drawing/2014/main" id="{E5A4FCA2-2F56-BD6E-6FC3-6958E8170548}"/>
                </a:ext>
              </a:extLst>
            </p:cNvPr>
            <p:cNvSpPr>
              <a:spLocks noChangeArrowheads="1"/>
            </p:cNvSpPr>
            <p:nvPr/>
          </p:nvSpPr>
          <p:spPr bwMode="auto">
            <a:xfrm flipV="1">
              <a:off x="3600"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29" name="Oval 41">
              <a:extLst>
                <a:ext uri="{FF2B5EF4-FFF2-40B4-BE49-F238E27FC236}">
                  <a16:creationId xmlns:a16="http://schemas.microsoft.com/office/drawing/2014/main" id="{3DD0389D-4ACF-0308-C7D7-BCBF16246378}"/>
                </a:ext>
              </a:extLst>
            </p:cNvPr>
            <p:cNvSpPr>
              <a:spLocks noChangeArrowheads="1"/>
            </p:cNvSpPr>
            <p:nvPr/>
          </p:nvSpPr>
          <p:spPr bwMode="auto">
            <a:xfrm flipV="1">
              <a:off x="3888"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30" name="Oval 42">
              <a:extLst>
                <a:ext uri="{FF2B5EF4-FFF2-40B4-BE49-F238E27FC236}">
                  <a16:creationId xmlns:a16="http://schemas.microsoft.com/office/drawing/2014/main" id="{0F5165D0-86E8-45F8-738E-28F932715A98}"/>
                </a:ext>
              </a:extLst>
            </p:cNvPr>
            <p:cNvSpPr>
              <a:spLocks noChangeArrowheads="1"/>
            </p:cNvSpPr>
            <p:nvPr/>
          </p:nvSpPr>
          <p:spPr bwMode="auto">
            <a:xfrm flipV="1">
              <a:off x="3072"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31" name="Oval 43">
              <a:extLst>
                <a:ext uri="{FF2B5EF4-FFF2-40B4-BE49-F238E27FC236}">
                  <a16:creationId xmlns:a16="http://schemas.microsoft.com/office/drawing/2014/main" id="{CA9DCD78-B3E5-F830-02B1-68B1CA0B10CE}"/>
                </a:ext>
              </a:extLst>
            </p:cNvPr>
            <p:cNvSpPr>
              <a:spLocks noChangeArrowheads="1"/>
            </p:cNvSpPr>
            <p:nvPr/>
          </p:nvSpPr>
          <p:spPr bwMode="auto">
            <a:xfrm flipV="1">
              <a:off x="3312"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32" name="Oval 44">
              <a:extLst>
                <a:ext uri="{FF2B5EF4-FFF2-40B4-BE49-F238E27FC236}">
                  <a16:creationId xmlns:a16="http://schemas.microsoft.com/office/drawing/2014/main" id="{B5FC7DDD-9E73-10AC-B04D-EE5FE5DC4D5F}"/>
                </a:ext>
              </a:extLst>
            </p:cNvPr>
            <p:cNvSpPr>
              <a:spLocks noChangeArrowheads="1"/>
            </p:cNvSpPr>
            <p:nvPr/>
          </p:nvSpPr>
          <p:spPr bwMode="auto">
            <a:xfrm flipV="1">
              <a:off x="3600"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33" name="Oval 45">
              <a:extLst>
                <a:ext uri="{FF2B5EF4-FFF2-40B4-BE49-F238E27FC236}">
                  <a16:creationId xmlns:a16="http://schemas.microsoft.com/office/drawing/2014/main" id="{CAF3C296-7582-324B-5214-6263856795A3}"/>
                </a:ext>
              </a:extLst>
            </p:cNvPr>
            <p:cNvSpPr>
              <a:spLocks noChangeArrowheads="1"/>
            </p:cNvSpPr>
            <p:nvPr/>
          </p:nvSpPr>
          <p:spPr bwMode="auto">
            <a:xfrm flipV="1">
              <a:off x="3888"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34" name="Oval 46">
              <a:extLst>
                <a:ext uri="{FF2B5EF4-FFF2-40B4-BE49-F238E27FC236}">
                  <a16:creationId xmlns:a16="http://schemas.microsoft.com/office/drawing/2014/main" id="{DCFA53E5-6199-2682-8CBB-9BE754F640C2}"/>
                </a:ext>
              </a:extLst>
            </p:cNvPr>
            <p:cNvSpPr>
              <a:spLocks noChangeArrowheads="1"/>
            </p:cNvSpPr>
            <p:nvPr/>
          </p:nvSpPr>
          <p:spPr bwMode="auto">
            <a:xfrm flipV="1">
              <a:off x="4176"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35" name="Oval 47">
              <a:extLst>
                <a:ext uri="{FF2B5EF4-FFF2-40B4-BE49-F238E27FC236}">
                  <a16:creationId xmlns:a16="http://schemas.microsoft.com/office/drawing/2014/main" id="{068F5B5D-9740-EA4D-FC67-977E15AFAE0E}"/>
                </a:ext>
              </a:extLst>
            </p:cNvPr>
            <p:cNvSpPr>
              <a:spLocks noChangeArrowheads="1"/>
            </p:cNvSpPr>
            <p:nvPr/>
          </p:nvSpPr>
          <p:spPr bwMode="auto">
            <a:xfrm flipV="1">
              <a:off x="3072"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36" name="Oval 48">
              <a:extLst>
                <a:ext uri="{FF2B5EF4-FFF2-40B4-BE49-F238E27FC236}">
                  <a16:creationId xmlns:a16="http://schemas.microsoft.com/office/drawing/2014/main" id="{98E69518-CA4E-FC2D-29D8-96EEC805EA5C}"/>
                </a:ext>
              </a:extLst>
            </p:cNvPr>
            <p:cNvSpPr>
              <a:spLocks noChangeArrowheads="1"/>
            </p:cNvSpPr>
            <p:nvPr/>
          </p:nvSpPr>
          <p:spPr bwMode="auto">
            <a:xfrm flipV="1">
              <a:off x="3312"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37" name="Oval 49">
              <a:extLst>
                <a:ext uri="{FF2B5EF4-FFF2-40B4-BE49-F238E27FC236}">
                  <a16:creationId xmlns:a16="http://schemas.microsoft.com/office/drawing/2014/main" id="{C067A03C-D018-94C1-A711-C29AA8A003BB}"/>
                </a:ext>
              </a:extLst>
            </p:cNvPr>
            <p:cNvSpPr>
              <a:spLocks noChangeArrowheads="1"/>
            </p:cNvSpPr>
            <p:nvPr/>
          </p:nvSpPr>
          <p:spPr bwMode="auto">
            <a:xfrm flipV="1">
              <a:off x="3600"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38" name="Oval 50">
              <a:extLst>
                <a:ext uri="{FF2B5EF4-FFF2-40B4-BE49-F238E27FC236}">
                  <a16:creationId xmlns:a16="http://schemas.microsoft.com/office/drawing/2014/main" id="{AAE3666E-5C39-4F56-14D3-75762E396661}"/>
                </a:ext>
              </a:extLst>
            </p:cNvPr>
            <p:cNvSpPr>
              <a:spLocks noChangeArrowheads="1"/>
            </p:cNvSpPr>
            <p:nvPr/>
          </p:nvSpPr>
          <p:spPr bwMode="auto">
            <a:xfrm flipV="1">
              <a:off x="3888"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39" name="Oval 51">
              <a:extLst>
                <a:ext uri="{FF2B5EF4-FFF2-40B4-BE49-F238E27FC236}">
                  <a16:creationId xmlns:a16="http://schemas.microsoft.com/office/drawing/2014/main" id="{2B8B0449-BB5D-D46B-37A2-33AFDD4AF609}"/>
                </a:ext>
              </a:extLst>
            </p:cNvPr>
            <p:cNvSpPr>
              <a:spLocks noChangeArrowheads="1"/>
            </p:cNvSpPr>
            <p:nvPr/>
          </p:nvSpPr>
          <p:spPr bwMode="auto">
            <a:xfrm flipV="1">
              <a:off x="4176"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40" name="Oval 52">
              <a:extLst>
                <a:ext uri="{FF2B5EF4-FFF2-40B4-BE49-F238E27FC236}">
                  <a16:creationId xmlns:a16="http://schemas.microsoft.com/office/drawing/2014/main" id="{EDDA5895-D8A7-70DC-712A-E94111DB544F}"/>
                </a:ext>
              </a:extLst>
            </p:cNvPr>
            <p:cNvSpPr>
              <a:spLocks noChangeArrowheads="1"/>
            </p:cNvSpPr>
            <p:nvPr/>
          </p:nvSpPr>
          <p:spPr bwMode="auto">
            <a:xfrm flipV="1">
              <a:off x="4416"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pSp>
      <p:sp>
        <p:nvSpPr>
          <p:cNvPr id="172085" name="Text Box 53">
            <a:extLst>
              <a:ext uri="{FF2B5EF4-FFF2-40B4-BE49-F238E27FC236}">
                <a16:creationId xmlns:a16="http://schemas.microsoft.com/office/drawing/2014/main" id="{3AD41AFC-B03E-AE04-03AD-BA5C7E6C08FB}"/>
              </a:ext>
            </a:extLst>
          </p:cNvPr>
          <p:cNvSpPr txBox="1">
            <a:spLocks noChangeArrowheads="1"/>
          </p:cNvSpPr>
          <p:nvPr/>
        </p:nvSpPr>
        <p:spPr bwMode="auto">
          <a:xfrm>
            <a:off x="228600" y="5562600"/>
            <a:ext cx="82454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sz="2600"/>
              <a:t>  The branch-and-bound method brings these bounds together to narrow the search until the optimum is found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2037">
                                            <p:txEl>
                                              <p:pRg st="0" end="0"/>
                                            </p:txEl>
                                          </p:spTgt>
                                        </p:tgtEl>
                                        <p:attrNameLst>
                                          <p:attrName>style.visibility</p:attrName>
                                        </p:attrNameLst>
                                      </p:cBhvr>
                                      <p:to>
                                        <p:strVal val="visible"/>
                                      </p:to>
                                    </p:set>
                                    <p:anim calcmode="lin" valueType="num">
                                      <p:cBhvr additive="base">
                                        <p:cTn id="13" dur="500" fill="hold"/>
                                        <p:tgtEl>
                                          <p:spTgt spid="17203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20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2037">
                                            <p:txEl>
                                              <p:pRg st="1" end="1"/>
                                            </p:txEl>
                                          </p:spTgt>
                                        </p:tgtEl>
                                        <p:attrNameLst>
                                          <p:attrName>style.visibility</p:attrName>
                                        </p:attrNameLst>
                                      </p:cBhvr>
                                      <p:to>
                                        <p:strVal val="visible"/>
                                      </p:to>
                                    </p:set>
                                    <p:anim calcmode="lin" valueType="num">
                                      <p:cBhvr additive="base">
                                        <p:cTn id="19" dur="500" fill="hold"/>
                                        <p:tgtEl>
                                          <p:spTgt spid="17203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203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2037">
                                            <p:txEl>
                                              <p:pRg st="2" end="2"/>
                                            </p:txEl>
                                          </p:spTgt>
                                        </p:tgtEl>
                                        <p:attrNameLst>
                                          <p:attrName>style.visibility</p:attrName>
                                        </p:attrNameLst>
                                      </p:cBhvr>
                                      <p:to>
                                        <p:strVal val="visible"/>
                                      </p:to>
                                    </p:set>
                                    <p:anim calcmode="lin" valueType="num">
                                      <p:cBhvr additive="base">
                                        <p:cTn id="25" dur="500" fill="hold"/>
                                        <p:tgtEl>
                                          <p:spTgt spid="172037">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203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72085"/>
                                        </p:tgtEl>
                                        <p:attrNameLst>
                                          <p:attrName>style.visibility</p:attrName>
                                        </p:attrNameLst>
                                      </p:cBhvr>
                                      <p:to>
                                        <p:strVal val="visible"/>
                                      </p:to>
                                    </p:set>
                                    <p:anim calcmode="lin" valueType="num">
                                      <p:cBhvr additive="base">
                                        <p:cTn id="31" dur="500" fill="hold"/>
                                        <p:tgtEl>
                                          <p:spTgt spid="172085"/>
                                        </p:tgtEl>
                                        <p:attrNameLst>
                                          <p:attrName>ppt_x</p:attrName>
                                        </p:attrNameLst>
                                      </p:cBhvr>
                                      <p:tavLst>
                                        <p:tav tm="0">
                                          <p:val>
                                            <p:strVal val="0-#ppt_w/2"/>
                                          </p:val>
                                        </p:tav>
                                        <p:tav tm="100000">
                                          <p:val>
                                            <p:strVal val="#ppt_x"/>
                                          </p:val>
                                        </p:tav>
                                      </p:tavLst>
                                    </p:anim>
                                    <p:anim calcmode="lin" valueType="num">
                                      <p:cBhvr additive="base">
                                        <p:cTn id="32" dur="500" fill="hold"/>
                                        <p:tgtEl>
                                          <p:spTgt spid="1720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7" grpId="0" build="p" autoUpdateAnimBg="0"/>
      <p:bldP spid="17208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23F698E-8CF1-36F0-1C28-74745A64CC0E}"/>
              </a:ext>
            </a:extLst>
          </p:cNvPr>
          <p:cNvSpPr>
            <a:spLocks noGrp="1" noChangeArrowheads="1"/>
          </p:cNvSpPr>
          <p:nvPr>
            <p:ph type="title"/>
          </p:nvPr>
        </p:nvSpPr>
        <p:spPr>
          <a:xfrm>
            <a:off x="533400" y="0"/>
            <a:ext cx="8077200" cy="1143000"/>
          </a:xfrm>
        </p:spPr>
        <p:txBody>
          <a:bodyPr/>
          <a:lstStyle/>
          <a:p>
            <a:pPr>
              <a:lnSpc>
                <a:spcPct val="80000"/>
              </a:lnSpc>
            </a:pPr>
            <a:r>
              <a:rPr lang="en-US" altLang="en-US" sz="4200"/>
              <a:t>Conclusions</a:t>
            </a:r>
          </a:p>
        </p:txBody>
      </p:sp>
      <p:sp>
        <p:nvSpPr>
          <p:cNvPr id="13315" name="Rectangle 3">
            <a:extLst>
              <a:ext uri="{FF2B5EF4-FFF2-40B4-BE49-F238E27FC236}">
                <a16:creationId xmlns:a16="http://schemas.microsoft.com/office/drawing/2014/main" id="{3D3C7251-9C3E-A83F-EDEA-3ACA5496089F}"/>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16" name="Rectangle 4">
            <a:extLst>
              <a:ext uri="{FF2B5EF4-FFF2-40B4-BE49-F238E27FC236}">
                <a16:creationId xmlns:a16="http://schemas.microsoft.com/office/drawing/2014/main" id="{8ADBC450-420B-E3E9-BC5C-DD26DD09479B}"/>
              </a:ext>
            </a:extLst>
          </p:cNvPr>
          <p:cNvSpPr>
            <a:spLocks noChangeArrowheads="1"/>
          </p:cNvSpPr>
          <p:nvPr/>
        </p:nvSpPr>
        <p:spPr bwMode="auto">
          <a:xfrm>
            <a:off x="64008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23</a:t>
            </a:r>
          </a:p>
        </p:txBody>
      </p:sp>
      <p:sp>
        <p:nvSpPr>
          <p:cNvPr id="125957" name="Rectangle 5">
            <a:extLst>
              <a:ext uri="{FF2B5EF4-FFF2-40B4-BE49-F238E27FC236}">
                <a16:creationId xmlns:a16="http://schemas.microsoft.com/office/drawing/2014/main" id="{92F1B1A4-282B-CD12-D758-307583028813}"/>
              </a:ext>
            </a:extLst>
          </p:cNvPr>
          <p:cNvSpPr>
            <a:spLocks noGrp="1" noChangeArrowheads="1"/>
          </p:cNvSpPr>
          <p:nvPr>
            <p:ph type="body" idx="1"/>
          </p:nvPr>
        </p:nvSpPr>
        <p:spPr>
          <a:xfrm>
            <a:off x="322263" y="1143000"/>
            <a:ext cx="8534400" cy="7162800"/>
          </a:xfrm>
        </p:spPr>
        <p:txBody>
          <a:bodyPr/>
          <a:lstStyle/>
          <a:p>
            <a:pPr>
              <a:tabLst>
                <a:tab pos="2741613" algn="l"/>
              </a:tabLst>
            </a:pPr>
            <a:r>
              <a:rPr lang="en-US" altLang="en-US" sz="3000"/>
              <a:t>Problem Formulation ideas:</a:t>
            </a:r>
          </a:p>
          <a:p>
            <a:pPr lvl="2">
              <a:tabLst>
                <a:tab pos="2741613" algn="l"/>
              </a:tabLst>
            </a:pPr>
            <a:r>
              <a:rPr lang="en-US" altLang="en-US" sz="2800"/>
              <a:t>Binary/integer variables are heavily used in industrial engineering applications, when rounding leads to huge errors</a:t>
            </a:r>
          </a:p>
          <a:p>
            <a:pPr lvl="2">
              <a:tabLst>
                <a:tab pos="2741613" algn="l"/>
              </a:tabLst>
            </a:pPr>
            <a:r>
              <a:rPr lang="en-US" altLang="en-US" sz="2800"/>
              <a:t>“Selection” problems are often modeled with binary variables, for which special relationships exist that can be used to avoid nonlinearities</a:t>
            </a:r>
          </a:p>
          <a:p>
            <a:pPr lvl="2">
              <a:tabLst>
                <a:tab pos="2741613" algn="l"/>
              </a:tabLst>
            </a:pPr>
            <a:r>
              <a:rPr lang="en-US" altLang="en-US" sz="2800"/>
              <a:t>Remember to only use an integer/binary variable when necessary, since each one increases the complexity of the problem greatly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5957">
                                            <p:txEl>
                                              <p:pRg st="0" end="0"/>
                                            </p:txEl>
                                          </p:spTgt>
                                        </p:tgtEl>
                                        <p:attrNameLst>
                                          <p:attrName>style.visibility</p:attrName>
                                        </p:attrNameLst>
                                      </p:cBhvr>
                                      <p:to>
                                        <p:strVal val="visible"/>
                                      </p:to>
                                    </p:set>
                                    <p:anim calcmode="lin" valueType="num">
                                      <p:cBhvr additive="base">
                                        <p:cTn id="7" dur="500" fill="hold"/>
                                        <p:tgtEl>
                                          <p:spTgt spid="1259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59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5957">
                                            <p:txEl>
                                              <p:pRg st="1" end="1"/>
                                            </p:txEl>
                                          </p:spTgt>
                                        </p:tgtEl>
                                        <p:attrNameLst>
                                          <p:attrName>style.visibility</p:attrName>
                                        </p:attrNameLst>
                                      </p:cBhvr>
                                      <p:to>
                                        <p:strVal val="visible"/>
                                      </p:to>
                                    </p:set>
                                    <p:anim calcmode="lin" valueType="num">
                                      <p:cBhvr additive="base">
                                        <p:cTn id="13" dur="500" fill="hold"/>
                                        <p:tgtEl>
                                          <p:spTgt spid="12595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595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5957">
                                            <p:txEl>
                                              <p:pRg st="2" end="2"/>
                                            </p:txEl>
                                          </p:spTgt>
                                        </p:tgtEl>
                                        <p:attrNameLst>
                                          <p:attrName>style.visibility</p:attrName>
                                        </p:attrNameLst>
                                      </p:cBhvr>
                                      <p:to>
                                        <p:strVal val="visible"/>
                                      </p:to>
                                    </p:set>
                                    <p:anim calcmode="lin" valueType="num">
                                      <p:cBhvr additive="base">
                                        <p:cTn id="19" dur="500" fill="hold"/>
                                        <p:tgtEl>
                                          <p:spTgt spid="12595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595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5957">
                                            <p:txEl>
                                              <p:pRg st="3" end="3"/>
                                            </p:txEl>
                                          </p:spTgt>
                                        </p:tgtEl>
                                        <p:attrNameLst>
                                          <p:attrName>style.visibility</p:attrName>
                                        </p:attrNameLst>
                                      </p:cBhvr>
                                      <p:to>
                                        <p:strVal val="visible"/>
                                      </p:to>
                                    </p:set>
                                    <p:anim calcmode="lin" valueType="num">
                                      <p:cBhvr additive="base">
                                        <p:cTn id="25" dur="500" fill="hold"/>
                                        <p:tgtEl>
                                          <p:spTgt spid="12595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595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7" grpId="0" build="p" bldLvl="3"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8678E62-07F8-7A5C-1BFF-5B69001FD33A}"/>
              </a:ext>
            </a:extLst>
          </p:cNvPr>
          <p:cNvSpPr>
            <a:spLocks noGrp="1" noChangeArrowheads="1"/>
          </p:cNvSpPr>
          <p:nvPr>
            <p:ph type="title"/>
          </p:nvPr>
        </p:nvSpPr>
        <p:spPr>
          <a:xfrm>
            <a:off x="685800" y="0"/>
            <a:ext cx="7772400" cy="1143000"/>
          </a:xfrm>
        </p:spPr>
        <p:txBody>
          <a:bodyPr/>
          <a:lstStyle/>
          <a:p>
            <a:pPr>
              <a:lnSpc>
                <a:spcPct val="80000"/>
              </a:lnSpc>
            </a:pPr>
            <a:r>
              <a:rPr lang="en-US" altLang="en-US" sz="4600"/>
              <a:t>Review:  MILP Bounding  </a:t>
            </a:r>
          </a:p>
        </p:txBody>
      </p:sp>
      <p:sp>
        <p:nvSpPr>
          <p:cNvPr id="4099" name="Rectangle 3">
            <a:extLst>
              <a:ext uri="{FF2B5EF4-FFF2-40B4-BE49-F238E27FC236}">
                <a16:creationId xmlns:a16="http://schemas.microsoft.com/office/drawing/2014/main" id="{0DD4FC7C-05B6-04EC-33C0-3FCCA9E78AF5}"/>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0" name="Rectangle 4">
            <a:extLst>
              <a:ext uri="{FF2B5EF4-FFF2-40B4-BE49-F238E27FC236}">
                <a16:creationId xmlns:a16="http://schemas.microsoft.com/office/drawing/2014/main" id="{694D365D-21B5-A0BA-E0C3-9CF29617FD37}"/>
              </a:ext>
            </a:extLst>
          </p:cNvPr>
          <p:cNvSpPr>
            <a:spLocks noChangeArrowheads="1"/>
          </p:cNvSpPr>
          <p:nvPr/>
        </p:nvSpPr>
        <p:spPr bwMode="auto">
          <a:xfrm>
            <a:off x="6477000" y="6248400"/>
            <a:ext cx="244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24</a:t>
            </a:r>
          </a:p>
        </p:txBody>
      </p:sp>
      <p:sp>
        <p:nvSpPr>
          <p:cNvPr id="172037" name="Text Box 5">
            <a:extLst>
              <a:ext uri="{FF2B5EF4-FFF2-40B4-BE49-F238E27FC236}">
                <a16:creationId xmlns:a16="http://schemas.microsoft.com/office/drawing/2014/main" id="{F8064F8C-193A-119F-EC37-946AE9848D88}"/>
              </a:ext>
            </a:extLst>
          </p:cNvPr>
          <p:cNvSpPr txBox="1">
            <a:spLocks noChangeArrowheads="1"/>
          </p:cNvSpPr>
          <p:nvPr/>
        </p:nvSpPr>
        <p:spPr bwMode="auto">
          <a:xfrm>
            <a:off x="304800" y="838200"/>
            <a:ext cx="3886200"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What happens if we remove the integrality restrictions?</a:t>
            </a:r>
          </a:p>
          <a:p>
            <a:pPr>
              <a:spcBef>
                <a:spcPct val="0"/>
              </a:spcBef>
            </a:pPr>
            <a:r>
              <a:rPr lang="en-US" altLang="en-US" sz="2800"/>
              <a:t>  We get an LP, the solution to which is always </a:t>
            </a:r>
            <a:r>
              <a:rPr lang="en-US" altLang="en-US" sz="2800">
                <a:sym typeface="Symbol" panose="05050102010706020507" pitchFamily="18" charset="2"/>
              </a:rPr>
              <a:t> the solution to the MILP (an </a:t>
            </a:r>
            <a:r>
              <a:rPr lang="en-US" altLang="en-US" sz="2800" u="sng">
                <a:sym typeface="Symbol" panose="05050102010706020507" pitchFamily="18" charset="2"/>
              </a:rPr>
              <a:t>upper bound)</a:t>
            </a:r>
          </a:p>
          <a:p>
            <a:pPr>
              <a:spcBef>
                <a:spcPct val="0"/>
              </a:spcBef>
            </a:pPr>
            <a:r>
              <a:rPr lang="en-US" altLang="en-US" sz="2800">
                <a:sym typeface="Symbol" panose="05050102010706020507" pitchFamily="18" charset="2"/>
              </a:rPr>
              <a:t>  We can use the solution at any feasible point as a </a:t>
            </a:r>
            <a:r>
              <a:rPr lang="en-US" altLang="en-US" sz="2800" u="sng">
                <a:sym typeface="Symbol" panose="05050102010706020507" pitchFamily="18" charset="2"/>
              </a:rPr>
              <a:t>lower bound</a:t>
            </a:r>
            <a:endParaRPr lang="en-US" altLang="en-US" sz="2800">
              <a:sym typeface="Symbol" panose="05050102010706020507" pitchFamily="18" charset="2"/>
            </a:endParaRPr>
          </a:p>
        </p:txBody>
      </p:sp>
      <p:graphicFrame>
        <p:nvGraphicFramePr>
          <p:cNvPr id="4102" name="Object 7">
            <a:extLst>
              <a:ext uri="{FF2B5EF4-FFF2-40B4-BE49-F238E27FC236}">
                <a16:creationId xmlns:a16="http://schemas.microsoft.com/office/drawing/2014/main" id="{3634BE11-008E-FC00-C5E6-378EE6FD1E41}"/>
              </a:ext>
            </a:extLst>
          </p:cNvPr>
          <p:cNvGraphicFramePr>
            <a:graphicFrameLocks noChangeAspect="1"/>
          </p:cNvGraphicFramePr>
          <p:nvPr/>
        </p:nvGraphicFramePr>
        <p:xfrm>
          <a:off x="5638800" y="914400"/>
          <a:ext cx="3124200" cy="1970088"/>
        </p:xfrm>
        <a:graphic>
          <a:graphicData uri="http://schemas.openxmlformats.org/presentationml/2006/ole">
            <mc:AlternateContent xmlns:mc="http://schemas.openxmlformats.org/markup-compatibility/2006">
              <mc:Choice xmlns:v="urn:schemas-microsoft-com:vml" Requires="v">
                <p:oleObj name="Equation" r:id="rId2" imgW="1447800" imgH="914400" progId="Equation.3">
                  <p:embed/>
                </p:oleObj>
              </mc:Choice>
              <mc:Fallback>
                <p:oleObj name="Equation" r:id="rId2" imgW="1447800" imgH="914400" progId="Equation.3">
                  <p:embed/>
                  <p:pic>
                    <p:nvPicPr>
                      <p:cNvPr id="4102" name="Object 7">
                        <a:extLst>
                          <a:ext uri="{FF2B5EF4-FFF2-40B4-BE49-F238E27FC236}">
                            <a16:creationId xmlns:a16="http://schemas.microsoft.com/office/drawing/2014/main" id="{3634BE11-008E-FC00-C5E6-378EE6FD1E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914400"/>
                        <a:ext cx="3124200" cy="197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8">
            <a:extLst>
              <a:ext uri="{FF2B5EF4-FFF2-40B4-BE49-F238E27FC236}">
                <a16:creationId xmlns:a16="http://schemas.microsoft.com/office/drawing/2014/main" id="{8ED0CBA3-A200-8B72-F0B1-C1645ED8A95E}"/>
              </a:ext>
            </a:extLst>
          </p:cNvPr>
          <p:cNvGrpSpPr>
            <a:grpSpLocks/>
          </p:cNvGrpSpPr>
          <p:nvPr/>
        </p:nvGrpSpPr>
        <p:grpSpPr bwMode="auto">
          <a:xfrm>
            <a:off x="3657600" y="1447800"/>
            <a:ext cx="5029200" cy="3352800"/>
            <a:chOff x="2304" y="912"/>
            <a:chExt cx="3168" cy="2112"/>
          </a:xfrm>
        </p:grpSpPr>
        <p:sp>
          <p:nvSpPr>
            <p:cNvPr id="4105" name="Line 9">
              <a:extLst>
                <a:ext uri="{FF2B5EF4-FFF2-40B4-BE49-F238E27FC236}">
                  <a16:creationId xmlns:a16="http://schemas.microsoft.com/office/drawing/2014/main" id="{FDD45000-6F32-24D7-3171-178C33A2EA7B}"/>
                </a:ext>
              </a:extLst>
            </p:cNvPr>
            <p:cNvSpPr>
              <a:spLocks noChangeShapeType="1"/>
            </p:cNvSpPr>
            <p:nvPr/>
          </p:nvSpPr>
          <p:spPr bwMode="auto">
            <a:xfrm flipV="1">
              <a:off x="3072" y="912"/>
              <a:ext cx="0" cy="211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06" name="Line 10">
              <a:extLst>
                <a:ext uri="{FF2B5EF4-FFF2-40B4-BE49-F238E27FC236}">
                  <a16:creationId xmlns:a16="http://schemas.microsoft.com/office/drawing/2014/main" id="{A5466FCD-8CB4-8907-AF3C-DDBA6C0F7C1C}"/>
                </a:ext>
              </a:extLst>
            </p:cNvPr>
            <p:cNvSpPr>
              <a:spLocks noChangeShapeType="1"/>
            </p:cNvSpPr>
            <p:nvPr/>
          </p:nvSpPr>
          <p:spPr bwMode="auto">
            <a:xfrm>
              <a:off x="3024" y="139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7" name="Line 11">
              <a:extLst>
                <a:ext uri="{FF2B5EF4-FFF2-40B4-BE49-F238E27FC236}">
                  <a16:creationId xmlns:a16="http://schemas.microsoft.com/office/drawing/2014/main" id="{565487C3-AB70-2009-1999-20EA375FCAC4}"/>
                </a:ext>
              </a:extLst>
            </p:cNvPr>
            <p:cNvSpPr>
              <a:spLocks noChangeShapeType="1"/>
            </p:cNvSpPr>
            <p:nvPr/>
          </p:nvSpPr>
          <p:spPr bwMode="auto">
            <a:xfrm>
              <a:off x="3024" y="163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8" name="Line 12">
              <a:extLst>
                <a:ext uri="{FF2B5EF4-FFF2-40B4-BE49-F238E27FC236}">
                  <a16:creationId xmlns:a16="http://schemas.microsoft.com/office/drawing/2014/main" id="{A361262C-C5AB-ED42-58D8-92BD4D966AD3}"/>
                </a:ext>
              </a:extLst>
            </p:cNvPr>
            <p:cNvSpPr>
              <a:spLocks noChangeShapeType="1"/>
            </p:cNvSpPr>
            <p:nvPr/>
          </p:nvSpPr>
          <p:spPr bwMode="auto">
            <a:xfrm>
              <a:off x="3024" y="192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9" name="Text Box 13">
              <a:extLst>
                <a:ext uri="{FF2B5EF4-FFF2-40B4-BE49-F238E27FC236}">
                  <a16:creationId xmlns:a16="http://schemas.microsoft.com/office/drawing/2014/main" id="{C2F43521-37BB-8773-B687-D73BFD8944D0}"/>
                </a:ext>
              </a:extLst>
            </p:cNvPr>
            <p:cNvSpPr txBox="1">
              <a:spLocks noChangeArrowheads="1"/>
            </p:cNvSpPr>
            <p:nvPr/>
          </p:nvSpPr>
          <p:spPr bwMode="auto">
            <a:xfrm>
              <a:off x="2880" y="204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a:t>
              </a:r>
            </a:p>
          </p:txBody>
        </p:sp>
        <p:sp>
          <p:nvSpPr>
            <p:cNvPr id="4110" name="Text Box 14">
              <a:extLst>
                <a:ext uri="{FF2B5EF4-FFF2-40B4-BE49-F238E27FC236}">
                  <a16:creationId xmlns:a16="http://schemas.microsoft.com/office/drawing/2014/main" id="{AEA2AAD5-CE8F-4945-5D5B-B889DA5F4E0E}"/>
                </a:ext>
              </a:extLst>
            </p:cNvPr>
            <p:cNvSpPr txBox="1">
              <a:spLocks noChangeArrowheads="1"/>
            </p:cNvSpPr>
            <p:nvPr/>
          </p:nvSpPr>
          <p:spPr bwMode="auto">
            <a:xfrm>
              <a:off x="2880" y="230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a:t>
              </a:r>
            </a:p>
          </p:txBody>
        </p:sp>
        <p:sp>
          <p:nvSpPr>
            <p:cNvPr id="4111" name="Line 15">
              <a:extLst>
                <a:ext uri="{FF2B5EF4-FFF2-40B4-BE49-F238E27FC236}">
                  <a16:creationId xmlns:a16="http://schemas.microsoft.com/office/drawing/2014/main" id="{6E9167C7-3F5C-D8E8-9247-EE2659D50910}"/>
                </a:ext>
              </a:extLst>
            </p:cNvPr>
            <p:cNvSpPr>
              <a:spLocks noChangeShapeType="1"/>
            </p:cNvSpPr>
            <p:nvPr/>
          </p:nvSpPr>
          <p:spPr bwMode="auto">
            <a:xfrm>
              <a:off x="2304" y="2640"/>
              <a:ext cx="316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12" name="Line 16">
              <a:extLst>
                <a:ext uri="{FF2B5EF4-FFF2-40B4-BE49-F238E27FC236}">
                  <a16:creationId xmlns:a16="http://schemas.microsoft.com/office/drawing/2014/main" id="{39AFDE99-1DCE-6509-BE82-94F294BFD86D}"/>
                </a:ext>
              </a:extLst>
            </p:cNvPr>
            <p:cNvSpPr>
              <a:spLocks noChangeShapeType="1"/>
            </p:cNvSpPr>
            <p:nvPr/>
          </p:nvSpPr>
          <p:spPr bwMode="auto">
            <a:xfrm>
              <a:off x="3024" y="216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3" name="Line 17">
              <a:extLst>
                <a:ext uri="{FF2B5EF4-FFF2-40B4-BE49-F238E27FC236}">
                  <a16:creationId xmlns:a16="http://schemas.microsoft.com/office/drawing/2014/main" id="{60D91D50-7B86-0CF6-1D82-1BA50B05AEDB}"/>
                </a:ext>
              </a:extLst>
            </p:cNvPr>
            <p:cNvSpPr>
              <a:spLocks noChangeShapeType="1"/>
            </p:cNvSpPr>
            <p:nvPr/>
          </p:nvSpPr>
          <p:spPr bwMode="auto">
            <a:xfrm>
              <a:off x="3024" y="240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4" name="Line 18">
              <a:extLst>
                <a:ext uri="{FF2B5EF4-FFF2-40B4-BE49-F238E27FC236}">
                  <a16:creationId xmlns:a16="http://schemas.microsoft.com/office/drawing/2014/main" id="{812B42BA-8774-BA2C-9D4F-E90BF7A7820E}"/>
                </a:ext>
              </a:extLst>
            </p:cNvPr>
            <p:cNvSpPr>
              <a:spLocks noChangeShapeType="1"/>
            </p:cNvSpPr>
            <p:nvPr/>
          </p:nvSpPr>
          <p:spPr bwMode="auto">
            <a:xfrm rot="-5471610">
              <a:off x="3265"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5" name="Line 19">
              <a:extLst>
                <a:ext uri="{FF2B5EF4-FFF2-40B4-BE49-F238E27FC236}">
                  <a16:creationId xmlns:a16="http://schemas.microsoft.com/office/drawing/2014/main" id="{D170CF0A-5A9B-0A64-4804-EB41A182D2FA}"/>
                </a:ext>
              </a:extLst>
            </p:cNvPr>
            <p:cNvSpPr>
              <a:spLocks noChangeShapeType="1"/>
            </p:cNvSpPr>
            <p:nvPr/>
          </p:nvSpPr>
          <p:spPr bwMode="auto">
            <a:xfrm rot="-5471610">
              <a:off x="3553"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6" name="Line 20">
              <a:extLst>
                <a:ext uri="{FF2B5EF4-FFF2-40B4-BE49-F238E27FC236}">
                  <a16:creationId xmlns:a16="http://schemas.microsoft.com/office/drawing/2014/main" id="{D94F36EC-B357-D52A-B733-A6D12EF87D30}"/>
                </a:ext>
              </a:extLst>
            </p:cNvPr>
            <p:cNvSpPr>
              <a:spLocks noChangeShapeType="1"/>
            </p:cNvSpPr>
            <p:nvPr/>
          </p:nvSpPr>
          <p:spPr bwMode="auto">
            <a:xfrm rot="-5471610">
              <a:off x="3841"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7" name="Line 21">
              <a:extLst>
                <a:ext uri="{FF2B5EF4-FFF2-40B4-BE49-F238E27FC236}">
                  <a16:creationId xmlns:a16="http://schemas.microsoft.com/office/drawing/2014/main" id="{8DBDDA7F-C496-D6FE-E496-204853FBF718}"/>
                </a:ext>
              </a:extLst>
            </p:cNvPr>
            <p:cNvSpPr>
              <a:spLocks noChangeShapeType="1"/>
            </p:cNvSpPr>
            <p:nvPr/>
          </p:nvSpPr>
          <p:spPr bwMode="auto">
            <a:xfrm rot="-5471610">
              <a:off x="4129"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8" name="Line 22">
              <a:extLst>
                <a:ext uri="{FF2B5EF4-FFF2-40B4-BE49-F238E27FC236}">
                  <a16:creationId xmlns:a16="http://schemas.microsoft.com/office/drawing/2014/main" id="{DF57156F-60B8-4A2B-B464-F5AB914C4EBF}"/>
                </a:ext>
              </a:extLst>
            </p:cNvPr>
            <p:cNvSpPr>
              <a:spLocks noChangeShapeType="1"/>
            </p:cNvSpPr>
            <p:nvPr/>
          </p:nvSpPr>
          <p:spPr bwMode="auto">
            <a:xfrm rot="-5471610">
              <a:off x="4417" y="2639"/>
              <a:ext cx="9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19" name="Text Box 23">
              <a:extLst>
                <a:ext uri="{FF2B5EF4-FFF2-40B4-BE49-F238E27FC236}">
                  <a16:creationId xmlns:a16="http://schemas.microsoft.com/office/drawing/2014/main" id="{130F7369-4B1C-DC5D-3409-C804D7D9E63B}"/>
                </a:ext>
              </a:extLst>
            </p:cNvPr>
            <p:cNvSpPr txBox="1">
              <a:spLocks noChangeArrowheads="1"/>
            </p:cNvSpPr>
            <p:nvPr/>
          </p:nvSpPr>
          <p:spPr bwMode="auto">
            <a:xfrm>
              <a:off x="4992" y="2688"/>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baseline="-25000"/>
                <a:t>1</a:t>
              </a:r>
              <a:endParaRPr lang="en-US" altLang="en-US" sz="2400" i="1"/>
            </a:p>
          </p:txBody>
        </p:sp>
        <p:sp>
          <p:nvSpPr>
            <p:cNvPr id="4120" name="Text Box 24">
              <a:extLst>
                <a:ext uri="{FF2B5EF4-FFF2-40B4-BE49-F238E27FC236}">
                  <a16:creationId xmlns:a16="http://schemas.microsoft.com/office/drawing/2014/main" id="{3663F592-354F-A2E8-0353-FF53A4815B83}"/>
                </a:ext>
              </a:extLst>
            </p:cNvPr>
            <p:cNvSpPr txBox="1">
              <a:spLocks noChangeArrowheads="1"/>
            </p:cNvSpPr>
            <p:nvPr/>
          </p:nvSpPr>
          <p:spPr bwMode="auto">
            <a:xfrm>
              <a:off x="2747" y="1008"/>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2</a:t>
              </a:r>
              <a:endParaRPr lang="en-US" altLang="en-US" sz="2400" i="1"/>
            </a:p>
          </p:txBody>
        </p:sp>
        <p:sp>
          <p:nvSpPr>
            <p:cNvPr id="4121" name="Text Box 25">
              <a:extLst>
                <a:ext uri="{FF2B5EF4-FFF2-40B4-BE49-F238E27FC236}">
                  <a16:creationId xmlns:a16="http://schemas.microsoft.com/office/drawing/2014/main" id="{1B8B9611-17E0-DA97-023B-47A8AC7B93E5}"/>
                </a:ext>
              </a:extLst>
            </p:cNvPr>
            <p:cNvSpPr txBox="1">
              <a:spLocks noChangeArrowheads="1"/>
            </p:cNvSpPr>
            <p:nvPr/>
          </p:nvSpPr>
          <p:spPr bwMode="auto">
            <a:xfrm>
              <a:off x="2880" y="182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a:t>
              </a:r>
            </a:p>
          </p:txBody>
        </p:sp>
        <p:sp>
          <p:nvSpPr>
            <p:cNvPr id="4122" name="Text Box 26">
              <a:extLst>
                <a:ext uri="{FF2B5EF4-FFF2-40B4-BE49-F238E27FC236}">
                  <a16:creationId xmlns:a16="http://schemas.microsoft.com/office/drawing/2014/main" id="{C5346E9D-E8CB-2F3C-B212-E90A558AE1D9}"/>
                </a:ext>
              </a:extLst>
            </p:cNvPr>
            <p:cNvSpPr txBox="1">
              <a:spLocks noChangeArrowheads="1"/>
            </p:cNvSpPr>
            <p:nvPr/>
          </p:nvSpPr>
          <p:spPr bwMode="auto">
            <a:xfrm>
              <a:off x="2880" y="15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a:t>
              </a:r>
            </a:p>
          </p:txBody>
        </p:sp>
        <p:sp>
          <p:nvSpPr>
            <p:cNvPr id="4123" name="Text Box 27">
              <a:extLst>
                <a:ext uri="{FF2B5EF4-FFF2-40B4-BE49-F238E27FC236}">
                  <a16:creationId xmlns:a16="http://schemas.microsoft.com/office/drawing/2014/main" id="{6188D33E-9B78-CA53-10CA-736B3CCCA98D}"/>
                </a:ext>
              </a:extLst>
            </p:cNvPr>
            <p:cNvSpPr txBox="1">
              <a:spLocks noChangeArrowheads="1"/>
            </p:cNvSpPr>
            <p:nvPr/>
          </p:nvSpPr>
          <p:spPr bwMode="auto">
            <a:xfrm>
              <a:off x="2880" y="129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5</a:t>
              </a:r>
            </a:p>
          </p:txBody>
        </p:sp>
        <p:sp>
          <p:nvSpPr>
            <p:cNvPr id="4124" name="Text Box 28">
              <a:extLst>
                <a:ext uri="{FF2B5EF4-FFF2-40B4-BE49-F238E27FC236}">
                  <a16:creationId xmlns:a16="http://schemas.microsoft.com/office/drawing/2014/main" id="{8D842699-3C82-1481-9EE8-0914C66938E9}"/>
                </a:ext>
              </a:extLst>
            </p:cNvPr>
            <p:cNvSpPr txBox="1">
              <a:spLocks noChangeArrowheads="1"/>
            </p:cNvSpPr>
            <p:nvPr/>
          </p:nvSpPr>
          <p:spPr bwMode="auto">
            <a:xfrm>
              <a:off x="3216"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a:t>
              </a:r>
            </a:p>
          </p:txBody>
        </p:sp>
        <p:sp>
          <p:nvSpPr>
            <p:cNvPr id="4125" name="Text Box 29">
              <a:extLst>
                <a:ext uri="{FF2B5EF4-FFF2-40B4-BE49-F238E27FC236}">
                  <a16:creationId xmlns:a16="http://schemas.microsoft.com/office/drawing/2014/main" id="{EBA6EC2B-00E5-09CA-732B-188A371E65D4}"/>
                </a:ext>
              </a:extLst>
            </p:cNvPr>
            <p:cNvSpPr txBox="1">
              <a:spLocks noChangeArrowheads="1"/>
            </p:cNvSpPr>
            <p:nvPr/>
          </p:nvSpPr>
          <p:spPr bwMode="auto">
            <a:xfrm>
              <a:off x="3504"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a:t>
              </a:r>
            </a:p>
          </p:txBody>
        </p:sp>
        <p:sp>
          <p:nvSpPr>
            <p:cNvPr id="4126" name="Text Box 30">
              <a:extLst>
                <a:ext uri="{FF2B5EF4-FFF2-40B4-BE49-F238E27FC236}">
                  <a16:creationId xmlns:a16="http://schemas.microsoft.com/office/drawing/2014/main" id="{EB84C547-B01F-A325-8793-10DB2C151E20}"/>
                </a:ext>
              </a:extLst>
            </p:cNvPr>
            <p:cNvSpPr txBox="1">
              <a:spLocks noChangeArrowheads="1"/>
            </p:cNvSpPr>
            <p:nvPr/>
          </p:nvSpPr>
          <p:spPr bwMode="auto">
            <a:xfrm>
              <a:off x="3792"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a:t>
              </a:r>
            </a:p>
          </p:txBody>
        </p:sp>
        <p:sp>
          <p:nvSpPr>
            <p:cNvPr id="4127" name="Text Box 31">
              <a:extLst>
                <a:ext uri="{FF2B5EF4-FFF2-40B4-BE49-F238E27FC236}">
                  <a16:creationId xmlns:a16="http://schemas.microsoft.com/office/drawing/2014/main" id="{5217614C-481A-B62C-B25B-E3B37E6EC8E7}"/>
                </a:ext>
              </a:extLst>
            </p:cNvPr>
            <p:cNvSpPr txBox="1">
              <a:spLocks noChangeArrowheads="1"/>
            </p:cNvSpPr>
            <p:nvPr/>
          </p:nvSpPr>
          <p:spPr bwMode="auto">
            <a:xfrm>
              <a:off x="4080"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a:t>
              </a:r>
            </a:p>
          </p:txBody>
        </p:sp>
        <p:sp>
          <p:nvSpPr>
            <p:cNvPr id="4128" name="Text Box 32">
              <a:extLst>
                <a:ext uri="{FF2B5EF4-FFF2-40B4-BE49-F238E27FC236}">
                  <a16:creationId xmlns:a16="http://schemas.microsoft.com/office/drawing/2014/main" id="{CE183C4E-AB46-A852-37F8-0AA24ACAE585}"/>
                </a:ext>
              </a:extLst>
            </p:cNvPr>
            <p:cNvSpPr txBox="1">
              <a:spLocks noChangeArrowheads="1"/>
            </p:cNvSpPr>
            <p:nvPr/>
          </p:nvSpPr>
          <p:spPr bwMode="auto">
            <a:xfrm>
              <a:off x="4368" y="273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5</a:t>
              </a:r>
            </a:p>
          </p:txBody>
        </p:sp>
        <p:sp>
          <p:nvSpPr>
            <p:cNvPr id="4129" name="Line 33">
              <a:extLst>
                <a:ext uri="{FF2B5EF4-FFF2-40B4-BE49-F238E27FC236}">
                  <a16:creationId xmlns:a16="http://schemas.microsoft.com/office/drawing/2014/main" id="{E3748CC2-F92B-6F91-667E-92AAFF0F9ACD}"/>
                </a:ext>
              </a:extLst>
            </p:cNvPr>
            <p:cNvSpPr>
              <a:spLocks noChangeShapeType="1"/>
            </p:cNvSpPr>
            <p:nvPr/>
          </p:nvSpPr>
          <p:spPr bwMode="auto">
            <a:xfrm>
              <a:off x="3072" y="1392"/>
              <a:ext cx="1392" cy="12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30" name="Line 34">
              <a:extLst>
                <a:ext uri="{FF2B5EF4-FFF2-40B4-BE49-F238E27FC236}">
                  <a16:creationId xmlns:a16="http://schemas.microsoft.com/office/drawing/2014/main" id="{23F9C4C2-284C-8F23-1F78-649335BF7228}"/>
                </a:ext>
              </a:extLst>
            </p:cNvPr>
            <p:cNvSpPr>
              <a:spLocks noChangeShapeType="1"/>
            </p:cNvSpPr>
            <p:nvPr/>
          </p:nvSpPr>
          <p:spPr bwMode="auto">
            <a:xfrm>
              <a:off x="3072" y="1920"/>
              <a:ext cx="21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31" name="Oval 35">
              <a:extLst>
                <a:ext uri="{FF2B5EF4-FFF2-40B4-BE49-F238E27FC236}">
                  <a16:creationId xmlns:a16="http://schemas.microsoft.com/office/drawing/2014/main" id="{0FE08598-BDCC-C87C-9885-2CDBC0AFC404}"/>
                </a:ext>
              </a:extLst>
            </p:cNvPr>
            <p:cNvSpPr>
              <a:spLocks noChangeArrowheads="1"/>
            </p:cNvSpPr>
            <p:nvPr/>
          </p:nvSpPr>
          <p:spPr bwMode="auto">
            <a:xfrm flipV="1">
              <a:off x="3600" y="187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2" name="Oval 36">
              <a:extLst>
                <a:ext uri="{FF2B5EF4-FFF2-40B4-BE49-F238E27FC236}">
                  <a16:creationId xmlns:a16="http://schemas.microsoft.com/office/drawing/2014/main" id="{74822568-83B2-1812-B138-04243D848EF0}"/>
                </a:ext>
              </a:extLst>
            </p:cNvPr>
            <p:cNvSpPr>
              <a:spLocks noChangeArrowheads="1"/>
            </p:cNvSpPr>
            <p:nvPr/>
          </p:nvSpPr>
          <p:spPr bwMode="auto">
            <a:xfrm flipV="1">
              <a:off x="3312" y="187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3" name="Oval 37">
              <a:extLst>
                <a:ext uri="{FF2B5EF4-FFF2-40B4-BE49-F238E27FC236}">
                  <a16:creationId xmlns:a16="http://schemas.microsoft.com/office/drawing/2014/main" id="{51D83580-0B68-1B71-3D2D-8BB6F95DC886}"/>
                </a:ext>
              </a:extLst>
            </p:cNvPr>
            <p:cNvSpPr>
              <a:spLocks noChangeArrowheads="1"/>
            </p:cNvSpPr>
            <p:nvPr/>
          </p:nvSpPr>
          <p:spPr bwMode="auto">
            <a:xfrm flipV="1">
              <a:off x="3072" y="187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4" name="Oval 38">
              <a:extLst>
                <a:ext uri="{FF2B5EF4-FFF2-40B4-BE49-F238E27FC236}">
                  <a16:creationId xmlns:a16="http://schemas.microsoft.com/office/drawing/2014/main" id="{BBFC4E0E-607F-A096-DC69-F3D002D74A59}"/>
                </a:ext>
              </a:extLst>
            </p:cNvPr>
            <p:cNvSpPr>
              <a:spLocks noChangeArrowheads="1"/>
            </p:cNvSpPr>
            <p:nvPr/>
          </p:nvSpPr>
          <p:spPr bwMode="auto">
            <a:xfrm flipV="1">
              <a:off x="3072"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5" name="Oval 39">
              <a:extLst>
                <a:ext uri="{FF2B5EF4-FFF2-40B4-BE49-F238E27FC236}">
                  <a16:creationId xmlns:a16="http://schemas.microsoft.com/office/drawing/2014/main" id="{2B3D7B04-3AB4-C776-D086-E22ED9E09668}"/>
                </a:ext>
              </a:extLst>
            </p:cNvPr>
            <p:cNvSpPr>
              <a:spLocks noChangeArrowheads="1"/>
            </p:cNvSpPr>
            <p:nvPr/>
          </p:nvSpPr>
          <p:spPr bwMode="auto">
            <a:xfrm flipV="1">
              <a:off x="3312"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6" name="Oval 40">
              <a:extLst>
                <a:ext uri="{FF2B5EF4-FFF2-40B4-BE49-F238E27FC236}">
                  <a16:creationId xmlns:a16="http://schemas.microsoft.com/office/drawing/2014/main" id="{508EB5CD-FF79-5083-99BC-CC37518E8F49}"/>
                </a:ext>
              </a:extLst>
            </p:cNvPr>
            <p:cNvSpPr>
              <a:spLocks noChangeArrowheads="1"/>
            </p:cNvSpPr>
            <p:nvPr/>
          </p:nvSpPr>
          <p:spPr bwMode="auto">
            <a:xfrm flipV="1">
              <a:off x="3600"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7" name="Oval 41">
              <a:extLst>
                <a:ext uri="{FF2B5EF4-FFF2-40B4-BE49-F238E27FC236}">
                  <a16:creationId xmlns:a16="http://schemas.microsoft.com/office/drawing/2014/main" id="{E93683DD-DEC3-BDFE-37F0-F4D612B16F22}"/>
                </a:ext>
              </a:extLst>
            </p:cNvPr>
            <p:cNvSpPr>
              <a:spLocks noChangeArrowheads="1"/>
            </p:cNvSpPr>
            <p:nvPr/>
          </p:nvSpPr>
          <p:spPr bwMode="auto">
            <a:xfrm flipV="1">
              <a:off x="3888" y="2136"/>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8" name="Oval 42">
              <a:extLst>
                <a:ext uri="{FF2B5EF4-FFF2-40B4-BE49-F238E27FC236}">
                  <a16:creationId xmlns:a16="http://schemas.microsoft.com/office/drawing/2014/main" id="{D5CACF32-04E3-D57F-A1FB-6DBEE8BA2CA6}"/>
                </a:ext>
              </a:extLst>
            </p:cNvPr>
            <p:cNvSpPr>
              <a:spLocks noChangeArrowheads="1"/>
            </p:cNvSpPr>
            <p:nvPr/>
          </p:nvSpPr>
          <p:spPr bwMode="auto">
            <a:xfrm flipV="1">
              <a:off x="3072"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39" name="Oval 43">
              <a:extLst>
                <a:ext uri="{FF2B5EF4-FFF2-40B4-BE49-F238E27FC236}">
                  <a16:creationId xmlns:a16="http://schemas.microsoft.com/office/drawing/2014/main" id="{722C1D50-8CEE-55C7-E462-22CB9313D22A}"/>
                </a:ext>
              </a:extLst>
            </p:cNvPr>
            <p:cNvSpPr>
              <a:spLocks noChangeArrowheads="1"/>
            </p:cNvSpPr>
            <p:nvPr/>
          </p:nvSpPr>
          <p:spPr bwMode="auto">
            <a:xfrm flipV="1">
              <a:off x="3312"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0" name="Oval 44">
              <a:extLst>
                <a:ext uri="{FF2B5EF4-FFF2-40B4-BE49-F238E27FC236}">
                  <a16:creationId xmlns:a16="http://schemas.microsoft.com/office/drawing/2014/main" id="{5CDD7B42-8994-54F1-0325-44373265E645}"/>
                </a:ext>
              </a:extLst>
            </p:cNvPr>
            <p:cNvSpPr>
              <a:spLocks noChangeArrowheads="1"/>
            </p:cNvSpPr>
            <p:nvPr/>
          </p:nvSpPr>
          <p:spPr bwMode="auto">
            <a:xfrm flipV="1">
              <a:off x="3600"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1" name="Oval 45">
              <a:extLst>
                <a:ext uri="{FF2B5EF4-FFF2-40B4-BE49-F238E27FC236}">
                  <a16:creationId xmlns:a16="http://schemas.microsoft.com/office/drawing/2014/main" id="{F889CF1C-8223-92D8-5525-8F128D5A9E61}"/>
                </a:ext>
              </a:extLst>
            </p:cNvPr>
            <p:cNvSpPr>
              <a:spLocks noChangeArrowheads="1"/>
            </p:cNvSpPr>
            <p:nvPr/>
          </p:nvSpPr>
          <p:spPr bwMode="auto">
            <a:xfrm flipV="1">
              <a:off x="3888"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2" name="Oval 46">
              <a:extLst>
                <a:ext uri="{FF2B5EF4-FFF2-40B4-BE49-F238E27FC236}">
                  <a16:creationId xmlns:a16="http://schemas.microsoft.com/office/drawing/2014/main" id="{51FFE96A-A171-C2AD-FEA1-928263B12ECE}"/>
                </a:ext>
              </a:extLst>
            </p:cNvPr>
            <p:cNvSpPr>
              <a:spLocks noChangeArrowheads="1"/>
            </p:cNvSpPr>
            <p:nvPr/>
          </p:nvSpPr>
          <p:spPr bwMode="auto">
            <a:xfrm flipV="1">
              <a:off x="4176" y="2400"/>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3" name="Oval 47">
              <a:extLst>
                <a:ext uri="{FF2B5EF4-FFF2-40B4-BE49-F238E27FC236}">
                  <a16:creationId xmlns:a16="http://schemas.microsoft.com/office/drawing/2014/main" id="{79DD0A3A-A309-5CAB-D7BD-BDB1B09BAD8B}"/>
                </a:ext>
              </a:extLst>
            </p:cNvPr>
            <p:cNvSpPr>
              <a:spLocks noChangeArrowheads="1"/>
            </p:cNvSpPr>
            <p:nvPr/>
          </p:nvSpPr>
          <p:spPr bwMode="auto">
            <a:xfrm flipV="1">
              <a:off x="3072"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4" name="Oval 48">
              <a:extLst>
                <a:ext uri="{FF2B5EF4-FFF2-40B4-BE49-F238E27FC236}">
                  <a16:creationId xmlns:a16="http://schemas.microsoft.com/office/drawing/2014/main" id="{7B446916-92F2-2A3F-94FD-DA9741F6E7E0}"/>
                </a:ext>
              </a:extLst>
            </p:cNvPr>
            <p:cNvSpPr>
              <a:spLocks noChangeArrowheads="1"/>
            </p:cNvSpPr>
            <p:nvPr/>
          </p:nvSpPr>
          <p:spPr bwMode="auto">
            <a:xfrm flipV="1">
              <a:off x="3312"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5" name="Oval 49">
              <a:extLst>
                <a:ext uri="{FF2B5EF4-FFF2-40B4-BE49-F238E27FC236}">
                  <a16:creationId xmlns:a16="http://schemas.microsoft.com/office/drawing/2014/main" id="{224254E5-B60A-665D-3598-32BEF58A4BBF}"/>
                </a:ext>
              </a:extLst>
            </p:cNvPr>
            <p:cNvSpPr>
              <a:spLocks noChangeArrowheads="1"/>
            </p:cNvSpPr>
            <p:nvPr/>
          </p:nvSpPr>
          <p:spPr bwMode="auto">
            <a:xfrm flipV="1">
              <a:off x="3600"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6" name="Oval 50">
              <a:extLst>
                <a:ext uri="{FF2B5EF4-FFF2-40B4-BE49-F238E27FC236}">
                  <a16:creationId xmlns:a16="http://schemas.microsoft.com/office/drawing/2014/main" id="{46ED79D3-B574-136D-1F40-0D1F0BBA6916}"/>
                </a:ext>
              </a:extLst>
            </p:cNvPr>
            <p:cNvSpPr>
              <a:spLocks noChangeArrowheads="1"/>
            </p:cNvSpPr>
            <p:nvPr/>
          </p:nvSpPr>
          <p:spPr bwMode="auto">
            <a:xfrm flipV="1">
              <a:off x="3888"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7" name="Oval 51">
              <a:extLst>
                <a:ext uri="{FF2B5EF4-FFF2-40B4-BE49-F238E27FC236}">
                  <a16:creationId xmlns:a16="http://schemas.microsoft.com/office/drawing/2014/main" id="{D363AE7B-78D2-7684-EB13-06DA553DD2F2}"/>
                </a:ext>
              </a:extLst>
            </p:cNvPr>
            <p:cNvSpPr>
              <a:spLocks noChangeArrowheads="1"/>
            </p:cNvSpPr>
            <p:nvPr/>
          </p:nvSpPr>
          <p:spPr bwMode="auto">
            <a:xfrm flipV="1">
              <a:off x="4176"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48" name="Oval 52">
              <a:extLst>
                <a:ext uri="{FF2B5EF4-FFF2-40B4-BE49-F238E27FC236}">
                  <a16:creationId xmlns:a16="http://schemas.microsoft.com/office/drawing/2014/main" id="{3532EAA9-C875-4852-CC4C-989D085CF01B}"/>
                </a:ext>
              </a:extLst>
            </p:cNvPr>
            <p:cNvSpPr>
              <a:spLocks noChangeArrowheads="1"/>
            </p:cNvSpPr>
            <p:nvPr/>
          </p:nvSpPr>
          <p:spPr bwMode="auto">
            <a:xfrm flipV="1">
              <a:off x="4416" y="2592"/>
              <a:ext cx="48" cy="4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pSp>
      <p:sp>
        <p:nvSpPr>
          <p:cNvPr id="172085" name="Text Box 53">
            <a:extLst>
              <a:ext uri="{FF2B5EF4-FFF2-40B4-BE49-F238E27FC236}">
                <a16:creationId xmlns:a16="http://schemas.microsoft.com/office/drawing/2014/main" id="{525C23A3-C082-C62F-67CC-715D00F6DC51}"/>
              </a:ext>
            </a:extLst>
          </p:cNvPr>
          <p:cNvSpPr txBox="1">
            <a:spLocks noChangeArrowheads="1"/>
          </p:cNvSpPr>
          <p:nvPr/>
        </p:nvSpPr>
        <p:spPr bwMode="auto">
          <a:xfrm>
            <a:off x="228600" y="5562600"/>
            <a:ext cx="82454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sz="2600"/>
              <a:t>  The branch-and-bound method brings these bounds together to narrow the search until the optimum is found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2037">
                                            <p:txEl>
                                              <p:pRg st="0" end="0"/>
                                            </p:txEl>
                                          </p:spTgt>
                                        </p:tgtEl>
                                        <p:attrNameLst>
                                          <p:attrName>style.visibility</p:attrName>
                                        </p:attrNameLst>
                                      </p:cBhvr>
                                      <p:to>
                                        <p:strVal val="visible"/>
                                      </p:to>
                                    </p:set>
                                    <p:anim calcmode="lin" valueType="num">
                                      <p:cBhvr additive="base">
                                        <p:cTn id="13" dur="500" fill="hold"/>
                                        <p:tgtEl>
                                          <p:spTgt spid="17203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20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2037">
                                            <p:txEl>
                                              <p:pRg st="1" end="1"/>
                                            </p:txEl>
                                          </p:spTgt>
                                        </p:tgtEl>
                                        <p:attrNameLst>
                                          <p:attrName>style.visibility</p:attrName>
                                        </p:attrNameLst>
                                      </p:cBhvr>
                                      <p:to>
                                        <p:strVal val="visible"/>
                                      </p:to>
                                    </p:set>
                                    <p:anim calcmode="lin" valueType="num">
                                      <p:cBhvr additive="base">
                                        <p:cTn id="19" dur="500" fill="hold"/>
                                        <p:tgtEl>
                                          <p:spTgt spid="17203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203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2037">
                                            <p:txEl>
                                              <p:pRg st="2" end="2"/>
                                            </p:txEl>
                                          </p:spTgt>
                                        </p:tgtEl>
                                        <p:attrNameLst>
                                          <p:attrName>style.visibility</p:attrName>
                                        </p:attrNameLst>
                                      </p:cBhvr>
                                      <p:to>
                                        <p:strVal val="visible"/>
                                      </p:to>
                                    </p:set>
                                    <p:anim calcmode="lin" valueType="num">
                                      <p:cBhvr additive="base">
                                        <p:cTn id="25" dur="500" fill="hold"/>
                                        <p:tgtEl>
                                          <p:spTgt spid="172037">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203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72085"/>
                                        </p:tgtEl>
                                        <p:attrNameLst>
                                          <p:attrName>style.visibility</p:attrName>
                                        </p:attrNameLst>
                                      </p:cBhvr>
                                      <p:to>
                                        <p:strVal val="visible"/>
                                      </p:to>
                                    </p:set>
                                    <p:anim calcmode="lin" valueType="num">
                                      <p:cBhvr additive="base">
                                        <p:cTn id="31" dur="500" fill="hold"/>
                                        <p:tgtEl>
                                          <p:spTgt spid="172085"/>
                                        </p:tgtEl>
                                        <p:attrNameLst>
                                          <p:attrName>ppt_x</p:attrName>
                                        </p:attrNameLst>
                                      </p:cBhvr>
                                      <p:tavLst>
                                        <p:tav tm="0">
                                          <p:val>
                                            <p:strVal val="0-#ppt_w/2"/>
                                          </p:val>
                                        </p:tav>
                                        <p:tav tm="100000">
                                          <p:val>
                                            <p:strVal val="#ppt_x"/>
                                          </p:val>
                                        </p:tav>
                                      </p:tavLst>
                                    </p:anim>
                                    <p:anim calcmode="lin" valueType="num">
                                      <p:cBhvr additive="base">
                                        <p:cTn id="32" dur="500" fill="hold"/>
                                        <p:tgtEl>
                                          <p:spTgt spid="1720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7" grpId="0" build="p" autoUpdateAnimBg="0"/>
      <p:bldP spid="172085"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BE3D025-333A-815B-2334-A70963963C96}"/>
              </a:ext>
            </a:extLst>
          </p:cNvPr>
          <p:cNvSpPr>
            <a:spLocks noGrp="1" noChangeArrowheads="1"/>
          </p:cNvSpPr>
          <p:nvPr>
            <p:ph type="title"/>
          </p:nvPr>
        </p:nvSpPr>
        <p:spPr>
          <a:xfrm>
            <a:off x="381000" y="228600"/>
            <a:ext cx="8382000" cy="1143000"/>
          </a:xfrm>
        </p:spPr>
        <p:txBody>
          <a:bodyPr>
            <a:normAutofit fontScale="90000"/>
          </a:bodyPr>
          <a:lstStyle/>
          <a:p>
            <a:pPr>
              <a:lnSpc>
                <a:spcPct val="80000"/>
              </a:lnSpc>
            </a:pPr>
            <a:r>
              <a:rPr lang="en-US" altLang="en-US" sz="4600"/>
              <a:t>Branch and Bound: A Small Binary Example  </a:t>
            </a:r>
          </a:p>
        </p:txBody>
      </p:sp>
      <p:sp>
        <p:nvSpPr>
          <p:cNvPr id="5123" name="Rectangle 3">
            <a:extLst>
              <a:ext uri="{FF2B5EF4-FFF2-40B4-BE49-F238E27FC236}">
                <a16:creationId xmlns:a16="http://schemas.microsoft.com/office/drawing/2014/main" id="{4F28E750-7FF1-6A94-3AE6-73817177B12D}"/>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5124" name="Rectangle 4">
            <a:extLst>
              <a:ext uri="{FF2B5EF4-FFF2-40B4-BE49-F238E27FC236}">
                <a16:creationId xmlns:a16="http://schemas.microsoft.com/office/drawing/2014/main" id="{E1C48D46-1CC5-8352-CDB4-3243FA36B886}"/>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24</a:t>
            </a:r>
          </a:p>
        </p:txBody>
      </p:sp>
      <p:sp>
        <p:nvSpPr>
          <p:cNvPr id="173061" name="Text Box 5">
            <a:extLst>
              <a:ext uri="{FF2B5EF4-FFF2-40B4-BE49-F238E27FC236}">
                <a16:creationId xmlns:a16="http://schemas.microsoft.com/office/drawing/2014/main" id="{744AEAFE-7C85-9A7B-2DA6-B5873E0358D7}"/>
              </a:ext>
            </a:extLst>
          </p:cNvPr>
          <p:cNvSpPr txBox="1">
            <a:spLocks noChangeArrowheads="1"/>
          </p:cNvSpPr>
          <p:nvPr/>
        </p:nvSpPr>
        <p:spPr bwMode="auto">
          <a:xfrm>
            <a:off x="495300" y="1371600"/>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Let’s solve the following binary program:</a:t>
            </a:r>
          </a:p>
        </p:txBody>
      </p:sp>
      <p:graphicFrame>
        <p:nvGraphicFramePr>
          <p:cNvPr id="173062" name="Object 6">
            <a:extLst>
              <a:ext uri="{FF2B5EF4-FFF2-40B4-BE49-F238E27FC236}">
                <a16:creationId xmlns:a16="http://schemas.microsoft.com/office/drawing/2014/main" id="{604ABE5F-0D35-820E-78D5-009B7925DFF4}"/>
              </a:ext>
            </a:extLst>
          </p:cNvPr>
          <p:cNvGraphicFramePr>
            <a:graphicFrameLocks noChangeAspect="1"/>
          </p:cNvGraphicFramePr>
          <p:nvPr/>
        </p:nvGraphicFramePr>
        <p:xfrm>
          <a:off x="1868488" y="2057400"/>
          <a:ext cx="5408612" cy="1633538"/>
        </p:xfrm>
        <a:graphic>
          <a:graphicData uri="http://schemas.openxmlformats.org/presentationml/2006/ole">
            <mc:AlternateContent xmlns:mc="http://schemas.openxmlformats.org/markup-compatibility/2006">
              <mc:Choice xmlns:v="urn:schemas-microsoft-com:vml" Requires="v">
                <p:oleObj name="Equation" r:id="rId2" imgW="2273300" imgH="685800" progId="Equation.DSMT4">
                  <p:embed/>
                </p:oleObj>
              </mc:Choice>
              <mc:Fallback>
                <p:oleObj name="Equation" r:id="rId2" imgW="2273300" imgH="685800" progId="Equation.DSMT4">
                  <p:embed/>
                  <p:pic>
                    <p:nvPicPr>
                      <p:cNvPr id="173062" name="Object 6">
                        <a:extLst>
                          <a:ext uri="{FF2B5EF4-FFF2-40B4-BE49-F238E27FC236}">
                            <a16:creationId xmlns:a16="http://schemas.microsoft.com/office/drawing/2014/main" id="{604ABE5F-0D35-820E-78D5-009B7925D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8488" y="2057400"/>
                        <a:ext cx="5408612" cy="163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3063" name="Text Box 7">
            <a:extLst>
              <a:ext uri="{FF2B5EF4-FFF2-40B4-BE49-F238E27FC236}">
                <a16:creationId xmlns:a16="http://schemas.microsoft.com/office/drawing/2014/main" id="{CF9CDC6A-7CE9-1C59-6968-3A1749BC2C86}"/>
              </a:ext>
            </a:extLst>
          </p:cNvPr>
          <p:cNvSpPr txBox="1">
            <a:spLocks noChangeArrowheads="1"/>
          </p:cNvSpPr>
          <p:nvPr/>
        </p:nvSpPr>
        <p:spPr bwMode="auto">
          <a:xfrm>
            <a:off x="457200" y="3886200"/>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First, solve the LP-relaxation, called the </a:t>
            </a:r>
            <a:r>
              <a:rPr lang="en-US" altLang="en-US" sz="3400" u="sng"/>
              <a:t>root node</a:t>
            </a:r>
            <a:r>
              <a:rPr lang="en-US" altLang="en-US" sz="3400"/>
              <a:t> of the problem:</a:t>
            </a:r>
          </a:p>
        </p:txBody>
      </p:sp>
      <p:graphicFrame>
        <p:nvGraphicFramePr>
          <p:cNvPr id="173083" name="Object 27">
            <a:extLst>
              <a:ext uri="{FF2B5EF4-FFF2-40B4-BE49-F238E27FC236}">
                <a16:creationId xmlns:a16="http://schemas.microsoft.com/office/drawing/2014/main" id="{3B0AE872-5B5D-A0BC-B8BA-C869AB029BE8}"/>
              </a:ext>
            </a:extLst>
          </p:cNvPr>
          <p:cNvGraphicFramePr>
            <a:graphicFrameLocks noChangeAspect="1"/>
          </p:cNvGraphicFramePr>
          <p:nvPr/>
        </p:nvGraphicFramePr>
        <p:xfrm>
          <a:off x="946150" y="5105400"/>
          <a:ext cx="7251700" cy="1135063"/>
        </p:xfrm>
        <a:graphic>
          <a:graphicData uri="http://schemas.openxmlformats.org/presentationml/2006/ole">
            <mc:AlternateContent xmlns:mc="http://schemas.openxmlformats.org/markup-compatibility/2006">
              <mc:Choice xmlns:v="urn:schemas-microsoft-com:vml" Requires="v">
                <p:oleObj name="Equation" r:id="rId4" imgW="2921000" imgH="457200" progId="Equation.DSMT4">
                  <p:embed/>
                </p:oleObj>
              </mc:Choice>
              <mc:Fallback>
                <p:oleObj name="Equation" r:id="rId4" imgW="2921000" imgH="457200" progId="Equation.DSMT4">
                  <p:embed/>
                  <p:pic>
                    <p:nvPicPr>
                      <p:cNvPr id="173083" name="Object 27">
                        <a:extLst>
                          <a:ext uri="{FF2B5EF4-FFF2-40B4-BE49-F238E27FC236}">
                            <a16:creationId xmlns:a16="http://schemas.microsoft.com/office/drawing/2014/main" id="{3B0AE872-5B5D-A0BC-B8BA-C869AB029B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6150" y="5105400"/>
                        <a:ext cx="7251700" cy="1135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3061">
                                            <p:txEl>
                                              <p:pRg st="0" end="0"/>
                                            </p:txEl>
                                          </p:spTgt>
                                        </p:tgtEl>
                                        <p:attrNameLst>
                                          <p:attrName>style.visibility</p:attrName>
                                        </p:attrNameLst>
                                      </p:cBhvr>
                                      <p:to>
                                        <p:strVal val="visible"/>
                                      </p:to>
                                    </p:set>
                                    <p:anim calcmode="lin" valueType="num">
                                      <p:cBhvr additive="base">
                                        <p:cTn id="7" dur="500" fill="hold"/>
                                        <p:tgtEl>
                                          <p:spTgt spid="17306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30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3062"/>
                                        </p:tgtEl>
                                        <p:attrNameLst>
                                          <p:attrName>style.visibility</p:attrName>
                                        </p:attrNameLst>
                                      </p:cBhvr>
                                      <p:to>
                                        <p:strVal val="visible"/>
                                      </p:to>
                                    </p:set>
                                    <p:anim calcmode="lin" valueType="num">
                                      <p:cBhvr additive="base">
                                        <p:cTn id="13" dur="500" fill="hold"/>
                                        <p:tgtEl>
                                          <p:spTgt spid="173062"/>
                                        </p:tgtEl>
                                        <p:attrNameLst>
                                          <p:attrName>ppt_x</p:attrName>
                                        </p:attrNameLst>
                                      </p:cBhvr>
                                      <p:tavLst>
                                        <p:tav tm="0">
                                          <p:val>
                                            <p:strVal val="0-#ppt_w/2"/>
                                          </p:val>
                                        </p:tav>
                                        <p:tav tm="100000">
                                          <p:val>
                                            <p:strVal val="#ppt_x"/>
                                          </p:val>
                                        </p:tav>
                                      </p:tavLst>
                                    </p:anim>
                                    <p:anim calcmode="lin" valueType="num">
                                      <p:cBhvr additive="base">
                                        <p:cTn id="14" dur="500" fill="hold"/>
                                        <p:tgtEl>
                                          <p:spTgt spid="17306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3063"/>
                                        </p:tgtEl>
                                        <p:attrNameLst>
                                          <p:attrName>style.visibility</p:attrName>
                                        </p:attrNameLst>
                                      </p:cBhvr>
                                      <p:to>
                                        <p:strVal val="visible"/>
                                      </p:to>
                                    </p:set>
                                    <p:anim calcmode="lin" valueType="num">
                                      <p:cBhvr additive="base">
                                        <p:cTn id="19" dur="500" fill="hold"/>
                                        <p:tgtEl>
                                          <p:spTgt spid="173063"/>
                                        </p:tgtEl>
                                        <p:attrNameLst>
                                          <p:attrName>ppt_x</p:attrName>
                                        </p:attrNameLst>
                                      </p:cBhvr>
                                      <p:tavLst>
                                        <p:tav tm="0">
                                          <p:val>
                                            <p:strVal val="0-#ppt_w/2"/>
                                          </p:val>
                                        </p:tav>
                                        <p:tav tm="100000">
                                          <p:val>
                                            <p:strVal val="#ppt_x"/>
                                          </p:val>
                                        </p:tav>
                                      </p:tavLst>
                                    </p:anim>
                                    <p:anim calcmode="lin" valueType="num">
                                      <p:cBhvr additive="base">
                                        <p:cTn id="20" dur="500" fill="hold"/>
                                        <p:tgtEl>
                                          <p:spTgt spid="17306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3083"/>
                                        </p:tgtEl>
                                        <p:attrNameLst>
                                          <p:attrName>style.visibility</p:attrName>
                                        </p:attrNameLst>
                                      </p:cBhvr>
                                      <p:to>
                                        <p:strVal val="visible"/>
                                      </p:to>
                                    </p:set>
                                    <p:anim calcmode="lin" valueType="num">
                                      <p:cBhvr additive="base">
                                        <p:cTn id="25" dur="500" fill="hold"/>
                                        <p:tgtEl>
                                          <p:spTgt spid="173083"/>
                                        </p:tgtEl>
                                        <p:attrNameLst>
                                          <p:attrName>ppt_x</p:attrName>
                                        </p:attrNameLst>
                                      </p:cBhvr>
                                      <p:tavLst>
                                        <p:tav tm="0">
                                          <p:val>
                                            <p:strVal val="0-#ppt_w/2"/>
                                          </p:val>
                                        </p:tav>
                                        <p:tav tm="100000">
                                          <p:val>
                                            <p:strVal val="#ppt_x"/>
                                          </p:val>
                                        </p:tav>
                                      </p:tavLst>
                                    </p:anim>
                                    <p:anim calcmode="lin" valueType="num">
                                      <p:cBhvr additive="base">
                                        <p:cTn id="26" dur="500" fill="hold"/>
                                        <p:tgtEl>
                                          <p:spTgt spid="1730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1" grpId="0" build="p" autoUpdateAnimBg="0"/>
      <p:bldP spid="173063"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42A045C-7CB0-9762-FB9A-14197258F6FF}"/>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LP-relaxation: Binary Example  </a:t>
            </a:r>
          </a:p>
        </p:txBody>
      </p:sp>
      <p:sp>
        <p:nvSpPr>
          <p:cNvPr id="6147" name="Rectangle 3">
            <a:extLst>
              <a:ext uri="{FF2B5EF4-FFF2-40B4-BE49-F238E27FC236}">
                <a16:creationId xmlns:a16="http://schemas.microsoft.com/office/drawing/2014/main" id="{51FEDB8F-DC89-3430-D075-3694F0901152}"/>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48" name="Rectangle 4">
            <a:extLst>
              <a:ext uri="{FF2B5EF4-FFF2-40B4-BE49-F238E27FC236}">
                <a16:creationId xmlns:a16="http://schemas.microsoft.com/office/drawing/2014/main" id="{21FF932E-AD18-D634-16EF-2F216BFC0742}"/>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24</a:t>
            </a:r>
          </a:p>
        </p:txBody>
      </p:sp>
      <p:sp>
        <p:nvSpPr>
          <p:cNvPr id="174085" name="Text Box 5">
            <a:extLst>
              <a:ext uri="{FF2B5EF4-FFF2-40B4-BE49-F238E27FC236}">
                <a16:creationId xmlns:a16="http://schemas.microsoft.com/office/drawing/2014/main" id="{CED87355-0930-71BF-A176-E81EFB11DA87}"/>
              </a:ext>
            </a:extLst>
          </p:cNvPr>
          <p:cNvSpPr txBox="1">
            <a:spLocks noChangeArrowheads="1"/>
          </p:cNvSpPr>
          <p:nvPr/>
        </p:nvSpPr>
        <p:spPr bwMode="auto">
          <a:xfrm>
            <a:off x="495300" y="2971800"/>
            <a:ext cx="8153400" cy="267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Remember the LP-relaxation gives an </a:t>
            </a:r>
            <a:r>
              <a:rPr lang="en-US" altLang="en-US" sz="3400" u="sng"/>
              <a:t>upper bound</a:t>
            </a:r>
            <a:r>
              <a:rPr lang="en-US" altLang="en-US" sz="3400"/>
              <a:t> on the solution</a:t>
            </a:r>
          </a:p>
          <a:p>
            <a:pPr>
              <a:spcBef>
                <a:spcPct val="0"/>
              </a:spcBef>
            </a:pPr>
            <a:r>
              <a:rPr lang="en-US" altLang="en-US" sz="3400"/>
              <a:t>  If it is feasible to the original problem, it is the global optimum of that problem</a:t>
            </a:r>
          </a:p>
          <a:p>
            <a:pPr>
              <a:spcBef>
                <a:spcPct val="0"/>
              </a:spcBef>
            </a:pPr>
            <a:r>
              <a:rPr lang="en-US" altLang="en-US" sz="3400"/>
              <a:t>  Normally, as in this case, it is infeasible</a:t>
            </a:r>
          </a:p>
        </p:txBody>
      </p:sp>
      <p:graphicFrame>
        <p:nvGraphicFramePr>
          <p:cNvPr id="6150" name="Object 6">
            <a:extLst>
              <a:ext uri="{FF2B5EF4-FFF2-40B4-BE49-F238E27FC236}">
                <a16:creationId xmlns:a16="http://schemas.microsoft.com/office/drawing/2014/main" id="{6DB5D8F5-2ADF-8342-8467-8645A962E0E8}"/>
              </a:ext>
            </a:extLst>
          </p:cNvPr>
          <p:cNvGraphicFramePr>
            <a:graphicFrameLocks noChangeAspect="1"/>
          </p:cNvGraphicFramePr>
          <p:nvPr/>
        </p:nvGraphicFramePr>
        <p:xfrm>
          <a:off x="1868488" y="1143000"/>
          <a:ext cx="5408612" cy="1633538"/>
        </p:xfrm>
        <a:graphic>
          <a:graphicData uri="http://schemas.openxmlformats.org/presentationml/2006/ole">
            <mc:AlternateContent xmlns:mc="http://schemas.openxmlformats.org/markup-compatibility/2006">
              <mc:Choice xmlns:v="urn:schemas-microsoft-com:vml" Requires="v">
                <p:oleObj name="Equation" r:id="rId2" imgW="2273300" imgH="685800" progId="Equation.DSMT4">
                  <p:embed/>
                </p:oleObj>
              </mc:Choice>
              <mc:Fallback>
                <p:oleObj name="Equation" r:id="rId2" imgW="2273300" imgH="685800" progId="Equation.DSMT4">
                  <p:embed/>
                  <p:pic>
                    <p:nvPicPr>
                      <p:cNvPr id="6150" name="Object 6">
                        <a:extLst>
                          <a:ext uri="{FF2B5EF4-FFF2-40B4-BE49-F238E27FC236}">
                            <a16:creationId xmlns:a16="http://schemas.microsoft.com/office/drawing/2014/main" id="{6DB5D8F5-2ADF-8342-8467-8645A962E0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8488" y="1143000"/>
                        <a:ext cx="5408612" cy="163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4085">
                                            <p:txEl>
                                              <p:pRg st="0" end="0"/>
                                            </p:txEl>
                                          </p:spTgt>
                                        </p:tgtEl>
                                        <p:attrNameLst>
                                          <p:attrName>style.visibility</p:attrName>
                                        </p:attrNameLst>
                                      </p:cBhvr>
                                      <p:to>
                                        <p:strVal val="visible"/>
                                      </p:to>
                                    </p:set>
                                    <p:anim calcmode="lin" valueType="num">
                                      <p:cBhvr additive="base">
                                        <p:cTn id="7" dur="500" fill="hold"/>
                                        <p:tgtEl>
                                          <p:spTgt spid="17408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0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4085">
                                            <p:txEl>
                                              <p:pRg st="1" end="1"/>
                                            </p:txEl>
                                          </p:spTgt>
                                        </p:tgtEl>
                                        <p:attrNameLst>
                                          <p:attrName>style.visibility</p:attrName>
                                        </p:attrNameLst>
                                      </p:cBhvr>
                                      <p:to>
                                        <p:strVal val="visible"/>
                                      </p:to>
                                    </p:set>
                                    <p:anim calcmode="lin" valueType="num">
                                      <p:cBhvr additive="base">
                                        <p:cTn id="13" dur="500" fill="hold"/>
                                        <p:tgtEl>
                                          <p:spTgt spid="17408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08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4085">
                                            <p:txEl>
                                              <p:pRg st="2" end="2"/>
                                            </p:txEl>
                                          </p:spTgt>
                                        </p:tgtEl>
                                        <p:attrNameLst>
                                          <p:attrName>style.visibility</p:attrName>
                                        </p:attrNameLst>
                                      </p:cBhvr>
                                      <p:to>
                                        <p:strVal val="visible"/>
                                      </p:to>
                                    </p:set>
                                    <p:anim calcmode="lin" valueType="num">
                                      <p:cBhvr additive="base">
                                        <p:cTn id="19" dur="500" fill="hold"/>
                                        <p:tgtEl>
                                          <p:spTgt spid="17408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08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5"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099F348-F8C6-E623-CDA8-94587E9AC522}"/>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Binary Trees  </a:t>
            </a:r>
          </a:p>
        </p:txBody>
      </p:sp>
      <p:sp>
        <p:nvSpPr>
          <p:cNvPr id="7171" name="Rectangle 3">
            <a:extLst>
              <a:ext uri="{FF2B5EF4-FFF2-40B4-BE49-F238E27FC236}">
                <a16:creationId xmlns:a16="http://schemas.microsoft.com/office/drawing/2014/main" id="{5C0D6069-2D24-4365-3B4F-4DC53485081E}"/>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72" name="Rectangle 4">
            <a:extLst>
              <a:ext uri="{FF2B5EF4-FFF2-40B4-BE49-F238E27FC236}">
                <a16:creationId xmlns:a16="http://schemas.microsoft.com/office/drawing/2014/main" id="{CE773469-0115-6F09-4993-0E94E538CE69}"/>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24</a:t>
            </a:r>
          </a:p>
        </p:txBody>
      </p:sp>
      <p:sp>
        <p:nvSpPr>
          <p:cNvPr id="175109" name="Text Box 5">
            <a:extLst>
              <a:ext uri="{FF2B5EF4-FFF2-40B4-BE49-F238E27FC236}">
                <a16:creationId xmlns:a16="http://schemas.microsoft.com/office/drawing/2014/main" id="{B022B37C-FFCC-6E1F-EBF4-BC8C07F55EE6}"/>
              </a:ext>
            </a:extLst>
          </p:cNvPr>
          <p:cNvSpPr txBox="1">
            <a:spLocks noChangeArrowheads="1"/>
          </p:cNvSpPr>
          <p:nvPr/>
        </p:nvSpPr>
        <p:spPr bwMode="auto">
          <a:xfrm>
            <a:off x="152400" y="990600"/>
            <a:ext cx="4572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Start by drawing the root node at the top</a:t>
            </a:r>
          </a:p>
        </p:txBody>
      </p:sp>
      <p:graphicFrame>
        <p:nvGraphicFramePr>
          <p:cNvPr id="7174" name="Object 6">
            <a:extLst>
              <a:ext uri="{FF2B5EF4-FFF2-40B4-BE49-F238E27FC236}">
                <a16:creationId xmlns:a16="http://schemas.microsoft.com/office/drawing/2014/main" id="{9CCDF8D3-DC08-7FA9-779C-60A787196D23}"/>
              </a:ext>
            </a:extLst>
          </p:cNvPr>
          <p:cNvGraphicFramePr>
            <a:graphicFrameLocks noChangeAspect="1"/>
          </p:cNvGraphicFramePr>
          <p:nvPr/>
        </p:nvGraphicFramePr>
        <p:xfrm>
          <a:off x="5257800" y="990600"/>
          <a:ext cx="3200400" cy="1987550"/>
        </p:xfrm>
        <a:graphic>
          <a:graphicData uri="http://schemas.openxmlformats.org/presentationml/2006/ole">
            <mc:AlternateContent xmlns:mc="http://schemas.openxmlformats.org/markup-compatibility/2006">
              <mc:Choice xmlns:v="urn:schemas-microsoft-com:vml" Requires="v">
                <p:oleObj name="Equation" r:id="rId2" imgW="1473200" imgH="914400" progId="Equation.3">
                  <p:embed/>
                </p:oleObj>
              </mc:Choice>
              <mc:Fallback>
                <p:oleObj name="Equation" r:id="rId2" imgW="1473200" imgH="914400" progId="Equation.3">
                  <p:embed/>
                  <p:pic>
                    <p:nvPicPr>
                      <p:cNvPr id="7174" name="Object 6">
                        <a:extLst>
                          <a:ext uri="{FF2B5EF4-FFF2-40B4-BE49-F238E27FC236}">
                            <a16:creationId xmlns:a16="http://schemas.microsoft.com/office/drawing/2014/main" id="{9CCDF8D3-DC08-7FA9-779C-60A787196D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990600"/>
                        <a:ext cx="3200400" cy="198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1">
            <a:extLst>
              <a:ext uri="{FF2B5EF4-FFF2-40B4-BE49-F238E27FC236}">
                <a16:creationId xmlns:a16="http://schemas.microsoft.com/office/drawing/2014/main" id="{9EEBFB78-F38D-9712-869A-D4F5563542FF}"/>
              </a:ext>
            </a:extLst>
          </p:cNvPr>
          <p:cNvGrpSpPr>
            <a:grpSpLocks/>
          </p:cNvGrpSpPr>
          <p:nvPr/>
        </p:nvGrpSpPr>
        <p:grpSpPr bwMode="auto">
          <a:xfrm>
            <a:off x="3962400" y="3317875"/>
            <a:ext cx="2495550" cy="949325"/>
            <a:chOff x="2496" y="2090"/>
            <a:chExt cx="1572" cy="598"/>
          </a:xfrm>
        </p:grpSpPr>
        <p:sp>
          <p:nvSpPr>
            <p:cNvPr id="7190" name="Oval 7">
              <a:extLst>
                <a:ext uri="{FF2B5EF4-FFF2-40B4-BE49-F238E27FC236}">
                  <a16:creationId xmlns:a16="http://schemas.microsoft.com/office/drawing/2014/main" id="{66186319-0EEB-447D-5495-3F1BE5CB11AA}"/>
                </a:ext>
              </a:extLst>
            </p:cNvPr>
            <p:cNvSpPr>
              <a:spLocks noChangeArrowheads="1"/>
            </p:cNvSpPr>
            <p:nvPr/>
          </p:nvSpPr>
          <p:spPr bwMode="auto">
            <a:xfrm>
              <a:off x="2496" y="2160"/>
              <a:ext cx="768" cy="5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91" name="Text Box 8">
              <a:extLst>
                <a:ext uri="{FF2B5EF4-FFF2-40B4-BE49-F238E27FC236}">
                  <a16:creationId xmlns:a16="http://schemas.microsoft.com/office/drawing/2014/main" id="{DFD7E448-E66C-DC6D-13D5-F4AB380B24AD}"/>
                </a:ext>
              </a:extLst>
            </p:cNvPr>
            <p:cNvSpPr txBox="1">
              <a:spLocks noChangeArrowheads="1"/>
            </p:cNvSpPr>
            <p:nvPr/>
          </p:nvSpPr>
          <p:spPr bwMode="auto">
            <a:xfrm>
              <a:off x="2640" y="2160"/>
              <a:ext cx="61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1</a:t>
              </a:r>
              <a:r>
                <a:rPr lang="en-US" altLang="en-US" sz="2400"/>
                <a:t>=1</a:t>
              </a:r>
            </a:p>
            <a:p>
              <a:pPr>
                <a:spcBef>
                  <a:spcPct val="0"/>
                </a:spcBef>
                <a:buFontTx/>
                <a:buNone/>
              </a:pPr>
              <a:r>
                <a:rPr lang="en-US" altLang="en-US" sz="2400" i="1"/>
                <a:t>y</a:t>
              </a:r>
              <a:r>
                <a:rPr lang="en-US" altLang="en-US" sz="2400" i="1" baseline="-25000"/>
                <a:t>2</a:t>
              </a:r>
              <a:r>
                <a:rPr lang="en-US" altLang="en-US" sz="2400"/>
                <a:t>=0.5</a:t>
              </a:r>
              <a:endParaRPr lang="en-US" altLang="en-US" sz="2400" i="1"/>
            </a:p>
          </p:txBody>
        </p:sp>
        <p:sp>
          <p:nvSpPr>
            <p:cNvPr id="7192" name="Text Box 9">
              <a:extLst>
                <a:ext uri="{FF2B5EF4-FFF2-40B4-BE49-F238E27FC236}">
                  <a16:creationId xmlns:a16="http://schemas.microsoft.com/office/drawing/2014/main" id="{6790C435-000E-62C6-562F-8CB3084E6657}"/>
                </a:ext>
              </a:extLst>
            </p:cNvPr>
            <p:cNvSpPr txBox="1">
              <a:spLocks noChangeArrowheads="1"/>
            </p:cNvSpPr>
            <p:nvPr/>
          </p:nvSpPr>
          <p:spPr bwMode="auto">
            <a:xfrm>
              <a:off x="3350" y="2090"/>
              <a:ext cx="71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UB=17</a:t>
              </a:r>
            </a:p>
            <a:p>
              <a:pPr>
                <a:spcBef>
                  <a:spcPct val="0"/>
                </a:spcBef>
                <a:buFontTx/>
                <a:buNone/>
              </a:pPr>
              <a:r>
                <a:rPr lang="en-US" altLang="en-US" sz="2400"/>
                <a:t>LB= -</a:t>
              </a:r>
              <a:r>
                <a:rPr lang="en-US" altLang="en-US" sz="2400">
                  <a:sym typeface="Symbol" panose="05050102010706020507" pitchFamily="18" charset="2"/>
                </a:rPr>
                <a:t></a:t>
              </a:r>
              <a:endParaRPr lang="en-US" altLang="en-US" sz="2400"/>
            </a:p>
          </p:txBody>
        </p:sp>
      </p:grpSp>
      <p:sp>
        <p:nvSpPr>
          <p:cNvPr id="175114" name="Text Box 10">
            <a:extLst>
              <a:ext uri="{FF2B5EF4-FFF2-40B4-BE49-F238E27FC236}">
                <a16:creationId xmlns:a16="http://schemas.microsoft.com/office/drawing/2014/main" id="{FC06BADB-2A69-A113-1760-82E7C89EB94E}"/>
              </a:ext>
            </a:extLst>
          </p:cNvPr>
          <p:cNvSpPr txBox="1">
            <a:spLocks noChangeArrowheads="1"/>
          </p:cNvSpPr>
          <p:nvPr/>
        </p:nvSpPr>
        <p:spPr bwMode="auto">
          <a:xfrm>
            <a:off x="152400" y="1965325"/>
            <a:ext cx="441960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Next, </a:t>
            </a:r>
            <a:r>
              <a:rPr lang="en-US" altLang="en-US" sz="3000" u="sng"/>
              <a:t>branch</a:t>
            </a:r>
            <a:r>
              <a:rPr lang="en-US" altLang="en-US" sz="3000"/>
              <a:t> on a variable which did not have an integer value, and set up two new</a:t>
            </a:r>
          </a:p>
          <a:p>
            <a:pPr>
              <a:spcBef>
                <a:spcPct val="0"/>
              </a:spcBef>
              <a:buFontTx/>
              <a:buNone/>
            </a:pPr>
            <a:r>
              <a:rPr lang="en-US" altLang="en-US" sz="3000"/>
              <a:t>problems</a:t>
            </a:r>
          </a:p>
        </p:txBody>
      </p:sp>
      <p:grpSp>
        <p:nvGrpSpPr>
          <p:cNvPr id="3" name="Group 17">
            <a:extLst>
              <a:ext uri="{FF2B5EF4-FFF2-40B4-BE49-F238E27FC236}">
                <a16:creationId xmlns:a16="http://schemas.microsoft.com/office/drawing/2014/main" id="{DB8D1969-7C76-79BA-D91E-1FA7FF2C8B89}"/>
              </a:ext>
            </a:extLst>
          </p:cNvPr>
          <p:cNvGrpSpPr>
            <a:grpSpLocks/>
          </p:cNvGrpSpPr>
          <p:nvPr/>
        </p:nvGrpSpPr>
        <p:grpSpPr bwMode="auto">
          <a:xfrm>
            <a:off x="2971800" y="3962400"/>
            <a:ext cx="3030538" cy="685800"/>
            <a:chOff x="1872" y="2496"/>
            <a:chExt cx="1909" cy="432"/>
          </a:xfrm>
        </p:grpSpPr>
        <p:sp>
          <p:nvSpPr>
            <p:cNvPr id="7186" name="Line 12">
              <a:extLst>
                <a:ext uri="{FF2B5EF4-FFF2-40B4-BE49-F238E27FC236}">
                  <a16:creationId xmlns:a16="http://schemas.microsoft.com/office/drawing/2014/main" id="{48A3EF62-7FC6-5B23-987F-66A70C9ACBFE}"/>
                </a:ext>
              </a:extLst>
            </p:cNvPr>
            <p:cNvSpPr>
              <a:spLocks noChangeShapeType="1"/>
            </p:cNvSpPr>
            <p:nvPr/>
          </p:nvSpPr>
          <p:spPr bwMode="auto">
            <a:xfrm flipH="1">
              <a:off x="2304" y="2592"/>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87" name="Line 14">
              <a:extLst>
                <a:ext uri="{FF2B5EF4-FFF2-40B4-BE49-F238E27FC236}">
                  <a16:creationId xmlns:a16="http://schemas.microsoft.com/office/drawing/2014/main" id="{FF50CFB1-7A50-2934-0B71-1CD732340688}"/>
                </a:ext>
              </a:extLst>
            </p:cNvPr>
            <p:cNvSpPr>
              <a:spLocks noChangeShapeType="1"/>
            </p:cNvSpPr>
            <p:nvPr/>
          </p:nvSpPr>
          <p:spPr bwMode="auto">
            <a:xfrm rot="17181192" flipH="1">
              <a:off x="3144" y="2616"/>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88" name="Text Box 15">
              <a:extLst>
                <a:ext uri="{FF2B5EF4-FFF2-40B4-BE49-F238E27FC236}">
                  <a16:creationId xmlns:a16="http://schemas.microsoft.com/office/drawing/2014/main" id="{BBE4E330-BCB1-8B35-000F-33443AF45962}"/>
                </a:ext>
              </a:extLst>
            </p:cNvPr>
            <p:cNvSpPr txBox="1">
              <a:spLocks noChangeArrowheads="1"/>
            </p:cNvSpPr>
            <p:nvPr/>
          </p:nvSpPr>
          <p:spPr bwMode="auto">
            <a:xfrm>
              <a:off x="1872" y="2496"/>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2</a:t>
              </a:r>
              <a:r>
                <a:rPr lang="en-US" altLang="en-US" sz="2400"/>
                <a:t>=0</a:t>
              </a:r>
            </a:p>
          </p:txBody>
        </p:sp>
        <p:sp>
          <p:nvSpPr>
            <p:cNvPr id="7189" name="Text Box 16">
              <a:extLst>
                <a:ext uri="{FF2B5EF4-FFF2-40B4-BE49-F238E27FC236}">
                  <a16:creationId xmlns:a16="http://schemas.microsoft.com/office/drawing/2014/main" id="{F32C44F4-E9AF-368B-244F-8B013934E12E}"/>
                </a:ext>
              </a:extLst>
            </p:cNvPr>
            <p:cNvSpPr txBox="1">
              <a:spLocks noChangeArrowheads="1"/>
            </p:cNvSpPr>
            <p:nvPr/>
          </p:nvSpPr>
          <p:spPr bwMode="auto">
            <a:xfrm>
              <a:off x="3312" y="2592"/>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2</a:t>
              </a:r>
              <a:r>
                <a:rPr lang="en-US" altLang="en-US" sz="2400"/>
                <a:t>=1</a:t>
              </a:r>
            </a:p>
          </p:txBody>
        </p:sp>
      </p:grpSp>
      <p:sp>
        <p:nvSpPr>
          <p:cNvPr id="175122" name="Rectangle 18">
            <a:extLst>
              <a:ext uri="{FF2B5EF4-FFF2-40B4-BE49-F238E27FC236}">
                <a16:creationId xmlns:a16="http://schemas.microsoft.com/office/drawing/2014/main" id="{A3B79444-C4F5-EFF6-E3CD-99E3341300B6}"/>
              </a:ext>
            </a:extLst>
          </p:cNvPr>
          <p:cNvSpPr>
            <a:spLocks noChangeArrowheads="1"/>
          </p:cNvSpPr>
          <p:nvPr/>
        </p:nvSpPr>
        <p:spPr bwMode="auto">
          <a:xfrm>
            <a:off x="2590800" y="4648200"/>
            <a:ext cx="1676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75123" name="Rectangle 19">
            <a:extLst>
              <a:ext uri="{FF2B5EF4-FFF2-40B4-BE49-F238E27FC236}">
                <a16:creationId xmlns:a16="http://schemas.microsoft.com/office/drawing/2014/main" id="{408EB475-EF13-1B7F-AE04-F81125649434}"/>
              </a:ext>
            </a:extLst>
          </p:cNvPr>
          <p:cNvSpPr>
            <a:spLocks noChangeArrowheads="1"/>
          </p:cNvSpPr>
          <p:nvPr/>
        </p:nvSpPr>
        <p:spPr bwMode="auto">
          <a:xfrm>
            <a:off x="4800600" y="4724400"/>
            <a:ext cx="1676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175124" name="Object 20">
            <a:extLst>
              <a:ext uri="{FF2B5EF4-FFF2-40B4-BE49-F238E27FC236}">
                <a16:creationId xmlns:a16="http://schemas.microsoft.com/office/drawing/2014/main" id="{71E5EFF3-4289-09E9-475F-5508C353FC39}"/>
              </a:ext>
            </a:extLst>
          </p:cNvPr>
          <p:cNvGraphicFramePr>
            <a:graphicFrameLocks noChangeAspect="1"/>
          </p:cNvGraphicFramePr>
          <p:nvPr/>
        </p:nvGraphicFramePr>
        <p:xfrm>
          <a:off x="2743200" y="4648200"/>
          <a:ext cx="1447800" cy="982663"/>
        </p:xfrm>
        <a:graphic>
          <a:graphicData uri="http://schemas.openxmlformats.org/presentationml/2006/ole">
            <mc:AlternateContent xmlns:mc="http://schemas.openxmlformats.org/markup-compatibility/2006">
              <mc:Choice xmlns:v="urn:schemas-microsoft-com:vml" Requires="v">
                <p:oleObj name="Equation" r:id="rId4" imgW="1028700" imgH="698500" progId="Equation.3">
                  <p:embed/>
                </p:oleObj>
              </mc:Choice>
              <mc:Fallback>
                <p:oleObj name="Equation" r:id="rId4" imgW="1028700" imgH="698500" progId="Equation.3">
                  <p:embed/>
                  <p:pic>
                    <p:nvPicPr>
                      <p:cNvPr id="175124" name="Object 20">
                        <a:extLst>
                          <a:ext uri="{FF2B5EF4-FFF2-40B4-BE49-F238E27FC236}">
                            <a16:creationId xmlns:a16="http://schemas.microsoft.com/office/drawing/2014/main" id="{71E5EFF3-4289-09E9-475F-5508C353FC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4648200"/>
                        <a:ext cx="1447800"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5125" name="Object 21">
            <a:extLst>
              <a:ext uri="{FF2B5EF4-FFF2-40B4-BE49-F238E27FC236}">
                <a16:creationId xmlns:a16="http://schemas.microsoft.com/office/drawing/2014/main" id="{EF6AC28C-EF02-40B2-1901-762814F138AC}"/>
              </a:ext>
            </a:extLst>
          </p:cNvPr>
          <p:cNvGraphicFramePr>
            <a:graphicFrameLocks noChangeAspect="1"/>
          </p:cNvGraphicFramePr>
          <p:nvPr/>
        </p:nvGraphicFramePr>
        <p:xfrm>
          <a:off x="4873625" y="4724400"/>
          <a:ext cx="1608138" cy="982663"/>
        </p:xfrm>
        <a:graphic>
          <a:graphicData uri="http://schemas.openxmlformats.org/presentationml/2006/ole">
            <mc:AlternateContent xmlns:mc="http://schemas.openxmlformats.org/markup-compatibility/2006">
              <mc:Choice xmlns:v="urn:schemas-microsoft-com:vml" Requires="v">
                <p:oleObj name="Equation" r:id="rId6" imgW="1143000" imgH="698500" progId="Equation.3">
                  <p:embed/>
                </p:oleObj>
              </mc:Choice>
              <mc:Fallback>
                <p:oleObj name="Equation" r:id="rId6" imgW="1143000" imgH="698500" progId="Equation.3">
                  <p:embed/>
                  <p:pic>
                    <p:nvPicPr>
                      <p:cNvPr id="175125" name="Object 21">
                        <a:extLst>
                          <a:ext uri="{FF2B5EF4-FFF2-40B4-BE49-F238E27FC236}">
                            <a16:creationId xmlns:a16="http://schemas.microsoft.com/office/drawing/2014/main" id="{EF6AC28C-EF02-40B2-1901-762814F138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3625" y="4724400"/>
                        <a:ext cx="1608138"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5126" name="Text Box 22">
            <a:extLst>
              <a:ext uri="{FF2B5EF4-FFF2-40B4-BE49-F238E27FC236}">
                <a16:creationId xmlns:a16="http://schemas.microsoft.com/office/drawing/2014/main" id="{73279804-51F9-ED13-6D82-8515986F235C}"/>
              </a:ext>
            </a:extLst>
          </p:cNvPr>
          <p:cNvSpPr txBox="1">
            <a:spLocks noChangeArrowheads="1"/>
          </p:cNvSpPr>
          <p:nvPr/>
        </p:nvSpPr>
        <p:spPr bwMode="auto">
          <a:xfrm>
            <a:off x="1143000" y="4648200"/>
            <a:ext cx="1397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UB=17</a:t>
            </a:r>
          </a:p>
          <a:p>
            <a:pPr>
              <a:spcBef>
                <a:spcPct val="0"/>
              </a:spcBef>
              <a:buFontTx/>
              <a:buNone/>
            </a:pPr>
            <a:r>
              <a:rPr lang="en-US" altLang="en-US" sz="2400"/>
              <a:t>LB=12</a:t>
            </a:r>
          </a:p>
          <a:p>
            <a:pPr>
              <a:spcBef>
                <a:spcPct val="0"/>
              </a:spcBef>
              <a:buFontTx/>
              <a:buNone/>
            </a:pPr>
            <a:r>
              <a:rPr lang="en-US" altLang="en-US" sz="2400"/>
              <a:t>B.I.=[1,0]</a:t>
            </a:r>
          </a:p>
          <a:p>
            <a:pPr>
              <a:spcBef>
                <a:spcPct val="0"/>
              </a:spcBef>
              <a:buFontTx/>
              <a:buNone/>
            </a:pPr>
            <a:r>
              <a:rPr lang="en-US" altLang="en-US" sz="2400"/>
              <a:t>gap=5</a:t>
            </a:r>
          </a:p>
        </p:txBody>
      </p:sp>
      <p:sp>
        <p:nvSpPr>
          <p:cNvPr id="175127" name="Text Box 23">
            <a:extLst>
              <a:ext uri="{FF2B5EF4-FFF2-40B4-BE49-F238E27FC236}">
                <a16:creationId xmlns:a16="http://schemas.microsoft.com/office/drawing/2014/main" id="{1B85A659-5EF9-B7C9-BBE8-B048A5CC0DEB}"/>
              </a:ext>
            </a:extLst>
          </p:cNvPr>
          <p:cNvSpPr txBox="1">
            <a:spLocks noChangeArrowheads="1"/>
          </p:cNvSpPr>
          <p:nvPr/>
        </p:nvSpPr>
        <p:spPr bwMode="auto">
          <a:xfrm>
            <a:off x="6705600" y="4724400"/>
            <a:ext cx="11398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UB=17</a:t>
            </a:r>
          </a:p>
          <a:p>
            <a:pPr>
              <a:spcBef>
                <a:spcPct val="0"/>
              </a:spcBef>
              <a:buFontTx/>
              <a:buNone/>
            </a:pPr>
            <a:r>
              <a:rPr lang="en-US" altLang="en-US" sz="2400"/>
              <a:t>LB= -</a:t>
            </a:r>
            <a:r>
              <a:rPr lang="en-US" altLang="en-US" sz="2400">
                <a:sym typeface="Symbol" panose="05050102010706020507" pitchFamily="18" charset="2"/>
              </a:rPr>
              <a:t></a:t>
            </a:r>
          </a:p>
        </p:txBody>
      </p:sp>
      <p:sp>
        <p:nvSpPr>
          <p:cNvPr id="175129" name="Text Box 25">
            <a:extLst>
              <a:ext uri="{FF2B5EF4-FFF2-40B4-BE49-F238E27FC236}">
                <a16:creationId xmlns:a16="http://schemas.microsoft.com/office/drawing/2014/main" id="{5206DCF8-BB73-D673-E45B-95D4E640650E}"/>
              </a:ext>
            </a:extLst>
          </p:cNvPr>
          <p:cNvSpPr txBox="1">
            <a:spLocks noChangeArrowheads="1"/>
          </p:cNvSpPr>
          <p:nvPr/>
        </p:nvSpPr>
        <p:spPr bwMode="auto">
          <a:xfrm>
            <a:off x="6781800" y="3014663"/>
            <a:ext cx="20574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What type of problems are these?</a:t>
            </a:r>
          </a:p>
        </p:txBody>
      </p:sp>
      <p:sp>
        <p:nvSpPr>
          <p:cNvPr id="175130" name="Text Box 26">
            <a:extLst>
              <a:ext uri="{FF2B5EF4-FFF2-40B4-BE49-F238E27FC236}">
                <a16:creationId xmlns:a16="http://schemas.microsoft.com/office/drawing/2014/main" id="{07AD160C-FDF1-9090-B518-3DDC00862B10}"/>
              </a:ext>
            </a:extLst>
          </p:cNvPr>
          <p:cNvSpPr txBox="1">
            <a:spLocks noChangeArrowheads="1"/>
          </p:cNvSpPr>
          <p:nvPr/>
        </p:nvSpPr>
        <p:spPr bwMode="auto">
          <a:xfrm>
            <a:off x="2574925" y="5681663"/>
            <a:ext cx="58054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They are easier LP’s!  Solve to get: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5109">
                                            <p:txEl>
                                              <p:pRg st="0" end="0"/>
                                            </p:txEl>
                                          </p:spTgt>
                                        </p:tgtEl>
                                        <p:attrNameLst>
                                          <p:attrName>style.visibility</p:attrName>
                                        </p:attrNameLst>
                                      </p:cBhvr>
                                      <p:to>
                                        <p:strVal val="visible"/>
                                      </p:to>
                                    </p:set>
                                    <p:anim calcmode="lin" valueType="num">
                                      <p:cBhvr additive="base">
                                        <p:cTn id="7" dur="500" fill="hold"/>
                                        <p:tgtEl>
                                          <p:spTgt spid="17510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51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5114"/>
                                        </p:tgtEl>
                                        <p:attrNameLst>
                                          <p:attrName>style.visibility</p:attrName>
                                        </p:attrNameLst>
                                      </p:cBhvr>
                                      <p:to>
                                        <p:strVal val="visible"/>
                                      </p:to>
                                    </p:set>
                                    <p:anim calcmode="lin" valueType="num">
                                      <p:cBhvr additive="base">
                                        <p:cTn id="19" dur="500" fill="hold"/>
                                        <p:tgtEl>
                                          <p:spTgt spid="175114"/>
                                        </p:tgtEl>
                                        <p:attrNameLst>
                                          <p:attrName>ppt_x</p:attrName>
                                        </p:attrNameLst>
                                      </p:cBhvr>
                                      <p:tavLst>
                                        <p:tav tm="0">
                                          <p:val>
                                            <p:strVal val="0-#ppt_w/2"/>
                                          </p:val>
                                        </p:tav>
                                        <p:tav tm="100000">
                                          <p:val>
                                            <p:strVal val="#ppt_x"/>
                                          </p:val>
                                        </p:tav>
                                      </p:tavLst>
                                    </p:anim>
                                    <p:anim calcmode="lin" valueType="num">
                                      <p:cBhvr additive="base">
                                        <p:cTn id="20" dur="500" fill="hold"/>
                                        <p:tgtEl>
                                          <p:spTgt spid="17511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75122"/>
                                        </p:tgtEl>
                                        <p:attrNameLst>
                                          <p:attrName>style.visibility</p:attrName>
                                        </p:attrNameLst>
                                      </p:cBhvr>
                                      <p:to>
                                        <p:strVal val="visible"/>
                                      </p:to>
                                    </p:set>
                                    <p:anim calcmode="lin" valueType="num">
                                      <p:cBhvr additive="base">
                                        <p:cTn id="31" dur="500" fill="hold"/>
                                        <p:tgtEl>
                                          <p:spTgt spid="175122"/>
                                        </p:tgtEl>
                                        <p:attrNameLst>
                                          <p:attrName>ppt_x</p:attrName>
                                        </p:attrNameLst>
                                      </p:cBhvr>
                                      <p:tavLst>
                                        <p:tav tm="0">
                                          <p:val>
                                            <p:strVal val="0-#ppt_w/2"/>
                                          </p:val>
                                        </p:tav>
                                        <p:tav tm="100000">
                                          <p:val>
                                            <p:strVal val="#ppt_x"/>
                                          </p:val>
                                        </p:tav>
                                      </p:tavLst>
                                    </p:anim>
                                    <p:anim calcmode="lin" valueType="num">
                                      <p:cBhvr additive="base">
                                        <p:cTn id="32" dur="500" fill="hold"/>
                                        <p:tgtEl>
                                          <p:spTgt spid="175122"/>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75124"/>
                                        </p:tgtEl>
                                        <p:attrNameLst>
                                          <p:attrName>style.visibility</p:attrName>
                                        </p:attrNameLst>
                                      </p:cBhvr>
                                      <p:to>
                                        <p:strVal val="visible"/>
                                      </p:to>
                                    </p:set>
                                    <p:anim calcmode="lin" valueType="num">
                                      <p:cBhvr additive="base">
                                        <p:cTn id="37" dur="500" fill="hold"/>
                                        <p:tgtEl>
                                          <p:spTgt spid="175124"/>
                                        </p:tgtEl>
                                        <p:attrNameLst>
                                          <p:attrName>ppt_x</p:attrName>
                                        </p:attrNameLst>
                                      </p:cBhvr>
                                      <p:tavLst>
                                        <p:tav tm="0">
                                          <p:val>
                                            <p:strVal val="0-#ppt_w/2"/>
                                          </p:val>
                                        </p:tav>
                                        <p:tav tm="100000">
                                          <p:val>
                                            <p:strVal val="#ppt_x"/>
                                          </p:val>
                                        </p:tav>
                                      </p:tavLst>
                                    </p:anim>
                                    <p:anim calcmode="lin" valueType="num">
                                      <p:cBhvr additive="base">
                                        <p:cTn id="38" dur="500" fill="hold"/>
                                        <p:tgtEl>
                                          <p:spTgt spid="175124"/>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75123"/>
                                        </p:tgtEl>
                                        <p:attrNameLst>
                                          <p:attrName>style.visibility</p:attrName>
                                        </p:attrNameLst>
                                      </p:cBhvr>
                                      <p:to>
                                        <p:strVal val="visible"/>
                                      </p:to>
                                    </p:set>
                                    <p:anim calcmode="lin" valueType="num">
                                      <p:cBhvr additive="base">
                                        <p:cTn id="43" dur="500" fill="hold"/>
                                        <p:tgtEl>
                                          <p:spTgt spid="175123"/>
                                        </p:tgtEl>
                                        <p:attrNameLst>
                                          <p:attrName>ppt_x</p:attrName>
                                        </p:attrNameLst>
                                      </p:cBhvr>
                                      <p:tavLst>
                                        <p:tav tm="0">
                                          <p:val>
                                            <p:strVal val="0-#ppt_w/2"/>
                                          </p:val>
                                        </p:tav>
                                        <p:tav tm="100000">
                                          <p:val>
                                            <p:strVal val="#ppt_x"/>
                                          </p:val>
                                        </p:tav>
                                      </p:tavLst>
                                    </p:anim>
                                    <p:anim calcmode="lin" valueType="num">
                                      <p:cBhvr additive="base">
                                        <p:cTn id="44" dur="500" fill="hold"/>
                                        <p:tgtEl>
                                          <p:spTgt spid="175123"/>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75125"/>
                                        </p:tgtEl>
                                        <p:attrNameLst>
                                          <p:attrName>style.visibility</p:attrName>
                                        </p:attrNameLst>
                                      </p:cBhvr>
                                      <p:to>
                                        <p:strVal val="visible"/>
                                      </p:to>
                                    </p:set>
                                    <p:anim calcmode="lin" valueType="num">
                                      <p:cBhvr additive="base">
                                        <p:cTn id="49" dur="500" fill="hold"/>
                                        <p:tgtEl>
                                          <p:spTgt spid="175125"/>
                                        </p:tgtEl>
                                        <p:attrNameLst>
                                          <p:attrName>ppt_x</p:attrName>
                                        </p:attrNameLst>
                                      </p:cBhvr>
                                      <p:tavLst>
                                        <p:tav tm="0">
                                          <p:val>
                                            <p:strVal val="0-#ppt_w/2"/>
                                          </p:val>
                                        </p:tav>
                                        <p:tav tm="100000">
                                          <p:val>
                                            <p:strVal val="#ppt_x"/>
                                          </p:val>
                                        </p:tav>
                                      </p:tavLst>
                                    </p:anim>
                                    <p:anim calcmode="lin" valueType="num">
                                      <p:cBhvr additive="base">
                                        <p:cTn id="50" dur="500" fill="hold"/>
                                        <p:tgtEl>
                                          <p:spTgt spid="175125"/>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175129"/>
                                        </p:tgtEl>
                                        <p:attrNameLst>
                                          <p:attrName>style.visibility</p:attrName>
                                        </p:attrNameLst>
                                      </p:cBhvr>
                                      <p:to>
                                        <p:strVal val="visible"/>
                                      </p:to>
                                    </p:set>
                                    <p:anim calcmode="lin" valueType="num">
                                      <p:cBhvr additive="base">
                                        <p:cTn id="55" dur="500" fill="hold"/>
                                        <p:tgtEl>
                                          <p:spTgt spid="175129"/>
                                        </p:tgtEl>
                                        <p:attrNameLst>
                                          <p:attrName>ppt_x</p:attrName>
                                        </p:attrNameLst>
                                      </p:cBhvr>
                                      <p:tavLst>
                                        <p:tav tm="0">
                                          <p:val>
                                            <p:strVal val="0-#ppt_w/2"/>
                                          </p:val>
                                        </p:tav>
                                        <p:tav tm="100000">
                                          <p:val>
                                            <p:strVal val="#ppt_x"/>
                                          </p:val>
                                        </p:tav>
                                      </p:tavLst>
                                    </p:anim>
                                    <p:anim calcmode="lin" valueType="num">
                                      <p:cBhvr additive="base">
                                        <p:cTn id="56" dur="500" fill="hold"/>
                                        <p:tgtEl>
                                          <p:spTgt spid="175129"/>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175130"/>
                                        </p:tgtEl>
                                        <p:attrNameLst>
                                          <p:attrName>style.visibility</p:attrName>
                                        </p:attrNameLst>
                                      </p:cBhvr>
                                      <p:to>
                                        <p:strVal val="visible"/>
                                      </p:to>
                                    </p:set>
                                    <p:anim calcmode="lin" valueType="num">
                                      <p:cBhvr additive="base">
                                        <p:cTn id="61" dur="500" fill="hold"/>
                                        <p:tgtEl>
                                          <p:spTgt spid="175130"/>
                                        </p:tgtEl>
                                        <p:attrNameLst>
                                          <p:attrName>ppt_x</p:attrName>
                                        </p:attrNameLst>
                                      </p:cBhvr>
                                      <p:tavLst>
                                        <p:tav tm="0">
                                          <p:val>
                                            <p:strVal val="0-#ppt_w/2"/>
                                          </p:val>
                                        </p:tav>
                                        <p:tav tm="100000">
                                          <p:val>
                                            <p:strVal val="#ppt_x"/>
                                          </p:val>
                                        </p:tav>
                                      </p:tavLst>
                                    </p:anim>
                                    <p:anim calcmode="lin" valueType="num">
                                      <p:cBhvr additive="base">
                                        <p:cTn id="62" dur="500" fill="hold"/>
                                        <p:tgtEl>
                                          <p:spTgt spid="175130"/>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nodeType="clickEffect">
                                  <p:stCondLst>
                                    <p:cond delay="0"/>
                                  </p:stCondLst>
                                  <p:childTnLst>
                                    <p:set>
                                      <p:cBhvr>
                                        <p:cTn id="66" dur="1" fill="hold">
                                          <p:stCondLst>
                                            <p:cond delay="0"/>
                                          </p:stCondLst>
                                        </p:cTn>
                                        <p:tgtEl>
                                          <p:spTgt spid="175126"/>
                                        </p:tgtEl>
                                        <p:attrNameLst>
                                          <p:attrName>style.visibility</p:attrName>
                                        </p:attrNameLst>
                                      </p:cBhvr>
                                      <p:to>
                                        <p:strVal val="visible"/>
                                      </p:to>
                                    </p:set>
                                    <p:anim calcmode="lin" valueType="num">
                                      <p:cBhvr additive="base">
                                        <p:cTn id="67" dur="500" fill="hold"/>
                                        <p:tgtEl>
                                          <p:spTgt spid="175126"/>
                                        </p:tgtEl>
                                        <p:attrNameLst>
                                          <p:attrName>ppt_x</p:attrName>
                                        </p:attrNameLst>
                                      </p:cBhvr>
                                      <p:tavLst>
                                        <p:tav tm="0">
                                          <p:val>
                                            <p:strVal val="0-#ppt_w/2"/>
                                          </p:val>
                                        </p:tav>
                                        <p:tav tm="100000">
                                          <p:val>
                                            <p:strVal val="#ppt_x"/>
                                          </p:val>
                                        </p:tav>
                                      </p:tavLst>
                                    </p:anim>
                                    <p:anim calcmode="lin" valueType="num">
                                      <p:cBhvr additive="base">
                                        <p:cTn id="68" dur="500" fill="hold"/>
                                        <p:tgtEl>
                                          <p:spTgt spid="175126"/>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nodeType="clickEffect">
                                  <p:stCondLst>
                                    <p:cond delay="0"/>
                                  </p:stCondLst>
                                  <p:childTnLst>
                                    <p:set>
                                      <p:cBhvr>
                                        <p:cTn id="72" dur="1" fill="hold">
                                          <p:stCondLst>
                                            <p:cond delay="0"/>
                                          </p:stCondLst>
                                        </p:cTn>
                                        <p:tgtEl>
                                          <p:spTgt spid="175127"/>
                                        </p:tgtEl>
                                        <p:attrNameLst>
                                          <p:attrName>style.visibility</p:attrName>
                                        </p:attrNameLst>
                                      </p:cBhvr>
                                      <p:to>
                                        <p:strVal val="visible"/>
                                      </p:to>
                                    </p:set>
                                    <p:anim calcmode="lin" valueType="num">
                                      <p:cBhvr additive="base">
                                        <p:cTn id="73" dur="500" fill="hold"/>
                                        <p:tgtEl>
                                          <p:spTgt spid="175127"/>
                                        </p:tgtEl>
                                        <p:attrNameLst>
                                          <p:attrName>ppt_x</p:attrName>
                                        </p:attrNameLst>
                                      </p:cBhvr>
                                      <p:tavLst>
                                        <p:tav tm="0">
                                          <p:val>
                                            <p:strVal val="0-#ppt_w/2"/>
                                          </p:val>
                                        </p:tav>
                                        <p:tav tm="100000">
                                          <p:val>
                                            <p:strVal val="#ppt_x"/>
                                          </p:val>
                                        </p:tav>
                                      </p:tavLst>
                                    </p:anim>
                                    <p:anim calcmode="lin" valueType="num">
                                      <p:cBhvr additive="base">
                                        <p:cTn id="74" dur="500" fill="hold"/>
                                        <p:tgtEl>
                                          <p:spTgt spid="1751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9" grpId="0" build="p" autoUpdateAnimBg="0"/>
      <p:bldP spid="175114" grpId="0" autoUpdateAnimBg="0"/>
      <p:bldP spid="175122" grpId="0" animBg="1"/>
      <p:bldP spid="175123" grpId="0" animBg="1"/>
      <p:bldP spid="175126" grpId="0" autoUpdateAnimBg="0"/>
      <p:bldP spid="175127" grpId="0" autoUpdateAnimBg="0"/>
      <p:bldP spid="175129" grpId="0" autoUpdateAnimBg="0"/>
      <p:bldP spid="175130"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F33D8C3-22BC-671C-CFD0-5B66699D16C7}"/>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Binary Trees, continued </a:t>
            </a:r>
          </a:p>
        </p:txBody>
      </p:sp>
      <p:sp>
        <p:nvSpPr>
          <p:cNvPr id="8195" name="Rectangle 3">
            <a:extLst>
              <a:ext uri="{FF2B5EF4-FFF2-40B4-BE49-F238E27FC236}">
                <a16:creationId xmlns:a16="http://schemas.microsoft.com/office/drawing/2014/main" id="{3755BC6D-C2DD-3270-23DB-A04CD8D420BE}"/>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196" name="Rectangle 4">
            <a:extLst>
              <a:ext uri="{FF2B5EF4-FFF2-40B4-BE49-F238E27FC236}">
                <a16:creationId xmlns:a16="http://schemas.microsoft.com/office/drawing/2014/main" id="{3F1A50C2-22C5-B44B-0E0D-1AE2B254A75B}"/>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24</a:t>
            </a:r>
          </a:p>
        </p:txBody>
      </p:sp>
      <p:sp>
        <p:nvSpPr>
          <p:cNvPr id="176133" name="Text Box 5">
            <a:extLst>
              <a:ext uri="{FF2B5EF4-FFF2-40B4-BE49-F238E27FC236}">
                <a16:creationId xmlns:a16="http://schemas.microsoft.com/office/drawing/2014/main" id="{1DF71538-A03F-E25F-CEA5-403EC183D3F6}"/>
              </a:ext>
            </a:extLst>
          </p:cNvPr>
          <p:cNvSpPr txBox="1">
            <a:spLocks noChangeArrowheads="1"/>
          </p:cNvSpPr>
          <p:nvPr/>
        </p:nvSpPr>
        <p:spPr bwMode="auto">
          <a:xfrm>
            <a:off x="152400" y="990600"/>
            <a:ext cx="44196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Now we have valid upper and lower bounds, and an integer solution.  Are we done?</a:t>
            </a:r>
          </a:p>
        </p:txBody>
      </p:sp>
      <p:grpSp>
        <p:nvGrpSpPr>
          <p:cNvPr id="8198" name="Group 7">
            <a:extLst>
              <a:ext uri="{FF2B5EF4-FFF2-40B4-BE49-F238E27FC236}">
                <a16:creationId xmlns:a16="http://schemas.microsoft.com/office/drawing/2014/main" id="{A39DE584-993A-F4ED-27E2-27325BB2BCE9}"/>
              </a:ext>
            </a:extLst>
          </p:cNvPr>
          <p:cNvGrpSpPr>
            <a:grpSpLocks/>
          </p:cNvGrpSpPr>
          <p:nvPr/>
        </p:nvGrpSpPr>
        <p:grpSpPr bwMode="auto">
          <a:xfrm>
            <a:off x="5638800" y="1295400"/>
            <a:ext cx="2495550" cy="949325"/>
            <a:chOff x="2496" y="2090"/>
            <a:chExt cx="1572" cy="598"/>
          </a:xfrm>
        </p:grpSpPr>
        <p:sp>
          <p:nvSpPr>
            <p:cNvPr id="8220" name="Oval 8">
              <a:extLst>
                <a:ext uri="{FF2B5EF4-FFF2-40B4-BE49-F238E27FC236}">
                  <a16:creationId xmlns:a16="http://schemas.microsoft.com/office/drawing/2014/main" id="{F1B35EEB-E69E-0BC5-FE05-4DD3EDA10DC2}"/>
                </a:ext>
              </a:extLst>
            </p:cNvPr>
            <p:cNvSpPr>
              <a:spLocks noChangeArrowheads="1"/>
            </p:cNvSpPr>
            <p:nvPr/>
          </p:nvSpPr>
          <p:spPr bwMode="auto">
            <a:xfrm>
              <a:off x="2496" y="2160"/>
              <a:ext cx="768" cy="5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221" name="Text Box 9">
              <a:extLst>
                <a:ext uri="{FF2B5EF4-FFF2-40B4-BE49-F238E27FC236}">
                  <a16:creationId xmlns:a16="http://schemas.microsoft.com/office/drawing/2014/main" id="{C40EB210-82B5-8E21-87CC-E10BB1A3CF68}"/>
                </a:ext>
              </a:extLst>
            </p:cNvPr>
            <p:cNvSpPr txBox="1">
              <a:spLocks noChangeArrowheads="1"/>
            </p:cNvSpPr>
            <p:nvPr/>
          </p:nvSpPr>
          <p:spPr bwMode="auto">
            <a:xfrm>
              <a:off x="2640" y="2160"/>
              <a:ext cx="61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1</a:t>
              </a:r>
              <a:r>
                <a:rPr lang="en-US" altLang="en-US" sz="2400"/>
                <a:t>=1</a:t>
              </a:r>
            </a:p>
            <a:p>
              <a:pPr>
                <a:spcBef>
                  <a:spcPct val="0"/>
                </a:spcBef>
                <a:buFontTx/>
                <a:buNone/>
              </a:pPr>
              <a:r>
                <a:rPr lang="en-US" altLang="en-US" sz="2400" i="1"/>
                <a:t>y</a:t>
              </a:r>
              <a:r>
                <a:rPr lang="en-US" altLang="en-US" sz="2400" i="1" baseline="-25000"/>
                <a:t>2</a:t>
              </a:r>
              <a:r>
                <a:rPr lang="en-US" altLang="en-US" sz="2400"/>
                <a:t>=0.5</a:t>
              </a:r>
              <a:endParaRPr lang="en-US" altLang="en-US" sz="2400" i="1"/>
            </a:p>
          </p:txBody>
        </p:sp>
        <p:sp>
          <p:nvSpPr>
            <p:cNvPr id="8222" name="Text Box 10">
              <a:extLst>
                <a:ext uri="{FF2B5EF4-FFF2-40B4-BE49-F238E27FC236}">
                  <a16:creationId xmlns:a16="http://schemas.microsoft.com/office/drawing/2014/main" id="{5246F7BC-8D00-9DE7-560D-49AE9213F9A6}"/>
                </a:ext>
              </a:extLst>
            </p:cNvPr>
            <p:cNvSpPr txBox="1">
              <a:spLocks noChangeArrowheads="1"/>
            </p:cNvSpPr>
            <p:nvPr/>
          </p:nvSpPr>
          <p:spPr bwMode="auto">
            <a:xfrm>
              <a:off x="3350" y="2090"/>
              <a:ext cx="71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UB=17</a:t>
              </a:r>
            </a:p>
            <a:p>
              <a:pPr>
                <a:spcBef>
                  <a:spcPct val="0"/>
                </a:spcBef>
                <a:buFontTx/>
                <a:buNone/>
              </a:pPr>
              <a:r>
                <a:rPr lang="en-US" altLang="en-US" sz="2400"/>
                <a:t>LB= -</a:t>
              </a:r>
              <a:r>
                <a:rPr lang="en-US" altLang="en-US" sz="2400">
                  <a:sym typeface="Symbol" panose="05050102010706020507" pitchFamily="18" charset="2"/>
                </a:rPr>
                <a:t></a:t>
              </a:r>
              <a:endParaRPr lang="en-US" altLang="en-US" sz="2400"/>
            </a:p>
          </p:txBody>
        </p:sp>
      </p:grpSp>
      <p:sp>
        <p:nvSpPr>
          <p:cNvPr id="176139" name="Text Box 11">
            <a:extLst>
              <a:ext uri="{FF2B5EF4-FFF2-40B4-BE49-F238E27FC236}">
                <a16:creationId xmlns:a16="http://schemas.microsoft.com/office/drawing/2014/main" id="{EED3921D-95F8-07D6-2EC4-2508D3F9E1B3}"/>
              </a:ext>
            </a:extLst>
          </p:cNvPr>
          <p:cNvSpPr txBox="1">
            <a:spLocks noChangeArrowheads="1"/>
          </p:cNvSpPr>
          <p:nvPr/>
        </p:nvSpPr>
        <p:spPr bwMode="auto">
          <a:xfrm>
            <a:off x="152400" y="4114800"/>
            <a:ext cx="51054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No.  A branch is </a:t>
            </a:r>
            <a:r>
              <a:rPr lang="en-US" altLang="en-US" sz="2800" u="sng"/>
              <a:t>fathomed</a:t>
            </a:r>
            <a:r>
              <a:rPr lang="en-US" altLang="en-US" sz="2800"/>
              <a:t> when we get an integer solution, or the resulting problem is infeasible.  We must still</a:t>
            </a:r>
          </a:p>
          <a:p>
            <a:pPr>
              <a:spcBef>
                <a:spcPct val="0"/>
              </a:spcBef>
              <a:buFontTx/>
              <a:buNone/>
            </a:pPr>
            <a:r>
              <a:rPr lang="en-US" altLang="en-US" sz="2800"/>
              <a:t>fathom the right branch:</a:t>
            </a:r>
          </a:p>
        </p:txBody>
      </p:sp>
      <p:sp>
        <p:nvSpPr>
          <p:cNvPr id="8200" name="Line 13">
            <a:extLst>
              <a:ext uri="{FF2B5EF4-FFF2-40B4-BE49-F238E27FC236}">
                <a16:creationId xmlns:a16="http://schemas.microsoft.com/office/drawing/2014/main" id="{9B2CEB6B-954B-8672-62D0-826556AD7190}"/>
              </a:ext>
            </a:extLst>
          </p:cNvPr>
          <p:cNvSpPr>
            <a:spLocks noChangeShapeType="1"/>
          </p:cNvSpPr>
          <p:nvPr/>
        </p:nvSpPr>
        <p:spPr bwMode="auto">
          <a:xfrm flipH="1">
            <a:off x="5257800" y="2133600"/>
            <a:ext cx="457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01" name="Line 14">
            <a:extLst>
              <a:ext uri="{FF2B5EF4-FFF2-40B4-BE49-F238E27FC236}">
                <a16:creationId xmlns:a16="http://schemas.microsoft.com/office/drawing/2014/main" id="{05585F20-6377-63E4-4C28-96007914330A}"/>
              </a:ext>
            </a:extLst>
          </p:cNvPr>
          <p:cNvSpPr>
            <a:spLocks noChangeShapeType="1"/>
          </p:cNvSpPr>
          <p:nvPr/>
        </p:nvSpPr>
        <p:spPr bwMode="auto">
          <a:xfrm rot="17181192" flipH="1">
            <a:off x="6591300" y="2171700"/>
            <a:ext cx="457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02" name="Text Box 15">
            <a:extLst>
              <a:ext uri="{FF2B5EF4-FFF2-40B4-BE49-F238E27FC236}">
                <a16:creationId xmlns:a16="http://schemas.microsoft.com/office/drawing/2014/main" id="{834F1F6E-6939-5F23-2EC0-445D6B933681}"/>
              </a:ext>
            </a:extLst>
          </p:cNvPr>
          <p:cNvSpPr txBox="1">
            <a:spLocks noChangeArrowheads="1"/>
          </p:cNvSpPr>
          <p:nvPr/>
        </p:nvSpPr>
        <p:spPr bwMode="auto">
          <a:xfrm>
            <a:off x="4572000" y="1981200"/>
            <a:ext cx="744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2</a:t>
            </a:r>
            <a:r>
              <a:rPr lang="en-US" altLang="en-US" sz="2400"/>
              <a:t>=0</a:t>
            </a:r>
          </a:p>
        </p:txBody>
      </p:sp>
      <p:sp>
        <p:nvSpPr>
          <p:cNvPr id="8203" name="Text Box 16">
            <a:extLst>
              <a:ext uri="{FF2B5EF4-FFF2-40B4-BE49-F238E27FC236}">
                <a16:creationId xmlns:a16="http://schemas.microsoft.com/office/drawing/2014/main" id="{29CFDE62-80A1-6569-78A0-8975650F6014}"/>
              </a:ext>
            </a:extLst>
          </p:cNvPr>
          <p:cNvSpPr txBox="1">
            <a:spLocks noChangeArrowheads="1"/>
          </p:cNvSpPr>
          <p:nvPr/>
        </p:nvSpPr>
        <p:spPr bwMode="auto">
          <a:xfrm>
            <a:off x="6858000" y="2133600"/>
            <a:ext cx="744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2</a:t>
            </a:r>
            <a:r>
              <a:rPr lang="en-US" altLang="en-US" sz="2400"/>
              <a:t>=1</a:t>
            </a:r>
          </a:p>
        </p:txBody>
      </p:sp>
      <p:sp>
        <p:nvSpPr>
          <p:cNvPr id="8204" name="Rectangle 17">
            <a:extLst>
              <a:ext uri="{FF2B5EF4-FFF2-40B4-BE49-F238E27FC236}">
                <a16:creationId xmlns:a16="http://schemas.microsoft.com/office/drawing/2014/main" id="{3D3970F8-39C4-B6DF-1068-55DFD40D7A9D}"/>
              </a:ext>
            </a:extLst>
          </p:cNvPr>
          <p:cNvSpPr>
            <a:spLocks noChangeArrowheads="1"/>
          </p:cNvSpPr>
          <p:nvPr/>
        </p:nvSpPr>
        <p:spPr bwMode="auto">
          <a:xfrm>
            <a:off x="4191000" y="2667000"/>
            <a:ext cx="1676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205" name="Rectangle 18">
            <a:extLst>
              <a:ext uri="{FF2B5EF4-FFF2-40B4-BE49-F238E27FC236}">
                <a16:creationId xmlns:a16="http://schemas.microsoft.com/office/drawing/2014/main" id="{43E89217-A4D0-75C0-0C6D-9055C74E753B}"/>
              </a:ext>
            </a:extLst>
          </p:cNvPr>
          <p:cNvSpPr>
            <a:spLocks noChangeArrowheads="1"/>
          </p:cNvSpPr>
          <p:nvPr/>
        </p:nvSpPr>
        <p:spPr bwMode="auto">
          <a:xfrm>
            <a:off x="6172200" y="2743200"/>
            <a:ext cx="1676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8206" name="Object 19">
            <a:extLst>
              <a:ext uri="{FF2B5EF4-FFF2-40B4-BE49-F238E27FC236}">
                <a16:creationId xmlns:a16="http://schemas.microsoft.com/office/drawing/2014/main" id="{6E3AA55B-4B3B-7268-3CB2-E78F6F08840C}"/>
              </a:ext>
            </a:extLst>
          </p:cNvPr>
          <p:cNvGraphicFramePr>
            <a:graphicFrameLocks noChangeAspect="1"/>
          </p:cNvGraphicFramePr>
          <p:nvPr/>
        </p:nvGraphicFramePr>
        <p:xfrm>
          <a:off x="4286250" y="2647950"/>
          <a:ext cx="1447800" cy="982663"/>
        </p:xfrm>
        <a:graphic>
          <a:graphicData uri="http://schemas.openxmlformats.org/presentationml/2006/ole">
            <mc:AlternateContent xmlns:mc="http://schemas.openxmlformats.org/markup-compatibility/2006">
              <mc:Choice xmlns:v="urn:schemas-microsoft-com:vml" Requires="v">
                <p:oleObj name="Equation" r:id="rId2" imgW="1028700" imgH="698500" progId="Equation.3">
                  <p:embed/>
                </p:oleObj>
              </mc:Choice>
              <mc:Fallback>
                <p:oleObj name="Equation" r:id="rId2" imgW="1028700" imgH="698500" progId="Equation.3">
                  <p:embed/>
                  <p:pic>
                    <p:nvPicPr>
                      <p:cNvPr id="8206" name="Object 19">
                        <a:extLst>
                          <a:ext uri="{FF2B5EF4-FFF2-40B4-BE49-F238E27FC236}">
                            <a16:creationId xmlns:a16="http://schemas.microsoft.com/office/drawing/2014/main" id="{6E3AA55B-4B3B-7268-3CB2-E78F6F0884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0" y="2647950"/>
                        <a:ext cx="1447800"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7" name="Object 20">
            <a:extLst>
              <a:ext uri="{FF2B5EF4-FFF2-40B4-BE49-F238E27FC236}">
                <a16:creationId xmlns:a16="http://schemas.microsoft.com/office/drawing/2014/main" id="{20D7ADB4-900F-FC24-ACB5-74572F75F343}"/>
              </a:ext>
            </a:extLst>
          </p:cNvPr>
          <p:cNvGraphicFramePr>
            <a:graphicFrameLocks noChangeAspect="1"/>
          </p:cNvGraphicFramePr>
          <p:nvPr/>
        </p:nvGraphicFramePr>
        <p:xfrm>
          <a:off x="6210300" y="2705100"/>
          <a:ext cx="1608138" cy="982663"/>
        </p:xfrm>
        <a:graphic>
          <a:graphicData uri="http://schemas.openxmlformats.org/presentationml/2006/ole">
            <mc:AlternateContent xmlns:mc="http://schemas.openxmlformats.org/markup-compatibility/2006">
              <mc:Choice xmlns:v="urn:schemas-microsoft-com:vml" Requires="v">
                <p:oleObj name="Equation" r:id="rId4" imgW="1143000" imgH="698500" progId="Equation.3">
                  <p:embed/>
                </p:oleObj>
              </mc:Choice>
              <mc:Fallback>
                <p:oleObj name="Equation" r:id="rId4" imgW="1143000" imgH="698500" progId="Equation.3">
                  <p:embed/>
                  <p:pic>
                    <p:nvPicPr>
                      <p:cNvPr id="8207" name="Object 20">
                        <a:extLst>
                          <a:ext uri="{FF2B5EF4-FFF2-40B4-BE49-F238E27FC236}">
                            <a16:creationId xmlns:a16="http://schemas.microsoft.com/office/drawing/2014/main" id="{20D7ADB4-900F-FC24-ACB5-74572F75F3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0300" y="2705100"/>
                        <a:ext cx="1608138"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8" name="Text Box 21">
            <a:extLst>
              <a:ext uri="{FF2B5EF4-FFF2-40B4-BE49-F238E27FC236}">
                <a16:creationId xmlns:a16="http://schemas.microsoft.com/office/drawing/2014/main" id="{9397ACEA-3A81-4800-ADF4-62267CF794C7}"/>
              </a:ext>
            </a:extLst>
          </p:cNvPr>
          <p:cNvSpPr txBox="1">
            <a:spLocks noChangeArrowheads="1"/>
          </p:cNvSpPr>
          <p:nvPr/>
        </p:nvSpPr>
        <p:spPr bwMode="auto">
          <a:xfrm>
            <a:off x="2819400" y="2514600"/>
            <a:ext cx="1397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UB=17</a:t>
            </a:r>
          </a:p>
          <a:p>
            <a:pPr>
              <a:spcBef>
                <a:spcPct val="0"/>
              </a:spcBef>
              <a:buFontTx/>
              <a:buNone/>
            </a:pPr>
            <a:r>
              <a:rPr lang="en-US" altLang="en-US" sz="2400"/>
              <a:t>LB=12</a:t>
            </a:r>
          </a:p>
          <a:p>
            <a:pPr>
              <a:spcBef>
                <a:spcPct val="0"/>
              </a:spcBef>
              <a:buFontTx/>
              <a:buNone/>
            </a:pPr>
            <a:r>
              <a:rPr lang="en-US" altLang="en-US" sz="2400"/>
              <a:t>B.I.=[1,0]</a:t>
            </a:r>
          </a:p>
          <a:p>
            <a:pPr>
              <a:spcBef>
                <a:spcPct val="0"/>
              </a:spcBef>
              <a:buFontTx/>
              <a:buNone/>
            </a:pPr>
            <a:r>
              <a:rPr lang="en-US" altLang="en-US" sz="2400"/>
              <a:t>gap=5</a:t>
            </a:r>
          </a:p>
        </p:txBody>
      </p:sp>
      <p:sp>
        <p:nvSpPr>
          <p:cNvPr id="8209" name="Text Box 22">
            <a:extLst>
              <a:ext uri="{FF2B5EF4-FFF2-40B4-BE49-F238E27FC236}">
                <a16:creationId xmlns:a16="http://schemas.microsoft.com/office/drawing/2014/main" id="{17646F76-DCA3-8D77-EE74-40361D53A029}"/>
              </a:ext>
            </a:extLst>
          </p:cNvPr>
          <p:cNvSpPr txBox="1">
            <a:spLocks noChangeArrowheads="1"/>
          </p:cNvSpPr>
          <p:nvPr/>
        </p:nvSpPr>
        <p:spPr bwMode="auto">
          <a:xfrm>
            <a:off x="7848600" y="2606675"/>
            <a:ext cx="11398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UB=17</a:t>
            </a:r>
          </a:p>
          <a:p>
            <a:pPr>
              <a:spcBef>
                <a:spcPct val="0"/>
              </a:spcBef>
              <a:buFontTx/>
              <a:buNone/>
            </a:pPr>
            <a:r>
              <a:rPr lang="en-US" altLang="en-US" sz="2400"/>
              <a:t>LB= -</a:t>
            </a:r>
            <a:r>
              <a:rPr lang="en-US" altLang="en-US" sz="2400">
                <a:sym typeface="Symbol" panose="05050102010706020507" pitchFamily="18" charset="2"/>
              </a:rPr>
              <a:t></a:t>
            </a:r>
          </a:p>
        </p:txBody>
      </p:sp>
      <p:grpSp>
        <p:nvGrpSpPr>
          <p:cNvPr id="3" name="Group 38">
            <a:extLst>
              <a:ext uri="{FF2B5EF4-FFF2-40B4-BE49-F238E27FC236}">
                <a16:creationId xmlns:a16="http://schemas.microsoft.com/office/drawing/2014/main" id="{EACC77B4-068D-DAA9-F714-66CADE6FE968}"/>
              </a:ext>
            </a:extLst>
          </p:cNvPr>
          <p:cNvGrpSpPr>
            <a:grpSpLocks/>
          </p:cNvGrpSpPr>
          <p:nvPr/>
        </p:nvGrpSpPr>
        <p:grpSpPr bwMode="auto">
          <a:xfrm>
            <a:off x="5562600" y="3657600"/>
            <a:ext cx="3124200" cy="1371600"/>
            <a:chOff x="3504" y="2304"/>
            <a:chExt cx="1968" cy="864"/>
          </a:xfrm>
        </p:grpSpPr>
        <p:sp>
          <p:nvSpPr>
            <p:cNvPr id="8212" name="Line 25">
              <a:extLst>
                <a:ext uri="{FF2B5EF4-FFF2-40B4-BE49-F238E27FC236}">
                  <a16:creationId xmlns:a16="http://schemas.microsoft.com/office/drawing/2014/main" id="{3481B153-90EF-AE3C-D92E-8C9B84640258}"/>
                </a:ext>
              </a:extLst>
            </p:cNvPr>
            <p:cNvSpPr>
              <a:spLocks noChangeShapeType="1"/>
            </p:cNvSpPr>
            <p:nvPr/>
          </p:nvSpPr>
          <p:spPr bwMode="auto">
            <a:xfrm flipH="1">
              <a:off x="3984" y="2304"/>
              <a:ext cx="192"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13" name="Line 27">
              <a:extLst>
                <a:ext uri="{FF2B5EF4-FFF2-40B4-BE49-F238E27FC236}">
                  <a16:creationId xmlns:a16="http://schemas.microsoft.com/office/drawing/2014/main" id="{105A9997-2BA7-FDB2-CE2F-6FD6C0FDCBDC}"/>
                </a:ext>
              </a:extLst>
            </p:cNvPr>
            <p:cNvSpPr>
              <a:spLocks noChangeShapeType="1"/>
            </p:cNvSpPr>
            <p:nvPr/>
          </p:nvSpPr>
          <p:spPr bwMode="auto">
            <a:xfrm>
              <a:off x="4704" y="2304"/>
              <a:ext cx="192"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14" name="Rectangle 28">
              <a:extLst>
                <a:ext uri="{FF2B5EF4-FFF2-40B4-BE49-F238E27FC236}">
                  <a16:creationId xmlns:a16="http://schemas.microsoft.com/office/drawing/2014/main" id="{5B1E8016-E7EE-2294-85D1-676E5307826C}"/>
                </a:ext>
              </a:extLst>
            </p:cNvPr>
            <p:cNvSpPr>
              <a:spLocks noChangeArrowheads="1"/>
            </p:cNvSpPr>
            <p:nvPr/>
          </p:nvSpPr>
          <p:spPr bwMode="auto">
            <a:xfrm>
              <a:off x="3552" y="2688"/>
              <a:ext cx="912"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215" name="Rectangle 29">
              <a:extLst>
                <a:ext uri="{FF2B5EF4-FFF2-40B4-BE49-F238E27FC236}">
                  <a16:creationId xmlns:a16="http://schemas.microsoft.com/office/drawing/2014/main" id="{DBE096C9-9974-E0DD-27BE-7C97A9307C93}"/>
                </a:ext>
              </a:extLst>
            </p:cNvPr>
            <p:cNvSpPr>
              <a:spLocks noChangeArrowheads="1"/>
            </p:cNvSpPr>
            <p:nvPr/>
          </p:nvSpPr>
          <p:spPr bwMode="auto">
            <a:xfrm>
              <a:off x="4560" y="2688"/>
              <a:ext cx="912"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8216" name="Object 30">
              <a:extLst>
                <a:ext uri="{FF2B5EF4-FFF2-40B4-BE49-F238E27FC236}">
                  <a16:creationId xmlns:a16="http://schemas.microsoft.com/office/drawing/2014/main" id="{62A5D86D-5F71-1728-89A9-7D0C3BD93353}"/>
                </a:ext>
              </a:extLst>
            </p:cNvPr>
            <p:cNvGraphicFramePr>
              <a:graphicFrameLocks noChangeAspect="1"/>
            </p:cNvGraphicFramePr>
            <p:nvPr/>
          </p:nvGraphicFramePr>
          <p:xfrm>
            <a:off x="3552" y="2736"/>
            <a:ext cx="912" cy="406"/>
          </p:xfrm>
          <a:graphic>
            <a:graphicData uri="http://schemas.openxmlformats.org/presentationml/2006/ole">
              <mc:AlternateContent xmlns:mc="http://schemas.openxmlformats.org/markup-compatibility/2006">
                <mc:Choice xmlns:v="urn:schemas-microsoft-com:vml" Requires="v">
                  <p:oleObj name="Equation" r:id="rId6" imgW="1028700" imgH="457200" progId="Equation.3">
                    <p:embed/>
                  </p:oleObj>
                </mc:Choice>
                <mc:Fallback>
                  <p:oleObj name="Equation" r:id="rId6" imgW="1028700" imgH="457200" progId="Equation.3">
                    <p:embed/>
                    <p:pic>
                      <p:nvPicPr>
                        <p:cNvPr id="8216" name="Object 30">
                          <a:extLst>
                            <a:ext uri="{FF2B5EF4-FFF2-40B4-BE49-F238E27FC236}">
                              <a16:creationId xmlns:a16="http://schemas.microsoft.com/office/drawing/2014/main" id="{62A5D86D-5F71-1728-89A9-7D0C3BD9335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2" y="2736"/>
                          <a:ext cx="912"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7" name="Object 31">
              <a:extLst>
                <a:ext uri="{FF2B5EF4-FFF2-40B4-BE49-F238E27FC236}">
                  <a16:creationId xmlns:a16="http://schemas.microsoft.com/office/drawing/2014/main" id="{BFC1E1CC-7337-BCBA-156A-5C1EC1591271}"/>
                </a:ext>
              </a:extLst>
            </p:cNvPr>
            <p:cNvGraphicFramePr>
              <a:graphicFrameLocks noChangeAspect="1"/>
            </p:cNvGraphicFramePr>
            <p:nvPr/>
          </p:nvGraphicFramePr>
          <p:xfrm>
            <a:off x="4672" y="2758"/>
            <a:ext cx="687" cy="361"/>
          </p:xfrm>
          <a:graphic>
            <a:graphicData uri="http://schemas.openxmlformats.org/presentationml/2006/ole">
              <mc:AlternateContent xmlns:mc="http://schemas.openxmlformats.org/markup-compatibility/2006">
                <mc:Choice xmlns:v="urn:schemas-microsoft-com:vml" Requires="v">
                  <p:oleObj name="Equation" r:id="rId8" imgW="774364" imgH="406224" progId="Equation.3">
                    <p:embed/>
                  </p:oleObj>
                </mc:Choice>
                <mc:Fallback>
                  <p:oleObj name="Equation" r:id="rId8" imgW="774364" imgH="406224" progId="Equation.3">
                    <p:embed/>
                    <p:pic>
                      <p:nvPicPr>
                        <p:cNvPr id="8217" name="Object 31">
                          <a:extLst>
                            <a:ext uri="{FF2B5EF4-FFF2-40B4-BE49-F238E27FC236}">
                              <a16:creationId xmlns:a16="http://schemas.microsoft.com/office/drawing/2014/main" id="{BFC1E1CC-7337-BCBA-156A-5C1EC159127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2" y="2758"/>
                          <a:ext cx="687" cy="3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8" name="Text Box 34">
              <a:extLst>
                <a:ext uri="{FF2B5EF4-FFF2-40B4-BE49-F238E27FC236}">
                  <a16:creationId xmlns:a16="http://schemas.microsoft.com/office/drawing/2014/main" id="{5BEB949B-C0E2-6F71-D328-FF7838B149FD}"/>
                </a:ext>
              </a:extLst>
            </p:cNvPr>
            <p:cNvSpPr txBox="1">
              <a:spLocks noChangeArrowheads="1"/>
            </p:cNvSpPr>
            <p:nvPr/>
          </p:nvSpPr>
          <p:spPr bwMode="auto">
            <a:xfrm>
              <a:off x="3504" y="2352"/>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1</a:t>
              </a:r>
              <a:r>
                <a:rPr lang="en-US" altLang="en-US" sz="2400"/>
                <a:t>=0</a:t>
              </a:r>
            </a:p>
          </p:txBody>
        </p:sp>
        <p:sp>
          <p:nvSpPr>
            <p:cNvPr id="8219" name="Text Box 35">
              <a:extLst>
                <a:ext uri="{FF2B5EF4-FFF2-40B4-BE49-F238E27FC236}">
                  <a16:creationId xmlns:a16="http://schemas.microsoft.com/office/drawing/2014/main" id="{B00A0FB8-D289-2F2B-4C37-C499BC5CB5BA}"/>
                </a:ext>
              </a:extLst>
            </p:cNvPr>
            <p:cNvSpPr txBox="1">
              <a:spLocks noChangeArrowheads="1"/>
            </p:cNvSpPr>
            <p:nvPr/>
          </p:nvSpPr>
          <p:spPr bwMode="auto">
            <a:xfrm>
              <a:off x="4848" y="2304"/>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1</a:t>
              </a:r>
              <a:r>
                <a:rPr lang="en-US" altLang="en-US" sz="2400"/>
                <a:t>=1</a:t>
              </a:r>
            </a:p>
          </p:txBody>
        </p:sp>
      </p:grpSp>
      <p:sp>
        <p:nvSpPr>
          <p:cNvPr id="176165" name="Text Box 37">
            <a:extLst>
              <a:ext uri="{FF2B5EF4-FFF2-40B4-BE49-F238E27FC236}">
                <a16:creationId xmlns:a16="http://schemas.microsoft.com/office/drawing/2014/main" id="{9559EFC3-A478-3473-1BFD-F875B92AD0EF}"/>
              </a:ext>
            </a:extLst>
          </p:cNvPr>
          <p:cNvSpPr txBox="1">
            <a:spLocks noChangeArrowheads="1"/>
          </p:cNvSpPr>
          <p:nvPr/>
        </p:nvSpPr>
        <p:spPr bwMode="auto">
          <a:xfrm>
            <a:off x="4572000" y="5029200"/>
            <a:ext cx="4343400"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sz="3000"/>
              <a:t> </a:t>
            </a:r>
            <a:r>
              <a:rPr lang="en-US" altLang="en-US" sz="2600"/>
              <a:t>Now all leaves are evaluated.  The best integer solution is the optimum.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6133">
                                            <p:txEl>
                                              <p:pRg st="0" end="0"/>
                                            </p:txEl>
                                          </p:spTgt>
                                        </p:tgtEl>
                                        <p:attrNameLst>
                                          <p:attrName>style.visibility</p:attrName>
                                        </p:attrNameLst>
                                      </p:cBhvr>
                                      <p:to>
                                        <p:strVal val="visible"/>
                                      </p:to>
                                    </p:set>
                                    <p:anim calcmode="lin" valueType="num">
                                      <p:cBhvr additive="base">
                                        <p:cTn id="7" dur="500" fill="hold"/>
                                        <p:tgtEl>
                                          <p:spTgt spid="17613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613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6139"/>
                                        </p:tgtEl>
                                        <p:attrNameLst>
                                          <p:attrName>style.visibility</p:attrName>
                                        </p:attrNameLst>
                                      </p:cBhvr>
                                      <p:to>
                                        <p:strVal val="visible"/>
                                      </p:to>
                                    </p:set>
                                    <p:anim calcmode="lin" valueType="num">
                                      <p:cBhvr additive="base">
                                        <p:cTn id="13" dur="500" fill="hold"/>
                                        <p:tgtEl>
                                          <p:spTgt spid="176139"/>
                                        </p:tgtEl>
                                        <p:attrNameLst>
                                          <p:attrName>ppt_x</p:attrName>
                                        </p:attrNameLst>
                                      </p:cBhvr>
                                      <p:tavLst>
                                        <p:tav tm="0">
                                          <p:val>
                                            <p:strVal val="0-#ppt_w/2"/>
                                          </p:val>
                                        </p:tav>
                                        <p:tav tm="100000">
                                          <p:val>
                                            <p:strVal val="#ppt_x"/>
                                          </p:val>
                                        </p:tav>
                                      </p:tavLst>
                                    </p:anim>
                                    <p:anim calcmode="lin" valueType="num">
                                      <p:cBhvr additive="base">
                                        <p:cTn id="14" dur="500" fill="hold"/>
                                        <p:tgtEl>
                                          <p:spTgt spid="17613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6165"/>
                                        </p:tgtEl>
                                        <p:attrNameLst>
                                          <p:attrName>style.visibility</p:attrName>
                                        </p:attrNameLst>
                                      </p:cBhvr>
                                      <p:to>
                                        <p:strVal val="visible"/>
                                      </p:to>
                                    </p:set>
                                    <p:anim calcmode="lin" valueType="num">
                                      <p:cBhvr additive="base">
                                        <p:cTn id="25" dur="500" fill="hold"/>
                                        <p:tgtEl>
                                          <p:spTgt spid="176165"/>
                                        </p:tgtEl>
                                        <p:attrNameLst>
                                          <p:attrName>ppt_x</p:attrName>
                                        </p:attrNameLst>
                                      </p:cBhvr>
                                      <p:tavLst>
                                        <p:tav tm="0">
                                          <p:val>
                                            <p:strVal val="0-#ppt_w/2"/>
                                          </p:val>
                                        </p:tav>
                                        <p:tav tm="100000">
                                          <p:val>
                                            <p:strVal val="#ppt_x"/>
                                          </p:val>
                                        </p:tav>
                                      </p:tavLst>
                                    </p:anim>
                                    <p:anim calcmode="lin" valueType="num">
                                      <p:cBhvr additive="base">
                                        <p:cTn id="26" dur="500" fill="hold"/>
                                        <p:tgtEl>
                                          <p:spTgt spid="1761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3" grpId="0" build="p" autoUpdateAnimBg="0"/>
      <p:bldP spid="176139" grpId="0" autoUpdateAnimBg="0"/>
      <p:bldP spid="176165"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B9C406C-6C83-0D35-D60A-5C2C0ACBC833}"/>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Complexity Issues </a:t>
            </a:r>
          </a:p>
        </p:txBody>
      </p:sp>
      <p:sp>
        <p:nvSpPr>
          <p:cNvPr id="9219" name="Rectangle 3">
            <a:extLst>
              <a:ext uri="{FF2B5EF4-FFF2-40B4-BE49-F238E27FC236}">
                <a16:creationId xmlns:a16="http://schemas.microsoft.com/office/drawing/2014/main" id="{47499E74-8553-8BA3-796A-B239F0B791C1}"/>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0" name="Rectangle 4">
            <a:extLst>
              <a:ext uri="{FF2B5EF4-FFF2-40B4-BE49-F238E27FC236}">
                <a16:creationId xmlns:a16="http://schemas.microsoft.com/office/drawing/2014/main" id="{4E0C5CFA-F3A9-0192-4CB8-E443B9FF7BAD}"/>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24</a:t>
            </a:r>
          </a:p>
        </p:txBody>
      </p:sp>
      <p:graphicFrame>
        <p:nvGraphicFramePr>
          <p:cNvPr id="9221" name="Object 6">
            <a:extLst>
              <a:ext uri="{FF2B5EF4-FFF2-40B4-BE49-F238E27FC236}">
                <a16:creationId xmlns:a16="http://schemas.microsoft.com/office/drawing/2014/main" id="{E7DB92C2-87A3-3469-7C2E-3B2A1FCDD37E}"/>
              </a:ext>
            </a:extLst>
          </p:cNvPr>
          <p:cNvGraphicFramePr>
            <a:graphicFrameLocks noChangeAspect="1"/>
          </p:cNvGraphicFramePr>
          <p:nvPr/>
        </p:nvGraphicFramePr>
        <p:xfrm>
          <a:off x="1882775" y="990600"/>
          <a:ext cx="5378450" cy="2178050"/>
        </p:xfrm>
        <a:graphic>
          <a:graphicData uri="http://schemas.openxmlformats.org/presentationml/2006/ole">
            <mc:AlternateContent xmlns:mc="http://schemas.openxmlformats.org/markup-compatibility/2006">
              <mc:Choice xmlns:v="urn:schemas-microsoft-com:vml" Requires="v">
                <p:oleObj name="Equation" r:id="rId2" imgW="2260600" imgH="914400" progId="Equation.3">
                  <p:embed/>
                </p:oleObj>
              </mc:Choice>
              <mc:Fallback>
                <p:oleObj name="Equation" r:id="rId2" imgW="2260600" imgH="914400" progId="Equation.3">
                  <p:embed/>
                  <p:pic>
                    <p:nvPicPr>
                      <p:cNvPr id="9221" name="Object 6">
                        <a:extLst>
                          <a:ext uri="{FF2B5EF4-FFF2-40B4-BE49-F238E27FC236}">
                            <a16:creationId xmlns:a16="http://schemas.microsoft.com/office/drawing/2014/main" id="{E7DB92C2-87A3-3469-7C2E-3B2A1FCDD3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775" y="990600"/>
                        <a:ext cx="5378450" cy="217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7159" name="Text Box 7">
            <a:extLst>
              <a:ext uri="{FF2B5EF4-FFF2-40B4-BE49-F238E27FC236}">
                <a16:creationId xmlns:a16="http://schemas.microsoft.com/office/drawing/2014/main" id="{16E7D051-8119-144A-03C5-31368B180D5C}"/>
              </a:ext>
            </a:extLst>
          </p:cNvPr>
          <p:cNvSpPr txBox="1">
            <a:spLocks noChangeArrowheads="1"/>
          </p:cNvSpPr>
          <p:nvPr/>
        </p:nvSpPr>
        <p:spPr bwMode="auto">
          <a:xfrm>
            <a:off x="457200" y="3276600"/>
            <a:ext cx="82296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a:t>
            </a:r>
            <a:r>
              <a:rPr lang="en-US" altLang="en-US"/>
              <a:t>Note we had to evaluate 2</a:t>
            </a:r>
            <a:r>
              <a:rPr lang="en-US" altLang="en-US" i="1" baseline="30000"/>
              <a:t>n</a:t>
            </a:r>
            <a:r>
              <a:rPr lang="en-US" altLang="en-US"/>
              <a:t>=4 nodes – all possibilites.  </a:t>
            </a:r>
          </a:p>
          <a:p>
            <a:pPr>
              <a:spcBef>
                <a:spcPct val="0"/>
              </a:spcBef>
            </a:pPr>
            <a:r>
              <a:rPr lang="en-US" altLang="en-US"/>
              <a:t>  Leaves above the top of the tree give LP’s to solve, but uppermost leaves are just evaluations</a:t>
            </a:r>
          </a:p>
          <a:p>
            <a:pPr>
              <a:spcBef>
                <a:spcPct val="0"/>
              </a:spcBef>
            </a:pPr>
            <a:r>
              <a:rPr lang="en-US" altLang="en-US"/>
              <a:t>  We need a bigger example to see how branch and bound can eliminate groups of nodes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7159">
                                            <p:txEl>
                                              <p:pRg st="0" end="0"/>
                                            </p:txEl>
                                          </p:spTgt>
                                        </p:tgtEl>
                                        <p:attrNameLst>
                                          <p:attrName>style.visibility</p:attrName>
                                        </p:attrNameLst>
                                      </p:cBhvr>
                                      <p:to>
                                        <p:strVal val="visible"/>
                                      </p:to>
                                    </p:set>
                                    <p:anim calcmode="lin" valueType="num">
                                      <p:cBhvr additive="base">
                                        <p:cTn id="7" dur="500" fill="hold"/>
                                        <p:tgtEl>
                                          <p:spTgt spid="1771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71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7159">
                                            <p:txEl>
                                              <p:pRg st="1" end="1"/>
                                            </p:txEl>
                                          </p:spTgt>
                                        </p:tgtEl>
                                        <p:attrNameLst>
                                          <p:attrName>style.visibility</p:attrName>
                                        </p:attrNameLst>
                                      </p:cBhvr>
                                      <p:to>
                                        <p:strVal val="visible"/>
                                      </p:to>
                                    </p:set>
                                    <p:anim calcmode="lin" valueType="num">
                                      <p:cBhvr additive="base">
                                        <p:cTn id="13" dur="500" fill="hold"/>
                                        <p:tgtEl>
                                          <p:spTgt spid="1771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71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7159">
                                            <p:txEl>
                                              <p:pRg st="2" end="2"/>
                                            </p:txEl>
                                          </p:spTgt>
                                        </p:tgtEl>
                                        <p:attrNameLst>
                                          <p:attrName>style.visibility</p:attrName>
                                        </p:attrNameLst>
                                      </p:cBhvr>
                                      <p:to>
                                        <p:strVal val="visible"/>
                                      </p:to>
                                    </p:set>
                                    <p:anim calcmode="lin" valueType="num">
                                      <p:cBhvr additive="base">
                                        <p:cTn id="19" dur="500" fill="hold"/>
                                        <p:tgtEl>
                                          <p:spTgt spid="1771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715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9"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E50D174-5776-2E63-5438-BD82933E19FF}"/>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Large Binary Example  </a:t>
            </a:r>
          </a:p>
        </p:txBody>
      </p:sp>
      <p:sp>
        <p:nvSpPr>
          <p:cNvPr id="10243" name="Rectangle 3">
            <a:extLst>
              <a:ext uri="{FF2B5EF4-FFF2-40B4-BE49-F238E27FC236}">
                <a16:creationId xmlns:a16="http://schemas.microsoft.com/office/drawing/2014/main" id="{9C710F69-39DB-0EAA-0602-0266C9F2DE21}"/>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0244" name="Rectangle 4">
            <a:extLst>
              <a:ext uri="{FF2B5EF4-FFF2-40B4-BE49-F238E27FC236}">
                <a16:creationId xmlns:a16="http://schemas.microsoft.com/office/drawing/2014/main" id="{172D8128-B046-0290-EE82-46DDE4A5DB05}"/>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24</a:t>
            </a:r>
          </a:p>
        </p:txBody>
      </p:sp>
      <p:sp>
        <p:nvSpPr>
          <p:cNvPr id="178181" name="Text Box 5">
            <a:extLst>
              <a:ext uri="{FF2B5EF4-FFF2-40B4-BE49-F238E27FC236}">
                <a16:creationId xmlns:a16="http://schemas.microsoft.com/office/drawing/2014/main" id="{E008777A-7542-2258-7D6B-E52D341746F0}"/>
              </a:ext>
            </a:extLst>
          </p:cNvPr>
          <p:cNvSpPr txBox="1">
            <a:spLocks noChangeArrowheads="1"/>
          </p:cNvSpPr>
          <p:nvPr/>
        </p:nvSpPr>
        <p:spPr bwMode="auto">
          <a:xfrm>
            <a:off x="495300" y="914400"/>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Here’s a larger example from your book:</a:t>
            </a:r>
          </a:p>
        </p:txBody>
      </p:sp>
      <p:graphicFrame>
        <p:nvGraphicFramePr>
          <p:cNvPr id="178182" name="Object 6">
            <a:extLst>
              <a:ext uri="{FF2B5EF4-FFF2-40B4-BE49-F238E27FC236}">
                <a16:creationId xmlns:a16="http://schemas.microsoft.com/office/drawing/2014/main" id="{1ABB6B31-8DD0-B67C-0B35-002D10D4B04F}"/>
              </a:ext>
            </a:extLst>
          </p:cNvPr>
          <p:cNvGraphicFramePr>
            <a:graphicFrameLocks noChangeAspect="1"/>
          </p:cNvGraphicFramePr>
          <p:nvPr/>
        </p:nvGraphicFramePr>
        <p:xfrm>
          <a:off x="2017713" y="1600200"/>
          <a:ext cx="5106987" cy="2178050"/>
        </p:xfrm>
        <a:graphic>
          <a:graphicData uri="http://schemas.openxmlformats.org/presentationml/2006/ole">
            <mc:AlternateContent xmlns:mc="http://schemas.openxmlformats.org/markup-compatibility/2006">
              <mc:Choice xmlns:v="urn:schemas-microsoft-com:vml" Requires="v">
                <p:oleObj name="Equation" r:id="rId2" imgW="2146300" imgH="914400" progId="Equation.3">
                  <p:embed/>
                </p:oleObj>
              </mc:Choice>
              <mc:Fallback>
                <p:oleObj name="Equation" r:id="rId2" imgW="2146300" imgH="914400" progId="Equation.3">
                  <p:embed/>
                  <p:pic>
                    <p:nvPicPr>
                      <p:cNvPr id="178182" name="Object 6">
                        <a:extLst>
                          <a:ext uri="{FF2B5EF4-FFF2-40B4-BE49-F238E27FC236}">
                            <a16:creationId xmlns:a16="http://schemas.microsoft.com/office/drawing/2014/main" id="{1ABB6B31-8DD0-B67C-0B35-002D10D4B0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713" y="1600200"/>
                        <a:ext cx="5106987" cy="217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8183" name="Text Box 7">
            <a:extLst>
              <a:ext uri="{FF2B5EF4-FFF2-40B4-BE49-F238E27FC236}">
                <a16:creationId xmlns:a16="http://schemas.microsoft.com/office/drawing/2014/main" id="{4499867F-7C20-B5B0-3F08-91837E880B60}"/>
              </a:ext>
            </a:extLst>
          </p:cNvPr>
          <p:cNvSpPr txBox="1">
            <a:spLocks noChangeArrowheads="1"/>
          </p:cNvSpPr>
          <p:nvPr/>
        </p:nvSpPr>
        <p:spPr bwMode="auto">
          <a:xfrm>
            <a:off x="609600" y="3886200"/>
            <a:ext cx="8229600"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a:t>
            </a:r>
            <a:r>
              <a:rPr lang="en-US" altLang="en-US"/>
              <a:t>Again, solve the LP-relaxation (the root node)</a:t>
            </a:r>
          </a:p>
          <a:p>
            <a:pPr>
              <a:spcBef>
                <a:spcPct val="0"/>
              </a:spcBef>
            </a:pPr>
            <a:r>
              <a:rPr lang="en-US" altLang="en-US"/>
              <a:t>  What if the LP-relaxation has no feasible solutions?</a:t>
            </a:r>
          </a:p>
          <a:p>
            <a:pPr>
              <a:spcBef>
                <a:spcPct val="0"/>
              </a:spcBef>
            </a:pPr>
            <a:r>
              <a:rPr lang="en-US" altLang="en-US"/>
              <a:t>  Then the original problem has no feasible solutions, and we are done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8181">
                                            <p:txEl>
                                              <p:pRg st="0" end="0"/>
                                            </p:txEl>
                                          </p:spTgt>
                                        </p:tgtEl>
                                        <p:attrNameLst>
                                          <p:attrName>style.visibility</p:attrName>
                                        </p:attrNameLst>
                                      </p:cBhvr>
                                      <p:to>
                                        <p:strVal val="visible"/>
                                      </p:to>
                                    </p:set>
                                    <p:anim calcmode="lin" valueType="num">
                                      <p:cBhvr additive="base">
                                        <p:cTn id="7" dur="500" fill="hold"/>
                                        <p:tgtEl>
                                          <p:spTgt spid="17818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818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8182"/>
                                        </p:tgtEl>
                                        <p:attrNameLst>
                                          <p:attrName>style.visibility</p:attrName>
                                        </p:attrNameLst>
                                      </p:cBhvr>
                                      <p:to>
                                        <p:strVal val="visible"/>
                                      </p:to>
                                    </p:set>
                                    <p:anim calcmode="lin" valueType="num">
                                      <p:cBhvr additive="base">
                                        <p:cTn id="13" dur="500" fill="hold"/>
                                        <p:tgtEl>
                                          <p:spTgt spid="178182"/>
                                        </p:tgtEl>
                                        <p:attrNameLst>
                                          <p:attrName>ppt_x</p:attrName>
                                        </p:attrNameLst>
                                      </p:cBhvr>
                                      <p:tavLst>
                                        <p:tav tm="0">
                                          <p:val>
                                            <p:strVal val="0-#ppt_w/2"/>
                                          </p:val>
                                        </p:tav>
                                        <p:tav tm="100000">
                                          <p:val>
                                            <p:strVal val="#ppt_x"/>
                                          </p:val>
                                        </p:tav>
                                      </p:tavLst>
                                    </p:anim>
                                    <p:anim calcmode="lin" valueType="num">
                                      <p:cBhvr additive="base">
                                        <p:cTn id="14" dur="500" fill="hold"/>
                                        <p:tgtEl>
                                          <p:spTgt spid="17818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8183">
                                            <p:txEl>
                                              <p:pRg st="0" end="0"/>
                                            </p:txEl>
                                          </p:spTgt>
                                        </p:tgtEl>
                                        <p:attrNameLst>
                                          <p:attrName>style.visibility</p:attrName>
                                        </p:attrNameLst>
                                      </p:cBhvr>
                                      <p:to>
                                        <p:strVal val="visible"/>
                                      </p:to>
                                    </p:set>
                                    <p:anim calcmode="lin" valueType="num">
                                      <p:cBhvr additive="base">
                                        <p:cTn id="19" dur="500" fill="hold"/>
                                        <p:tgtEl>
                                          <p:spTgt spid="178183">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81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8183">
                                            <p:txEl>
                                              <p:pRg st="1" end="1"/>
                                            </p:txEl>
                                          </p:spTgt>
                                        </p:tgtEl>
                                        <p:attrNameLst>
                                          <p:attrName>style.visibility</p:attrName>
                                        </p:attrNameLst>
                                      </p:cBhvr>
                                      <p:to>
                                        <p:strVal val="visible"/>
                                      </p:to>
                                    </p:set>
                                    <p:anim calcmode="lin" valueType="num">
                                      <p:cBhvr additive="base">
                                        <p:cTn id="25" dur="500" fill="hold"/>
                                        <p:tgtEl>
                                          <p:spTgt spid="178183">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81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78183">
                                            <p:txEl>
                                              <p:pRg st="2" end="2"/>
                                            </p:txEl>
                                          </p:spTgt>
                                        </p:tgtEl>
                                        <p:attrNameLst>
                                          <p:attrName>style.visibility</p:attrName>
                                        </p:attrNameLst>
                                      </p:cBhvr>
                                      <p:to>
                                        <p:strVal val="visible"/>
                                      </p:to>
                                    </p:set>
                                    <p:anim calcmode="lin" valueType="num">
                                      <p:cBhvr additive="base">
                                        <p:cTn id="31" dur="500" fill="hold"/>
                                        <p:tgtEl>
                                          <p:spTgt spid="178183">
                                            <p:txEl>
                                              <p:pRg st="2" end="2"/>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818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1" grpId="0" build="p" autoUpdateAnimBg="0"/>
      <p:bldP spid="178183"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01C5226-45FC-CA0E-3E80-CD3C3617E115}"/>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Binary Tree – Large Example</a:t>
            </a:r>
          </a:p>
        </p:txBody>
      </p:sp>
      <p:sp>
        <p:nvSpPr>
          <p:cNvPr id="11267" name="Rectangle 3">
            <a:extLst>
              <a:ext uri="{FF2B5EF4-FFF2-40B4-BE49-F238E27FC236}">
                <a16:creationId xmlns:a16="http://schemas.microsoft.com/office/drawing/2014/main" id="{7D65853A-6E2D-E701-D3E0-61C2C3CA39DF}"/>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68" name="Rectangle 4">
            <a:extLst>
              <a:ext uri="{FF2B5EF4-FFF2-40B4-BE49-F238E27FC236}">
                <a16:creationId xmlns:a16="http://schemas.microsoft.com/office/drawing/2014/main" id="{CB7E9F84-6EC7-2772-24EC-16432BADB54A}"/>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24</a:t>
            </a:r>
          </a:p>
        </p:txBody>
      </p:sp>
      <p:sp>
        <p:nvSpPr>
          <p:cNvPr id="179205" name="Text Box 5">
            <a:extLst>
              <a:ext uri="{FF2B5EF4-FFF2-40B4-BE49-F238E27FC236}">
                <a16:creationId xmlns:a16="http://schemas.microsoft.com/office/drawing/2014/main" id="{F484066B-967A-BB34-C865-EA969C71AAAE}"/>
              </a:ext>
            </a:extLst>
          </p:cNvPr>
          <p:cNvSpPr txBox="1">
            <a:spLocks noChangeArrowheads="1"/>
          </p:cNvSpPr>
          <p:nvPr/>
        </p:nvSpPr>
        <p:spPr bwMode="auto">
          <a:xfrm>
            <a:off x="304800" y="990600"/>
            <a:ext cx="27432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Now branch on the fractional variable </a:t>
            </a:r>
            <a:r>
              <a:rPr lang="en-US" altLang="en-US" sz="3000" i="1"/>
              <a:t>y</a:t>
            </a:r>
            <a:r>
              <a:rPr lang="en-US" altLang="en-US" sz="3000" i="1" baseline="-25000"/>
              <a:t>2</a:t>
            </a:r>
            <a:endParaRPr lang="en-US" altLang="en-US" sz="3000"/>
          </a:p>
        </p:txBody>
      </p:sp>
      <p:sp>
        <p:nvSpPr>
          <p:cNvPr id="11270" name="Oval 8">
            <a:extLst>
              <a:ext uri="{FF2B5EF4-FFF2-40B4-BE49-F238E27FC236}">
                <a16:creationId xmlns:a16="http://schemas.microsoft.com/office/drawing/2014/main" id="{8C769BC0-941F-9135-266A-FAA4340D248F}"/>
              </a:ext>
            </a:extLst>
          </p:cNvPr>
          <p:cNvSpPr>
            <a:spLocks noChangeArrowheads="1"/>
          </p:cNvSpPr>
          <p:nvPr/>
        </p:nvSpPr>
        <p:spPr bwMode="auto">
          <a:xfrm>
            <a:off x="3276600" y="1177925"/>
            <a:ext cx="1981200" cy="171767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71" name="Text Box 10">
            <a:extLst>
              <a:ext uri="{FF2B5EF4-FFF2-40B4-BE49-F238E27FC236}">
                <a16:creationId xmlns:a16="http://schemas.microsoft.com/office/drawing/2014/main" id="{171D229C-5888-2E6F-12D6-00BBFE0B3685}"/>
              </a:ext>
            </a:extLst>
          </p:cNvPr>
          <p:cNvSpPr txBox="1">
            <a:spLocks noChangeArrowheads="1"/>
          </p:cNvSpPr>
          <p:nvPr/>
        </p:nvSpPr>
        <p:spPr bwMode="auto">
          <a:xfrm>
            <a:off x="5334000" y="1676400"/>
            <a:ext cx="14652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UB=129.1</a:t>
            </a:r>
          </a:p>
          <a:p>
            <a:pPr>
              <a:spcBef>
                <a:spcPct val="0"/>
              </a:spcBef>
              <a:buFontTx/>
              <a:buNone/>
            </a:pPr>
            <a:r>
              <a:rPr lang="en-US" altLang="en-US" sz="2400"/>
              <a:t>LB= -</a:t>
            </a:r>
            <a:r>
              <a:rPr lang="en-US" altLang="en-US" sz="2400">
                <a:sym typeface="Symbol" panose="05050102010706020507" pitchFamily="18" charset="2"/>
              </a:rPr>
              <a:t></a:t>
            </a:r>
            <a:endParaRPr lang="en-US" altLang="en-US" sz="2400"/>
          </a:p>
        </p:txBody>
      </p:sp>
      <p:grpSp>
        <p:nvGrpSpPr>
          <p:cNvPr id="2" name="Group 27">
            <a:extLst>
              <a:ext uri="{FF2B5EF4-FFF2-40B4-BE49-F238E27FC236}">
                <a16:creationId xmlns:a16="http://schemas.microsoft.com/office/drawing/2014/main" id="{29AD0777-7F16-25EE-E993-843B1D82DABB}"/>
              </a:ext>
            </a:extLst>
          </p:cNvPr>
          <p:cNvGrpSpPr>
            <a:grpSpLocks/>
          </p:cNvGrpSpPr>
          <p:nvPr/>
        </p:nvGrpSpPr>
        <p:grpSpPr bwMode="auto">
          <a:xfrm>
            <a:off x="838200" y="2743200"/>
            <a:ext cx="6951663" cy="1981200"/>
            <a:chOff x="528" y="1728"/>
            <a:chExt cx="4379" cy="1248"/>
          </a:xfrm>
        </p:grpSpPr>
        <p:grpSp>
          <p:nvGrpSpPr>
            <p:cNvPr id="11275" name="Group 12">
              <a:extLst>
                <a:ext uri="{FF2B5EF4-FFF2-40B4-BE49-F238E27FC236}">
                  <a16:creationId xmlns:a16="http://schemas.microsoft.com/office/drawing/2014/main" id="{D980EEB7-020D-C686-4992-BA050A4F1A9E}"/>
                </a:ext>
              </a:extLst>
            </p:cNvPr>
            <p:cNvGrpSpPr>
              <a:grpSpLocks/>
            </p:cNvGrpSpPr>
            <p:nvPr/>
          </p:nvGrpSpPr>
          <p:grpSpPr bwMode="auto">
            <a:xfrm>
              <a:off x="1680" y="1728"/>
              <a:ext cx="1909" cy="432"/>
              <a:chOff x="1872" y="2496"/>
              <a:chExt cx="1909" cy="432"/>
            </a:xfrm>
          </p:grpSpPr>
          <p:sp>
            <p:nvSpPr>
              <p:cNvPr id="11282" name="Line 13">
                <a:extLst>
                  <a:ext uri="{FF2B5EF4-FFF2-40B4-BE49-F238E27FC236}">
                    <a16:creationId xmlns:a16="http://schemas.microsoft.com/office/drawing/2014/main" id="{E1F8C663-4AFF-68A8-0A10-6064BDE4DB35}"/>
                  </a:ext>
                </a:extLst>
              </p:cNvPr>
              <p:cNvSpPr>
                <a:spLocks noChangeShapeType="1"/>
              </p:cNvSpPr>
              <p:nvPr/>
            </p:nvSpPr>
            <p:spPr bwMode="auto">
              <a:xfrm flipH="1">
                <a:off x="2304" y="2592"/>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83" name="Line 14">
                <a:extLst>
                  <a:ext uri="{FF2B5EF4-FFF2-40B4-BE49-F238E27FC236}">
                    <a16:creationId xmlns:a16="http://schemas.microsoft.com/office/drawing/2014/main" id="{EC3094D5-93B1-E772-A64B-1557B89B6E43}"/>
                  </a:ext>
                </a:extLst>
              </p:cNvPr>
              <p:cNvSpPr>
                <a:spLocks noChangeShapeType="1"/>
              </p:cNvSpPr>
              <p:nvPr/>
            </p:nvSpPr>
            <p:spPr bwMode="auto">
              <a:xfrm rot="17181192" flipH="1">
                <a:off x="3144" y="2616"/>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84" name="Text Box 15">
                <a:extLst>
                  <a:ext uri="{FF2B5EF4-FFF2-40B4-BE49-F238E27FC236}">
                    <a16:creationId xmlns:a16="http://schemas.microsoft.com/office/drawing/2014/main" id="{9C5D4333-2329-8F8D-5EE9-61884D7FEAC5}"/>
                  </a:ext>
                </a:extLst>
              </p:cNvPr>
              <p:cNvSpPr txBox="1">
                <a:spLocks noChangeArrowheads="1"/>
              </p:cNvSpPr>
              <p:nvPr/>
            </p:nvSpPr>
            <p:spPr bwMode="auto">
              <a:xfrm>
                <a:off x="1872" y="2496"/>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2</a:t>
                </a:r>
                <a:r>
                  <a:rPr lang="en-US" altLang="en-US" sz="2400"/>
                  <a:t>=0</a:t>
                </a:r>
              </a:p>
            </p:txBody>
          </p:sp>
          <p:sp>
            <p:nvSpPr>
              <p:cNvPr id="11285" name="Text Box 16">
                <a:extLst>
                  <a:ext uri="{FF2B5EF4-FFF2-40B4-BE49-F238E27FC236}">
                    <a16:creationId xmlns:a16="http://schemas.microsoft.com/office/drawing/2014/main" id="{860CD3E9-4892-E8C2-2584-6577F7200BE5}"/>
                  </a:ext>
                </a:extLst>
              </p:cNvPr>
              <p:cNvSpPr txBox="1">
                <a:spLocks noChangeArrowheads="1"/>
              </p:cNvSpPr>
              <p:nvPr/>
            </p:nvSpPr>
            <p:spPr bwMode="auto">
              <a:xfrm>
                <a:off x="3312" y="2592"/>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2</a:t>
                </a:r>
                <a:r>
                  <a:rPr lang="en-US" altLang="en-US" sz="2400"/>
                  <a:t>=1</a:t>
                </a:r>
              </a:p>
            </p:txBody>
          </p:sp>
        </p:grpSp>
        <p:sp>
          <p:nvSpPr>
            <p:cNvPr id="11276" name="Rectangle 17">
              <a:extLst>
                <a:ext uri="{FF2B5EF4-FFF2-40B4-BE49-F238E27FC236}">
                  <a16:creationId xmlns:a16="http://schemas.microsoft.com/office/drawing/2014/main" id="{46E5AA3E-4DBD-75D5-B5C5-29D59C164DA7}"/>
                </a:ext>
              </a:extLst>
            </p:cNvPr>
            <p:cNvSpPr>
              <a:spLocks noChangeArrowheads="1"/>
            </p:cNvSpPr>
            <p:nvPr/>
          </p:nvSpPr>
          <p:spPr bwMode="auto">
            <a:xfrm>
              <a:off x="1536" y="2160"/>
              <a:ext cx="1056" cy="81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77" name="Rectangle 18">
              <a:extLst>
                <a:ext uri="{FF2B5EF4-FFF2-40B4-BE49-F238E27FC236}">
                  <a16:creationId xmlns:a16="http://schemas.microsoft.com/office/drawing/2014/main" id="{D96E1559-9061-AD27-A0B3-4914C87D3AC7}"/>
                </a:ext>
              </a:extLst>
            </p:cNvPr>
            <p:cNvSpPr>
              <a:spLocks noChangeArrowheads="1"/>
            </p:cNvSpPr>
            <p:nvPr/>
          </p:nvSpPr>
          <p:spPr bwMode="auto">
            <a:xfrm>
              <a:off x="2784" y="2160"/>
              <a:ext cx="1056" cy="81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11278" name="Object 19">
              <a:extLst>
                <a:ext uri="{FF2B5EF4-FFF2-40B4-BE49-F238E27FC236}">
                  <a16:creationId xmlns:a16="http://schemas.microsoft.com/office/drawing/2014/main" id="{FC1AEB8A-CD52-1BE1-B6CE-64208A54E301}"/>
                </a:ext>
              </a:extLst>
            </p:cNvPr>
            <p:cNvGraphicFramePr>
              <a:graphicFrameLocks noChangeAspect="1"/>
            </p:cNvGraphicFramePr>
            <p:nvPr/>
          </p:nvGraphicFramePr>
          <p:xfrm>
            <a:off x="1632" y="2160"/>
            <a:ext cx="960" cy="810"/>
          </p:xfrm>
          <a:graphic>
            <a:graphicData uri="http://schemas.openxmlformats.org/presentationml/2006/ole">
              <mc:AlternateContent xmlns:mc="http://schemas.openxmlformats.org/markup-compatibility/2006">
                <mc:Choice xmlns:v="urn:schemas-microsoft-com:vml" Requires="v">
                  <p:oleObj name="Equation" r:id="rId2" imgW="800100" imgH="914400" progId="Equation.3">
                    <p:embed/>
                  </p:oleObj>
                </mc:Choice>
                <mc:Fallback>
                  <p:oleObj name="Equation" r:id="rId2" imgW="800100" imgH="914400" progId="Equation.3">
                    <p:embed/>
                    <p:pic>
                      <p:nvPicPr>
                        <p:cNvPr id="11278" name="Object 19">
                          <a:extLst>
                            <a:ext uri="{FF2B5EF4-FFF2-40B4-BE49-F238E27FC236}">
                              <a16:creationId xmlns:a16="http://schemas.microsoft.com/office/drawing/2014/main" id="{FC1AEB8A-CD52-1BE1-B6CE-64208A54E3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2" y="2160"/>
                          <a:ext cx="960" cy="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9" name="Object 20">
              <a:extLst>
                <a:ext uri="{FF2B5EF4-FFF2-40B4-BE49-F238E27FC236}">
                  <a16:creationId xmlns:a16="http://schemas.microsoft.com/office/drawing/2014/main" id="{DC7B073B-2D6E-E303-682D-4AA6BD65761E}"/>
                </a:ext>
              </a:extLst>
            </p:cNvPr>
            <p:cNvGraphicFramePr>
              <a:graphicFrameLocks noChangeAspect="1"/>
            </p:cNvGraphicFramePr>
            <p:nvPr/>
          </p:nvGraphicFramePr>
          <p:xfrm>
            <a:off x="2784" y="2160"/>
            <a:ext cx="1056" cy="810"/>
          </p:xfrm>
          <a:graphic>
            <a:graphicData uri="http://schemas.openxmlformats.org/presentationml/2006/ole">
              <mc:AlternateContent xmlns:mc="http://schemas.openxmlformats.org/markup-compatibility/2006">
                <mc:Choice xmlns:v="urn:schemas-microsoft-com:vml" Requires="v">
                  <p:oleObj name="Equation" r:id="rId4" imgW="952500" imgH="914400" progId="Equation.3">
                    <p:embed/>
                  </p:oleObj>
                </mc:Choice>
                <mc:Fallback>
                  <p:oleObj name="Equation" r:id="rId4" imgW="952500" imgH="914400" progId="Equation.3">
                    <p:embed/>
                    <p:pic>
                      <p:nvPicPr>
                        <p:cNvPr id="11279" name="Object 20">
                          <a:extLst>
                            <a:ext uri="{FF2B5EF4-FFF2-40B4-BE49-F238E27FC236}">
                              <a16:creationId xmlns:a16="http://schemas.microsoft.com/office/drawing/2014/main" id="{DC7B073B-2D6E-E303-682D-4AA6BD6576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4" y="2160"/>
                          <a:ext cx="1056" cy="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0" name="Text Box 21">
              <a:extLst>
                <a:ext uri="{FF2B5EF4-FFF2-40B4-BE49-F238E27FC236}">
                  <a16:creationId xmlns:a16="http://schemas.microsoft.com/office/drawing/2014/main" id="{40658A71-5800-467C-898F-E23797A95C4A}"/>
                </a:ext>
              </a:extLst>
            </p:cNvPr>
            <p:cNvSpPr txBox="1">
              <a:spLocks noChangeArrowheads="1"/>
            </p:cNvSpPr>
            <p:nvPr/>
          </p:nvSpPr>
          <p:spPr bwMode="auto">
            <a:xfrm>
              <a:off x="528" y="2016"/>
              <a:ext cx="1024"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UB=129.1</a:t>
              </a:r>
            </a:p>
            <a:p>
              <a:pPr>
                <a:spcBef>
                  <a:spcPct val="0"/>
                </a:spcBef>
                <a:buFontTx/>
                <a:buNone/>
              </a:pPr>
              <a:r>
                <a:rPr lang="en-US" altLang="en-US" sz="2400"/>
                <a:t>LB=126</a:t>
              </a:r>
            </a:p>
            <a:p>
              <a:pPr>
                <a:spcBef>
                  <a:spcPct val="0"/>
                </a:spcBef>
                <a:buFontTx/>
                <a:buNone/>
              </a:pPr>
              <a:r>
                <a:rPr lang="en-US" altLang="en-US" sz="2400"/>
                <a:t>B.I.=[1,0,1]</a:t>
              </a:r>
            </a:p>
          </p:txBody>
        </p:sp>
        <p:sp>
          <p:nvSpPr>
            <p:cNvPr id="11281" name="Text Box 22">
              <a:extLst>
                <a:ext uri="{FF2B5EF4-FFF2-40B4-BE49-F238E27FC236}">
                  <a16:creationId xmlns:a16="http://schemas.microsoft.com/office/drawing/2014/main" id="{AC8B5A9B-4B5E-7FD6-6F34-D691B882C45B}"/>
                </a:ext>
              </a:extLst>
            </p:cNvPr>
            <p:cNvSpPr txBox="1">
              <a:spLocks noChangeArrowheads="1"/>
            </p:cNvSpPr>
            <p:nvPr/>
          </p:nvSpPr>
          <p:spPr bwMode="auto">
            <a:xfrm>
              <a:off x="3888" y="2160"/>
              <a:ext cx="101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UB=128.11</a:t>
              </a:r>
            </a:p>
            <a:p>
              <a:pPr>
                <a:spcBef>
                  <a:spcPct val="0"/>
                </a:spcBef>
                <a:buFontTx/>
                <a:buNone/>
              </a:pPr>
              <a:r>
                <a:rPr lang="en-US" altLang="en-US" sz="2400"/>
                <a:t>LB= 126</a:t>
              </a:r>
              <a:endParaRPr lang="en-US" altLang="en-US" sz="2400">
                <a:sym typeface="Symbol" panose="05050102010706020507" pitchFamily="18" charset="2"/>
              </a:endParaRPr>
            </a:p>
          </p:txBody>
        </p:sp>
      </p:grpSp>
      <p:graphicFrame>
        <p:nvGraphicFramePr>
          <p:cNvPr id="11273" name="Object 25">
            <a:extLst>
              <a:ext uri="{FF2B5EF4-FFF2-40B4-BE49-F238E27FC236}">
                <a16:creationId xmlns:a16="http://schemas.microsoft.com/office/drawing/2014/main" id="{E617C6A3-C0AF-C91F-9431-6757752C56E8}"/>
              </a:ext>
            </a:extLst>
          </p:cNvPr>
          <p:cNvGraphicFramePr>
            <a:graphicFrameLocks noChangeAspect="1"/>
          </p:cNvGraphicFramePr>
          <p:nvPr/>
        </p:nvGraphicFramePr>
        <p:xfrm>
          <a:off x="3429000" y="1524000"/>
          <a:ext cx="1981200" cy="1192213"/>
        </p:xfrm>
        <a:graphic>
          <a:graphicData uri="http://schemas.openxmlformats.org/presentationml/2006/ole">
            <mc:AlternateContent xmlns:mc="http://schemas.openxmlformats.org/markup-compatibility/2006">
              <mc:Choice xmlns:v="urn:schemas-microsoft-com:vml" Requires="v">
                <p:oleObj name="Equation" r:id="rId6" imgW="1143000" imgH="685800" progId="Equation.3">
                  <p:embed/>
                </p:oleObj>
              </mc:Choice>
              <mc:Fallback>
                <p:oleObj name="Equation" r:id="rId6" imgW="1143000" imgH="685800" progId="Equation.3">
                  <p:embed/>
                  <p:pic>
                    <p:nvPicPr>
                      <p:cNvPr id="11273" name="Object 25">
                        <a:extLst>
                          <a:ext uri="{FF2B5EF4-FFF2-40B4-BE49-F238E27FC236}">
                            <a16:creationId xmlns:a16="http://schemas.microsoft.com/office/drawing/2014/main" id="{E617C6A3-C0AF-C91F-9431-6757752C56E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1524000"/>
                        <a:ext cx="19812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9226" name="Text Box 26">
            <a:extLst>
              <a:ext uri="{FF2B5EF4-FFF2-40B4-BE49-F238E27FC236}">
                <a16:creationId xmlns:a16="http://schemas.microsoft.com/office/drawing/2014/main" id="{17BE7237-EF12-B9A3-27FD-B66FEAFD6880}"/>
              </a:ext>
            </a:extLst>
          </p:cNvPr>
          <p:cNvSpPr txBox="1">
            <a:spLocks noChangeArrowheads="1"/>
          </p:cNvSpPr>
          <p:nvPr/>
        </p:nvSpPr>
        <p:spPr bwMode="auto">
          <a:xfrm>
            <a:off x="457200" y="4953000"/>
            <a:ext cx="27432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Now branch on the fractional variable </a:t>
            </a:r>
            <a:r>
              <a:rPr lang="en-US" altLang="en-US" sz="3000" i="1"/>
              <a:t>y</a:t>
            </a:r>
            <a:r>
              <a:rPr lang="en-US" altLang="en-US" sz="3000" i="1" baseline="-25000"/>
              <a:t>1</a:t>
            </a:r>
            <a:endParaRPr lang="en-US" altLang="en-US" sz="3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9205">
                                            <p:txEl>
                                              <p:pRg st="0" end="0"/>
                                            </p:txEl>
                                          </p:spTgt>
                                        </p:tgtEl>
                                        <p:attrNameLst>
                                          <p:attrName>style.visibility</p:attrName>
                                        </p:attrNameLst>
                                      </p:cBhvr>
                                      <p:to>
                                        <p:strVal val="visible"/>
                                      </p:to>
                                    </p:set>
                                    <p:anim calcmode="lin" valueType="num">
                                      <p:cBhvr additive="base">
                                        <p:cTn id="7" dur="500" fill="hold"/>
                                        <p:tgtEl>
                                          <p:spTgt spid="17920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920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9226">
                                            <p:txEl>
                                              <p:pRg st="0" end="0"/>
                                            </p:txEl>
                                          </p:spTgt>
                                        </p:tgtEl>
                                        <p:attrNameLst>
                                          <p:attrName>style.visibility</p:attrName>
                                        </p:attrNameLst>
                                      </p:cBhvr>
                                      <p:to>
                                        <p:strVal val="visible"/>
                                      </p:to>
                                    </p:set>
                                    <p:anim calcmode="lin" valueType="num">
                                      <p:cBhvr additive="base">
                                        <p:cTn id="19" dur="500" fill="hold"/>
                                        <p:tgtEl>
                                          <p:spTgt spid="179226">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922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5" grpId="0" build="p" autoUpdateAnimBg="0"/>
      <p:bldP spid="179226"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782D71D-00F3-36A0-C055-AD7CB8F9F8FC}"/>
              </a:ext>
            </a:extLst>
          </p:cNvPr>
          <p:cNvSpPr>
            <a:spLocks noGrp="1" noChangeArrowheads="1"/>
          </p:cNvSpPr>
          <p:nvPr>
            <p:ph type="title"/>
          </p:nvPr>
        </p:nvSpPr>
        <p:spPr>
          <a:xfrm>
            <a:off x="0" y="533400"/>
            <a:ext cx="2209800" cy="1143000"/>
          </a:xfrm>
        </p:spPr>
        <p:txBody>
          <a:bodyPr>
            <a:normAutofit fontScale="90000"/>
          </a:bodyPr>
          <a:lstStyle/>
          <a:p>
            <a:pPr>
              <a:lnSpc>
                <a:spcPct val="80000"/>
              </a:lnSpc>
            </a:pPr>
            <a:r>
              <a:rPr lang="en-US" altLang="en-US" sz="3600"/>
              <a:t>Binary Tree – Large Example</a:t>
            </a:r>
          </a:p>
        </p:txBody>
      </p:sp>
      <p:sp>
        <p:nvSpPr>
          <p:cNvPr id="12291" name="Rectangle 3">
            <a:extLst>
              <a:ext uri="{FF2B5EF4-FFF2-40B4-BE49-F238E27FC236}">
                <a16:creationId xmlns:a16="http://schemas.microsoft.com/office/drawing/2014/main" id="{8F3998CA-56E7-D5B5-8CE7-B0D8BD0AD984}"/>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292" name="Rectangle 4">
            <a:extLst>
              <a:ext uri="{FF2B5EF4-FFF2-40B4-BE49-F238E27FC236}">
                <a16:creationId xmlns:a16="http://schemas.microsoft.com/office/drawing/2014/main" id="{DBCA1F87-D52F-D0EF-679E-B9692317A7AF}"/>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24</a:t>
            </a:r>
          </a:p>
        </p:txBody>
      </p:sp>
      <p:grpSp>
        <p:nvGrpSpPr>
          <p:cNvPr id="12293" name="Group 8">
            <a:extLst>
              <a:ext uri="{FF2B5EF4-FFF2-40B4-BE49-F238E27FC236}">
                <a16:creationId xmlns:a16="http://schemas.microsoft.com/office/drawing/2014/main" id="{3949D621-B49A-684E-F4E7-4C671AEE4AD6}"/>
              </a:ext>
            </a:extLst>
          </p:cNvPr>
          <p:cNvGrpSpPr>
            <a:grpSpLocks/>
          </p:cNvGrpSpPr>
          <p:nvPr/>
        </p:nvGrpSpPr>
        <p:grpSpPr bwMode="auto">
          <a:xfrm>
            <a:off x="152400" y="1828800"/>
            <a:ext cx="6951663" cy="1981200"/>
            <a:chOff x="528" y="1728"/>
            <a:chExt cx="4379" cy="1248"/>
          </a:xfrm>
        </p:grpSpPr>
        <p:grpSp>
          <p:nvGrpSpPr>
            <p:cNvPr id="12313" name="Group 9">
              <a:extLst>
                <a:ext uri="{FF2B5EF4-FFF2-40B4-BE49-F238E27FC236}">
                  <a16:creationId xmlns:a16="http://schemas.microsoft.com/office/drawing/2014/main" id="{DBF48D7C-E4BF-FE9D-064A-29C2048E2135}"/>
                </a:ext>
              </a:extLst>
            </p:cNvPr>
            <p:cNvGrpSpPr>
              <a:grpSpLocks/>
            </p:cNvGrpSpPr>
            <p:nvPr/>
          </p:nvGrpSpPr>
          <p:grpSpPr bwMode="auto">
            <a:xfrm>
              <a:off x="1680" y="1728"/>
              <a:ext cx="1909" cy="432"/>
              <a:chOff x="1872" y="2496"/>
              <a:chExt cx="1909" cy="432"/>
            </a:xfrm>
          </p:grpSpPr>
          <p:sp>
            <p:nvSpPr>
              <p:cNvPr id="12320" name="Line 10">
                <a:extLst>
                  <a:ext uri="{FF2B5EF4-FFF2-40B4-BE49-F238E27FC236}">
                    <a16:creationId xmlns:a16="http://schemas.microsoft.com/office/drawing/2014/main" id="{3E69FAE1-4478-5042-CE7B-015579375BE2}"/>
                  </a:ext>
                </a:extLst>
              </p:cNvPr>
              <p:cNvSpPr>
                <a:spLocks noChangeShapeType="1"/>
              </p:cNvSpPr>
              <p:nvPr/>
            </p:nvSpPr>
            <p:spPr bwMode="auto">
              <a:xfrm flipH="1">
                <a:off x="2304" y="2592"/>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21" name="Line 11">
                <a:extLst>
                  <a:ext uri="{FF2B5EF4-FFF2-40B4-BE49-F238E27FC236}">
                    <a16:creationId xmlns:a16="http://schemas.microsoft.com/office/drawing/2014/main" id="{F29643E7-9F2F-3F81-DB89-B8D6F957CCAA}"/>
                  </a:ext>
                </a:extLst>
              </p:cNvPr>
              <p:cNvSpPr>
                <a:spLocks noChangeShapeType="1"/>
              </p:cNvSpPr>
              <p:nvPr/>
            </p:nvSpPr>
            <p:spPr bwMode="auto">
              <a:xfrm rot="17181192" flipH="1">
                <a:off x="3144" y="2616"/>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22" name="Text Box 12">
                <a:extLst>
                  <a:ext uri="{FF2B5EF4-FFF2-40B4-BE49-F238E27FC236}">
                    <a16:creationId xmlns:a16="http://schemas.microsoft.com/office/drawing/2014/main" id="{75BD142F-DFF6-C598-7597-EDDC8DCADD31}"/>
                  </a:ext>
                </a:extLst>
              </p:cNvPr>
              <p:cNvSpPr txBox="1">
                <a:spLocks noChangeArrowheads="1"/>
              </p:cNvSpPr>
              <p:nvPr/>
            </p:nvSpPr>
            <p:spPr bwMode="auto">
              <a:xfrm>
                <a:off x="1872" y="2496"/>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2</a:t>
                </a:r>
                <a:r>
                  <a:rPr lang="en-US" altLang="en-US" sz="2400"/>
                  <a:t>=0</a:t>
                </a:r>
              </a:p>
            </p:txBody>
          </p:sp>
          <p:sp>
            <p:nvSpPr>
              <p:cNvPr id="12323" name="Text Box 13">
                <a:extLst>
                  <a:ext uri="{FF2B5EF4-FFF2-40B4-BE49-F238E27FC236}">
                    <a16:creationId xmlns:a16="http://schemas.microsoft.com/office/drawing/2014/main" id="{06B5A290-81C6-9B91-172F-D34E2B2EC955}"/>
                  </a:ext>
                </a:extLst>
              </p:cNvPr>
              <p:cNvSpPr txBox="1">
                <a:spLocks noChangeArrowheads="1"/>
              </p:cNvSpPr>
              <p:nvPr/>
            </p:nvSpPr>
            <p:spPr bwMode="auto">
              <a:xfrm>
                <a:off x="3312" y="2592"/>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2</a:t>
                </a:r>
                <a:r>
                  <a:rPr lang="en-US" altLang="en-US" sz="2400"/>
                  <a:t>=1</a:t>
                </a:r>
              </a:p>
            </p:txBody>
          </p:sp>
        </p:grpSp>
        <p:sp>
          <p:nvSpPr>
            <p:cNvPr id="12314" name="Rectangle 14">
              <a:extLst>
                <a:ext uri="{FF2B5EF4-FFF2-40B4-BE49-F238E27FC236}">
                  <a16:creationId xmlns:a16="http://schemas.microsoft.com/office/drawing/2014/main" id="{FBFF2A5D-7E87-4172-FF00-3A845AD6912F}"/>
                </a:ext>
              </a:extLst>
            </p:cNvPr>
            <p:cNvSpPr>
              <a:spLocks noChangeArrowheads="1"/>
            </p:cNvSpPr>
            <p:nvPr/>
          </p:nvSpPr>
          <p:spPr bwMode="auto">
            <a:xfrm>
              <a:off x="1536" y="2160"/>
              <a:ext cx="1056" cy="81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15" name="Rectangle 15">
              <a:extLst>
                <a:ext uri="{FF2B5EF4-FFF2-40B4-BE49-F238E27FC236}">
                  <a16:creationId xmlns:a16="http://schemas.microsoft.com/office/drawing/2014/main" id="{78A1ABE5-862B-7BF4-FBBB-A236045FC14B}"/>
                </a:ext>
              </a:extLst>
            </p:cNvPr>
            <p:cNvSpPr>
              <a:spLocks noChangeArrowheads="1"/>
            </p:cNvSpPr>
            <p:nvPr/>
          </p:nvSpPr>
          <p:spPr bwMode="auto">
            <a:xfrm>
              <a:off x="2784" y="2160"/>
              <a:ext cx="1056" cy="81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12316" name="Object 16">
              <a:extLst>
                <a:ext uri="{FF2B5EF4-FFF2-40B4-BE49-F238E27FC236}">
                  <a16:creationId xmlns:a16="http://schemas.microsoft.com/office/drawing/2014/main" id="{81C400CB-5611-9754-3CFF-CE52998C6E67}"/>
                </a:ext>
              </a:extLst>
            </p:cNvPr>
            <p:cNvGraphicFramePr>
              <a:graphicFrameLocks noChangeAspect="1"/>
            </p:cNvGraphicFramePr>
            <p:nvPr/>
          </p:nvGraphicFramePr>
          <p:xfrm>
            <a:off x="1632" y="2160"/>
            <a:ext cx="960" cy="810"/>
          </p:xfrm>
          <a:graphic>
            <a:graphicData uri="http://schemas.openxmlformats.org/presentationml/2006/ole">
              <mc:AlternateContent xmlns:mc="http://schemas.openxmlformats.org/markup-compatibility/2006">
                <mc:Choice xmlns:v="urn:schemas-microsoft-com:vml" Requires="v">
                  <p:oleObj name="Equation" r:id="rId2" imgW="800100" imgH="914400" progId="Equation.3">
                    <p:embed/>
                  </p:oleObj>
                </mc:Choice>
                <mc:Fallback>
                  <p:oleObj name="Equation" r:id="rId2" imgW="800100" imgH="914400" progId="Equation.3">
                    <p:embed/>
                    <p:pic>
                      <p:nvPicPr>
                        <p:cNvPr id="12316" name="Object 16">
                          <a:extLst>
                            <a:ext uri="{FF2B5EF4-FFF2-40B4-BE49-F238E27FC236}">
                              <a16:creationId xmlns:a16="http://schemas.microsoft.com/office/drawing/2014/main" id="{81C400CB-5611-9754-3CFF-CE52998C6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2" y="2160"/>
                          <a:ext cx="960" cy="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17" name="Object 17">
              <a:extLst>
                <a:ext uri="{FF2B5EF4-FFF2-40B4-BE49-F238E27FC236}">
                  <a16:creationId xmlns:a16="http://schemas.microsoft.com/office/drawing/2014/main" id="{DE3684F8-E5C5-8991-96AB-76D3EEA8335F}"/>
                </a:ext>
              </a:extLst>
            </p:cNvPr>
            <p:cNvGraphicFramePr>
              <a:graphicFrameLocks noChangeAspect="1"/>
            </p:cNvGraphicFramePr>
            <p:nvPr/>
          </p:nvGraphicFramePr>
          <p:xfrm>
            <a:off x="2784" y="2160"/>
            <a:ext cx="1056" cy="810"/>
          </p:xfrm>
          <a:graphic>
            <a:graphicData uri="http://schemas.openxmlformats.org/presentationml/2006/ole">
              <mc:AlternateContent xmlns:mc="http://schemas.openxmlformats.org/markup-compatibility/2006">
                <mc:Choice xmlns:v="urn:schemas-microsoft-com:vml" Requires="v">
                  <p:oleObj name="Equation" r:id="rId4" imgW="952500" imgH="914400" progId="Equation.3">
                    <p:embed/>
                  </p:oleObj>
                </mc:Choice>
                <mc:Fallback>
                  <p:oleObj name="Equation" r:id="rId4" imgW="952500" imgH="914400" progId="Equation.3">
                    <p:embed/>
                    <p:pic>
                      <p:nvPicPr>
                        <p:cNvPr id="12317" name="Object 17">
                          <a:extLst>
                            <a:ext uri="{FF2B5EF4-FFF2-40B4-BE49-F238E27FC236}">
                              <a16:creationId xmlns:a16="http://schemas.microsoft.com/office/drawing/2014/main" id="{DE3684F8-E5C5-8991-96AB-76D3EEA833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4" y="2160"/>
                          <a:ext cx="1056" cy="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18" name="Text Box 18">
              <a:extLst>
                <a:ext uri="{FF2B5EF4-FFF2-40B4-BE49-F238E27FC236}">
                  <a16:creationId xmlns:a16="http://schemas.microsoft.com/office/drawing/2014/main" id="{72959FBB-0B8A-9293-5F70-DA3634C711DF}"/>
                </a:ext>
              </a:extLst>
            </p:cNvPr>
            <p:cNvSpPr txBox="1">
              <a:spLocks noChangeArrowheads="1"/>
            </p:cNvSpPr>
            <p:nvPr/>
          </p:nvSpPr>
          <p:spPr bwMode="auto">
            <a:xfrm>
              <a:off x="528" y="2016"/>
              <a:ext cx="1024"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UB=129.1</a:t>
              </a:r>
            </a:p>
            <a:p>
              <a:pPr>
                <a:spcBef>
                  <a:spcPct val="0"/>
                </a:spcBef>
                <a:buFontTx/>
                <a:buNone/>
              </a:pPr>
              <a:r>
                <a:rPr lang="en-US" altLang="en-US" sz="2400"/>
                <a:t>LB=126</a:t>
              </a:r>
            </a:p>
            <a:p>
              <a:pPr>
                <a:spcBef>
                  <a:spcPct val="0"/>
                </a:spcBef>
                <a:buFontTx/>
                <a:buNone/>
              </a:pPr>
              <a:r>
                <a:rPr lang="en-US" altLang="en-US" sz="2400"/>
                <a:t>B.I.=[1,0,1]</a:t>
              </a:r>
            </a:p>
          </p:txBody>
        </p:sp>
        <p:sp>
          <p:nvSpPr>
            <p:cNvPr id="12319" name="Text Box 19">
              <a:extLst>
                <a:ext uri="{FF2B5EF4-FFF2-40B4-BE49-F238E27FC236}">
                  <a16:creationId xmlns:a16="http://schemas.microsoft.com/office/drawing/2014/main" id="{3726CA2D-3A61-5E25-BA80-320B1327C6FA}"/>
                </a:ext>
              </a:extLst>
            </p:cNvPr>
            <p:cNvSpPr txBox="1">
              <a:spLocks noChangeArrowheads="1"/>
            </p:cNvSpPr>
            <p:nvPr/>
          </p:nvSpPr>
          <p:spPr bwMode="auto">
            <a:xfrm>
              <a:off x="3888" y="2160"/>
              <a:ext cx="101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UB=128.11</a:t>
              </a:r>
            </a:p>
            <a:p>
              <a:pPr>
                <a:spcBef>
                  <a:spcPct val="0"/>
                </a:spcBef>
                <a:buFontTx/>
                <a:buNone/>
              </a:pPr>
              <a:r>
                <a:rPr lang="en-US" altLang="en-US" sz="2400"/>
                <a:t>LB= 126</a:t>
              </a:r>
              <a:endParaRPr lang="en-US" altLang="en-US" sz="2400">
                <a:sym typeface="Symbol" panose="05050102010706020507" pitchFamily="18" charset="2"/>
              </a:endParaRPr>
            </a:p>
          </p:txBody>
        </p:sp>
      </p:grpSp>
      <p:grpSp>
        <p:nvGrpSpPr>
          <p:cNvPr id="12294" name="Group 22">
            <a:extLst>
              <a:ext uri="{FF2B5EF4-FFF2-40B4-BE49-F238E27FC236}">
                <a16:creationId xmlns:a16="http://schemas.microsoft.com/office/drawing/2014/main" id="{0CEC783A-BAD8-5FE0-E658-B5863EB8435C}"/>
              </a:ext>
            </a:extLst>
          </p:cNvPr>
          <p:cNvGrpSpPr>
            <a:grpSpLocks/>
          </p:cNvGrpSpPr>
          <p:nvPr/>
        </p:nvGrpSpPr>
        <p:grpSpPr bwMode="auto">
          <a:xfrm>
            <a:off x="2590800" y="304800"/>
            <a:ext cx="3522663" cy="1717675"/>
            <a:chOff x="2064" y="742"/>
            <a:chExt cx="2219" cy="1082"/>
          </a:xfrm>
        </p:grpSpPr>
        <p:sp>
          <p:nvSpPr>
            <p:cNvPr id="12310" name="Oval 6">
              <a:extLst>
                <a:ext uri="{FF2B5EF4-FFF2-40B4-BE49-F238E27FC236}">
                  <a16:creationId xmlns:a16="http://schemas.microsoft.com/office/drawing/2014/main" id="{D211703F-6279-A93F-FFB5-8021E16FF359}"/>
                </a:ext>
              </a:extLst>
            </p:cNvPr>
            <p:cNvSpPr>
              <a:spLocks noChangeArrowheads="1"/>
            </p:cNvSpPr>
            <p:nvPr/>
          </p:nvSpPr>
          <p:spPr bwMode="auto">
            <a:xfrm>
              <a:off x="2064" y="742"/>
              <a:ext cx="1248" cy="108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11" name="Text Box 7">
              <a:extLst>
                <a:ext uri="{FF2B5EF4-FFF2-40B4-BE49-F238E27FC236}">
                  <a16:creationId xmlns:a16="http://schemas.microsoft.com/office/drawing/2014/main" id="{08A03112-4598-58E9-A14B-5B90D83BF59E}"/>
                </a:ext>
              </a:extLst>
            </p:cNvPr>
            <p:cNvSpPr txBox="1">
              <a:spLocks noChangeArrowheads="1"/>
            </p:cNvSpPr>
            <p:nvPr/>
          </p:nvSpPr>
          <p:spPr bwMode="auto">
            <a:xfrm>
              <a:off x="3360" y="1056"/>
              <a:ext cx="92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UB=129.1</a:t>
              </a:r>
            </a:p>
            <a:p>
              <a:pPr>
                <a:spcBef>
                  <a:spcPct val="0"/>
                </a:spcBef>
                <a:buFontTx/>
                <a:buNone/>
              </a:pPr>
              <a:r>
                <a:rPr lang="en-US" altLang="en-US" sz="2400"/>
                <a:t>LB= -</a:t>
              </a:r>
              <a:r>
                <a:rPr lang="en-US" altLang="en-US" sz="2400">
                  <a:sym typeface="Symbol" panose="05050102010706020507" pitchFamily="18" charset="2"/>
                </a:rPr>
                <a:t></a:t>
              </a:r>
              <a:endParaRPr lang="en-US" altLang="en-US" sz="2400"/>
            </a:p>
          </p:txBody>
        </p:sp>
        <p:graphicFrame>
          <p:nvGraphicFramePr>
            <p:cNvPr id="12312" name="Object 20">
              <a:extLst>
                <a:ext uri="{FF2B5EF4-FFF2-40B4-BE49-F238E27FC236}">
                  <a16:creationId xmlns:a16="http://schemas.microsoft.com/office/drawing/2014/main" id="{3D709F9D-3710-5FA1-6D7D-600EF61FE57B}"/>
                </a:ext>
              </a:extLst>
            </p:cNvPr>
            <p:cNvGraphicFramePr>
              <a:graphicFrameLocks noChangeAspect="1"/>
            </p:cNvGraphicFramePr>
            <p:nvPr/>
          </p:nvGraphicFramePr>
          <p:xfrm>
            <a:off x="2160" y="960"/>
            <a:ext cx="1248" cy="751"/>
          </p:xfrm>
          <a:graphic>
            <a:graphicData uri="http://schemas.openxmlformats.org/presentationml/2006/ole">
              <mc:AlternateContent xmlns:mc="http://schemas.openxmlformats.org/markup-compatibility/2006">
                <mc:Choice xmlns:v="urn:schemas-microsoft-com:vml" Requires="v">
                  <p:oleObj name="Equation" r:id="rId6" imgW="1143000" imgH="685800" progId="Equation.3">
                    <p:embed/>
                  </p:oleObj>
                </mc:Choice>
                <mc:Fallback>
                  <p:oleObj name="Equation" r:id="rId6" imgW="1143000" imgH="685800" progId="Equation.3">
                    <p:embed/>
                    <p:pic>
                      <p:nvPicPr>
                        <p:cNvPr id="12312" name="Object 20">
                          <a:extLst>
                            <a:ext uri="{FF2B5EF4-FFF2-40B4-BE49-F238E27FC236}">
                              <a16:creationId xmlns:a16="http://schemas.microsoft.com/office/drawing/2014/main" id="{3D709F9D-3710-5FA1-6D7D-600EF61FE5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60" y="960"/>
                          <a:ext cx="1248" cy="7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36">
            <a:extLst>
              <a:ext uri="{FF2B5EF4-FFF2-40B4-BE49-F238E27FC236}">
                <a16:creationId xmlns:a16="http://schemas.microsoft.com/office/drawing/2014/main" id="{79B046DA-9174-2746-6E92-C021C4964CBE}"/>
              </a:ext>
            </a:extLst>
          </p:cNvPr>
          <p:cNvGrpSpPr>
            <a:grpSpLocks/>
          </p:cNvGrpSpPr>
          <p:nvPr/>
        </p:nvGrpSpPr>
        <p:grpSpPr bwMode="auto">
          <a:xfrm>
            <a:off x="1371600" y="3810000"/>
            <a:ext cx="5257800" cy="1828800"/>
            <a:chOff x="864" y="2400"/>
            <a:chExt cx="3312" cy="1152"/>
          </a:xfrm>
        </p:grpSpPr>
        <p:sp>
          <p:nvSpPr>
            <p:cNvPr id="12301" name="Line 25">
              <a:extLst>
                <a:ext uri="{FF2B5EF4-FFF2-40B4-BE49-F238E27FC236}">
                  <a16:creationId xmlns:a16="http://schemas.microsoft.com/office/drawing/2014/main" id="{C68627E5-3EB9-CC22-BFA5-C4A39DAE19C3}"/>
                </a:ext>
              </a:extLst>
            </p:cNvPr>
            <p:cNvSpPr>
              <a:spLocks noChangeShapeType="1"/>
            </p:cNvSpPr>
            <p:nvPr/>
          </p:nvSpPr>
          <p:spPr bwMode="auto">
            <a:xfrm flipH="1">
              <a:off x="2352" y="2400"/>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02" name="Line 26">
              <a:extLst>
                <a:ext uri="{FF2B5EF4-FFF2-40B4-BE49-F238E27FC236}">
                  <a16:creationId xmlns:a16="http://schemas.microsoft.com/office/drawing/2014/main" id="{BAA42493-7DF5-F2F6-22D8-265A25A3FFF9}"/>
                </a:ext>
              </a:extLst>
            </p:cNvPr>
            <p:cNvSpPr>
              <a:spLocks noChangeShapeType="1"/>
            </p:cNvSpPr>
            <p:nvPr/>
          </p:nvSpPr>
          <p:spPr bwMode="auto">
            <a:xfrm rot="17181192" flipH="1">
              <a:off x="3192" y="2424"/>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03" name="Text Box 27">
              <a:extLst>
                <a:ext uri="{FF2B5EF4-FFF2-40B4-BE49-F238E27FC236}">
                  <a16:creationId xmlns:a16="http://schemas.microsoft.com/office/drawing/2014/main" id="{C6A564FB-229D-BE41-8EA2-365F32DDF860}"/>
                </a:ext>
              </a:extLst>
            </p:cNvPr>
            <p:cNvSpPr txBox="1">
              <a:spLocks noChangeArrowheads="1"/>
            </p:cNvSpPr>
            <p:nvPr/>
          </p:nvSpPr>
          <p:spPr bwMode="auto">
            <a:xfrm>
              <a:off x="1920" y="2400"/>
              <a:ext cx="4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1</a:t>
              </a:r>
              <a:r>
                <a:rPr lang="en-US" altLang="en-US" sz="2400"/>
                <a:t>=0</a:t>
              </a:r>
            </a:p>
          </p:txBody>
        </p:sp>
        <p:sp>
          <p:nvSpPr>
            <p:cNvPr id="12304" name="Text Box 28">
              <a:extLst>
                <a:ext uri="{FF2B5EF4-FFF2-40B4-BE49-F238E27FC236}">
                  <a16:creationId xmlns:a16="http://schemas.microsoft.com/office/drawing/2014/main" id="{E990CB63-A6B5-09F8-9C7C-F412198361E1}"/>
                </a:ext>
              </a:extLst>
            </p:cNvPr>
            <p:cNvSpPr txBox="1">
              <a:spLocks noChangeArrowheads="1"/>
            </p:cNvSpPr>
            <p:nvPr/>
          </p:nvSpPr>
          <p:spPr bwMode="auto">
            <a:xfrm>
              <a:off x="3360" y="2400"/>
              <a:ext cx="4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i="1"/>
                <a:t>y</a:t>
              </a:r>
              <a:r>
                <a:rPr lang="en-US" altLang="en-US" sz="2400" i="1" baseline="-25000"/>
                <a:t>1</a:t>
              </a:r>
              <a:r>
                <a:rPr lang="en-US" altLang="en-US" sz="2400" i="1"/>
                <a:t>=1</a:t>
              </a:r>
              <a:endParaRPr lang="en-US" altLang="en-US" sz="2400"/>
            </a:p>
          </p:txBody>
        </p:sp>
        <p:sp>
          <p:nvSpPr>
            <p:cNvPr id="12305" name="Rectangle 29">
              <a:extLst>
                <a:ext uri="{FF2B5EF4-FFF2-40B4-BE49-F238E27FC236}">
                  <a16:creationId xmlns:a16="http://schemas.microsoft.com/office/drawing/2014/main" id="{5A699027-F227-DB7F-16AB-3C732DD727BA}"/>
                </a:ext>
              </a:extLst>
            </p:cNvPr>
            <p:cNvSpPr>
              <a:spLocks noChangeArrowheads="1"/>
            </p:cNvSpPr>
            <p:nvPr/>
          </p:nvSpPr>
          <p:spPr bwMode="auto">
            <a:xfrm>
              <a:off x="1872" y="2736"/>
              <a:ext cx="1056" cy="81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306" name="Rectangle 30">
              <a:extLst>
                <a:ext uri="{FF2B5EF4-FFF2-40B4-BE49-F238E27FC236}">
                  <a16:creationId xmlns:a16="http://schemas.microsoft.com/office/drawing/2014/main" id="{8D35DC86-04BB-58CB-F32C-9D3EC15B4804}"/>
                </a:ext>
              </a:extLst>
            </p:cNvPr>
            <p:cNvSpPr>
              <a:spLocks noChangeArrowheads="1"/>
            </p:cNvSpPr>
            <p:nvPr/>
          </p:nvSpPr>
          <p:spPr bwMode="auto">
            <a:xfrm>
              <a:off x="3120" y="2736"/>
              <a:ext cx="1056" cy="81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12307" name="Object 31">
              <a:extLst>
                <a:ext uri="{FF2B5EF4-FFF2-40B4-BE49-F238E27FC236}">
                  <a16:creationId xmlns:a16="http://schemas.microsoft.com/office/drawing/2014/main" id="{071E15D1-3CD7-D6CC-E866-017C4C4C5B8F}"/>
                </a:ext>
              </a:extLst>
            </p:cNvPr>
            <p:cNvGraphicFramePr>
              <a:graphicFrameLocks noChangeAspect="1"/>
            </p:cNvGraphicFramePr>
            <p:nvPr/>
          </p:nvGraphicFramePr>
          <p:xfrm>
            <a:off x="1968" y="2736"/>
            <a:ext cx="960" cy="810"/>
          </p:xfrm>
          <a:graphic>
            <a:graphicData uri="http://schemas.openxmlformats.org/presentationml/2006/ole">
              <mc:AlternateContent xmlns:mc="http://schemas.openxmlformats.org/markup-compatibility/2006">
                <mc:Choice xmlns:v="urn:schemas-microsoft-com:vml" Requires="v">
                  <p:oleObj name="Equation" r:id="rId8" imgW="800100" imgH="914400" progId="Equation.3">
                    <p:embed/>
                  </p:oleObj>
                </mc:Choice>
                <mc:Fallback>
                  <p:oleObj name="Equation" r:id="rId8" imgW="800100" imgH="914400" progId="Equation.3">
                    <p:embed/>
                    <p:pic>
                      <p:nvPicPr>
                        <p:cNvPr id="12307" name="Object 31">
                          <a:extLst>
                            <a:ext uri="{FF2B5EF4-FFF2-40B4-BE49-F238E27FC236}">
                              <a16:creationId xmlns:a16="http://schemas.microsoft.com/office/drawing/2014/main" id="{071E15D1-3CD7-D6CC-E866-017C4C4C5B8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8" y="2736"/>
                          <a:ext cx="960" cy="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08" name="Object 32">
              <a:extLst>
                <a:ext uri="{FF2B5EF4-FFF2-40B4-BE49-F238E27FC236}">
                  <a16:creationId xmlns:a16="http://schemas.microsoft.com/office/drawing/2014/main" id="{BB4E4404-D700-1AB1-A194-551D35C1032A}"/>
                </a:ext>
              </a:extLst>
            </p:cNvPr>
            <p:cNvGraphicFramePr>
              <a:graphicFrameLocks noChangeAspect="1"/>
            </p:cNvGraphicFramePr>
            <p:nvPr/>
          </p:nvGraphicFramePr>
          <p:xfrm>
            <a:off x="3120" y="2736"/>
            <a:ext cx="1056" cy="810"/>
          </p:xfrm>
          <a:graphic>
            <a:graphicData uri="http://schemas.openxmlformats.org/presentationml/2006/ole">
              <mc:AlternateContent xmlns:mc="http://schemas.openxmlformats.org/markup-compatibility/2006">
                <mc:Choice xmlns:v="urn:schemas-microsoft-com:vml" Requires="v">
                  <p:oleObj name="Equation" r:id="rId10" imgW="952500" imgH="914400" progId="Equation.3">
                    <p:embed/>
                  </p:oleObj>
                </mc:Choice>
                <mc:Fallback>
                  <p:oleObj name="Equation" r:id="rId10" imgW="952500" imgH="914400" progId="Equation.3">
                    <p:embed/>
                    <p:pic>
                      <p:nvPicPr>
                        <p:cNvPr id="12308" name="Object 32">
                          <a:extLst>
                            <a:ext uri="{FF2B5EF4-FFF2-40B4-BE49-F238E27FC236}">
                              <a16:creationId xmlns:a16="http://schemas.microsoft.com/office/drawing/2014/main" id="{BB4E4404-D700-1AB1-A194-551D35C1032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20" y="2736"/>
                          <a:ext cx="1056" cy="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9" name="Text Box 33">
              <a:extLst>
                <a:ext uri="{FF2B5EF4-FFF2-40B4-BE49-F238E27FC236}">
                  <a16:creationId xmlns:a16="http://schemas.microsoft.com/office/drawing/2014/main" id="{EE07D600-BFD7-69C1-A713-C1B89FDD7EC1}"/>
                </a:ext>
              </a:extLst>
            </p:cNvPr>
            <p:cNvSpPr txBox="1">
              <a:spLocks noChangeArrowheads="1"/>
            </p:cNvSpPr>
            <p:nvPr/>
          </p:nvSpPr>
          <p:spPr bwMode="auto">
            <a:xfrm>
              <a:off x="864" y="2784"/>
              <a:ext cx="1024"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UB=128.11</a:t>
              </a:r>
            </a:p>
            <a:p>
              <a:pPr>
                <a:spcBef>
                  <a:spcPct val="0"/>
                </a:spcBef>
                <a:buFontTx/>
                <a:buNone/>
              </a:pPr>
              <a:r>
                <a:rPr lang="en-US" altLang="en-US" sz="2400"/>
                <a:t>LB=126</a:t>
              </a:r>
            </a:p>
            <a:p>
              <a:pPr>
                <a:spcBef>
                  <a:spcPct val="0"/>
                </a:spcBef>
                <a:buFontTx/>
                <a:buNone/>
              </a:pPr>
              <a:r>
                <a:rPr lang="en-US" altLang="en-US" sz="2400"/>
                <a:t>B.I.=[1,0,1]</a:t>
              </a:r>
            </a:p>
          </p:txBody>
        </p:sp>
      </p:grpSp>
      <p:sp>
        <p:nvSpPr>
          <p:cNvPr id="180259" name="Text Box 35">
            <a:extLst>
              <a:ext uri="{FF2B5EF4-FFF2-40B4-BE49-F238E27FC236}">
                <a16:creationId xmlns:a16="http://schemas.microsoft.com/office/drawing/2014/main" id="{116FCD14-DEC7-8BFB-B85B-8D159836BA4B}"/>
              </a:ext>
            </a:extLst>
          </p:cNvPr>
          <p:cNvSpPr txBox="1">
            <a:spLocks noChangeArrowheads="1"/>
          </p:cNvSpPr>
          <p:nvPr/>
        </p:nvSpPr>
        <p:spPr bwMode="auto">
          <a:xfrm>
            <a:off x="6232525" y="228600"/>
            <a:ext cx="2911475"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What are the upper and lower bounds after exploring the last node?</a:t>
            </a:r>
          </a:p>
        </p:txBody>
      </p:sp>
      <p:sp>
        <p:nvSpPr>
          <p:cNvPr id="180261" name="Text Box 37">
            <a:extLst>
              <a:ext uri="{FF2B5EF4-FFF2-40B4-BE49-F238E27FC236}">
                <a16:creationId xmlns:a16="http://schemas.microsoft.com/office/drawing/2014/main" id="{B00C14E7-43D7-AE08-7DA2-6C68817A5544}"/>
              </a:ext>
            </a:extLst>
          </p:cNvPr>
          <p:cNvSpPr txBox="1">
            <a:spLocks noChangeArrowheads="1"/>
          </p:cNvSpPr>
          <p:nvPr/>
        </p:nvSpPr>
        <p:spPr bwMode="auto">
          <a:xfrm>
            <a:off x="6765925" y="4308475"/>
            <a:ext cx="16176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UB=113.81</a:t>
            </a:r>
          </a:p>
          <a:p>
            <a:pPr>
              <a:spcBef>
                <a:spcPct val="0"/>
              </a:spcBef>
              <a:buFontTx/>
              <a:buNone/>
            </a:pPr>
            <a:r>
              <a:rPr lang="en-US" altLang="en-US" sz="2400"/>
              <a:t>LB=126</a:t>
            </a:r>
          </a:p>
        </p:txBody>
      </p:sp>
      <p:sp>
        <p:nvSpPr>
          <p:cNvPr id="180262" name="Text Box 38">
            <a:extLst>
              <a:ext uri="{FF2B5EF4-FFF2-40B4-BE49-F238E27FC236}">
                <a16:creationId xmlns:a16="http://schemas.microsoft.com/office/drawing/2014/main" id="{91609A0E-165B-0C4F-1754-1CB927836FBA}"/>
              </a:ext>
            </a:extLst>
          </p:cNvPr>
          <p:cNvSpPr txBox="1">
            <a:spLocks noChangeArrowheads="1"/>
          </p:cNvSpPr>
          <p:nvPr/>
        </p:nvSpPr>
        <p:spPr bwMode="auto">
          <a:xfrm>
            <a:off x="381000" y="5638800"/>
            <a:ext cx="6248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sz="3000"/>
              <a:t> This means we do not need to further explore node B! </a:t>
            </a:r>
          </a:p>
        </p:txBody>
      </p:sp>
      <p:sp>
        <p:nvSpPr>
          <p:cNvPr id="180263" name="Text Box 39">
            <a:extLst>
              <a:ext uri="{FF2B5EF4-FFF2-40B4-BE49-F238E27FC236}">
                <a16:creationId xmlns:a16="http://schemas.microsoft.com/office/drawing/2014/main" id="{384F216B-C31B-EE26-2377-BA05A4B5145A}"/>
              </a:ext>
            </a:extLst>
          </p:cNvPr>
          <p:cNvSpPr txBox="1">
            <a:spLocks noChangeArrowheads="1"/>
          </p:cNvSpPr>
          <p:nvPr/>
        </p:nvSpPr>
        <p:spPr bwMode="auto">
          <a:xfrm>
            <a:off x="4327525" y="3852863"/>
            <a:ext cx="4587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000" b="1"/>
              <a:t>A</a:t>
            </a:r>
          </a:p>
        </p:txBody>
      </p:sp>
      <p:sp>
        <p:nvSpPr>
          <p:cNvPr id="180264" name="Text Box 40">
            <a:extLst>
              <a:ext uri="{FF2B5EF4-FFF2-40B4-BE49-F238E27FC236}">
                <a16:creationId xmlns:a16="http://schemas.microsoft.com/office/drawing/2014/main" id="{7E5BE1BF-C34D-EA1E-27C7-66AC532226EE}"/>
              </a:ext>
            </a:extLst>
          </p:cNvPr>
          <p:cNvSpPr txBox="1">
            <a:spLocks noChangeArrowheads="1"/>
          </p:cNvSpPr>
          <p:nvPr/>
        </p:nvSpPr>
        <p:spPr bwMode="auto">
          <a:xfrm>
            <a:off x="6324600" y="3810000"/>
            <a:ext cx="4381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000" b="1"/>
              <a:t>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0259"/>
                                        </p:tgtEl>
                                        <p:attrNameLst>
                                          <p:attrName>style.visibility</p:attrName>
                                        </p:attrNameLst>
                                      </p:cBhvr>
                                      <p:to>
                                        <p:strVal val="visible"/>
                                      </p:to>
                                    </p:set>
                                    <p:anim calcmode="lin" valueType="num">
                                      <p:cBhvr additive="base">
                                        <p:cTn id="13" dur="500" fill="hold"/>
                                        <p:tgtEl>
                                          <p:spTgt spid="180259"/>
                                        </p:tgtEl>
                                        <p:attrNameLst>
                                          <p:attrName>ppt_x</p:attrName>
                                        </p:attrNameLst>
                                      </p:cBhvr>
                                      <p:tavLst>
                                        <p:tav tm="0">
                                          <p:val>
                                            <p:strVal val="0-#ppt_w/2"/>
                                          </p:val>
                                        </p:tav>
                                        <p:tav tm="100000">
                                          <p:val>
                                            <p:strVal val="#ppt_x"/>
                                          </p:val>
                                        </p:tav>
                                      </p:tavLst>
                                    </p:anim>
                                    <p:anim calcmode="lin" valueType="num">
                                      <p:cBhvr additive="base">
                                        <p:cTn id="14" dur="500" fill="hold"/>
                                        <p:tgtEl>
                                          <p:spTgt spid="18025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0261"/>
                                        </p:tgtEl>
                                        <p:attrNameLst>
                                          <p:attrName>style.visibility</p:attrName>
                                        </p:attrNameLst>
                                      </p:cBhvr>
                                      <p:to>
                                        <p:strVal val="visible"/>
                                      </p:to>
                                    </p:set>
                                    <p:anim calcmode="lin" valueType="num">
                                      <p:cBhvr additive="base">
                                        <p:cTn id="19" dur="500" fill="hold"/>
                                        <p:tgtEl>
                                          <p:spTgt spid="180261"/>
                                        </p:tgtEl>
                                        <p:attrNameLst>
                                          <p:attrName>ppt_x</p:attrName>
                                        </p:attrNameLst>
                                      </p:cBhvr>
                                      <p:tavLst>
                                        <p:tav tm="0">
                                          <p:val>
                                            <p:strVal val="0-#ppt_w/2"/>
                                          </p:val>
                                        </p:tav>
                                        <p:tav tm="100000">
                                          <p:val>
                                            <p:strVal val="#ppt_x"/>
                                          </p:val>
                                        </p:tav>
                                      </p:tavLst>
                                    </p:anim>
                                    <p:anim calcmode="lin" valueType="num">
                                      <p:cBhvr additive="base">
                                        <p:cTn id="20" dur="500" fill="hold"/>
                                        <p:tgtEl>
                                          <p:spTgt spid="18026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0263"/>
                                        </p:tgtEl>
                                        <p:attrNameLst>
                                          <p:attrName>style.visibility</p:attrName>
                                        </p:attrNameLst>
                                      </p:cBhvr>
                                      <p:to>
                                        <p:strVal val="visible"/>
                                      </p:to>
                                    </p:set>
                                    <p:anim calcmode="lin" valueType="num">
                                      <p:cBhvr additive="base">
                                        <p:cTn id="25" dur="500" fill="hold"/>
                                        <p:tgtEl>
                                          <p:spTgt spid="180263"/>
                                        </p:tgtEl>
                                        <p:attrNameLst>
                                          <p:attrName>ppt_x</p:attrName>
                                        </p:attrNameLst>
                                      </p:cBhvr>
                                      <p:tavLst>
                                        <p:tav tm="0">
                                          <p:val>
                                            <p:strVal val="0-#ppt_w/2"/>
                                          </p:val>
                                        </p:tav>
                                        <p:tav tm="100000">
                                          <p:val>
                                            <p:strVal val="#ppt_x"/>
                                          </p:val>
                                        </p:tav>
                                      </p:tavLst>
                                    </p:anim>
                                    <p:anim calcmode="lin" valueType="num">
                                      <p:cBhvr additive="base">
                                        <p:cTn id="26" dur="500" fill="hold"/>
                                        <p:tgtEl>
                                          <p:spTgt spid="18026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80264"/>
                                        </p:tgtEl>
                                        <p:attrNameLst>
                                          <p:attrName>style.visibility</p:attrName>
                                        </p:attrNameLst>
                                      </p:cBhvr>
                                      <p:to>
                                        <p:strVal val="visible"/>
                                      </p:to>
                                    </p:set>
                                    <p:anim calcmode="lin" valueType="num">
                                      <p:cBhvr additive="base">
                                        <p:cTn id="31" dur="500" fill="hold"/>
                                        <p:tgtEl>
                                          <p:spTgt spid="180264"/>
                                        </p:tgtEl>
                                        <p:attrNameLst>
                                          <p:attrName>ppt_x</p:attrName>
                                        </p:attrNameLst>
                                      </p:cBhvr>
                                      <p:tavLst>
                                        <p:tav tm="0">
                                          <p:val>
                                            <p:strVal val="0-#ppt_w/2"/>
                                          </p:val>
                                        </p:tav>
                                        <p:tav tm="100000">
                                          <p:val>
                                            <p:strVal val="#ppt_x"/>
                                          </p:val>
                                        </p:tav>
                                      </p:tavLst>
                                    </p:anim>
                                    <p:anim calcmode="lin" valueType="num">
                                      <p:cBhvr additive="base">
                                        <p:cTn id="32" dur="500" fill="hold"/>
                                        <p:tgtEl>
                                          <p:spTgt spid="18026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80262"/>
                                        </p:tgtEl>
                                        <p:attrNameLst>
                                          <p:attrName>style.visibility</p:attrName>
                                        </p:attrNameLst>
                                      </p:cBhvr>
                                      <p:to>
                                        <p:strVal val="visible"/>
                                      </p:to>
                                    </p:set>
                                    <p:anim calcmode="lin" valueType="num">
                                      <p:cBhvr additive="base">
                                        <p:cTn id="37" dur="500" fill="hold"/>
                                        <p:tgtEl>
                                          <p:spTgt spid="180262"/>
                                        </p:tgtEl>
                                        <p:attrNameLst>
                                          <p:attrName>ppt_x</p:attrName>
                                        </p:attrNameLst>
                                      </p:cBhvr>
                                      <p:tavLst>
                                        <p:tav tm="0">
                                          <p:val>
                                            <p:strVal val="0-#ppt_w/2"/>
                                          </p:val>
                                        </p:tav>
                                        <p:tav tm="100000">
                                          <p:val>
                                            <p:strVal val="#ppt_x"/>
                                          </p:val>
                                        </p:tav>
                                      </p:tavLst>
                                    </p:anim>
                                    <p:anim calcmode="lin" valueType="num">
                                      <p:cBhvr additive="base">
                                        <p:cTn id="38" dur="500" fill="hold"/>
                                        <p:tgtEl>
                                          <p:spTgt spid="1802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59" grpId="0" autoUpdateAnimBg="0"/>
      <p:bldP spid="180261" grpId="0" autoUpdateAnimBg="0"/>
      <p:bldP spid="180262" grpId="0" autoUpdateAnimBg="0"/>
      <p:bldP spid="180263" grpId="0" autoUpdateAnimBg="0"/>
      <p:bldP spid="180264"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AF69E06-6ED3-DF18-D3B2-703D10408BDE}"/>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Explicit and Implicit Fathoming </a:t>
            </a:r>
          </a:p>
        </p:txBody>
      </p:sp>
      <p:sp>
        <p:nvSpPr>
          <p:cNvPr id="13315" name="Rectangle 3">
            <a:extLst>
              <a:ext uri="{FF2B5EF4-FFF2-40B4-BE49-F238E27FC236}">
                <a16:creationId xmlns:a16="http://schemas.microsoft.com/office/drawing/2014/main" id="{F684A5A7-39E4-7A05-8122-5D72FED3A6D6}"/>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16" name="Rectangle 4">
            <a:extLst>
              <a:ext uri="{FF2B5EF4-FFF2-40B4-BE49-F238E27FC236}">
                <a16:creationId xmlns:a16="http://schemas.microsoft.com/office/drawing/2014/main" id="{AA27C6D1-8104-54C0-8C0A-404367C19A40}"/>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24</a:t>
            </a:r>
          </a:p>
        </p:txBody>
      </p:sp>
      <p:sp>
        <p:nvSpPr>
          <p:cNvPr id="181253" name="Text Box 5">
            <a:extLst>
              <a:ext uri="{FF2B5EF4-FFF2-40B4-BE49-F238E27FC236}">
                <a16:creationId xmlns:a16="http://schemas.microsoft.com/office/drawing/2014/main" id="{F32655C9-E360-0303-28C3-E8F5AE44973B}"/>
              </a:ext>
            </a:extLst>
          </p:cNvPr>
          <p:cNvSpPr txBox="1">
            <a:spLocks noChangeArrowheads="1"/>
          </p:cNvSpPr>
          <p:nvPr/>
        </p:nvSpPr>
        <p:spPr bwMode="auto">
          <a:xfrm>
            <a:off x="495300" y="914400"/>
            <a:ext cx="8153400" cy="554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a:t>
            </a:r>
            <a:r>
              <a:rPr lang="en-US" altLang="en-US"/>
              <a:t>Since f=44 for node A (an integer solution), this gives a lower bound which is lower than f=126.  So we discard this solution.  The node is explicitly fathomed.</a:t>
            </a:r>
          </a:p>
          <a:p>
            <a:pPr>
              <a:spcBef>
                <a:spcPct val="0"/>
              </a:spcBef>
            </a:pPr>
            <a:r>
              <a:rPr lang="en-US" altLang="en-US"/>
              <a:t>  Since f=113.8 for node B (a non-integer solution), this serves as an upper bound to that branch.  All solutions below this one will be more constrained, and have a solution  </a:t>
            </a:r>
            <a:r>
              <a:rPr lang="en-US" altLang="en-US">
                <a:sym typeface="Symbol" panose="05050102010706020507" pitchFamily="18" charset="2"/>
              </a:rPr>
              <a:t> 113.8.  Since this is below LB=126, none of these solutions can be optimal.</a:t>
            </a:r>
          </a:p>
          <a:p>
            <a:pPr>
              <a:spcBef>
                <a:spcPct val="0"/>
              </a:spcBef>
            </a:pPr>
            <a:r>
              <a:rPr lang="en-US" altLang="en-US">
                <a:sym typeface="Symbol" panose="05050102010706020507" pitchFamily="18" charset="2"/>
              </a:rPr>
              <a:t>  This is called </a:t>
            </a:r>
            <a:r>
              <a:rPr lang="en-US" altLang="en-US" u="sng">
                <a:sym typeface="Symbol" panose="05050102010706020507" pitchFamily="18" charset="2"/>
              </a:rPr>
              <a:t>implicit fathoming</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1253">
                                            <p:txEl>
                                              <p:pRg st="0" end="0"/>
                                            </p:txEl>
                                          </p:spTgt>
                                        </p:tgtEl>
                                        <p:attrNameLst>
                                          <p:attrName>style.visibility</p:attrName>
                                        </p:attrNameLst>
                                      </p:cBhvr>
                                      <p:to>
                                        <p:strVal val="visible"/>
                                      </p:to>
                                    </p:set>
                                    <p:anim calcmode="lin" valueType="num">
                                      <p:cBhvr additive="base">
                                        <p:cTn id="7" dur="500" fill="hold"/>
                                        <p:tgtEl>
                                          <p:spTgt spid="18125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125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1253">
                                            <p:txEl>
                                              <p:pRg st="1" end="1"/>
                                            </p:txEl>
                                          </p:spTgt>
                                        </p:tgtEl>
                                        <p:attrNameLst>
                                          <p:attrName>style.visibility</p:attrName>
                                        </p:attrNameLst>
                                      </p:cBhvr>
                                      <p:to>
                                        <p:strVal val="visible"/>
                                      </p:to>
                                    </p:set>
                                    <p:anim calcmode="lin" valueType="num">
                                      <p:cBhvr additive="base">
                                        <p:cTn id="13" dur="500" fill="hold"/>
                                        <p:tgtEl>
                                          <p:spTgt spid="18125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125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1253">
                                            <p:txEl>
                                              <p:pRg st="2" end="2"/>
                                            </p:txEl>
                                          </p:spTgt>
                                        </p:tgtEl>
                                        <p:attrNameLst>
                                          <p:attrName>style.visibility</p:attrName>
                                        </p:attrNameLst>
                                      </p:cBhvr>
                                      <p:to>
                                        <p:strVal val="visible"/>
                                      </p:to>
                                    </p:set>
                                    <p:anim calcmode="lin" valueType="num">
                                      <p:cBhvr additive="base">
                                        <p:cTn id="19" dur="500" fill="hold"/>
                                        <p:tgtEl>
                                          <p:spTgt spid="18125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125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3"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1E8CA2E-A02A-2C4D-6D2E-A66FA617665C}"/>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Further Ideas – Branch and Bound </a:t>
            </a:r>
          </a:p>
        </p:txBody>
      </p:sp>
      <p:sp>
        <p:nvSpPr>
          <p:cNvPr id="14339" name="Rectangle 3">
            <a:extLst>
              <a:ext uri="{FF2B5EF4-FFF2-40B4-BE49-F238E27FC236}">
                <a16:creationId xmlns:a16="http://schemas.microsoft.com/office/drawing/2014/main" id="{0F9191A4-30E7-6E04-6F71-DF86583A768E}"/>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4340" name="Rectangle 4">
            <a:extLst>
              <a:ext uri="{FF2B5EF4-FFF2-40B4-BE49-F238E27FC236}">
                <a16:creationId xmlns:a16="http://schemas.microsoft.com/office/drawing/2014/main" id="{55EB9DF4-25A6-7C35-FC74-A9B05E0E7488}"/>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24</a:t>
            </a:r>
          </a:p>
        </p:txBody>
      </p:sp>
      <p:sp>
        <p:nvSpPr>
          <p:cNvPr id="182277" name="Text Box 5">
            <a:extLst>
              <a:ext uri="{FF2B5EF4-FFF2-40B4-BE49-F238E27FC236}">
                <a16:creationId xmlns:a16="http://schemas.microsoft.com/office/drawing/2014/main" id="{BB7353F9-4998-A47A-5519-9BD27AC8025C}"/>
              </a:ext>
            </a:extLst>
          </p:cNvPr>
          <p:cNvSpPr txBox="1">
            <a:spLocks noChangeArrowheads="1"/>
          </p:cNvSpPr>
          <p:nvPr/>
        </p:nvSpPr>
        <p:spPr bwMode="auto">
          <a:xfrm>
            <a:off x="495300" y="914400"/>
            <a:ext cx="8153400"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a:t>
            </a:r>
            <a:r>
              <a:rPr lang="en-US" altLang="en-US"/>
              <a:t>What if we have more than one fractional value to branch on?</a:t>
            </a:r>
          </a:p>
          <a:p>
            <a:pPr>
              <a:spcBef>
                <a:spcPct val="0"/>
              </a:spcBef>
            </a:pPr>
            <a:r>
              <a:rPr lang="en-US" altLang="en-US"/>
              <a:t>  There are many ways to make the decision – none are optimal for all problems, and all give the same final answer (some take longer)</a:t>
            </a:r>
          </a:p>
          <a:p>
            <a:pPr>
              <a:spcBef>
                <a:spcPct val="0"/>
              </a:spcBef>
            </a:pPr>
            <a:r>
              <a:rPr lang="en-US" altLang="en-US">
                <a:sym typeface="Symbol" panose="05050102010706020507" pitchFamily="18" charset="2"/>
              </a:rPr>
              <a:t>  How much time did we save using B&amp;B?</a:t>
            </a:r>
          </a:p>
          <a:p>
            <a:pPr lvl="1">
              <a:spcBef>
                <a:spcPct val="0"/>
              </a:spcBef>
              <a:buFontTx/>
              <a:buChar char="•"/>
            </a:pPr>
            <a:r>
              <a:rPr lang="en-US" altLang="en-US" sz="3200">
                <a:sym typeface="Symbol" panose="05050102010706020507" pitchFamily="18" charset="2"/>
              </a:rPr>
              <a:t>  We solved 5 LP’s, instead of evaluating 8 nodes</a:t>
            </a:r>
          </a:p>
          <a:p>
            <a:pPr lvl="1">
              <a:spcBef>
                <a:spcPct val="0"/>
              </a:spcBef>
              <a:buFontTx/>
              <a:buChar char="•"/>
            </a:pPr>
            <a:r>
              <a:rPr lang="en-US" altLang="en-US" sz="3200">
                <a:sym typeface="Symbol" panose="05050102010706020507" pitchFamily="18" charset="2"/>
              </a:rPr>
              <a:t>  We never needed to evaluate [0,0,0], [0,0,1], [0,1,0], [1,0,0], [1,1,0], [1,1,1]</a:t>
            </a:r>
            <a:endParaRPr lang="en-US" altLang="en-US" sz="3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2277">
                                            <p:txEl>
                                              <p:pRg st="0" end="0"/>
                                            </p:txEl>
                                          </p:spTgt>
                                        </p:tgtEl>
                                        <p:attrNameLst>
                                          <p:attrName>style.visibility</p:attrName>
                                        </p:attrNameLst>
                                      </p:cBhvr>
                                      <p:to>
                                        <p:strVal val="visible"/>
                                      </p:to>
                                    </p:set>
                                    <p:anim calcmode="lin" valueType="num">
                                      <p:cBhvr additive="base">
                                        <p:cTn id="7" dur="500" fill="hold"/>
                                        <p:tgtEl>
                                          <p:spTgt spid="18227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227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2277">
                                            <p:txEl>
                                              <p:pRg st="1" end="1"/>
                                            </p:txEl>
                                          </p:spTgt>
                                        </p:tgtEl>
                                        <p:attrNameLst>
                                          <p:attrName>style.visibility</p:attrName>
                                        </p:attrNameLst>
                                      </p:cBhvr>
                                      <p:to>
                                        <p:strVal val="visible"/>
                                      </p:to>
                                    </p:set>
                                    <p:anim calcmode="lin" valueType="num">
                                      <p:cBhvr additive="base">
                                        <p:cTn id="13" dur="500" fill="hold"/>
                                        <p:tgtEl>
                                          <p:spTgt spid="18227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227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2277">
                                            <p:txEl>
                                              <p:pRg st="2" end="2"/>
                                            </p:txEl>
                                          </p:spTgt>
                                        </p:tgtEl>
                                        <p:attrNameLst>
                                          <p:attrName>style.visibility</p:attrName>
                                        </p:attrNameLst>
                                      </p:cBhvr>
                                      <p:to>
                                        <p:strVal val="visible"/>
                                      </p:to>
                                    </p:set>
                                    <p:anim calcmode="lin" valueType="num">
                                      <p:cBhvr additive="base">
                                        <p:cTn id="19" dur="500" fill="hold"/>
                                        <p:tgtEl>
                                          <p:spTgt spid="18227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227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2277">
                                            <p:txEl>
                                              <p:pRg st="3" end="3"/>
                                            </p:txEl>
                                          </p:spTgt>
                                        </p:tgtEl>
                                        <p:attrNameLst>
                                          <p:attrName>style.visibility</p:attrName>
                                        </p:attrNameLst>
                                      </p:cBhvr>
                                      <p:to>
                                        <p:strVal val="visible"/>
                                      </p:to>
                                    </p:set>
                                    <p:anim calcmode="lin" valueType="num">
                                      <p:cBhvr additive="base">
                                        <p:cTn id="25" dur="500" fill="hold"/>
                                        <p:tgtEl>
                                          <p:spTgt spid="18227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227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82277">
                                            <p:txEl>
                                              <p:pRg st="4" end="4"/>
                                            </p:txEl>
                                          </p:spTgt>
                                        </p:tgtEl>
                                        <p:attrNameLst>
                                          <p:attrName>style.visibility</p:attrName>
                                        </p:attrNameLst>
                                      </p:cBhvr>
                                      <p:to>
                                        <p:strVal val="visible"/>
                                      </p:to>
                                    </p:set>
                                    <p:anim calcmode="lin" valueType="num">
                                      <p:cBhvr additive="base">
                                        <p:cTn id="31" dur="500" fill="hold"/>
                                        <p:tgtEl>
                                          <p:spTgt spid="18227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227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7" grpId="0" build="p" bldLvl="2"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D4E42C12-ECE0-4CAF-60AC-C82400F3A06C}"/>
              </a:ext>
            </a:extLst>
          </p:cNvPr>
          <p:cNvSpPr>
            <a:spLocks noGrp="1" noChangeArrowheads="1"/>
          </p:cNvSpPr>
          <p:nvPr>
            <p:ph type="title"/>
          </p:nvPr>
        </p:nvSpPr>
        <p:spPr>
          <a:xfrm>
            <a:off x="381000" y="228600"/>
            <a:ext cx="8382000" cy="1143000"/>
          </a:xfrm>
        </p:spPr>
        <p:txBody>
          <a:bodyPr>
            <a:normAutofit fontScale="90000"/>
          </a:bodyPr>
          <a:lstStyle/>
          <a:p>
            <a:pPr>
              <a:lnSpc>
                <a:spcPct val="80000"/>
              </a:lnSpc>
            </a:pPr>
            <a:r>
              <a:rPr lang="en-US" altLang="en-US" sz="4600"/>
              <a:t>Branch and Bound: Integer Example  </a:t>
            </a:r>
          </a:p>
        </p:txBody>
      </p:sp>
      <p:sp>
        <p:nvSpPr>
          <p:cNvPr id="4099" name="Rectangle 3">
            <a:extLst>
              <a:ext uri="{FF2B5EF4-FFF2-40B4-BE49-F238E27FC236}">
                <a16:creationId xmlns:a16="http://schemas.microsoft.com/office/drawing/2014/main" id="{7F007718-F9D2-9A11-D8D7-311AB104A087}"/>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0" name="Rectangle 4">
            <a:extLst>
              <a:ext uri="{FF2B5EF4-FFF2-40B4-BE49-F238E27FC236}">
                <a16:creationId xmlns:a16="http://schemas.microsoft.com/office/drawing/2014/main" id="{0B4B83FD-1975-F957-FB1F-C227CCB97938}"/>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25</a:t>
            </a:r>
          </a:p>
        </p:txBody>
      </p:sp>
      <p:sp>
        <p:nvSpPr>
          <p:cNvPr id="173061" name="Text Box 5">
            <a:extLst>
              <a:ext uri="{FF2B5EF4-FFF2-40B4-BE49-F238E27FC236}">
                <a16:creationId xmlns:a16="http://schemas.microsoft.com/office/drawing/2014/main" id="{379FC7EB-0613-F7DC-2409-1EC4BB17A3E3}"/>
              </a:ext>
            </a:extLst>
          </p:cNvPr>
          <p:cNvSpPr txBox="1">
            <a:spLocks noChangeArrowheads="1"/>
          </p:cNvSpPr>
          <p:nvPr/>
        </p:nvSpPr>
        <p:spPr bwMode="auto">
          <a:xfrm>
            <a:off x="495300" y="1371600"/>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Let’s solve the following integer program:</a:t>
            </a:r>
          </a:p>
        </p:txBody>
      </p:sp>
      <p:graphicFrame>
        <p:nvGraphicFramePr>
          <p:cNvPr id="173062" name="Object 6">
            <a:extLst>
              <a:ext uri="{FF2B5EF4-FFF2-40B4-BE49-F238E27FC236}">
                <a16:creationId xmlns:a16="http://schemas.microsoft.com/office/drawing/2014/main" id="{B2598A67-D17D-9074-46F8-462BE877F50F}"/>
              </a:ext>
            </a:extLst>
          </p:cNvPr>
          <p:cNvGraphicFramePr>
            <a:graphicFrameLocks noChangeAspect="1"/>
          </p:cNvGraphicFramePr>
          <p:nvPr/>
        </p:nvGraphicFramePr>
        <p:xfrm>
          <a:off x="1370013" y="2057400"/>
          <a:ext cx="6405562" cy="1633538"/>
        </p:xfrm>
        <a:graphic>
          <a:graphicData uri="http://schemas.openxmlformats.org/presentationml/2006/ole">
            <mc:AlternateContent xmlns:mc="http://schemas.openxmlformats.org/markup-compatibility/2006">
              <mc:Choice xmlns:v="urn:schemas-microsoft-com:vml" Requires="v">
                <p:oleObj name="Equation" r:id="rId2" imgW="2692400" imgH="685800" progId="Equation.3">
                  <p:embed/>
                </p:oleObj>
              </mc:Choice>
              <mc:Fallback>
                <p:oleObj name="Equation" r:id="rId2" imgW="2692400" imgH="685800" progId="Equation.3">
                  <p:embed/>
                  <p:pic>
                    <p:nvPicPr>
                      <p:cNvPr id="173062" name="Object 6">
                        <a:extLst>
                          <a:ext uri="{FF2B5EF4-FFF2-40B4-BE49-F238E27FC236}">
                            <a16:creationId xmlns:a16="http://schemas.microsoft.com/office/drawing/2014/main" id="{B2598A67-D17D-9074-46F8-462BE877F5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0013" y="2057400"/>
                        <a:ext cx="6405562" cy="163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3063" name="Text Box 7">
            <a:extLst>
              <a:ext uri="{FF2B5EF4-FFF2-40B4-BE49-F238E27FC236}">
                <a16:creationId xmlns:a16="http://schemas.microsoft.com/office/drawing/2014/main" id="{00D4A925-7240-F32C-97E7-DA09514644B9}"/>
              </a:ext>
            </a:extLst>
          </p:cNvPr>
          <p:cNvSpPr txBox="1">
            <a:spLocks noChangeArrowheads="1"/>
          </p:cNvSpPr>
          <p:nvPr/>
        </p:nvSpPr>
        <p:spPr bwMode="auto">
          <a:xfrm>
            <a:off x="457200" y="3886200"/>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Again, solve the LP-relaxation, called the </a:t>
            </a:r>
            <a:r>
              <a:rPr lang="en-US" altLang="en-US" sz="3400" u="sng"/>
              <a:t>root node</a:t>
            </a:r>
            <a:r>
              <a:rPr lang="en-US" altLang="en-US" sz="3400"/>
              <a:t> of the problem:</a:t>
            </a:r>
          </a:p>
        </p:txBody>
      </p:sp>
      <p:graphicFrame>
        <p:nvGraphicFramePr>
          <p:cNvPr id="173083" name="Object 27">
            <a:extLst>
              <a:ext uri="{FF2B5EF4-FFF2-40B4-BE49-F238E27FC236}">
                <a16:creationId xmlns:a16="http://schemas.microsoft.com/office/drawing/2014/main" id="{7E365785-C8A2-F84F-E70E-3C0580079B36}"/>
              </a:ext>
            </a:extLst>
          </p:cNvPr>
          <p:cNvGraphicFramePr>
            <a:graphicFrameLocks noChangeAspect="1"/>
          </p:cNvGraphicFramePr>
          <p:nvPr/>
        </p:nvGraphicFramePr>
        <p:xfrm>
          <a:off x="868363" y="5105400"/>
          <a:ext cx="7408862" cy="1135063"/>
        </p:xfrm>
        <a:graphic>
          <a:graphicData uri="http://schemas.openxmlformats.org/presentationml/2006/ole">
            <mc:AlternateContent xmlns:mc="http://schemas.openxmlformats.org/markup-compatibility/2006">
              <mc:Choice xmlns:v="urn:schemas-microsoft-com:vml" Requires="v">
                <p:oleObj name="Equation" r:id="rId4" imgW="2984500" imgH="457200" progId="Equation.3">
                  <p:embed/>
                </p:oleObj>
              </mc:Choice>
              <mc:Fallback>
                <p:oleObj name="Equation" r:id="rId4" imgW="2984500" imgH="457200" progId="Equation.3">
                  <p:embed/>
                  <p:pic>
                    <p:nvPicPr>
                      <p:cNvPr id="173083" name="Object 27">
                        <a:extLst>
                          <a:ext uri="{FF2B5EF4-FFF2-40B4-BE49-F238E27FC236}">
                            <a16:creationId xmlns:a16="http://schemas.microsoft.com/office/drawing/2014/main" id="{7E365785-C8A2-F84F-E70E-3C0580079B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8363" y="5105400"/>
                        <a:ext cx="7408862" cy="1135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3061">
                                            <p:txEl>
                                              <p:pRg st="0" end="0"/>
                                            </p:txEl>
                                          </p:spTgt>
                                        </p:tgtEl>
                                        <p:attrNameLst>
                                          <p:attrName>style.visibility</p:attrName>
                                        </p:attrNameLst>
                                      </p:cBhvr>
                                      <p:to>
                                        <p:strVal val="visible"/>
                                      </p:to>
                                    </p:set>
                                    <p:anim calcmode="lin" valueType="num">
                                      <p:cBhvr additive="base">
                                        <p:cTn id="7" dur="500" fill="hold"/>
                                        <p:tgtEl>
                                          <p:spTgt spid="17306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30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3062"/>
                                        </p:tgtEl>
                                        <p:attrNameLst>
                                          <p:attrName>style.visibility</p:attrName>
                                        </p:attrNameLst>
                                      </p:cBhvr>
                                      <p:to>
                                        <p:strVal val="visible"/>
                                      </p:to>
                                    </p:set>
                                    <p:anim calcmode="lin" valueType="num">
                                      <p:cBhvr additive="base">
                                        <p:cTn id="13" dur="500" fill="hold"/>
                                        <p:tgtEl>
                                          <p:spTgt spid="173062"/>
                                        </p:tgtEl>
                                        <p:attrNameLst>
                                          <p:attrName>ppt_x</p:attrName>
                                        </p:attrNameLst>
                                      </p:cBhvr>
                                      <p:tavLst>
                                        <p:tav tm="0">
                                          <p:val>
                                            <p:strVal val="0-#ppt_w/2"/>
                                          </p:val>
                                        </p:tav>
                                        <p:tav tm="100000">
                                          <p:val>
                                            <p:strVal val="#ppt_x"/>
                                          </p:val>
                                        </p:tav>
                                      </p:tavLst>
                                    </p:anim>
                                    <p:anim calcmode="lin" valueType="num">
                                      <p:cBhvr additive="base">
                                        <p:cTn id="14" dur="500" fill="hold"/>
                                        <p:tgtEl>
                                          <p:spTgt spid="17306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3063"/>
                                        </p:tgtEl>
                                        <p:attrNameLst>
                                          <p:attrName>style.visibility</p:attrName>
                                        </p:attrNameLst>
                                      </p:cBhvr>
                                      <p:to>
                                        <p:strVal val="visible"/>
                                      </p:to>
                                    </p:set>
                                    <p:anim calcmode="lin" valueType="num">
                                      <p:cBhvr additive="base">
                                        <p:cTn id="19" dur="500" fill="hold"/>
                                        <p:tgtEl>
                                          <p:spTgt spid="173063"/>
                                        </p:tgtEl>
                                        <p:attrNameLst>
                                          <p:attrName>ppt_x</p:attrName>
                                        </p:attrNameLst>
                                      </p:cBhvr>
                                      <p:tavLst>
                                        <p:tav tm="0">
                                          <p:val>
                                            <p:strVal val="0-#ppt_w/2"/>
                                          </p:val>
                                        </p:tav>
                                        <p:tav tm="100000">
                                          <p:val>
                                            <p:strVal val="#ppt_x"/>
                                          </p:val>
                                        </p:tav>
                                      </p:tavLst>
                                    </p:anim>
                                    <p:anim calcmode="lin" valueType="num">
                                      <p:cBhvr additive="base">
                                        <p:cTn id="20" dur="500" fill="hold"/>
                                        <p:tgtEl>
                                          <p:spTgt spid="17306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3083"/>
                                        </p:tgtEl>
                                        <p:attrNameLst>
                                          <p:attrName>style.visibility</p:attrName>
                                        </p:attrNameLst>
                                      </p:cBhvr>
                                      <p:to>
                                        <p:strVal val="visible"/>
                                      </p:to>
                                    </p:set>
                                    <p:anim calcmode="lin" valueType="num">
                                      <p:cBhvr additive="base">
                                        <p:cTn id="25" dur="500" fill="hold"/>
                                        <p:tgtEl>
                                          <p:spTgt spid="173083"/>
                                        </p:tgtEl>
                                        <p:attrNameLst>
                                          <p:attrName>ppt_x</p:attrName>
                                        </p:attrNameLst>
                                      </p:cBhvr>
                                      <p:tavLst>
                                        <p:tav tm="0">
                                          <p:val>
                                            <p:strVal val="0-#ppt_w/2"/>
                                          </p:val>
                                        </p:tav>
                                        <p:tav tm="100000">
                                          <p:val>
                                            <p:strVal val="#ppt_x"/>
                                          </p:val>
                                        </p:tav>
                                      </p:tavLst>
                                    </p:anim>
                                    <p:anim calcmode="lin" valueType="num">
                                      <p:cBhvr additive="base">
                                        <p:cTn id="26" dur="500" fill="hold"/>
                                        <p:tgtEl>
                                          <p:spTgt spid="1730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1" grpId="0" build="p" autoUpdateAnimBg="0"/>
      <p:bldP spid="173063"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FA44953-7176-B1AB-9950-3D840C6E0D2F}"/>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LP-relaxation: Integer Example  </a:t>
            </a:r>
          </a:p>
        </p:txBody>
      </p:sp>
      <p:sp>
        <p:nvSpPr>
          <p:cNvPr id="5123" name="Rectangle 3">
            <a:extLst>
              <a:ext uri="{FF2B5EF4-FFF2-40B4-BE49-F238E27FC236}">
                <a16:creationId xmlns:a16="http://schemas.microsoft.com/office/drawing/2014/main" id="{9BD1C759-897A-669C-D507-1702E890E606}"/>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5124" name="Rectangle 4">
            <a:extLst>
              <a:ext uri="{FF2B5EF4-FFF2-40B4-BE49-F238E27FC236}">
                <a16:creationId xmlns:a16="http://schemas.microsoft.com/office/drawing/2014/main" id="{CACD7095-3B3A-F893-1B54-6BABEFAA8046}"/>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25</a:t>
            </a:r>
          </a:p>
        </p:txBody>
      </p:sp>
      <p:sp>
        <p:nvSpPr>
          <p:cNvPr id="5125" name="Text Box 5">
            <a:extLst>
              <a:ext uri="{FF2B5EF4-FFF2-40B4-BE49-F238E27FC236}">
                <a16:creationId xmlns:a16="http://schemas.microsoft.com/office/drawing/2014/main" id="{7A3A83EB-A885-FD8E-7AAD-45E859E8C42D}"/>
              </a:ext>
            </a:extLst>
          </p:cNvPr>
          <p:cNvSpPr txBox="1">
            <a:spLocks noChangeArrowheads="1"/>
          </p:cNvSpPr>
          <p:nvPr/>
        </p:nvSpPr>
        <p:spPr bwMode="auto">
          <a:xfrm>
            <a:off x="495300" y="2971800"/>
            <a:ext cx="8153400"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Remember the LP-relaxation gives an </a:t>
            </a:r>
            <a:r>
              <a:rPr lang="en-US" altLang="en-US" sz="3400" u="sng"/>
              <a:t>upper bound</a:t>
            </a:r>
            <a:r>
              <a:rPr lang="en-US" altLang="en-US" sz="3400"/>
              <a:t> on the solution</a:t>
            </a:r>
          </a:p>
          <a:p>
            <a:pPr>
              <a:spcBef>
                <a:spcPct val="0"/>
              </a:spcBef>
            </a:pPr>
            <a:r>
              <a:rPr lang="en-US" altLang="en-US" sz="3400"/>
              <a:t>  If it is feasible to the original problem, it is the global optimum of that problem</a:t>
            </a:r>
          </a:p>
          <a:p>
            <a:pPr>
              <a:spcBef>
                <a:spcPct val="0"/>
              </a:spcBef>
            </a:pPr>
            <a:r>
              <a:rPr lang="en-US" altLang="en-US" sz="3400"/>
              <a:t>  Normally, as in this case, it is infeasible to the original MILP</a:t>
            </a:r>
          </a:p>
        </p:txBody>
      </p:sp>
      <p:graphicFrame>
        <p:nvGraphicFramePr>
          <p:cNvPr id="5126" name="Object 9">
            <a:extLst>
              <a:ext uri="{FF2B5EF4-FFF2-40B4-BE49-F238E27FC236}">
                <a16:creationId xmlns:a16="http://schemas.microsoft.com/office/drawing/2014/main" id="{BDC90595-2A50-6F29-AA96-8A9B7A0514D0}"/>
              </a:ext>
            </a:extLst>
          </p:cNvPr>
          <p:cNvGraphicFramePr>
            <a:graphicFrameLocks noChangeAspect="1"/>
          </p:cNvGraphicFramePr>
          <p:nvPr/>
        </p:nvGraphicFramePr>
        <p:xfrm>
          <a:off x="1368425" y="1295400"/>
          <a:ext cx="6405563" cy="1633538"/>
        </p:xfrm>
        <a:graphic>
          <a:graphicData uri="http://schemas.openxmlformats.org/presentationml/2006/ole">
            <mc:AlternateContent xmlns:mc="http://schemas.openxmlformats.org/markup-compatibility/2006">
              <mc:Choice xmlns:v="urn:schemas-microsoft-com:vml" Requires="v">
                <p:oleObj name="Equation" r:id="rId2" imgW="2692400" imgH="685800" progId="Equation.3">
                  <p:embed/>
                </p:oleObj>
              </mc:Choice>
              <mc:Fallback>
                <p:oleObj name="Equation" r:id="rId2" imgW="2692400" imgH="685800" progId="Equation.3">
                  <p:embed/>
                  <p:pic>
                    <p:nvPicPr>
                      <p:cNvPr id="5126" name="Object 9">
                        <a:extLst>
                          <a:ext uri="{FF2B5EF4-FFF2-40B4-BE49-F238E27FC236}">
                            <a16:creationId xmlns:a16="http://schemas.microsoft.com/office/drawing/2014/main" id="{BDC90595-2A50-6F29-AA96-8A9B7A0514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8425" y="1295400"/>
                        <a:ext cx="6405563" cy="163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2B2759B-B848-DCF4-457A-91399FA87D88}"/>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Binary Tree </a:t>
            </a:r>
          </a:p>
        </p:txBody>
      </p:sp>
      <p:sp>
        <p:nvSpPr>
          <p:cNvPr id="6147" name="Rectangle 3">
            <a:extLst>
              <a:ext uri="{FF2B5EF4-FFF2-40B4-BE49-F238E27FC236}">
                <a16:creationId xmlns:a16="http://schemas.microsoft.com/office/drawing/2014/main" id="{48B701D5-AD57-1A30-F238-0CC96535C0DB}"/>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48" name="Rectangle 4">
            <a:extLst>
              <a:ext uri="{FF2B5EF4-FFF2-40B4-BE49-F238E27FC236}">
                <a16:creationId xmlns:a16="http://schemas.microsoft.com/office/drawing/2014/main" id="{EB659B4F-AC14-841B-CCDE-6D82EBEE92D5}"/>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25</a:t>
            </a:r>
          </a:p>
        </p:txBody>
      </p:sp>
      <p:sp>
        <p:nvSpPr>
          <p:cNvPr id="175109" name="Text Box 5">
            <a:extLst>
              <a:ext uri="{FF2B5EF4-FFF2-40B4-BE49-F238E27FC236}">
                <a16:creationId xmlns:a16="http://schemas.microsoft.com/office/drawing/2014/main" id="{AC976C44-0E07-023F-0706-8EF7C0C69323}"/>
              </a:ext>
            </a:extLst>
          </p:cNvPr>
          <p:cNvSpPr txBox="1">
            <a:spLocks noChangeArrowheads="1"/>
          </p:cNvSpPr>
          <p:nvPr/>
        </p:nvSpPr>
        <p:spPr bwMode="auto">
          <a:xfrm>
            <a:off x="152400" y="990600"/>
            <a:ext cx="4572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Start by drawing the root node at the top</a:t>
            </a:r>
          </a:p>
        </p:txBody>
      </p:sp>
      <p:sp>
        <p:nvSpPr>
          <p:cNvPr id="175114" name="Text Box 10">
            <a:extLst>
              <a:ext uri="{FF2B5EF4-FFF2-40B4-BE49-F238E27FC236}">
                <a16:creationId xmlns:a16="http://schemas.microsoft.com/office/drawing/2014/main" id="{1906A05D-B9D3-8498-B371-855212AE84F9}"/>
              </a:ext>
            </a:extLst>
          </p:cNvPr>
          <p:cNvSpPr txBox="1">
            <a:spLocks noChangeArrowheads="1"/>
          </p:cNvSpPr>
          <p:nvPr/>
        </p:nvSpPr>
        <p:spPr bwMode="auto">
          <a:xfrm>
            <a:off x="152400" y="1965325"/>
            <a:ext cx="44196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Next, </a:t>
            </a:r>
            <a:r>
              <a:rPr lang="en-US" altLang="en-US" sz="3000" u="sng"/>
              <a:t>branch</a:t>
            </a:r>
            <a:r>
              <a:rPr lang="en-US" altLang="en-US" sz="3000"/>
              <a:t> on a variable which did not have an integer value:</a:t>
            </a:r>
          </a:p>
        </p:txBody>
      </p:sp>
      <p:sp>
        <p:nvSpPr>
          <p:cNvPr id="175122" name="Rectangle 18">
            <a:extLst>
              <a:ext uri="{FF2B5EF4-FFF2-40B4-BE49-F238E27FC236}">
                <a16:creationId xmlns:a16="http://schemas.microsoft.com/office/drawing/2014/main" id="{F752F598-E91E-F2A7-BB8C-D9963E06EFE1}"/>
              </a:ext>
            </a:extLst>
          </p:cNvPr>
          <p:cNvSpPr>
            <a:spLocks noChangeArrowheads="1"/>
          </p:cNvSpPr>
          <p:nvPr/>
        </p:nvSpPr>
        <p:spPr bwMode="auto">
          <a:xfrm>
            <a:off x="2590800" y="4648200"/>
            <a:ext cx="1981200"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75123" name="Rectangle 19">
            <a:extLst>
              <a:ext uri="{FF2B5EF4-FFF2-40B4-BE49-F238E27FC236}">
                <a16:creationId xmlns:a16="http://schemas.microsoft.com/office/drawing/2014/main" id="{AC3F4D49-839E-F2BA-4443-3F88E98B74A9}"/>
              </a:ext>
            </a:extLst>
          </p:cNvPr>
          <p:cNvSpPr>
            <a:spLocks noChangeArrowheads="1"/>
          </p:cNvSpPr>
          <p:nvPr/>
        </p:nvSpPr>
        <p:spPr bwMode="auto">
          <a:xfrm>
            <a:off x="4800600" y="4724400"/>
            <a:ext cx="1828800" cy="1066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175124" name="Object 20">
            <a:extLst>
              <a:ext uri="{FF2B5EF4-FFF2-40B4-BE49-F238E27FC236}">
                <a16:creationId xmlns:a16="http://schemas.microsoft.com/office/drawing/2014/main" id="{F0D22091-6E39-2E05-5BCC-F45C879E2F65}"/>
              </a:ext>
            </a:extLst>
          </p:cNvPr>
          <p:cNvGraphicFramePr>
            <a:graphicFrameLocks noChangeAspect="1"/>
          </p:cNvGraphicFramePr>
          <p:nvPr/>
        </p:nvGraphicFramePr>
        <p:xfrm>
          <a:off x="2622550" y="4724400"/>
          <a:ext cx="1949450" cy="982663"/>
        </p:xfrm>
        <a:graphic>
          <a:graphicData uri="http://schemas.openxmlformats.org/presentationml/2006/ole">
            <mc:AlternateContent xmlns:mc="http://schemas.openxmlformats.org/markup-compatibility/2006">
              <mc:Choice xmlns:v="urn:schemas-microsoft-com:vml" Requires="v">
                <p:oleObj name="Equation" r:id="rId2" imgW="1384300" imgH="698500" progId="Equation.3">
                  <p:embed/>
                </p:oleObj>
              </mc:Choice>
              <mc:Fallback>
                <p:oleObj name="Equation" r:id="rId2" imgW="1384300" imgH="698500" progId="Equation.3">
                  <p:embed/>
                  <p:pic>
                    <p:nvPicPr>
                      <p:cNvPr id="175124" name="Object 20">
                        <a:extLst>
                          <a:ext uri="{FF2B5EF4-FFF2-40B4-BE49-F238E27FC236}">
                            <a16:creationId xmlns:a16="http://schemas.microsoft.com/office/drawing/2014/main" id="{F0D22091-6E39-2E05-5BCC-F45C879E2F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2550" y="4724400"/>
                        <a:ext cx="1949450"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5125" name="Object 21">
            <a:extLst>
              <a:ext uri="{FF2B5EF4-FFF2-40B4-BE49-F238E27FC236}">
                <a16:creationId xmlns:a16="http://schemas.microsoft.com/office/drawing/2014/main" id="{5FA24FC1-724F-28AD-6045-94EA491448F1}"/>
              </a:ext>
            </a:extLst>
          </p:cNvPr>
          <p:cNvGraphicFramePr>
            <a:graphicFrameLocks noChangeAspect="1"/>
          </p:cNvGraphicFramePr>
          <p:nvPr/>
        </p:nvGraphicFramePr>
        <p:xfrm>
          <a:off x="4876800" y="4800600"/>
          <a:ext cx="1770063" cy="982663"/>
        </p:xfrm>
        <a:graphic>
          <a:graphicData uri="http://schemas.openxmlformats.org/presentationml/2006/ole">
            <mc:AlternateContent xmlns:mc="http://schemas.openxmlformats.org/markup-compatibility/2006">
              <mc:Choice xmlns:v="urn:schemas-microsoft-com:vml" Requires="v">
                <p:oleObj name="Equation" r:id="rId4" imgW="1257300" imgH="698500" progId="Equation.3">
                  <p:embed/>
                </p:oleObj>
              </mc:Choice>
              <mc:Fallback>
                <p:oleObj name="Equation" r:id="rId4" imgW="1257300" imgH="698500" progId="Equation.3">
                  <p:embed/>
                  <p:pic>
                    <p:nvPicPr>
                      <p:cNvPr id="175125" name="Object 21">
                        <a:extLst>
                          <a:ext uri="{FF2B5EF4-FFF2-40B4-BE49-F238E27FC236}">
                            <a16:creationId xmlns:a16="http://schemas.microsoft.com/office/drawing/2014/main" id="{5FA24FC1-724F-28AD-6045-94EA491448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4800600"/>
                        <a:ext cx="1770063"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5126" name="Text Box 22">
            <a:extLst>
              <a:ext uri="{FF2B5EF4-FFF2-40B4-BE49-F238E27FC236}">
                <a16:creationId xmlns:a16="http://schemas.microsoft.com/office/drawing/2014/main" id="{24F5D23B-A592-DA20-988D-8ACF9A58ABD5}"/>
              </a:ext>
            </a:extLst>
          </p:cNvPr>
          <p:cNvSpPr txBox="1">
            <a:spLocks noChangeArrowheads="1"/>
          </p:cNvSpPr>
          <p:nvPr/>
        </p:nvSpPr>
        <p:spPr bwMode="auto">
          <a:xfrm>
            <a:off x="1143000" y="4648200"/>
            <a:ext cx="13128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UB=41.2</a:t>
            </a:r>
          </a:p>
          <a:p>
            <a:pPr>
              <a:spcBef>
                <a:spcPct val="0"/>
              </a:spcBef>
              <a:buFontTx/>
              <a:buNone/>
            </a:pPr>
            <a:r>
              <a:rPr lang="en-US" altLang="en-US" sz="2400"/>
              <a:t>LB=-</a:t>
            </a:r>
            <a:r>
              <a:rPr lang="en-US" altLang="en-US" sz="2400">
                <a:sym typeface="Symbol" panose="05050102010706020507" pitchFamily="18" charset="2"/>
              </a:rPr>
              <a:t></a:t>
            </a:r>
            <a:endParaRPr lang="en-US" altLang="en-US" sz="2400"/>
          </a:p>
        </p:txBody>
      </p:sp>
      <p:sp>
        <p:nvSpPr>
          <p:cNvPr id="175127" name="Text Box 23">
            <a:extLst>
              <a:ext uri="{FF2B5EF4-FFF2-40B4-BE49-F238E27FC236}">
                <a16:creationId xmlns:a16="http://schemas.microsoft.com/office/drawing/2014/main" id="{0786CB4B-F039-BC53-DD09-52F44DEDAADA}"/>
              </a:ext>
            </a:extLst>
          </p:cNvPr>
          <p:cNvSpPr txBox="1">
            <a:spLocks noChangeArrowheads="1"/>
          </p:cNvSpPr>
          <p:nvPr/>
        </p:nvSpPr>
        <p:spPr bwMode="auto">
          <a:xfrm>
            <a:off x="6705600" y="4724400"/>
            <a:ext cx="11398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UB=43</a:t>
            </a:r>
          </a:p>
          <a:p>
            <a:pPr>
              <a:spcBef>
                <a:spcPct val="0"/>
              </a:spcBef>
              <a:buFontTx/>
              <a:buNone/>
            </a:pPr>
            <a:r>
              <a:rPr lang="en-US" altLang="en-US" sz="2400"/>
              <a:t>LB= -</a:t>
            </a:r>
            <a:r>
              <a:rPr lang="en-US" altLang="en-US" sz="2400">
                <a:sym typeface="Symbol" panose="05050102010706020507" pitchFamily="18" charset="2"/>
              </a:rPr>
              <a:t></a:t>
            </a:r>
          </a:p>
        </p:txBody>
      </p:sp>
      <p:sp>
        <p:nvSpPr>
          <p:cNvPr id="175129" name="Text Box 25">
            <a:extLst>
              <a:ext uri="{FF2B5EF4-FFF2-40B4-BE49-F238E27FC236}">
                <a16:creationId xmlns:a16="http://schemas.microsoft.com/office/drawing/2014/main" id="{9F2332AF-B8DA-9320-87E4-49B18DC807C5}"/>
              </a:ext>
            </a:extLst>
          </p:cNvPr>
          <p:cNvSpPr txBox="1">
            <a:spLocks noChangeArrowheads="1"/>
          </p:cNvSpPr>
          <p:nvPr/>
        </p:nvSpPr>
        <p:spPr bwMode="auto">
          <a:xfrm>
            <a:off x="6781800" y="3014663"/>
            <a:ext cx="20574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What type of problems are these?</a:t>
            </a:r>
          </a:p>
        </p:txBody>
      </p:sp>
      <p:sp>
        <p:nvSpPr>
          <p:cNvPr id="175130" name="Text Box 26">
            <a:extLst>
              <a:ext uri="{FF2B5EF4-FFF2-40B4-BE49-F238E27FC236}">
                <a16:creationId xmlns:a16="http://schemas.microsoft.com/office/drawing/2014/main" id="{72ABA634-80A0-DD99-C2E4-261524DA1568}"/>
              </a:ext>
            </a:extLst>
          </p:cNvPr>
          <p:cNvSpPr txBox="1">
            <a:spLocks noChangeArrowheads="1"/>
          </p:cNvSpPr>
          <p:nvPr/>
        </p:nvSpPr>
        <p:spPr bwMode="auto">
          <a:xfrm>
            <a:off x="533400" y="5943600"/>
            <a:ext cx="54340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They are more constrained LP’s!</a:t>
            </a:r>
          </a:p>
        </p:txBody>
      </p:sp>
      <p:graphicFrame>
        <p:nvGraphicFramePr>
          <p:cNvPr id="6159" name="Object 27">
            <a:extLst>
              <a:ext uri="{FF2B5EF4-FFF2-40B4-BE49-F238E27FC236}">
                <a16:creationId xmlns:a16="http://schemas.microsoft.com/office/drawing/2014/main" id="{02F8E86C-7BC2-608A-6BE5-719898F1E2C4}"/>
              </a:ext>
            </a:extLst>
          </p:cNvPr>
          <p:cNvGraphicFramePr>
            <a:graphicFrameLocks noChangeAspect="1"/>
          </p:cNvGraphicFramePr>
          <p:nvPr/>
        </p:nvGraphicFramePr>
        <p:xfrm>
          <a:off x="5257800" y="838200"/>
          <a:ext cx="3565525" cy="2178050"/>
        </p:xfrm>
        <a:graphic>
          <a:graphicData uri="http://schemas.openxmlformats.org/presentationml/2006/ole">
            <mc:AlternateContent xmlns:mc="http://schemas.openxmlformats.org/markup-compatibility/2006">
              <mc:Choice xmlns:v="urn:schemas-microsoft-com:vml" Requires="v">
                <p:oleObj name="Equation" r:id="rId6" imgW="1498600" imgH="914400" progId="Equation.3">
                  <p:embed/>
                </p:oleObj>
              </mc:Choice>
              <mc:Fallback>
                <p:oleObj name="Equation" r:id="rId6" imgW="1498600" imgH="914400" progId="Equation.3">
                  <p:embed/>
                  <p:pic>
                    <p:nvPicPr>
                      <p:cNvPr id="6159" name="Object 27">
                        <a:extLst>
                          <a:ext uri="{FF2B5EF4-FFF2-40B4-BE49-F238E27FC236}">
                            <a16:creationId xmlns:a16="http://schemas.microsoft.com/office/drawing/2014/main" id="{02F8E86C-7BC2-608A-6BE5-719898F1E2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838200"/>
                        <a:ext cx="3565525" cy="217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31">
            <a:extLst>
              <a:ext uri="{FF2B5EF4-FFF2-40B4-BE49-F238E27FC236}">
                <a16:creationId xmlns:a16="http://schemas.microsoft.com/office/drawing/2014/main" id="{9141C06B-6DED-24FC-B61C-812B92929F81}"/>
              </a:ext>
            </a:extLst>
          </p:cNvPr>
          <p:cNvGrpSpPr>
            <a:grpSpLocks/>
          </p:cNvGrpSpPr>
          <p:nvPr/>
        </p:nvGrpSpPr>
        <p:grpSpPr bwMode="auto">
          <a:xfrm>
            <a:off x="3657600" y="2895600"/>
            <a:ext cx="3125788" cy="1371600"/>
            <a:chOff x="2304" y="1824"/>
            <a:chExt cx="1969" cy="864"/>
          </a:xfrm>
        </p:grpSpPr>
        <p:sp>
          <p:nvSpPr>
            <p:cNvPr id="6166" name="Oval 7">
              <a:extLst>
                <a:ext uri="{FF2B5EF4-FFF2-40B4-BE49-F238E27FC236}">
                  <a16:creationId xmlns:a16="http://schemas.microsoft.com/office/drawing/2014/main" id="{DC46A301-FFC4-CDE8-F870-DECE24AA3D0D}"/>
                </a:ext>
              </a:extLst>
            </p:cNvPr>
            <p:cNvSpPr>
              <a:spLocks noChangeArrowheads="1"/>
            </p:cNvSpPr>
            <p:nvPr/>
          </p:nvSpPr>
          <p:spPr bwMode="auto">
            <a:xfrm>
              <a:off x="2304" y="1824"/>
              <a:ext cx="960" cy="86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67" name="Text Box 9">
              <a:extLst>
                <a:ext uri="{FF2B5EF4-FFF2-40B4-BE49-F238E27FC236}">
                  <a16:creationId xmlns:a16="http://schemas.microsoft.com/office/drawing/2014/main" id="{92512F92-228A-EA21-C1D4-BBBF633782A6}"/>
                </a:ext>
              </a:extLst>
            </p:cNvPr>
            <p:cNvSpPr txBox="1">
              <a:spLocks noChangeArrowheads="1"/>
            </p:cNvSpPr>
            <p:nvPr/>
          </p:nvSpPr>
          <p:spPr bwMode="auto">
            <a:xfrm>
              <a:off x="3350" y="2090"/>
              <a:ext cx="92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UB=43.59</a:t>
              </a:r>
            </a:p>
            <a:p>
              <a:pPr>
                <a:spcBef>
                  <a:spcPct val="0"/>
                </a:spcBef>
                <a:buFontTx/>
                <a:buNone/>
              </a:pPr>
              <a:r>
                <a:rPr lang="en-US" altLang="en-US" sz="2400"/>
                <a:t>LB= -</a:t>
              </a:r>
              <a:r>
                <a:rPr lang="en-US" altLang="en-US" sz="2400">
                  <a:sym typeface="Symbol" panose="05050102010706020507" pitchFamily="18" charset="2"/>
                </a:rPr>
                <a:t></a:t>
              </a:r>
              <a:endParaRPr lang="en-US" altLang="en-US" sz="2400"/>
            </a:p>
          </p:txBody>
        </p:sp>
        <p:graphicFrame>
          <p:nvGraphicFramePr>
            <p:cNvPr id="6168" name="Object 28">
              <a:extLst>
                <a:ext uri="{FF2B5EF4-FFF2-40B4-BE49-F238E27FC236}">
                  <a16:creationId xmlns:a16="http://schemas.microsoft.com/office/drawing/2014/main" id="{2974C4EF-7F3E-DF5F-95DC-2B46BC8A797F}"/>
                </a:ext>
              </a:extLst>
            </p:cNvPr>
            <p:cNvGraphicFramePr>
              <a:graphicFrameLocks noChangeAspect="1"/>
            </p:cNvGraphicFramePr>
            <p:nvPr/>
          </p:nvGraphicFramePr>
          <p:xfrm>
            <a:off x="2400" y="1968"/>
            <a:ext cx="816" cy="582"/>
          </p:xfrm>
          <a:graphic>
            <a:graphicData uri="http://schemas.openxmlformats.org/presentationml/2006/ole">
              <mc:AlternateContent xmlns:mc="http://schemas.openxmlformats.org/markup-compatibility/2006">
                <mc:Choice xmlns:v="urn:schemas-microsoft-com:vml" Requires="v">
                  <p:oleObj name="Equation" r:id="rId8" imgW="1002865" imgH="660113" progId="Equation.3">
                    <p:embed/>
                  </p:oleObj>
                </mc:Choice>
                <mc:Fallback>
                  <p:oleObj name="Equation" r:id="rId8" imgW="1002865" imgH="660113" progId="Equation.3">
                    <p:embed/>
                    <p:pic>
                      <p:nvPicPr>
                        <p:cNvPr id="6168" name="Object 28">
                          <a:extLst>
                            <a:ext uri="{FF2B5EF4-FFF2-40B4-BE49-F238E27FC236}">
                              <a16:creationId xmlns:a16="http://schemas.microsoft.com/office/drawing/2014/main" id="{2974C4EF-7F3E-DF5F-95DC-2B46BC8A797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00" y="1968"/>
                          <a:ext cx="816" cy="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32">
            <a:extLst>
              <a:ext uri="{FF2B5EF4-FFF2-40B4-BE49-F238E27FC236}">
                <a16:creationId xmlns:a16="http://schemas.microsoft.com/office/drawing/2014/main" id="{00680E29-9B42-660B-B303-B0D1E942D743}"/>
              </a:ext>
            </a:extLst>
          </p:cNvPr>
          <p:cNvGrpSpPr>
            <a:grpSpLocks/>
          </p:cNvGrpSpPr>
          <p:nvPr/>
        </p:nvGrpSpPr>
        <p:grpSpPr bwMode="auto">
          <a:xfrm>
            <a:off x="3036888" y="4114800"/>
            <a:ext cx="2982912" cy="533400"/>
            <a:chOff x="1913" y="2592"/>
            <a:chExt cx="1879" cy="336"/>
          </a:xfrm>
        </p:grpSpPr>
        <p:sp>
          <p:nvSpPr>
            <p:cNvPr id="6162" name="Line 12">
              <a:extLst>
                <a:ext uri="{FF2B5EF4-FFF2-40B4-BE49-F238E27FC236}">
                  <a16:creationId xmlns:a16="http://schemas.microsoft.com/office/drawing/2014/main" id="{29E765F7-E083-F070-2C39-FB90E52CB75C}"/>
                </a:ext>
              </a:extLst>
            </p:cNvPr>
            <p:cNvSpPr>
              <a:spLocks noChangeShapeType="1"/>
            </p:cNvSpPr>
            <p:nvPr/>
          </p:nvSpPr>
          <p:spPr bwMode="auto">
            <a:xfrm flipH="1">
              <a:off x="2304" y="2592"/>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63" name="Line 14">
              <a:extLst>
                <a:ext uri="{FF2B5EF4-FFF2-40B4-BE49-F238E27FC236}">
                  <a16:creationId xmlns:a16="http://schemas.microsoft.com/office/drawing/2014/main" id="{4C35CF98-ED8A-10FC-A8A8-CE6DABC0AB1D}"/>
                </a:ext>
              </a:extLst>
            </p:cNvPr>
            <p:cNvSpPr>
              <a:spLocks noChangeShapeType="1"/>
            </p:cNvSpPr>
            <p:nvPr/>
          </p:nvSpPr>
          <p:spPr bwMode="auto">
            <a:xfrm rot="17181192" flipH="1">
              <a:off x="3144" y="2616"/>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6164" name="Object 29">
              <a:extLst>
                <a:ext uri="{FF2B5EF4-FFF2-40B4-BE49-F238E27FC236}">
                  <a16:creationId xmlns:a16="http://schemas.microsoft.com/office/drawing/2014/main" id="{2D5D8E39-916A-F210-2884-01A372D819D8}"/>
                </a:ext>
              </a:extLst>
            </p:cNvPr>
            <p:cNvGraphicFramePr>
              <a:graphicFrameLocks noChangeAspect="1"/>
            </p:cNvGraphicFramePr>
            <p:nvPr/>
          </p:nvGraphicFramePr>
          <p:xfrm>
            <a:off x="3360" y="2640"/>
            <a:ext cx="432" cy="257"/>
          </p:xfrm>
          <a:graphic>
            <a:graphicData uri="http://schemas.openxmlformats.org/presentationml/2006/ole">
              <mc:AlternateContent xmlns:mc="http://schemas.openxmlformats.org/markup-compatibility/2006">
                <mc:Choice xmlns:v="urn:schemas-microsoft-com:vml" Requires="v">
                  <p:oleObj name="Equation" r:id="rId10" imgW="393359" imgH="215713" progId="Equation.3">
                    <p:embed/>
                  </p:oleObj>
                </mc:Choice>
                <mc:Fallback>
                  <p:oleObj name="Equation" r:id="rId10" imgW="393359" imgH="215713" progId="Equation.3">
                    <p:embed/>
                    <p:pic>
                      <p:nvPicPr>
                        <p:cNvPr id="6164" name="Object 29">
                          <a:extLst>
                            <a:ext uri="{FF2B5EF4-FFF2-40B4-BE49-F238E27FC236}">
                              <a16:creationId xmlns:a16="http://schemas.microsoft.com/office/drawing/2014/main" id="{2D5D8E39-916A-F210-2884-01A372D819D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60" y="2640"/>
                          <a:ext cx="43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5" name="Object 30">
              <a:extLst>
                <a:ext uri="{FF2B5EF4-FFF2-40B4-BE49-F238E27FC236}">
                  <a16:creationId xmlns:a16="http://schemas.microsoft.com/office/drawing/2014/main" id="{9C65094D-868E-0FCE-8A4C-FBDB78E0CD9C}"/>
                </a:ext>
              </a:extLst>
            </p:cNvPr>
            <p:cNvGraphicFramePr>
              <a:graphicFrameLocks noChangeAspect="1"/>
            </p:cNvGraphicFramePr>
            <p:nvPr/>
          </p:nvGraphicFramePr>
          <p:xfrm>
            <a:off x="1913" y="2592"/>
            <a:ext cx="446" cy="257"/>
          </p:xfrm>
          <a:graphic>
            <a:graphicData uri="http://schemas.openxmlformats.org/presentationml/2006/ole">
              <mc:AlternateContent xmlns:mc="http://schemas.openxmlformats.org/markup-compatibility/2006">
                <mc:Choice xmlns:v="urn:schemas-microsoft-com:vml" Requires="v">
                  <p:oleObj name="Equation" r:id="rId12" imgW="406048" imgH="215713" progId="Equation.3">
                    <p:embed/>
                  </p:oleObj>
                </mc:Choice>
                <mc:Fallback>
                  <p:oleObj name="Equation" r:id="rId12" imgW="406048" imgH="215713" progId="Equation.3">
                    <p:embed/>
                    <p:pic>
                      <p:nvPicPr>
                        <p:cNvPr id="6165" name="Object 30">
                          <a:extLst>
                            <a:ext uri="{FF2B5EF4-FFF2-40B4-BE49-F238E27FC236}">
                              <a16:creationId xmlns:a16="http://schemas.microsoft.com/office/drawing/2014/main" id="{9C65094D-868E-0FCE-8A4C-FBDB78E0CD9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13" y="2592"/>
                          <a:ext cx="44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5109">
                                            <p:txEl>
                                              <p:pRg st="0" end="0"/>
                                            </p:txEl>
                                          </p:spTgt>
                                        </p:tgtEl>
                                        <p:attrNameLst>
                                          <p:attrName>style.visibility</p:attrName>
                                        </p:attrNameLst>
                                      </p:cBhvr>
                                      <p:to>
                                        <p:strVal val="visible"/>
                                      </p:to>
                                    </p:set>
                                    <p:anim calcmode="lin" valueType="num">
                                      <p:cBhvr additive="base">
                                        <p:cTn id="7" dur="500" fill="hold"/>
                                        <p:tgtEl>
                                          <p:spTgt spid="17510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51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5114"/>
                                        </p:tgtEl>
                                        <p:attrNameLst>
                                          <p:attrName>style.visibility</p:attrName>
                                        </p:attrNameLst>
                                      </p:cBhvr>
                                      <p:to>
                                        <p:strVal val="visible"/>
                                      </p:to>
                                    </p:set>
                                    <p:anim calcmode="lin" valueType="num">
                                      <p:cBhvr additive="base">
                                        <p:cTn id="19" dur="500" fill="hold"/>
                                        <p:tgtEl>
                                          <p:spTgt spid="175114"/>
                                        </p:tgtEl>
                                        <p:attrNameLst>
                                          <p:attrName>ppt_x</p:attrName>
                                        </p:attrNameLst>
                                      </p:cBhvr>
                                      <p:tavLst>
                                        <p:tav tm="0">
                                          <p:val>
                                            <p:strVal val="0-#ppt_w/2"/>
                                          </p:val>
                                        </p:tav>
                                        <p:tav tm="100000">
                                          <p:val>
                                            <p:strVal val="#ppt_x"/>
                                          </p:val>
                                        </p:tav>
                                      </p:tavLst>
                                    </p:anim>
                                    <p:anim calcmode="lin" valueType="num">
                                      <p:cBhvr additive="base">
                                        <p:cTn id="20" dur="500" fill="hold"/>
                                        <p:tgtEl>
                                          <p:spTgt spid="17511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75122"/>
                                        </p:tgtEl>
                                        <p:attrNameLst>
                                          <p:attrName>style.visibility</p:attrName>
                                        </p:attrNameLst>
                                      </p:cBhvr>
                                      <p:to>
                                        <p:strVal val="visible"/>
                                      </p:to>
                                    </p:set>
                                    <p:anim calcmode="lin" valueType="num">
                                      <p:cBhvr additive="base">
                                        <p:cTn id="31" dur="500" fill="hold"/>
                                        <p:tgtEl>
                                          <p:spTgt spid="175122"/>
                                        </p:tgtEl>
                                        <p:attrNameLst>
                                          <p:attrName>ppt_x</p:attrName>
                                        </p:attrNameLst>
                                      </p:cBhvr>
                                      <p:tavLst>
                                        <p:tav tm="0">
                                          <p:val>
                                            <p:strVal val="0-#ppt_w/2"/>
                                          </p:val>
                                        </p:tav>
                                        <p:tav tm="100000">
                                          <p:val>
                                            <p:strVal val="#ppt_x"/>
                                          </p:val>
                                        </p:tav>
                                      </p:tavLst>
                                    </p:anim>
                                    <p:anim calcmode="lin" valueType="num">
                                      <p:cBhvr additive="base">
                                        <p:cTn id="32" dur="500" fill="hold"/>
                                        <p:tgtEl>
                                          <p:spTgt spid="175122"/>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75123"/>
                                        </p:tgtEl>
                                        <p:attrNameLst>
                                          <p:attrName>style.visibility</p:attrName>
                                        </p:attrNameLst>
                                      </p:cBhvr>
                                      <p:to>
                                        <p:strVal val="visible"/>
                                      </p:to>
                                    </p:set>
                                    <p:anim calcmode="lin" valueType="num">
                                      <p:cBhvr additive="base">
                                        <p:cTn id="37" dur="500" fill="hold"/>
                                        <p:tgtEl>
                                          <p:spTgt spid="175123"/>
                                        </p:tgtEl>
                                        <p:attrNameLst>
                                          <p:attrName>ppt_x</p:attrName>
                                        </p:attrNameLst>
                                      </p:cBhvr>
                                      <p:tavLst>
                                        <p:tav tm="0">
                                          <p:val>
                                            <p:strVal val="0-#ppt_w/2"/>
                                          </p:val>
                                        </p:tav>
                                        <p:tav tm="100000">
                                          <p:val>
                                            <p:strVal val="#ppt_x"/>
                                          </p:val>
                                        </p:tav>
                                      </p:tavLst>
                                    </p:anim>
                                    <p:anim calcmode="lin" valueType="num">
                                      <p:cBhvr additive="base">
                                        <p:cTn id="38" dur="500" fill="hold"/>
                                        <p:tgtEl>
                                          <p:spTgt spid="175123"/>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75124"/>
                                        </p:tgtEl>
                                        <p:attrNameLst>
                                          <p:attrName>style.visibility</p:attrName>
                                        </p:attrNameLst>
                                      </p:cBhvr>
                                      <p:to>
                                        <p:strVal val="visible"/>
                                      </p:to>
                                    </p:set>
                                    <p:anim calcmode="lin" valueType="num">
                                      <p:cBhvr additive="base">
                                        <p:cTn id="43" dur="500" fill="hold"/>
                                        <p:tgtEl>
                                          <p:spTgt spid="175124"/>
                                        </p:tgtEl>
                                        <p:attrNameLst>
                                          <p:attrName>ppt_x</p:attrName>
                                        </p:attrNameLst>
                                      </p:cBhvr>
                                      <p:tavLst>
                                        <p:tav tm="0">
                                          <p:val>
                                            <p:strVal val="0-#ppt_w/2"/>
                                          </p:val>
                                        </p:tav>
                                        <p:tav tm="100000">
                                          <p:val>
                                            <p:strVal val="#ppt_x"/>
                                          </p:val>
                                        </p:tav>
                                      </p:tavLst>
                                    </p:anim>
                                    <p:anim calcmode="lin" valueType="num">
                                      <p:cBhvr additive="base">
                                        <p:cTn id="44" dur="500" fill="hold"/>
                                        <p:tgtEl>
                                          <p:spTgt spid="175124"/>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75125"/>
                                        </p:tgtEl>
                                        <p:attrNameLst>
                                          <p:attrName>style.visibility</p:attrName>
                                        </p:attrNameLst>
                                      </p:cBhvr>
                                      <p:to>
                                        <p:strVal val="visible"/>
                                      </p:to>
                                    </p:set>
                                    <p:anim calcmode="lin" valueType="num">
                                      <p:cBhvr additive="base">
                                        <p:cTn id="49" dur="500" fill="hold"/>
                                        <p:tgtEl>
                                          <p:spTgt spid="175125"/>
                                        </p:tgtEl>
                                        <p:attrNameLst>
                                          <p:attrName>ppt_x</p:attrName>
                                        </p:attrNameLst>
                                      </p:cBhvr>
                                      <p:tavLst>
                                        <p:tav tm="0">
                                          <p:val>
                                            <p:strVal val="0-#ppt_w/2"/>
                                          </p:val>
                                        </p:tav>
                                        <p:tav tm="100000">
                                          <p:val>
                                            <p:strVal val="#ppt_x"/>
                                          </p:val>
                                        </p:tav>
                                      </p:tavLst>
                                    </p:anim>
                                    <p:anim calcmode="lin" valueType="num">
                                      <p:cBhvr additive="base">
                                        <p:cTn id="50" dur="500" fill="hold"/>
                                        <p:tgtEl>
                                          <p:spTgt spid="175125"/>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175129"/>
                                        </p:tgtEl>
                                        <p:attrNameLst>
                                          <p:attrName>style.visibility</p:attrName>
                                        </p:attrNameLst>
                                      </p:cBhvr>
                                      <p:to>
                                        <p:strVal val="visible"/>
                                      </p:to>
                                    </p:set>
                                    <p:anim calcmode="lin" valueType="num">
                                      <p:cBhvr additive="base">
                                        <p:cTn id="55" dur="500" fill="hold"/>
                                        <p:tgtEl>
                                          <p:spTgt spid="175129"/>
                                        </p:tgtEl>
                                        <p:attrNameLst>
                                          <p:attrName>ppt_x</p:attrName>
                                        </p:attrNameLst>
                                      </p:cBhvr>
                                      <p:tavLst>
                                        <p:tav tm="0">
                                          <p:val>
                                            <p:strVal val="0-#ppt_w/2"/>
                                          </p:val>
                                        </p:tav>
                                        <p:tav tm="100000">
                                          <p:val>
                                            <p:strVal val="#ppt_x"/>
                                          </p:val>
                                        </p:tav>
                                      </p:tavLst>
                                    </p:anim>
                                    <p:anim calcmode="lin" valueType="num">
                                      <p:cBhvr additive="base">
                                        <p:cTn id="56" dur="500" fill="hold"/>
                                        <p:tgtEl>
                                          <p:spTgt spid="175129"/>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175130"/>
                                        </p:tgtEl>
                                        <p:attrNameLst>
                                          <p:attrName>style.visibility</p:attrName>
                                        </p:attrNameLst>
                                      </p:cBhvr>
                                      <p:to>
                                        <p:strVal val="visible"/>
                                      </p:to>
                                    </p:set>
                                    <p:anim calcmode="lin" valueType="num">
                                      <p:cBhvr additive="base">
                                        <p:cTn id="61" dur="500" fill="hold"/>
                                        <p:tgtEl>
                                          <p:spTgt spid="175130"/>
                                        </p:tgtEl>
                                        <p:attrNameLst>
                                          <p:attrName>ppt_x</p:attrName>
                                        </p:attrNameLst>
                                      </p:cBhvr>
                                      <p:tavLst>
                                        <p:tav tm="0">
                                          <p:val>
                                            <p:strVal val="0-#ppt_w/2"/>
                                          </p:val>
                                        </p:tav>
                                        <p:tav tm="100000">
                                          <p:val>
                                            <p:strVal val="#ppt_x"/>
                                          </p:val>
                                        </p:tav>
                                      </p:tavLst>
                                    </p:anim>
                                    <p:anim calcmode="lin" valueType="num">
                                      <p:cBhvr additive="base">
                                        <p:cTn id="62" dur="500" fill="hold"/>
                                        <p:tgtEl>
                                          <p:spTgt spid="175130"/>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nodeType="clickEffect">
                                  <p:stCondLst>
                                    <p:cond delay="0"/>
                                  </p:stCondLst>
                                  <p:childTnLst>
                                    <p:set>
                                      <p:cBhvr>
                                        <p:cTn id="66" dur="1" fill="hold">
                                          <p:stCondLst>
                                            <p:cond delay="0"/>
                                          </p:stCondLst>
                                        </p:cTn>
                                        <p:tgtEl>
                                          <p:spTgt spid="175126"/>
                                        </p:tgtEl>
                                        <p:attrNameLst>
                                          <p:attrName>style.visibility</p:attrName>
                                        </p:attrNameLst>
                                      </p:cBhvr>
                                      <p:to>
                                        <p:strVal val="visible"/>
                                      </p:to>
                                    </p:set>
                                    <p:anim calcmode="lin" valueType="num">
                                      <p:cBhvr additive="base">
                                        <p:cTn id="67" dur="500" fill="hold"/>
                                        <p:tgtEl>
                                          <p:spTgt spid="175126"/>
                                        </p:tgtEl>
                                        <p:attrNameLst>
                                          <p:attrName>ppt_x</p:attrName>
                                        </p:attrNameLst>
                                      </p:cBhvr>
                                      <p:tavLst>
                                        <p:tav tm="0">
                                          <p:val>
                                            <p:strVal val="0-#ppt_w/2"/>
                                          </p:val>
                                        </p:tav>
                                        <p:tav tm="100000">
                                          <p:val>
                                            <p:strVal val="#ppt_x"/>
                                          </p:val>
                                        </p:tav>
                                      </p:tavLst>
                                    </p:anim>
                                    <p:anim calcmode="lin" valueType="num">
                                      <p:cBhvr additive="base">
                                        <p:cTn id="68" dur="500" fill="hold"/>
                                        <p:tgtEl>
                                          <p:spTgt spid="175126"/>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nodeType="clickEffect">
                                  <p:stCondLst>
                                    <p:cond delay="0"/>
                                  </p:stCondLst>
                                  <p:childTnLst>
                                    <p:set>
                                      <p:cBhvr>
                                        <p:cTn id="72" dur="1" fill="hold">
                                          <p:stCondLst>
                                            <p:cond delay="0"/>
                                          </p:stCondLst>
                                        </p:cTn>
                                        <p:tgtEl>
                                          <p:spTgt spid="175127"/>
                                        </p:tgtEl>
                                        <p:attrNameLst>
                                          <p:attrName>style.visibility</p:attrName>
                                        </p:attrNameLst>
                                      </p:cBhvr>
                                      <p:to>
                                        <p:strVal val="visible"/>
                                      </p:to>
                                    </p:set>
                                    <p:anim calcmode="lin" valueType="num">
                                      <p:cBhvr additive="base">
                                        <p:cTn id="73" dur="500" fill="hold"/>
                                        <p:tgtEl>
                                          <p:spTgt spid="175127"/>
                                        </p:tgtEl>
                                        <p:attrNameLst>
                                          <p:attrName>ppt_x</p:attrName>
                                        </p:attrNameLst>
                                      </p:cBhvr>
                                      <p:tavLst>
                                        <p:tav tm="0">
                                          <p:val>
                                            <p:strVal val="0-#ppt_w/2"/>
                                          </p:val>
                                        </p:tav>
                                        <p:tav tm="100000">
                                          <p:val>
                                            <p:strVal val="#ppt_x"/>
                                          </p:val>
                                        </p:tav>
                                      </p:tavLst>
                                    </p:anim>
                                    <p:anim calcmode="lin" valueType="num">
                                      <p:cBhvr additive="base">
                                        <p:cTn id="74" dur="500" fill="hold"/>
                                        <p:tgtEl>
                                          <p:spTgt spid="1751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9" grpId="0" build="p" autoUpdateAnimBg="0"/>
      <p:bldP spid="175114" grpId="0" autoUpdateAnimBg="0"/>
      <p:bldP spid="175122" grpId="0" animBg="1"/>
      <p:bldP spid="175123" grpId="0" animBg="1"/>
      <p:bldP spid="175126" grpId="0" autoUpdateAnimBg="0"/>
      <p:bldP spid="175127" grpId="0" autoUpdateAnimBg="0"/>
      <p:bldP spid="175129" grpId="0" autoUpdateAnimBg="0"/>
      <p:bldP spid="175130"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0A758AB-758A-E963-55D8-D5CE10F911BA}"/>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Binary Tree, continued </a:t>
            </a:r>
          </a:p>
        </p:txBody>
      </p:sp>
      <p:sp>
        <p:nvSpPr>
          <p:cNvPr id="7171" name="Rectangle 3">
            <a:extLst>
              <a:ext uri="{FF2B5EF4-FFF2-40B4-BE49-F238E27FC236}">
                <a16:creationId xmlns:a16="http://schemas.microsoft.com/office/drawing/2014/main" id="{6CE1B9D3-D8F2-E224-BF6C-629DE2BABCBF}"/>
              </a:ext>
            </a:extLst>
          </p:cNvPr>
          <p:cNvSpPr>
            <a:spLocks noChangeArrowheads="1"/>
          </p:cNvSpPr>
          <p:nvPr/>
        </p:nvSpPr>
        <p:spPr bwMode="auto">
          <a:xfrm>
            <a:off x="152400" y="152400"/>
            <a:ext cx="89916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72" name="Rectangle 4">
            <a:extLst>
              <a:ext uri="{FF2B5EF4-FFF2-40B4-BE49-F238E27FC236}">
                <a16:creationId xmlns:a16="http://schemas.microsoft.com/office/drawing/2014/main" id="{A6D19D6F-0F57-C1D3-927C-1B084804CCB1}"/>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715, Lect. 25</a:t>
            </a:r>
          </a:p>
        </p:txBody>
      </p:sp>
      <p:sp>
        <p:nvSpPr>
          <p:cNvPr id="176133" name="Text Box 5">
            <a:extLst>
              <a:ext uri="{FF2B5EF4-FFF2-40B4-BE49-F238E27FC236}">
                <a16:creationId xmlns:a16="http://schemas.microsoft.com/office/drawing/2014/main" id="{E1F6A17E-C77B-B404-D8C7-0C7CAFE1126F}"/>
              </a:ext>
            </a:extLst>
          </p:cNvPr>
          <p:cNvSpPr txBox="1">
            <a:spLocks noChangeArrowheads="1"/>
          </p:cNvSpPr>
          <p:nvPr/>
        </p:nvSpPr>
        <p:spPr bwMode="auto">
          <a:xfrm>
            <a:off x="152400" y="990600"/>
            <a:ext cx="44196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Now we must choose a branch to continue fathoming.  Which should we choose?</a:t>
            </a:r>
          </a:p>
        </p:txBody>
      </p:sp>
      <p:sp>
        <p:nvSpPr>
          <p:cNvPr id="176139" name="Text Box 11">
            <a:extLst>
              <a:ext uri="{FF2B5EF4-FFF2-40B4-BE49-F238E27FC236}">
                <a16:creationId xmlns:a16="http://schemas.microsoft.com/office/drawing/2014/main" id="{6A0BBE6B-BD64-A39C-01C9-67ED7D81178B}"/>
              </a:ext>
            </a:extLst>
          </p:cNvPr>
          <p:cNvSpPr txBox="1">
            <a:spLocks noChangeArrowheads="1"/>
          </p:cNvSpPr>
          <p:nvPr/>
        </p:nvSpPr>
        <p:spPr bwMode="auto">
          <a:xfrm>
            <a:off x="228600" y="3962400"/>
            <a:ext cx="51054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The branch on the right has a higher upper bound, thus a better chance of having the optimal solution under it.</a:t>
            </a:r>
          </a:p>
          <a:p>
            <a:pPr>
              <a:spcBef>
                <a:spcPct val="0"/>
              </a:spcBef>
            </a:pPr>
            <a:r>
              <a:rPr lang="en-US" altLang="en-US" sz="2800"/>
              <a:t>  Always branch on a fractional variable</a:t>
            </a:r>
          </a:p>
        </p:txBody>
      </p:sp>
      <p:grpSp>
        <p:nvGrpSpPr>
          <p:cNvPr id="7175" name="Group 39">
            <a:extLst>
              <a:ext uri="{FF2B5EF4-FFF2-40B4-BE49-F238E27FC236}">
                <a16:creationId xmlns:a16="http://schemas.microsoft.com/office/drawing/2014/main" id="{AB38D7E5-1908-112B-3787-856B31BF8087}"/>
              </a:ext>
            </a:extLst>
          </p:cNvPr>
          <p:cNvGrpSpPr>
            <a:grpSpLocks/>
          </p:cNvGrpSpPr>
          <p:nvPr/>
        </p:nvGrpSpPr>
        <p:grpSpPr bwMode="auto">
          <a:xfrm>
            <a:off x="5410200" y="838200"/>
            <a:ext cx="3125788" cy="1371600"/>
            <a:chOff x="2304" y="1824"/>
            <a:chExt cx="1969" cy="864"/>
          </a:xfrm>
        </p:grpSpPr>
        <p:sp>
          <p:nvSpPr>
            <p:cNvPr id="7196" name="Oval 40">
              <a:extLst>
                <a:ext uri="{FF2B5EF4-FFF2-40B4-BE49-F238E27FC236}">
                  <a16:creationId xmlns:a16="http://schemas.microsoft.com/office/drawing/2014/main" id="{18857D21-78C6-48DF-7A81-6EB9E12B4F92}"/>
                </a:ext>
              </a:extLst>
            </p:cNvPr>
            <p:cNvSpPr>
              <a:spLocks noChangeArrowheads="1"/>
            </p:cNvSpPr>
            <p:nvPr/>
          </p:nvSpPr>
          <p:spPr bwMode="auto">
            <a:xfrm>
              <a:off x="2304" y="1824"/>
              <a:ext cx="960" cy="86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97" name="Text Box 41">
              <a:extLst>
                <a:ext uri="{FF2B5EF4-FFF2-40B4-BE49-F238E27FC236}">
                  <a16:creationId xmlns:a16="http://schemas.microsoft.com/office/drawing/2014/main" id="{9B5F9C10-9D20-A9AA-CAE3-8C665307340B}"/>
                </a:ext>
              </a:extLst>
            </p:cNvPr>
            <p:cNvSpPr txBox="1">
              <a:spLocks noChangeArrowheads="1"/>
            </p:cNvSpPr>
            <p:nvPr/>
          </p:nvSpPr>
          <p:spPr bwMode="auto">
            <a:xfrm>
              <a:off x="3350" y="2090"/>
              <a:ext cx="92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UB=43.59</a:t>
              </a:r>
            </a:p>
            <a:p>
              <a:pPr>
                <a:spcBef>
                  <a:spcPct val="0"/>
                </a:spcBef>
                <a:buFontTx/>
                <a:buNone/>
              </a:pPr>
              <a:r>
                <a:rPr lang="en-US" altLang="en-US" sz="2400"/>
                <a:t>LB= -</a:t>
              </a:r>
              <a:r>
                <a:rPr lang="en-US" altLang="en-US" sz="2400">
                  <a:sym typeface="Symbol" panose="05050102010706020507" pitchFamily="18" charset="2"/>
                </a:rPr>
                <a:t></a:t>
              </a:r>
              <a:endParaRPr lang="en-US" altLang="en-US" sz="2400"/>
            </a:p>
          </p:txBody>
        </p:sp>
        <p:graphicFrame>
          <p:nvGraphicFramePr>
            <p:cNvPr id="7198" name="Object 42">
              <a:extLst>
                <a:ext uri="{FF2B5EF4-FFF2-40B4-BE49-F238E27FC236}">
                  <a16:creationId xmlns:a16="http://schemas.microsoft.com/office/drawing/2014/main" id="{1D8B0FED-F08E-316C-85D5-7D299826FBBE}"/>
                </a:ext>
              </a:extLst>
            </p:cNvPr>
            <p:cNvGraphicFramePr>
              <a:graphicFrameLocks noChangeAspect="1"/>
            </p:cNvGraphicFramePr>
            <p:nvPr/>
          </p:nvGraphicFramePr>
          <p:xfrm>
            <a:off x="2400" y="1968"/>
            <a:ext cx="816" cy="582"/>
          </p:xfrm>
          <a:graphic>
            <a:graphicData uri="http://schemas.openxmlformats.org/presentationml/2006/ole">
              <mc:AlternateContent xmlns:mc="http://schemas.openxmlformats.org/markup-compatibility/2006">
                <mc:Choice xmlns:v="urn:schemas-microsoft-com:vml" Requires="v">
                  <p:oleObj name="Equation" r:id="rId2" imgW="1002865" imgH="660113" progId="Equation.3">
                    <p:embed/>
                  </p:oleObj>
                </mc:Choice>
                <mc:Fallback>
                  <p:oleObj name="Equation" r:id="rId2" imgW="1002865" imgH="660113" progId="Equation.3">
                    <p:embed/>
                    <p:pic>
                      <p:nvPicPr>
                        <p:cNvPr id="7198" name="Object 42">
                          <a:extLst>
                            <a:ext uri="{FF2B5EF4-FFF2-40B4-BE49-F238E27FC236}">
                              <a16:creationId xmlns:a16="http://schemas.microsoft.com/office/drawing/2014/main" id="{1D8B0FED-F08E-316C-85D5-7D299826FB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 y="1968"/>
                          <a:ext cx="816" cy="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176" name="Line 44">
            <a:extLst>
              <a:ext uri="{FF2B5EF4-FFF2-40B4-BE49-F238E27FC236}">
                <a16:creationId xmlns:a16="http://schemas.microsoft.com/office/drawing/2014/main" id="{7F5DBEC2-C7A8-05EA-7FCA-24D7ECDA1AB0}"/>
              </a:ext>
            </a:extLst>
          </p:cNvPr>
          <p:cNvSpPr>
            <a:spLocks noChangeShapeType="1"/>
          </p:cNvSpPr>
          <p:nvPr/>
        </p:nvSpPr>
        <p:spPr bwMode="auto">
          <a:xfrm flipH="1">
            <a:off x="5345113" y="2057400"/>
            <a:ext cx="457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77" name="Line 45">
            <a:extLst>
              <a:ext uri="{FF2B5EF4-FFF2-40B4-BE49-F238E27FC236}">
                <a16:creationId xmlns:a16="http://schemas.microsoft.com/office/drawing/2014/main" id="{C61DECAC-761D-996F-2FB0-F23313EA266C}"/>
              </a:ext>
            </a:extLst>
          </p:cNvPr>
          <p:cNvSpPr>
            <a:spLocks noChangeShapeType="1"/>
          </p:cNvSpPr>
          <p:nvPr/>
        </p:nvSpPr>
        <p:spPr bwMode="auto">
          <a:xfrm rot="17181192" flipH="1">
            <a:off x="6678613" y="2095500"/>
            <a:ext cx="457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7178" name="Object 46">
            <a:extLst>
              <a:ext uri="{FF2B5EF4-FFF2-40B4-BE49-F238E27FC236}">
                <a16:creationId xmlns:a16="http://schemas.microsoft.com/office/drawing/2014/main" id="{C0E4D109-B66C-4FA5-9F67-4C08ABE9FFB2}"/>
              </a:ext>
            </a:extLst>
          </p:cNvPr>
          <p:cNvGraphicFramePr>
            <a:graphicFrameLocks noChangeAspect="1"/>
          </p:cNvGraphicFramePr>
          <p:nvPr/>
        </p:nvGraphicFramePr>
        <p:xfrm>
          <a:off x="7021513" y="2133600"/>
          <a:ext cx="685800" cy="407988"/>
        </p:xfrm>
        <a:graphic>
          <a:graphicData uri="http://schemas.openxmlformats.org/presentationml/2006/ole">
            <mc:AlternateContent xmlns:mc="http://schemas.openxmlformats.org/markup-compatibility/2006">
              <mc:Choice xmlns:v="urn:schemas-microsoft-com:vml" Requires="v">
                <p:oleObj name="Equation" r:id="rId4" imgW="393359" imgH="215713" progId="Equation.3">
                  <p:embed/>
                </p:oleObj>
              </mc:Choice>
              <mc:Fallback>
                <p:oleObj name="Equation" r:id="rId4" imgW="393359" imgH="215713" progId="Equation.3">
                  <p:embed/>
                  <p:pic>
                    <p:nvPicPr>
                      <p:cNvPr id="7178" name="Object 46">
                        <a:extLst>
                          <a:ext uri="{FF2B5EF4-FFF2-40B4-BE49-F238E27FC236}">
                            <a16:creationId xmlns:a16="http://schemas.microsoft.com/office/drawing/2014/main" id="{C0E4D109-B66C-4FA5-9F67-4C08ABE9FF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21513" y="2133600"/>
                        <a:ext cx="685800"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9" name="Object 47">
            <a:extLst>
              <a:ext uri="{FF2B5EF4-FFF2-40B4-BE49-F238E27FC236}">
                <a16:creationId xmlns:a16="http://schemas.microsoft.com/office/drawing/2014/main" id="{951E0122-34D2-9B1F-30EF-0C00537E6DF3}"/>
              </a:ext>
            </a:extLst>
          </p:cNvPr>
          <p:cNvGraphicFramePr>
            <a:graphicFrameLocks noChangeAspect="1"/>
          </p:cNvGraphicFramePr>
          <p:nvPr/>
        </p:nvGraphicFramePr>
        <p:xfrm>
          <a:off x="4724400" y="2057400"/>
          <a:ext cx="708025" cy="407988"/>
        </p:xfrm>
        <a:graphic>
          <a:graphicData uri="http://schemas.openxmlformats.org/presentationml/2006/ole">
            <mc:AlternateContent xmlns:mc="http://schemas.openxmlformats.org/markup-compatibility/2006">
              <mc:Choice xmlns:v="urn:schemas-microsoft-com:vml" Requires="v">
                <p:oleObj name="Equation" r:id="rId6" imgW="406048" imgH="215713" progId="Equation.3">
                  <p:embed/>
                </p:oleObj>
              </mc:Choice>
              <mc:Fallback>
                <p:oleObj name="Equation" r:id="rId6" imgW="406048" imgH="215713" progId="Equation.3">
                  <p:embed/>
                  <p:pic>
                    <p:nvPicPr>
                      <p:cNvPr id="7179" name="Object 47">
                        <a:extLst>
                          <a:ext uri="{FF2B5EF4-FFF2-40B4-BE49-F238E27FC236}">
                            <a16:creationId xmlns:a16="http://schemas.microsoft.com/office/drawing/2014/main" id="{951E0122-34D2-9B1F-30EF-0C00537E6D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4400" y="2057400"/>
                        <a:ext cx="708025"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0" name="Rectangle 48">
            <a:extLst>
              <a:ext uri="{FF2B5EF4-FFF2-40B4-BE49-F238E27FC236}">
                <a16:creationId xmlns:a16="http://schemas.microsoft.com/office/drawing/2014/main" id="{7834716F-17C0-C580-C41F-74E5928B6925}"/>
              </a:ext>
            </a:extLst>
          </p:cNvPr>
          <p:cNvSpPr>
            <a:spLocks noChangeArrowheads="1"/>
          </p:cNvSpPr>
          <p:nvPr/>
        </p:nvSpPr>
        <p:spPr bwMode="auto">
          <a:xfrm>
            <a:off x="3889375" y="2590800"/>
            <a:ext cx="1981200"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81" name="Rectangle 49">
            <a:extLst>
              <a:ext uri="{FF2B5EF4-FFF2-40B4-BE49-F238E27FC236}">
                <a16:creationId xmlns:a16="http://schemas.microsoft.com/office/drawing/2014/main" id="{B77BD58E-1319-D188-79DE-0346688D9ADD}"/>
              </a:ext>
            </a:extLst>
          </p:cNvPr>
          <p:cNvSpPr>
            <a:spLocks noChangeArrowheads="1"/>
          </p:cNvSpPr>
          <p:nvPr/>
        </p:nvSpPr>
        <p:spPr bwMode="auto">
          <a:xfrm>
            <a:off x="6099175" y="2667000"/>
            <a:ext cx="1828800" cy="1066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7182" name="Object 50">
            <a:extLst>
              <a:ext uri="{FF2B5EF4-FFF2-40B4-BE49-F238E27FC236}">
                <a16:creationId xmlns:a16="http://schemas.microsoft.com/office/drawing/2014/main" id="{69FDF74E-DBA7-28F4-567F-D55762AC8E08}"/>
              </a:ext>
            </a:extLst>
          </p:cNvPr>
          <p:cNvGraphicFramePr>
            <a:graphicFrameLocks noChangeAspect="1"/>
          </p:cNvGraphicFramePr>
          <p:nvPr/>
        </p:nvGraphicFramePr>
        <p:xfrm>
          <a:off x="3921125" y="2667000"/>
          <a:ext cx="1949450" cy="982663"/>
        </p:xfrm>
        <a:graphic>
          <a:graphicData uri="http://schemas.openxmlformats.org/presentationml/2006/ole">
            <mc:AlternateContent xmlns:mc="http://schemas.openxmlformats.org/markup-compatibility/2006">
              <mc:Choice xmlns:v="urn:schemas-microsoft-com:vml" Requires="v">
                <p:oleObj name="Equation" r:id="rId8" imgW="1384300" imgH="698500" progId="Equation.3">
                  <p:embed/>
                </p:oleObj>
              </mc:Choice>
              <mc:Fallback>
                <p:oleObj name="Equation" r:id="rId8" imgW="1384300" imgH="698500" progId="Equation.3">
                  <p:embed/>
                  <p:pic>
                    <p:nvPicPr>
                      <p:cNvPr id="7182" name="Object 50">
                        <a:extLst>
                          <a:ext uri="{FF2B5EF4-FFF2-40B4-BE49-F238E27FC236}">
                            <a16:creationId xmlns:a16="http://schemas.microsoft.com/office/drawing/2014/main" id="{69FDF74E-DBA7-28F4-567F-D55762AC8E0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1125" y="2667000"/>
                        <a:ext cx="1949450"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3" name="Object 51">
            <a:extLst>
              <a:ext uri="{FF2B5EF4-FFF2-40B4-BE49-F238E27FC236}">
                <a16:creationId xmlns:a16="http://schemas.microsoft.com/office/drawing/2014/main" id="{EDE72436-E963-3DAD-953B-00704D780551}"/>
              </a:ext>
            </a:extLst>
          </p:cNvPr>
          <p:cNvGraphicFramePr>
            <a:graphicFrameLocks noChangeAspect="1"/>
          </p:cNvGraphicFramePr>
          <p:nvPr/>
        </p:nvGraphicFramePr>
        <p:xfrm>
          <a:off x="6175375" y="2743200"/>
          <a:ext cx="1770063" cy="982663"/>
        </p:xfrm>
        <a:graphic>
          <a:graphicData uri="http://schemas.openxmlformats.org/presentationml/2006/ole">
            <mc:AlternateContent xmlns:mc="http://schemas.openxmlformats.org/markup-compatibility/2006">
              <mc:Choice xmlns:v="urn:schemas-microsoft-com:vml" Requires="v">
                <p:oleObj name="Equation" r:id="rId10" imgW="1257300" imgH="698500" progId="Equation.3">
                  <p:embed/>
                </p:oleObj>
              </mc:Choice>
              <mc:Fallback>
                <p:oleObj name="Equation" r:id="rId10" imgW="1257300" imgH="698500" progId="Equation.3">
                  <p:embed/>
                  <p:pic>
                    <p:nvPicPr>
                      <p:cNvPr id="7183" name="Object 51">
                        <a:extLst>
                          <a:ext uri="{FF2B5EF4-FFF2-40B4-BE49-F238E27FC236}">
                            <a16:creationId xmlns:a16="http://schemas.microsoft.com/office/drawing/2014/main" id="{EDE72436-E963-3DAD-953B-00704D78055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75375" y="2743200"/>
                        <a:ext cx="1770063"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4" name="Text Box 52">
            <a:extLst>
              <a:ext uri="{FF2B5EF4-FFF2-40B4-BE49-F238E27FC236}">
                <a16:creationId xmlns:a16="http://schemas.microsoft.com/office/drawing/2014/main" id="{20CED08A-96AF-40C4-7129-173901189F42}"/>
              </a:ext>
            </a:extLst>
          </p:cNvPr>
          <p:cNvSpPr txBox="1">
            <a:spLocks noChangeArrowheads="1"/>
          </p:cNvSpPr>
          <p:nvPr/>
        </p:nvSpPr>
        <p:spPr bwMode="auto">
          <a:xfrm>
            <a:off x="2441575" y="2590800"/>
            <a:ext cx="13128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UB=41.2</a:t>
            </a:r>
          </a:p>
          <a:p>
            <a:pPr>
              <a:spcBef>
                <a:spcPct val="0"/>
              </a:spcBef>
              <a:buFontTx/>
              <a:buNone/>
            </a:pPr>
            <a:r>
              <a:rPr lang="en-US" altLang="en-US" sz="2400"/>
              <a:t>LB=-</a:t>
            </a:r>
            <a:r>
              <a:rPr lang="en-US" altLang="en-US" sz="2400">
                <a:sym typeface="Symbol" panose="05050102010706020507" pitchFamily="18" charset="2"/>
              </a:rPr>
              <a:t></a:t>
            </a:r>
            <a:endParaRPr lang="en-US" altLang="en-US" sz="2400"/>
          </a:p>
        </p:txBody>
      </p:sp>
      <p:sp>
        <p:nvSpPr>
          <p:cNvPr id="7185" name="Text Box 53">
            <a:extLst>
              <a:ext uri="{FF2B5EF4-FFF2-40B4-BE49-F238E27FC236}">
                <a16:creationId xmlns:a16="http://schemas.microsoft.com/office/drawing/2014/main" id="{5EFF9220-1A84-89F1-6382-A5BC9F201BB3}"/>
              </a:ext>
            </a:extLst>
          </p:cNvPr>
          <p:cNvSpPr txBox="1">
            <a:spLocks noChangeArrowheads="1"/>
          </p:cNvSpPr>
          <p:nvPr/>
        </p:nvSpPr>
        <p:spPr bwMode="auto">
          <a:xfrm>
            <a:off x="8004175" y="2606675"/>
            <a:ext cx="11398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UB=43</a:t>
            </a:r>
          </a:p>
          <a:p>
            <a:pPr>
              <a:spcBef>
                <a:spcPct val="0"/>
              </a:spcBef>
              <a:buFontTx/>
              <a:buNone/>
            </a:pPr>
            <a:r>
              <a:rPr lang="en-US" altLang="en-US" sz="2400"/>
              <a:t>LB= -</a:t>
            </a:r>
            <a:r>
              <a:rPr lang="en-US" altLang="en-US" sz="2400">
                <a:sym typeface="Symbol" panose="05050102010706020507" pitchFamily="18" charset="2"/>
              </a:rPr>
              <a:t></a:t>
            </a:r>
          </a:p>
        </p:txBody>
      </p:sp>
      <p:grpSp>
        <p:nvGrpSpPr>
          <p:cNvPr id="3" name="Group 57">
            <a:extLst>
              <a:ext uri="{FF2B5EF4-FFF2-40B4-BE49-F238E27FC236}">
                <a16:creationId xmlns:a16="http://schemas.microsoft.com/office/drawing/2014/main" id="{6F1A2E91-60E5-6E2A-2C73-0C67263AC3C0}"/>
              </a:ext>
            </a:extLst>
          </p:cNvPr>
          <p:cNvGrpSpPr>
            <a:grpSpLocks/>
          </p:cNvGrpSpPr>
          <p:nvPr/>
        </p:nvGrpSpPr>
        <p:grpSpPr bwMode="auto">
          <a:xfrm>
            <a:off x="5257800" y="3733800"/>
            <a:ext cx="3429000" cy="2270125"/>
            <a:chOff x="3312" y="2352"/>
            <a:chExt cx="2160" cy="1430"/>
          </a:xfrm>
        </p:grpSpPr>
        <p:sp>
          <p:nvSpPr>
            <p:cNvPr id="7187" name="Line 25">
              <a:extLst>
                <a:ext uri="{FF2B5EF4-FFF2-40B4-BE49-F238E27FC236}">
                  <a16:creationId xmlns:a16="http://schemas.microsoft.com/office/drawing/2014/main" id="{E3FF75C8-6686-1325-E86E-E6726C53D234}"/>
                </a:ext>
              </a:extLst>
            </p:cNvPr>
            <p:cNvSpPr>
              <a:spLocks noChangeShapeType="1"/>
            </p:cNvSpPr>
            <p:nvPr/>
          </p:nvSpPr>
          <p:spPr bwMode="auto">
            <a:xfrm flipH="1">
              <a:off x="3984" y="2352"/>
              <a:ext cx="192"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88" name="Line 27">
              <a:extLst>
                <a:ext uri="{FF2B5EF4-FFF2-40B4-BE49-F238E27FC236}">
                  <a16:creationId xmlns:a16="http://schemas.microsoft.com/office/drawing/2014/main" id="{6733A70F-E03E-10D6-1D00-ED3800C638BD}"/>
                </a:ext>
              </a:extLst>
            </p:cNvPr>
            <p:cNvSpPr>
              <a:spLocks noChangeShapeType="1"/>
            </p:cNvSpPr>
            <p:nvPr/>
          </p:nvSpPr>
          <p:spPr bwMode="auto">
            <a:xfrm>
              <a:off x="4704" y="2352"/>
              <a:ext cx="192"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89" name="Rectangle 28">
              <a:extLst>
                <a:ext uri="{FF2B5EF4-FFF2-40B4-BE49-F238E27FC236}">
                  <a16:creationId xmlns:a16="http://schemas.microsoft.com/office/drawing/2014/main" id="{5C7E4674-10DD-36CB-07DF-9CCC7A10F78A}"/>
                </a:ext>
              </a:extLst>
            </p:cNvPr>
            <p:cNvSpPr>
              <a:spLocks noChangeArrowheads="1"/>
            </p:cNvSpPr>
            <p:nvPr/>
          </p:nvSpPr>
          <p:spPr bwMode="auto">
            <a:xfrm>
              <a:off x="3312" y="2736"/>
              <a:ext cx="1152"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90" name="Rectangle 29">
              <a:extLst>
                <a:ext uri="{FF2B5EF4-FFF2-40B4-BE49-F238E27FC236}">
                  <a16:creationId xmlns:a16="http://schemas.microsoft.com/office/drawing/2014/main" id="{AE4F6D07-24C8-A7D1-B43A-0EC23788BECE}"/>
                </a:ext>
              </a:extLst>
            </p:cNvPr>
            <p:cNvSpPr>
              <a:spLocks noChangeArrowheads="1"/>
            </p:cNvSpPr>
            <p:nvPr/>
          </p:nvSpPr>
          <p:spPr bwMode="auto">
            <a:xfrm>
              <a:off x="4560" y="2736"/>
              <a:ext cx="912"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7191" name="Object 30">
              <a:extLst>
                <a:ext uri="{FF2B5EF4-FFF2-40B4-BE49-F238E27FC236}">
                  <a16:creationId xmlns:a16="http://schemas.microsoft.com/office/drawing/2014/main" id="{42D014FD-8F70-BA48-EFF5-442DBE699BBC}"/>
                </a:ext>
              </a:extLst>
            </p:cNvPr>
            <p:cNvGraphicFramePr>
              <a:graphicFrameLocks noChangeAspect="1"/>
            </p:cNvGraphicFramePr>
            <p:nvPr/>
          </p:nvGraphicFramePr>
          <p:xfrm>
            <a:off x="3312" y="2784"/>
            <a:ext cx="1152" cy="406"/>
          </p:xfrm>
          <a:graphic>
            <a:graphicData uri="http://schemas.openxmlformats.org/presentationml/2006/ole">
              <mc:AlternateContent xmlns:mc="http://schemas.openxmlformats.org/markup-compatibility/2006">
                <mc:Choice xmlns:v="urn:schemas-microsoft-com:vml" Requires="v">
                  <p:oleObj name="Equation" r:id="rId12" imgW="1447800" imgH="457200" progId="Equation.3">
                    <p:embed/>
                  </p:oleObj>
                </mc:Choice>
                <mc:Fallback>
                  <p:oleObj name="Equation" r:id="rId12" imgW="1447800" imgH="457200" progId="Equation.3">
                    <p:embed/>
                    <p:pic>
                      <p:nvPicPr>
                        <p:cNvPr id="7191" name="Object 30">
                          <a:extLst>
                            <a:ext uri="{FF2B5EF4-FFF2-40B4-BE49-F238E27FC236}">
                              <a16:creationId xmlns:a16="http://schemas.microsoft.com/office/drawing/2014/main" id="{42D014FD-8F70-BA48-EFF5-442DBE699BB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12" y="2784"/>
                          <a:ext cx="1152"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2" name="Object 31">
              <a:extLst>
                <a:ext uri="{FF2B5EF4-FFF2-40B4-BE49-F238E27FC236}">
                  <a16:creationId xmlns:a16="http://schemas.microsoft.com/office/drawing/2014/main" id="{AF4389CC-C9B2-9307-1EAB-522B659C9C7F}"/>
                </a:ext>
              </a:extLst>
            </p:cNvPr>
            <p:cNvGraphicFramePr>
              <a:graphicFrameLocks noChangeAspect="1"/>
            </p:cNvGraphicFramePr>
            <p:nvPr/>
          </p:nvGraphicFramePr>
          <p:xfrm>
            <a:off x="4655" y="2806"/>
            <a:ext cx="721" cy="361"/>
          </p:xfrm>
          <a:graphic>
            <a:graphicData uri="http://schemas.openxmlformats.org/presentationml/2006/ole">
              <mc:AlternateContent xmlns:mc="http://schemas.openxmlformats.org/markup-compatibility/2006">
                <mc:Choice xmlns:v="urn:schemas-microsoft-com:vml" Requires="v">
                  <p:oleObj name="Equation" r:id="rId14" imgW="812447" imgH="406224" progId="Equation.3">
                    <p:embed/>
                  </p:oleObj>
                </mc:Choice>
                <mc:Fallback>
                  <p:oleObj name="Equation" r:id="rId14" imgW="812447" imgH="406224" progId="Equation.3">
                    <p:embed/>
                    <p:pic>
                      <p:nvPicPr>
                        <p:cNvPr id="7192" name="Object 31">
                          <a:extLst>
                            <a:ext uri="{FF2B5EF4-FFF2-40B4-BE49-F238E27FC236}">
                              <a16:creationId xmlns:a16="http://schemas.microsoft.com/office/drawing/2014/main" id="{AF4389CC-C9B2-9307-1EAB-522B659C9C7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55" y="2806"/>
                          <a:ext cx="721" cy="3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3" name="Object 54">
              <a:extLst>
                <a:ext uri="{FF2B5EF4-FFF2-40B4-BE49-F238E27FC236}">
                  <a16:creationId xmlns:a16="http://schemas.microsoft.com/office/drawing/2014/main" id="{667D7945-825F-CA38-CD07-0867106C1A2C}"/>
                </a:ext>
              </a:extLst>
            </p:cNvPr>
            <p:cNvGraphicFramePr>
              <a:graphicFrameLocks noChangeAspect="1"/>
            </p:cNvGraphicFramePr>
            <p:nvPr/>
          </p:nvGraphicFramePr>
          <p:xfrm>
            <a:off x="3545" y="2400"/>
            <a:ext cx="460" cy="257"/>
          </p:xfrm>
          <a:graphic>
            <a:graphicData uri="http://schemas.openxmlformats.org/presentationml/2006/ole">
              <mc:AlternateContent xmlns:mc="http://schemas.openxmlformats.org/markup-compatibility/2006">
                <mc:Choice xmlns:v="urn:schemas-microsoft-com:vml" Requires="v">
                  <p:oleObj name="Equation" r:id="rId16" imgW="418918" imgH="215806" progId="Equation.3">
                    <p:embed/>
                  </p:oleObj>
                </mc:Choice>
                <mc:Fallback>
                  <p:oleObj name="Equation" r:id="rId16" imgW="418918" imgH="215806" progId="Equation.3">
                    <p:embed/>
                    <p:pic>
                      <p:nvPicPr>
                        <p:cNvPr id="7193" name="Object 54">
                          <a:extLst>
                            <a:ext uri="{FF2B5EF4-FFF2-40B4-BE49-F238E27FC236}">
                              <a16:creationId xmlns:a16="http://schemas.microsoft.com/office/drawing/2014/main" id="{667D7945-825F-CA38-CD07-0867106C1A2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45" y="2400"/>
                          <a:ext cx="460"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4" name="Object 55">
              <a:extLst>
                <a:ext uri="{FF2B5EF4-FFF2-40B4-BE49-F238E27FC236}">
                  <a16:creationId xmlns:a16="http://schemas.microsoft.com/office/drawing/2014/main" id="{4B5FC9DD-2C1C-04B0-F7FD-982E50BB3571}"/>
                </a:ext>
              </a:extLst>
            </p:cNvPr>
            <p:cNvGraphicFramePr>
              <a:graphicFrameLocks noChangeAspect="1"/>
            </p:cNvGraphicFramePr>
            <p:nvPr/>
          </p:nvGraphicFramePr>
          <p:xfrm>
            <a:off x="4855" y="2400"/>
            <a:ext cx="446" cy="257"/>
          </p:xfrm>
          <a:graphic>
            <a:graphicData uri="http://schemas.openxmlformats.org/presentationml/2006/ole">
              <mc:AlternateContent xmlns:mc="http://schemas.openxmlformats.org/markup-compatibility/2006">
                <mc:Choice xmlns:v="urn:schemas-microsoft-com:vml" Requires="v">
                  <p:oleObj name="Equation" r:id="rId18" imgW="406048" imgH="215713" progId="Equation.3">
                    <p:embed/>
                  </p:oleObj>
                </mc:Choice>
                <mc:Fallback>
                  <p:oleObj name="Equation" r:id="rId18" imgW="406048" imgH="215713" progId="Equation.3">
                    <p:embed/>
                    <p:pic>
                      <p:nvPicPr>
                        <p:cNvPr id="7194" name="Object 55">
                          <a:extLst>
                            <a:ext uri="{FF2B5EF4-FFF2-40B4-BE49-F238E27FC236}">
                              <a16:creationId xmlns:a16="http://schemas.microsoft.com/office/drawing/2014/main" id="{4B5FC9DD-2C1C-04B0-F7FD-982E50BB357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55" y="2400"/>
                          <a:ext cx="44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5" name="Text Box 56">
              <a:extLst>
                <a:ext uri="{FF2B5EF4-FFF2-40B4-BE49-F238E27FC236}">
                  <a16:creationId xmlns:a16="http://schemas.microsoft.com/office/drawing/2014/main" id="{3C7BD9AB-DD27-81FC-6C00-B3BAE461DD1C}"/>
                </a:ext>
              </a:extLst>
            </p:cNvPr>
            <p:cNvSpPr txBox="1">
              <a:spLocks noChangeArrowheads="1"/>
            </p:cNvSpPr>
            <p:nvPr/>
          </p:nvSpPr>
          <p:spPr bwMode="auto">
            <a:xfrm>
              <a:off x="3456" y="3264"/>
              <a:ext cx="92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UB=42.75</a:t>
              </a:r>
            </a:p>
            <a:p>
              <a:pPr>
                <a:spcBef>
                  <a:spcPct val="0"/>
                </a:spcBef>
                <a:buFontTx/>
                <a:buNone/>
              </a:pPr>
              <a:r>
                <a:rPr lang="en-US" altLang="en-US" sz="2400"/>
                <a:t>LB= -</a:t>
              </a:r>
              <a:r>
                <a:rPr lang="en-US" altLang="en-US" sz="2400">
                  <a:sym typeface="Symbol" panose="05050102010706020507" pitchFamily="18" charset="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6133">
                                            <p:txEl>
                                              <p:pRg st="0" end="0"/>
                                            </p:txEl>
                                          </p:spTgt>
                                        </p:tgtEl>
                                        <p:attrNameLst>
                                          <p:attrName>style.visibility</p:attrName>
                                        </p:attrNameLst>
                                      </p:cBhvr>
                                      <p:to>
                                        <p:strVal val="visible"/>
                                      </p:to>
                                    </p:set>
                                    <p:anim calcmode="lin" valueType="num">
                                      <p:cBhvr additive="base">
                                        <p:cTn id="7" dur="500" fill="hold"/>
                                        <p:tgtEl>
                                          <p:spTgt spid="17613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613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6139"/>
                                        </p:tgtEl>
                                        <p:attrNameLst>
                                          <p:attrName>style.visibility</p:attrName>
                                        </p:attrNameLst>
                                      </p:cBhvr>
                                      <p:to>
                                        <p:strVal val="visible"/>
                                      </p:to>
                                    </p:set>
                                    <p:anim calcmode="lin" valueType="num">
                                      <p:cBhvr additive="base">
                                        <p:cTn id="13" dur="500" fill="hold"/>
                                        <p:tgtEl>
                                          <p:spTgt spid="176139"/>
                                        </p:tgtEl>
                                        <p:attrNameLst>
                                          <p:attrName>ppt_x</p:attrName>
                                        </p:attrNameLst>
                                      </p:cBhvr>
                                      <p:tavLst>
                                        <p:tav tm="0">
                                          <p:val>
                                            <p:strVal val="0-#ppt_w/2"/>
                                          </p:val>
                                        </p:tav>
                                        <p:tav tm="100000">
                                          <p:val>
                                            <p:strVal val="#ppt_x"/>
                                          </p:val>
                                        </p:tav>
                                      </p:tavLst>
                                    </p:anim>
                                    <p:anim calcmode="lin" valueType="num">
                                      <p:cBhvr additive="base">
                                        <p:cTn id="14" dur="500" fill="hold"/>
                                        <p:tgtEl>
                                          <p:spTgt spid="17613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3" grpId="0" build="p" autoUpdateAnimBg="0"/>
      <p:bldP spid="176139"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DB941AD-20C4-BD93-B668-BC74AA21D5D6}"/>
              </a:ext>
            </a:extLst>
          </p:cNvPr>
          <p:cNvSpPr>
            <a:spLocks noGrp="1" noChangeArrowheads="1"/>
          </p:cNvSpPr>
          <p:nvPr>
            <p:ph type="title"/>
          </p:nvPr>
        </p:nvSpPr>
        <p:spPr>
          <a:xfrm>
            <a:off x="228600" y="228600"/>
            <a:ext cx="3200400" cy="1143000"/>
          </a:xfrm>
        </p:spPr>
        <p:txBody>
          <a:bodyPr>
            <a:normAutofit fontScale="90000"/>
          </a:bodyPr>
          <a:lstStyle/>
          <a:p>
            <a:pPr>
              <a:lnSpc>
                <a:spcPct val="80000"/>
              </a:lnSpc>
            </a:pPr>
            <a:r>
              <a:rPr lang="en-US" altLang="en-US" sz="4600"/>
              <a:t>Binary Tree, continued </a:t>
            </a:r>
          </a:p>
        </p:txBody>
      </p:sp>
      <p:sp>
        <p:nvSpPr>
          <p:cNvPr id="8195" name="Rectangle 3">
            <a:extLst>
              <a:ext uri="{FF2B5EF4-FFF2-40B4-BE49-F238E27FC236}">
                <a16:creationId xmlns:a16="http://schemas.microsoft.com/office/drawing/2014/main" id="{8D57239A-F0B5-1720-438C-5D6452244621}"/>
              </a:ext>
            </a:extLst>
          </p:cNvPr>
          <p:cNvSpPr>
            <a:spLocks noChangeArrowheads="1"/>
          </p:cNvSpPr>
          <p:nvPr/>
        </p:nvSpPr>
        <p:spPr bwMode="auto">
          <a:xfrm>
            <a:off x="152400" y="152400"/>
            <a:ext cx="89916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196" name="Rectangle 4">
            <a:extLst>
              <a:ext uri="{FF2B5EF4-FFF2-40B4-BE49-F238E27FC236}">
                <a16:creationId xmlns:a16="http://schemas.microsoft.com/office/drawing/2014/main" id="{4367178B-5E76-6532-44B2-20092475BAA4}"/>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25</a:t>
            </a:r>
          </a:p>
        </p:txBody>
      </p:sp>
      <p:sp>
        <p:nvSpPr>
          <p:cNvPr id="184325" name="Text Box 5">
            <a:extLst>
              <a:ext uri="{FF2B5EF4-FFF2-40B4-BE49-F238E27FC236}">
                <a16:creationId xmlns:a16="http://schemas.microsoft.com/office/drawing/2014/main" id="{34F3F629-3C12-12F0-DD2F-6418E93FA04C}"/>
              </a:ext>
            </a:extLst>
          </p:cNvPr>
          <p:cNvSpPr txBox="1">
            <a:spLocks noChangeArrowheads="1"/>
          </p:cNvSpPr>
          <p:nvPr/>
        </p:nvSpPr>
        <p:spPr bwMode="auto">
          <a:xfrm>
            <a:off x="228600" y="2895600"/>
            <a:ext cx="3352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Now branch again on the leaf with the highest UB:</a:t>
            </a:r>
          </a:p>
        </p:txBody>
      </p:sp>
      <p:sp>
        <p:nvSpPr>
          <p:cNvPr id="184326" name="Text Box 6">
            <a:extLst>
              <a:ext uri="{FF2B5EF4-FFF2-40B4-BE49-F238E27FC236}">
                <a16:creationId xmlns:a16="http://schemas.microsoft.com/office/drawing/2014/main" id="{E3BD1618-B736-270B-8F43-A76C2374B489}"/>
              </a:ext>
            </a:extLst>
          </p:cNvPr>
          <p:cNvSpPr txBox="1">
            <a:spLocks noChangeArrowheads="1"/>
          </p:cNvSpPr>
          <p:nvPr/>
        </p:nvSpPr>
        <p:spPr bwMode="auto">
          <a:xfrm>
            <a:off x="228600" y="4343400"/>
            <a:ext cx="32766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2973388" algn="l"/>
              </a:tabLst>
              <a:defRPr sz="3200">
                <a:solidFill>
                  <a:schemeClr val="tx1"/>
                </a:solidFill>
                <a:latin typeface="Times New Roman" panose="02020603050405020304" pitchFamily="18" charset="0"/>
              </a:defRPr>
            </a:lvl1pPr>
            <a:lvl2pPr marL="742950" indent="-285750">
              <a:spcBef>
                <a:spcPct val="20000"/>
              </a:spcBef>
              <a:buChar char="–"/>
              <a:tabLst>
                <a:tab pos="2973388" algn="l"/>
              </a:tabLst>
              <a:defRPr sz="2800">
                <a:solidFill>
                  <a:schemeClr val="tx1"/>
                </a:solidFill>
                <a:latin typeface="Times New Roman" panose="02020603050405020304" pitchFamily="18" charset="0"/>
              </a:defRPr>
            </a:lvl2pPr>
            <a:lvl3pPr marL="1143000" indent="-228600">
              <a:spcBef>
                <a:spcPct val="20000"/>
              </a:spcBef>
              <a:buChar char="•"/>
              <a:tabLst>
                <a:tab pos="2973388" algn="l"/>
              </a:tabLst>
              <a:defRPr sz="2400">
                <a:solidFill>
                  <a:schemeClr val="tx1"/>
                </a:solidFill>
                <a:latin typeface="Times New Roman" panose="02020603050405020304" pitchFamily="18" charset="0"/>
              </a:defRPr>
            </a:lvl3pPr>
            <a:lvl4pPr marL="1600200" indent="-228600">
              <a:spcBef>
                <a:spcPct val="20000"/>
              </a:spcBef>
              <a:buChar char="–"/>
              <a:tabLst>
                <a:tab pos="2973388" algn="l"/>
              </a:tabLst>
              <a:defRPr sz="2000">
                <a:solidFill>
                  <a:schemeClr val="tx1"/>
                </a:solidFill>
                <a:latin typeface="Times New Roman" panose="02020603050405020304" pitchFamily="18" charset="0"/>
              </a:defRPr>
            </a:lvl4pPr>
            <a:lvl5pPr marL="2057400" indent="-228600">
              <a:spcBef>
                <a:spcPct val="20000"/>
              </a:spcBef>
              <a:buChar char="»"/>
              <a:tabLst>
                <a:tab pos="297338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9pPr>
          </a:lstStyle>
          <a:p>
            <a:pPr>
              <a:spcBef>
                <a:spcPct val="0"/>
              </a:spcBef>
            </a:pPr>
            <a:r>
              <a:rPr lang="en-US" altLang="en-US" sz="2800"/>
              <a:t>  Note that variables can get constrained to be one value</a:t>
            </a:r>
          </a:p>
        </p:txBody>
      </p:sp>
      <p:grpSp>
        <p:nvGrpSpPr>
          <p:cNvPr id="8199" name="Group 7">
            <a:extLst>
              <a:ext uri="{FF2B5EF4-FFF2-40B4-BE49-F238E27FC236}">
                <a16:creationId xmlns:a16="http://schemas.microsoft.com/office/drawing/2014/main" id="{385725FE-9150-3434-7E16-1C144742361B}"/>
              </a:ext>
            </a:extLst>
          </p:cNvPr>
          <p:cNvGrpSpPr>
            <a:grpSpLocks/>
          </p:cNvGrpSpPr>
          <p:nvPr/>
        </p:nvGrpSpPr>
        <p:grpSpPr bwMode="auto">
          <a:xfrm>
            <a:off x="5334000" y="152400"/>
            <a:ext cx="3125788" cy="1371600"/>
            <a:chOff x="2304" y="1824"/>
            <a:chExt cx="1969" cy="864"/>
          </a:xfrm>
        </p:grpSpPr>
        <p:sp>
          <p:nvSpPr>
            <p:cNvPr id="8231" name="Oval 8">
              <a:extLst>
                <a:ext uri="{FF2B5EF4-FFF2-40B4-BE49-F238E27FC236}">
                  <a16:creationId xmlns:a16="http://schemas.microsoft.com/office/drawing/2014/main" id="{82749998-52E5-4840-8500-0911D92A050D}"/>
                </a:ext>
              </a:extLst>
            </p:cNvPr>
            <p:cNvSpPr>
              <a:spLocks noChangeArrowheads="1"/>
            </p:cNvSpPr>
            <p:nvPr/>
          </p:nvSpPr>
          <p:spPr bwMode="auto">
            <a:xfrm>
              <a:off x="2304" y="1824"/>
              <a:ext cx="960" cy="86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232" name="Text Box 9">
              <a:extLst>
                <a:ext uri="{FF2B5EF4-FFF2-40B4-BE49-F238E27FC236}">
                  <a16:creationId xmlns:a16="http://schemas.microsoft.com/office/drawing/2014/main" id="{C0D170EF-D6DC-1BC1-7EC5-BE236CCBCFCC}"/>
                </a:ext>
              </a:extLst>
            </p:cNvPr>
            <p:cNvSpPr txBox="1">
              <a:spLocks noChangeArrowheads="1"/>
            </p:cNvSpPr>
            <p:nvPr/>
          </p:nvSpPr>
          <p:spPr bwMode="auto">
            <a:xfrm>
              <a:off x="3350" y="2090"/>
              <a:ext cx="92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UB=43.59</a:t>
              </a:r>
            </a:p>
            <a:p>
              <a:pPr>
                <a:spcBef>
                  <a:spcPct val="0"/>
                </a:spcBef>
                <a:buFontTx/>
                <a:buNone/>
              </a:pPr>
              <a:r>
                <a:rPr lang="en-US" altLang="en-US" sz="2400"/>
                <a:t>LB= -</a:t>
              </a:r>
              <a:r>
                <a:rPr lang="en-US" altLang="en-US" sz="2400">
                  <a:sym typeface="Symbol" panose="05050102010706020507" pitchFamily="18" charset="2"/>
                </a:rPr>
                <a:t></a:t>
              </a:r>
              <a:endParaRPr lang="en-US" altLang="en-US" sz="2400"/>
            </a:p>
          </p:txBody>
        </p:sp>
        <p:graphicFrame>
          <p:nvGraphicFramePr>
            <p:cNvPr id="8233" name="Object 10">
              <a:extLst>
                <a:ext uri="{FF2B5EF4-FFF2-40B4-BE49-F238E27FC236}">
                  <a16:creationId xmlns:a16="http://schemas.microsoft.com/office/drawing/2014/main" id="{7B49350F-0F69-91F8-3C1D-B8E401120240}"/>
                </a:ext>
              </a:extLst>
            </p:cNvPr>
            <p:cNvGraphicFramePr>
              <a:graphicFrameLocks noChangeAspect="1"/>
            </p:cNvGraphicFramePr>
            <p:nvPr/>
          </p:nvGraphicFramePr>
          <p:xfrm>
            <a:off x="2400" y="1968"/>
            <a:ext cx="816" cy="582"/>
          </p:xfrm>
          <a:graphic>
            <a:graphicData uri="http://schemas.openxmlformats.org/presentationml/2006/ole">
              <mc:AlternateContent xmlns:mc="http://schemas.openxmlformats.org/markup-compatibility/2006">
                <mc:Choice xmlns:v="urn:schemas-microsoft-com:vml" Requires="v">
                  <p:oleObj name="Equation" r:id="rId2" imgW="1002865" imgH="660113" progId="Equation.3">
                    <p:embed/>
                  </p:oleObj>
                </mc:Choice>
                <mc:Fallback>
                  <p:oleObj name="Equation" r:id="rId2" imgW="1002865" imgH="660113" progId="Equation.3">
                    <p:embed/>
                    <p:pic>
                      <p:nvPicPr>
                        <p:cNvPr id="8233" name="Object 10">
                          <a:extLst>
                            <a:ext uri="{FF2B5EF4-FFF2-40B4-BE49-F238E27FC236}">
                              <a16:creationId xmlns:a16="http://schemas.microsoft.com/office/drawing/2014/main" id="{7B49350F-0F69-91F8-3C1D-B8E4011202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 y="1968"/>
                          <a:ext cx="816" cy="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00" name="Group 31">
            <a:extLst>
              <a:ext uri="{FF2B5EF4-FFF2-40B4-BE49-F238E27FC236}">
                <a16:creationId xmlns:a16="http://schemas.microsoft.com/office/drawing/2014/main" id="{B0F80A72-8DEA-51AA-2170-26D016C06232}"/>
              </a:ext>
            </a:extLst>
          </p:cNvPr>
          <p:cNvGrpSpPr>
            <a:grpSpLocks/>
          </p:cNvGrpSpPr>
          <p:nvPr/>
        </p:nvGrpSpPr>
        <p:grpSpPr bwMode="auto">
          <a:xfrm>
            <a:off x="2286000" y="1371600"/>
            <a:ext cx="6702425" cy="1676400"/>
            <a:chOff x="1538" y="1296"/>
            <a:chExt cx="4222" cy="1056"/>
          </a:xfrm>
        </p:grpSpPr>
        <p:sp>
          <p:nvSpPr>
            <p:cNvPr id="8221" name="Line 11">
              <a:extLst>
                <a:ext uri="{FF2B5EF4-FFF2-40B4-BE49-F238E27FC236}">
                  <a16:creationId xmlns:a16="http://schemas.microsoft.com/office/drawing/2014/main" id="{BA3DA9D6-7669-D2F4-52AD-913122114E20}"/>
                </a:ext>
              </a:extLst>
            </p:cNvPr>
            <p:cNvSpPr>
              <a:spLocks noChangeShapeType="1"/>
            </p:cNvSpPr>
            <p:nvPr/>
          </p:nvSpPr>
          <p:spPr bwMode="auto">
            <a:xfrm flipH="1">
              <a:off x="3367" y="1296"/>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22" name="Line 12">
              <a:extLst>
                <a:ext uri="{FF2B5EF4-FFF2-40B4-BE49-F238E27FC236}">
                  <a16:creationId xmlns:a16="http://schemas.microsoft.com/office/drawing/2014/main" id="{593B7A0E-2145-C9BB-B984-582BDEDBA01F}"/>
                </a:ext>
              </a:extLst>
            </p:cNvPr>
            <p:cNvSpPr>
              <a:spLocks noChangeShapeType="1"/>
            </p:cNvSpPr>
            <p:nvPr/>
          </p:nvSpPr>
          <p:spPr bwMode="auto">
            <a:xfrm rot="17181192" flipH="1">
              <a:off x="4207" y="1320"/>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8223" name="Object 13">
              <a:extLst>
                <a:ext uri="{FF2B5EF4-FFF2-40B4-BE49-F238E27FC236}">
                  <a16:creationId xmlns:a16="http://schemas.microsoft.com/office/drawing/2014/main" id="{E7EDB39D-B878-E8FE-3EA2-47877BEC6388}"/>
                </a:ext>
              </a:extLst>
            </p:cNvPr>
            <p:cNvGraphicFramePr>
              <a:graphicFrameLocks noChangeAspect="1"/>
            </p:cNvGraphicFramePr>
            <p:nvPr/>
          </p:nvGraphicFramePr>
          <p:xfrm>
            <a:off x="4423" y="1344"/>
            <a:ext cx="432" cy="257"/>
          </p:xfrm>
          <a:graphic>
            <a:graphicData uri="http://schemas.openxmlformats.org/presentationml/2006/ole">
              <mc:AlternateContent xmlns:mc="http://schemas.openxmlformats.org/markup-compatibility/2006">
                <mc:Choice xmlns:v="urn:schemas-microsoft-com:vml" Requires="v">
                  <p:oleObj name="Equation" r:id="rId4" imgW="393359" imgH="215713" progId="Equation.3">
                    <p:embed/>
                  </p:oleObj>
                </mc:Choice>
                <mc:Fallback>
                  <p:oleObj name="Equation" r:id="rId4" imgW="393359" imgH="215713" progId="Equation.3">
                    <p:embed/>
                    <p:pic>
                      <p:nvPicPr>
                        <p:cNvPr id="8223" name="Object 13">
                          <a:extLst>
                            <a:ext uri="{FF2B5EF4-FFF2-40B4-BE49-F238E27FC236}">
                              <a16:creationId xmlns:a16="http://schemas.microsoft.com/office/drawing/2014/main" id="{E7EDB39D-B878-E8FE-3EA2-47877BEC63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3" y="1344"/>
                          <a:ext cx="43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4" name="Object 14">
              <a:extLst>
                <a:ext uri="{FF2B5EF4-FFF2-40B4-BE49-F238E27FC236}">
                  <a16:creationId xmlns:a16="http://schemas.microsoft.com/office/drawing/2014/main" id="{F09AF422-B83D-6445-8FEE-784BC57886BC}"/>
                </a:ext>
              </a:extLst>
            </p:cNvPr>
            <p:cNvGraphicFramePr>
              <a:graphicFrameLocks noChangeAspect="1"/>
            </p:cNvGraphicFramePr>
            <p:nvPr/>
          </p:nvGraphicFramePr>
          <p:xfrm>
            <a:off x="2976" y="1296"/>
            <a:ext cx="446" cy="257"/>
          </p:xfrm>
          <a:graphic>
            <a:graphicData uri="http://schemas.openxmlformats.org/presentationml/2006/ole">
              <mc:AlternateContent xmlns:mc="http://schemas.openxmlformats.org/markup-compatibility/2006">
                <mc:Choice xmlns:v="urn:schemas-microsoft-com:vml" Requires="v">
                  <p:oleObj name="Equation" r:id="rId6" imgW="406048" imgH="215713" progId="Equation.3">
                    <p:embed/>
                  </p:oleObj>
                </mc:Choice>
                <mc:Fallback>
                  <p:oleObj name="Equation" r:id="rId6" imgW="406048" imgH="215713" progId="Equation.3">
                    <p:embed/>
                    <p:pic>
                      <p:nvPicPr>
                        <p:cNvPr id="8224" name="Object 14">
                          <a:extLst>
                            <a:ext uri="{FF2B5EF4-FFF2-40B4-BE49-F238E27FC236}">
                              <a16:creationId xmlns:a16="http://schemas.microsoft.com/office/drawing/2014/main" id="{F09AF422-B83D-6445-8FEE-784BC57886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6" y="1296"/>
                          <a:ext cx="44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5" name="Rectangle 15">
              <a:extLst>
                <a:ext uri="{FF2B5EF4-FFF2-40B4-BE49-F238E27FC236}">
                  <a16:creationId xmlns:a16="http://schemas.microsoft.com/office/drawing/2014/main" id="{F0DB040B-63B5-2323-ED74-AD6F21605127}"/>
                </a:ext>
              </a:extLst>
            </p:cNvPr>
            <p:cNvSpPr>
              <a:spLocks noChangeArrowheads="1"/>
            </p:cNvSpPr>
            <p:nvPr/>
          </p:nvSpPr>
          <p:spPr bwMode="auto">
            <a:xfrm>
              <a:off x="2450" y="1632"/>
              <a:ext cx="1248" cy="7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226" name="Rectangle 16">
              <a:extLst>
                <a:ext uri="{FF2B5EF4-FFF2-40B4-BE49-F238E27FC236}">
                  <a16:creationId xmlns:a16="http://schemas.microsoft.com/office/drawing/2014/main" id="{E55132F3-F07D-8BBC-F56A-9E0512AB46ED}"/>
                </a:ext>
              </a:extLst>
            </p:cNvPr>
            <p:cNvSpPr>
              <a:spLocks noChangeArrowheads="1"/>
            </p:cNvSpPr>
            <p:nvPr/>
          </p:nvSpPr>
          <p:spPr bwMode="auto">
            <a:xfrm>
              <a:off x="3842" y="1680"/>
              <a:ext cx="1152" cy="6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8227" name="Object 17">
              <a:extLst>
                <a:ext uri="{FF2B5EF4-FFF2-40B4-BE49-F238E27FC236}">
                  <a16:creationId xmlns:a16="http://schemas.microsoft.com/office/drawing/2014/main" id="{2DB3C668-75B3-0A2C-B7A5-84408B43B236}"/>
                </a:ext>
              </a:extLst>
            </p:cNvPr>
            <p:cNvGraphicFramePr>
              <a:graphicFrameLocks noChangeAspect="1"/>
            </p:cNvGraphicFramePr>
            <p:nvPr/>
          </p:nvGraphicFramePr>
          <p:xfrm>
            <a:off x="2470" y="1680"/>
            <a:ext cx="1228" cy="619"/>
          </p:xfrm>
          <a:graphic>
            <a:graphicData uri="http://schemas.openxmlformats.org/presentationml/2006/ole">
              <mc:AlternateContent xmlns:mc="http://schemas.openxmlformats.org/markup-compatibility/2006">
                <mc:Choice xmlns:v="urn:schemas-microsoft-com:vml" Requires="v">
                  <p:oleObj name="Equation" r:id="rId8" imgW="1384300" imgH="698500" progId="Equation.3">
                    <p:embed/>
                  </p:oleObj>
                </mc:Choice>
                <mc:Fallback>
                  <p:oleObj name="Equation" r:id="rId8" imgW="1384300" imgH="698500" progId="Equation.3">
                    <p:embed/>
                    <p:pic>
                      <p:nvPicPr>
                        <p:cNvPr id="8227" name="Object 17">
                          <a:extLst>
                            <a:ext uri="{FF2B5EF4-FFF2-40B4-BE49-F238E27FC236}">
                              <a16:creationId xmlns:a16="http://schemas.microsoft.com/office/drawing/2014/main" id="{2DB3C668-75B3-0A2C-B7A5-84408B43B23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70" y="1680"/>
                          <a:ext cx="1228" cy="6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8" name="Object 18">
              <a:extLst>
                <a:ext uri="{FF2B5EF4-FFF2-40B4-BE49-F238E27FC236}">
                  <a16:creationId xmlns:a16="http://schemas.microsoft.com/office/drawing/2014/main" id="{E1CC5F9C-E6BF-25CB-7375-DAA7CA801CA0}"/>
                </a:ext>
              </a:extLst>
            </p:cNvPr>
            <p:cNvGraphicFramePr>
              <a:graphicFrameLocks noChangeAspect="1"/>
            </p:cNvGraphicFramePr>
            <p:nvPr/>
          </p:nvGraphicFramePr>
          <p:xfrm>
            <a:off x="3890" y="1728"/>
            <a:ext cx="1115" cy="619"/>
          </p:xfrm>
          <a:graphic>
            <a:graphicData uri="http://schemas.openxmlformats.org/presentationml/2006/ole">
              <mc:AlternateContent xmlns:mc="http://schemas.openxmlformats.org/markup-compatibility/2006">
                <mc:Choice xmlns:v="urn:schemas-microsoft-com:vml" Requires="v">
                  <p:oleObj name="Equation" r:id="rId10" imgW="1257300" imgH="698500" progId="Equation.3">
                    <p:embed/>
                  </p:oleObj>
                </mc:Choice>
                <mc:Fallback>
                  <p:oleObj name="Equation" r:id="rId10" imgW="1257300" imgH="698500" progId="Equation.3">
                    <p:embed/>
                    <p:pic>
                      <p:nvPicPr>
                        <p:cNvPr id="8228" name="Object 18">
                          <a:extLst>
                            <a:ext uri="{FF2B5EF4-FFF2-40B4-BE49-F238E27FC236}">
                              <a16:creationId xmlns:a16="http://schemas.microsoft.com/office/drawing/2014/main" id="{E1CC5F9C-E6BF-25CB-7375-DAA7CA801CA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90" y="1728"/>
                          <a:ext cx="1115" cy="6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9" name="Text Box 19">
              <a:extLst>
                <a:ext uri="{FF2B5EF4-FFF2-40B4-BE49-F238E27FC236}">
                  <a16:creationId xmlns:a16="http://schemas.microsoft.com/office/drawing/2014/main" id="{804A1056-EA89-51FA-7467-FD3D27EC7958}"/>
                </a:ext>
              </a:extLst>
            </p:cNvPr>
            <p:cNvSpPr txBox="1">
              <a:spLocks noChangeArrowheads="1"/>
            </p:cNvSpPr>
            <p:nvPr/>
          </p:nvSpPr>
          <p:spPr bwMode="auto">
            <a:xfrm>
              <a:off x="1538" y="1632"/>
              <a:ext cx="82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UB=41.2</a:t>
              </a:r>
            </a:p>
            <a:p>
              <a:pPr>
                <a:spcBef>
                  <a:spcPct val="0"/>
                </a:spcBef>
                <a:buFontTx/>
                <a:buNone/>
              </a:pPr>
              <a:r>
                <a:rPr lang="en-US" altLang="en-US" sz="2400"/>
                <a:t>LB=-</a:t>
              </a:r>
              <a:r>
                <a:rPr lang="en-US" altLang="en-US" sz="2400">
                  <a:sym typeface="Symbol" panose="05050102010706020507" pitchFamily="18" charset="2"/>
                </a:rPr>
                <a:t></a:t>
              </a:r>
              <a:endParaRPr lang="en-US" altLang="en-US" sz="2400"/>
            </a:p>
          </p:txBody>
        </p:sp>
        <p:sp>
          <p:nvSpPr>
            <p:cNvPr id="8230" name="Text Box 20">
              <a:extLst>
                <a:ext uri="{FF2B5EF4-FFF2-40B4-BE49-F238E27FC236}">
                  <a16:creationId xmlns:a16="http://schemas.microsoft.com/office/drawing/2014/main" id="{C188ADB3-9573-EC39-1F13-A587D4E3A282}"/>
                </a:ext>
              </a:extLst>
            </p:cNvPr>
            <p:cNvSpPr txBox="1">
              <a:spLocks noChangeArrowheads="1"/>
            </p:cNvSpPr>
            <p:nvPr/>
          </p:nvSpPr>
          <p:spPr bwMode="auto">
            <a:xfrm>
              <a:off x="5042" y="1642"/>
              <a:ext cx="71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UB=43</a:t>
              </a:r>
            </a:p>
            <a:p>
              <a:pPr>
                <a:spcBef>
                  <a:spcPct val="0"/>
                </a:spcBef>
                <a:buFontTx/>
                <a:buNone/>
              </a:pPr>
              <a:r>
                <a:rPr lang="en-US" altLang="en-US" sz="2400"/>
                <a:t>LB= -</a:t>
              </a:r>
              <a:r>
                <a:rPr lang="en-US" altLang="en-US" sz="2400">
                  <a:sym typeface="Symbol" panose="05050102010706020507" pitchFamily="18" charset="2"/>
                </a:rPr>
                <a:t></a:t>
              </a:r>
            </a:p>
          </p:txBody>
        </p:sp>
      </p:grpSp>
      <p:sp>
        <p:nvSpPr>
          <p:cNvPr id="8201" name="Line 22">
            <a:extLst>
              <a:ext uri="{FF2B5EF4-FFF2-40B4-BE49-F238E27FC236}">
                <a16:creationId xmlns:a16="http://schemas.microsoft.com/office/drawing/2014/main" id="{263B9C8C-593D-3279-A06C-BA4CEA899A88}"/>
              </a:ext>
            </a:extLst>
          </p:cNvPr>
          <p:cNvSpPr>
            <a:spLocks noChangeShapeType="1"/>
          </p:cNvSpPr>
          <p:nvPr/>
        </p:nvSpPr>
        <p:spPr bwMode="auto">
          <a:xfrm flipH="1">
            <a:off x="6172200" y="3048000"/>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02" name="Line 23">
            <a:extLst>
              <a:ext uri="{FF2B5EF4-FFF2-40B4-BE49-F238E27FC236}">
                <a16:creationId xmlns:a16="http://schemas.microsoft.com/office/drawing/2014/main" id="{F0B3D736-1CA5-8D09-A5DF-8765B171ACFA}"/>
              </a:ext>
            </a:extLst>
          </p:cNvPr>
          <p:cNvSpPr>
            <a:spLocks noChangeShapeType="1"/>
          </p:cNvSpPr>
          <p:nvPr/>
        </p:nvSpPr>
        <p:spPr bwMode="auto">
          <a:xfrm>
            <a:off x="7315200" y="3048000"/>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03" name="Rectangle 24">
            <a:extLst>
              <a:ext uri="{FF2B5EF4-FFF2-40B4-BE49-F238E27FC236}">
                <a16:creationId xmlns:a16="http://schemas.microsoft.com/office/drawing/2014/main" id="{C60CB96E-7468-0305-E320-B775CE78CDF7}"/>
              </a:ext>
            </a:extLst>
          </p:cNvPr>
          <p:cNvSpPr>
            <a:spLocks noChangeArrowheads="1"/>
          </p:cNvSpPr>
          <p:nvPr/>
        </p:nvSpPr>
        <p:spPr bwMode="auto">
          <a:xfrm>
            <a:off x="5105400" y="3657600"/>
            <a:ext cx="1828800" cy="76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204" name="Rectangle 25">
            <a:extLst>
              <a:ext uri="{FF2B5EF4-FFF2-40B4-BE49-F238E27FC236}">
                <a16:creationId xmlns:a16="http://schemas.microsoft.com/office/drawing/2014/main" id="{27299617-8298-8C94-876D-D5B0F19EBE55}"/>
              </a:ext>
            </a:extLst>
          </p:cNvPr>
          <p:cNvSpPr>
            <a:spLocks noChangeArrowheads="1"/>
          </p:cNvSpPr>
          <p:nvPr/>
        </p:nvSpPr>
        <p:spPr bwMode="auto">
          <a:xfrm>
            <a:off x="7086600" y="3657600"/>
            <a:ext cx="1447800" cy="76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8205" name="Object 26">
            <a:extLst>
              <a:ext uri="{FF2B5EF4-FFF2-40B4-BE49-F238E27FC236}">
                <a16:creationId xmlns:a16="http://schemas.microsoft.com/office/drawing/2014/main" id="{6F7EE1B6-C6B8-E958-25B9-7A87E2A73EE6}"/>
              </a:ext>
            </a:extLst>
          </p:cNvPr>
          <p:cNvGraphicFramePr>
            <a:graphicFrameLocks noChangeAspect="1"/>
          </p:cNvGraphicFramePr>
          <p:nvPr/>
        </p:nvGraphicFramePr>
        <p:xfrm>
          <a:off x="5105400" y="3733800"/>
          <a:ext cx="1828800" cy="644525"/>
        </p:xfrm>
        <a:graphic>
          <a:graphicData uri="http://schemas.openxmlformats.org/presentationml/2006/ole">
            <mc:AlternateContent xmlns:mc="http://schemas.openxmlformats.org/markup-compatibility/2006">
              <mc:Choice xmlns:v="urn:schemas-microsoft-com:vml" Requires="v">
                <p:oleObj name="Equation" r:id="rId12" imgW="1447800" imgH="457200" progId="Equation.3">
                  <p:embed/>
                </p:oleObj>
              </mc:Choice>
              <mc:Fallback>
                <p:oleObj name="Equation" r:id="rId12" imgW="1447800" imgH="457200" progId="Equation.3">
                  <p:embed/>
                  <p:pic>
                    <p:nvPicPr>
                      <p:cNvPr id="8205" name="Object 26">
                        <a:extLst>
                          <a:ext uri="{FF2B5EF4-FFF2-40B4-BE49-F238E27FC236}">
                            <a16:creationId xmlns:a16="http://schemas.microsoft.com/office/drawing/2014/main" id="{6F7EE1B6-C6B8-E958-25B9-7A87E2A73E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05400" y="3733800"/>
                        <a:ext cx="1828800"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6" name="Object 27">
            <a:extLst>
              <a:ext uri="{FF2B5EF4-FFF2-40B4-BE49-F238E27FC236}">
                <a16:creationId xmlns:a16="http://schemas.microsoft.com/office/drawing/2014/main" id="{7DCE3BE1-87EE-4BCD-5EAA-29F4D4854F45}"/>
              </a:ext>
            </a:extLst>
          </p:cNvPr>
          <p:cNvGraphicFramePr>
            <a:graphicFrameLocks noChangeAspect="1"/>
          </p:cNvGraphicFramePr>
          <p:nvPr/>
        </p:nvGraphicFramePr>
        <p:xfrm>
          <a:off x="7237413" y="3768725"/>
          <a:ext cx="1144587" cy="573088"/>
        </p:xfrm>
        <a:graphic>
          <a:graphicData uri="http://schemas.openxmlformats.org/presentationml/2006/ole">
            <mc:AlternateContent xmlns:mc="http://schemas.openxmlformats.org/markup-compatibility/2006">
              <mc:Choice xmlns:v="urn:schemas-microsoft-com:vml" Requires="v">
                <p:oleObj name="Equation" r:id="rId14" imgW="812447" imgH="406224" progId="Equation.3">
                  <p:embed/>
                </p:oleObj>
              </mc:Choice>
              <mc:Fallback>
                <p:oleObj name="Equation" r:id="rId14" imgW="812447" imgH="406224" progId="Equation.3">
                  <p:embed/>
                  <p:pic>
                    <p:nvPicPr>
                      <p:cNvPr id="8206" name="Object 27">
                        <a:extLst>
                          <a:ext uri="{FF2B5EF4-FFF2-40B4-BE49-F238E27FC236}">
                            <a16:creationId xmlns:a16="http://schemas.microsoft.com/office/drawing/2014/main" id="{7DCE3BE1-87EE-4BCD-5EAA-29F4D4854F4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37413" y="3768725"/>
                        <a:ext cx="1144587"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7" name="Object 28">
            <a:extLst>
              <a:ext uri="{FF2B5EF4-FFF2-40B4-BE49-F238E27FC236}">
                <a16:creationId xmlns:a16="http://schemas.microsoft.com/office/drawing/2014/main" id="{9FFCC736-2F44-8A48-36C7-96CD2A63F875}"/>
              </a:ext>
            </a:extLst>
          </p:cNvPr>
          <p:cNvGraphicFramePr>
            <a:graphicFrameLocks noChangeAspect="1"/>
          </p:cNvGraphicFramePr>
          <p:nvPr/>
        </p:nvGraphicFramePr>
        <p:xfrm>
          <a:off x="5475288" y="3124200"/>
          <a:ext cx="730250" cy="407988"/>
        </p:xfrm>
        <a:graphic>
          <a:graphicData uri="http://schemas.openxmlformats.org/presentationml/2006/ole">
            <mc:AlternateContent xmlns:mc="http://schemas.openxmlformats.org/markup-compatibility/2006">
              <mc:Choice xmlns:v="urn:schemas-microsoft-com:vml" Requires="v">
                <p:oleObj name="Equation" r:id="rId16" imgW="418918" imgH="215806" progId="Equation.3">
                  <p:embed/>
                </p:oleObj>
              </mc:Choice>
              <mc:Fallback>
                <p:oleObj name="Equation" r:id="rId16" imgW="418918" imgH="215806" progId="Equation.3">
                  <p:embed/>
                  <p:pic>
                    <p:nvPicPr>
                      <p:cNvPr id="8207" name="Object 28">
                        <a:extLst>
                          <a:ext uri="{FF2B5EF4-FFF2-40B4-BE49-F238E27FC236}">
                            <a16:creationId xmlns:a16="http://schemas.microsoft.com/office/drawing/2014/main" id="{9FFCC736-2F44-8A48-36C7-96CD2A63F87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475288" y="3124200"/>
                        <a:ext cx="730250"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8" name="Object 29">
            <a:extLst>
              <a:ext uri="{FF2B5EF4-FFF2-40B4-BE49-F238E27FC236}">
                <a16:creationId xmlns:a16="http://schemas.microsoft.com/office/drawing/2014/main" id="{258D24FE-85E9-8CC4-FEFA-DFF18A7553BC}"/>
              </a:ext>
            </a:extLst>
          </p:cNvPr>
          <p:cNvGraphicFramePr>
            <a:graphicFrameLocks noChangeAspect="1"/>
          </p:cNvGraphicFramePr>
          <p:nvPr/>
        </p:nvGraphicFramePr>
        <p:xfrm>
          <a:off x="7554913" y="3124200"/>
          <a:ext cx="708025" cy="407988"/>
        </p:xfrm>
        <a:graphic>
          <a:graphicData uri="http://schemas.openxmlformats.org/presentationml/2006/ole">
            <mc:AlternateContent xmlns:mc="http://schemas.openxmlformats.org/markup-compatibility/2006">
              <mc:Choice xmlns:v="urn:schemas-microsoft-com:vml" Requires="v">
                <p:oleObj name="Equation" r:id="rId18" imgW="406048" imgH="215713" progId="Equation.3">
                  <p:embed/>
                </p:oleObj>
              </mc:Choice>
              <mc:Fallback>
                <p:oleObj name="Equation" r:id="rId18" imgW="406048" imgH="215713" progId="Equation.3">
                  <p:embed/>
                  <p:pic>
                    <p:nvPicPr>
                      <p:cNvPr id="8208" name="Object 29">
                        <a:extLst>
                          <a:ext uri="{FF2B5EF4-FFF2-40B4-BE49-F238E27FC236}">
                            <a16:creationId xmlns:a16="http://schemas.microsoft.com/office/drawing/2014/main" id="{258D24FE-85E9-8CC4-FEFA-DFF18A7553B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554913" y="3124200"/>
                        <a:ext cx="708025"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9" name="Text Box 30">
            <a:extLst>
              <a:ext uri="{FF2B5EF4-FFF2-40B4-BE49-F238E27FC236}">
                <a16:creationId xmlns:a16="http://schemas.microsoft.com/office/drawing/2014/main" id="{BC151887-7C51-59BE-040B-3E5A25C8E5CA}"/>
              </a:ext>
            </a:extLst>
          </p:cNvPr>
          <p:cNvSpPr txBox="1">
            <a:spLocks noChangeArrowheads="1"/>
          </p:cNvSpPr>
          <p:nvPr/>
        </p:nvSpPr>
        <p:spPr bwMode="auto">
          <a:xfrm>
            <a:off x="3657600" y="3657600"/>
            <a:ext cx="14652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UB=42.75</a:t>
            </a:r>
          </a:p>
          <a:p>
            <a:pPr>
              <a:spcBef>
                <a:spcPct val="0"/>
              </a:spcBef>
              <a:buFontTx/>
              <a:buNone/>
            </a:pPr>
            <a:r>
              <a:rPr lang="en-US" altLang="en-US" sz="2400"/>
              <a:t>LB= -</a:t>
            </a:r>
            <a:r>
              <a:rPr lang="en-US" altLang="en-US" sz="2400">
                <a:sym typeface="Symbol" panose="05050102010706020507" pitchFamily="18" charset="2"/>
              </a:rPr>
              <a:t></a:t>
            </a:r>
          </a:p>
        </p:txBody>
      </p:sp>
      <p:grpSp>
        <p:nvGrpSpPr>
          <p:cNvPr id="4" name="Group 44">
            <a:extLst>
              <a:ext uri="{FF2B5EF4-FFF2-40B4-BE49-F238E27FC236}">
                <a16:creationId xmlns:a16="http://schemas.microsoft.com/office/drawing/2014/main" id="{ACE91AB3-609D-A2B6-633A-7061EF103E7E}"/>
              </a:ext>
            </a:extLst>
          </p:cNvPr>
          <p:cNvGrpSpPr>
            <a:grpSpLocks/>
          </p:cNvGrpSpPr>
          <p:nvPr/>
        </p:nvGrpSpPr>
        <p:grpSpPr bwMode="auto">
          <a:xfrm>
            <a:off x="3106738" y="4419600"/>
            <a:ext cx="6037262" cy="1431925"/>
            <a:chOff x="1957" y="2880"/>
            <a:chExt cx="3803" cy="902"/>
          </a:xfrm>
        </p:grpSpPr>
        <p:sp>
          <p:nvSpPr>
            <p:cNvPr id="8211" name="Line 34">
              <a:extLst>
                <a:ext uri="{FF2B5EF4-FFF2-40B4-BE49-F238E27FC236}">
                  <a16:creationId xmlns:a16="http://schemas.microsoft.com/office/drawing/2014/main" id="{4A7ACB01-E80E-825D-EEE5-9B9609EC75E3}"/>
                </a:ext>
              </a:extLst>
            </p:cNvPr>
            <p:cNvSpPr>
              <a:spLocks noChangeShapeType="1"/>
            </p:cNvSpPr>
            <p:nvPr/>
          </p:nvSpPr>
          <p:spPr bwMode="auto">
            <a:xfrm flipH="1">
              <a:off x="3552" y="2880"/>
              <a:ext cx="192"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12" name="Line 35">
              <a:extLst>
                <a:ext uri="{FF2B5EF4-FFF2-40B4-BE49-F238E27FC236}">
                  <a16:creationId xmlns:a16="http://schemas.microsoft.com/office/drawing/2014/main" id="{4FB019E3-8BE4-C855-66E2-F4E4D2C06047}"/>
                </a:ext>
              </a:extLst>
            </p:cNvPr>
            <p:cNvSpPr>
              <a:spLocks noChangeShapeType="1"/>
            </p:cNvSpPr>
            <p:nvPr/>
          </p:nvSpPr>
          <p:spPr bwMode="auto">
            <a:xfrm>
              <a:off x="4272" y="2880"/>
              <a:ext cx="192"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13" name="Rectangle 36">
              <a:extLst>
                <a:ext uri="{FF2B5EF4-FFF2-40B4-BE49-F238E27FC236}">
                  <a16:creationId xmlns:a16="http://schemas.microsoft.com/office/drawing/2014/main" id="{0543F7D7-C976-BF98-2D96-1CD96A94D635}"/>
                </a:ext>
              </a:extLst>
            </p:cNvPr>
            <p:cNvSpPr>
              <a:spLocks noChangeArrowheads="1"/>
            </p:cNvSpPr>
            <p:nvPr/>
          </p:nvSpPr>
          <p:spPr bwMode="auto">
            <a:xfrm>
              <a:off x="2880" y="3264"/>
              <a:ext cx="1152"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214" name="Rectangle 37">
              <a:extLst>
                <a:ext uri="{FF2B5EF4-FFF2-40B4-BE49-F238E27FC236}">
                  <a16:creationId xmlns:a16="http://schemas.microsoft.com/office/drawing/2014/main" id="{FB0D0E2F-C280-2154-4E1F-A71190820CB5}"/>
                </a:ext>
              </a:extLst>
            </p:cNvPr>
            <p:cNvSpPr>
              <a:spLocks noChangeArrowheads="1"/>
            </p:cNvSpPr>
            <p:nvPr/>
          </p:nvSpPr>
          <p:spPr bwMode="auto">
            <a:xfrm>
              <a:off x="4128" y="3264"/>
              <a:ext cx="912"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8215" name="Object 38">
              <a:extLst>
                <a:ext uri="{FF2B5EF4-FFF2-40B4-BE49-F238E27FC236}">
                  <a16:creationId xmlns:a16="http://schemas.microsoft.com/office/drawing/2014/main" id="{9CA14307-6233-1441-9425-6AC7947F2CA3}"/>
                </a:ext>
              </a:extLst>
            </p:cNvPr>
            <p:cNvGraphicFramePr>
              <a:graphicFrameLocks noChangeAspect="1"/>
            </p:cNvGraphicFramePr>
            <p:nvPr/>
          </p:nvGraphicFramePr>
          <p:xfrm>
            <a:off x="2880" y="3312"/>
            <a:ext cx="1104" cy="458"/>
          </p:xfrm>
          <a:graphic>
            <a:graphicData uri="http://schemas.openxmlformats.org/presentationml/2006/ole">
              <mc:AlternateContent xmlns:mc="http://schemas.openxmlformats.org/markup-compatibility/2006">
                <mc:Choice xmlns:v="urn:schemas-microsoft-com:vml" Requires="v">
                  <p:oleObj name="Equation" r:id="rId20" imgW="1130300" imgH="457200" progId="Equation.3">
                    <p:embed/>
                  </p:oleObj>
                </mc:Choice>
                <mc:Fallback>
                  <p:oleObj name="Equation" r:id="rId20" imgW="1130300" imgH="457200" progId="Equation.3">
                    <p:embed/>
                    <p:pic>
                      <p:nvPicPr>
                        <p:cNvPr id="8215" name="Object 38">
                          <a:extLst>
                            <a:ext uri="{FF2B5EF4-FFF2-40B4-BE49-F238E27FC236}">
                              <a16:creationId xmlns:a16="http://schemas.microsoft.com/office/drawing/2014/main" id="{9CA14307-6233-1441-9425-6AC7947F2CA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80" y="3312"/>
                          <a:ext cx="1104" cy="4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6" name="Object 39">
              <a:extLst>
                <a:ext uri="{FF2B5EF4-FFF2-40B4-BE49-F238E27FC236}">
                  <a16:creationId xmlns:a16="http://schemas.microsoft.com/office/drawing/2014/main" id="{C5A920AA-0B2A-9943-42EB-DF860FB7F86B}"/>
                </a:ext>
              </a:extLst>
            </p:cNvPr>
            <p:cNvGraphicFramePr>
              <a:graphicFrameLocks noChangeAspect="1"/>
            </p:cNvGraphicFramePr>
            <p:nvPr/>
          </p:nvGraphicFramePr>
          <p:xfrm>
            <a:off x="4111" y="3312"/>
            <a:ext cx="946" cy="406"/>
          </p:xfrm>
          <a:graphic>
            <a:graphicData uri="http://schemas.openxmlformats.org/presentationml/2006/ole">
              <mc:AlternateContent xmlns:mc="http://schemas.openxmlformats.org/markup-compatibility/2006">
                <mc:Choice xmlns:v="urn:schemas-microsoft-com:vml" Requires="v">
                  <p:oleObj name="Equation" r:id="rId22" imgW="1066800" imgH="457200" progId="Equation.3">
                    <p:embed/>
                  </p:oleObj>
                </mc:Choice>
                <mc:Fallback>
                  <p:oleObj name="Equation" r:id="rId22" imgW="1066800" imgH="457200" progId="Equation.3">
                    <p:embed/>
                    <p:pic>
                      <p:nvPicPr>
                        <p:cNvPr id="8216" name="Object 39">
                          <a:extLst>
                            <a:ext uri="{FF2B5EF4-FFF2-40B4-BE49-F238E27FC236}">
                              <a16:creationId xmlns:a16="http://schemas.microsoft.com/office/drawing/2014/main" id="{C5A920AA-0B2A-9943-42EB-DF860FB7F86B}"/>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111" y="3312"/>
                          <a:ext cx="94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7" name="Object 40">
              <a:extLst>
                <a:ext uri="{FF2B5EF4-FFF2-40B4-BE49-F238E27FC236}">
                  <a16:creationId xmlns:a16="http://schemas.microsoft.com/office/drawing/2014/main" id="{7373D5CA-BFA5-B45F-7A9F-1FA31EB34462}"/>
                </a:ext>
              </a:extLst>
            </p:cNvPr>
            <p:cNvGraphicFramePr>
              <a:graphicFrameLocks noChangeAspect="1"/>
            </p:cNvGraphicFramePr>
            <p:nvPr/>
          </p:nvGraphicFramePr>
          <p:xfrm>
            <a:off x="4464" y="2928"/>
            <a:ext cx="446" cy="257"/>
          </p:xfrm>
          <a:graphic>
            <a:graphicData uri="http://schemas.openxmlformats.org/presentationml/2006/ole">
              <mc:AlternateContent xmlns:mc="http://schemas.openxmlformats.org/markup-compatibility/2006">
                <mc:Choice xmlns:v="urn:schemas-microsoft-com:vml" Requires="v">
                  <p:oleObj name="Equation" r:id="rId24" imgW="406048" imgH="215713" progId="Equation.3">
                    <p:embed/>
                  </p:oleObj>
                </mc:Choice>
                <mc:Fallback>
                  <p:oleObj name="Equation" r:id="rId24" imgW="406048" imgH="215713" progId="Equation.3">
                    <p:embed/>
                    <p:pic>
                      <p:nvPicPr>
                        <p:cNvPr id="8217" name="Object 40">
                          <a:extLst>
                            <a:ext uri="{FF2B5EF4-FFF2-40B4-BE49-F238E27FC236}">
                              <a16:creationId xmlns:a16="http://schemas.microsoft.com/office/drawing/2014/main" id="{7373D5CA-BFA5-B45F-7A9F-1FA31EB34462}"/>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464" y="2928"/>
                          <a:ext cx="44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8" name="Object 41">
              <a:extLst>
                <a:ext uri="{FF2B5EF4-FFF2-40B4-BE49-F238E27FC236}">
                  <a16:creationId xmlns:a16="http://schemas.microsoft.com/office/drawing/2014/main" id="{7B9A5714-3A4D-4369-4D6A-06387CE7B138}"/>
                </a:ext>
              </a:extLst>
            </p:cNvPr>
            <p:cNvGraphicFramePr>
              <a:graphicFrameLocks noChangeAspect="1"/>
            </p:cNvGraphicFramePr>
            <p:nvPr/>
          </p:nvGraphicFramePr>
          <p:xfrm>
            <a:off x="3168" y="2928"/>
            <a:ext cx="432" cy="257"/>
          </p:xfrm>
          <a:graphic>
            <a:graphicData uri="http://schemas.openxmlformats.org/presentationml/2006/ole">
              <mc:AlternateContent xmlns:mc="http://schemas.openxmlformats.org/markup-compatibility/2006">
                <mc:Choice xmlns:v="urn:schemas-microsoft-com:vml" Requires="v">
                  <p:oleObj name="Equation" r:id="rId26" imgW="393359" imgH="215713" progId="Equation.3">
                    <p:embed/>
                  </p:oleObj>
                </mc:Choice>
                <mc:Fallback>
                  <p:oleObj name="Equation" r:id="rId26" imgW="393359" imgH="215713" progId="Equation.3">
                    <p:embed/>
                    <p:pic>
                      <p:nvPicPr>
                        <p:cNvPr id="8218" name="Object 41">
                          <a:extLst>
                            <a:ext uri="{FF2B5EF4-FFF2-40B4-BE49-F238E27FC236}">
                              <a16:creationId xmlns:a16="http://schemas.microsoft.com/office/drawing/2014/main" id="{7B9A5714-3A4D-4369-4D6A-06387CE7B138}"/>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168" y="2928"/>
                          <a:ext cx="43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9" name="Text Box 42">
              <a:extLst>
                <a:ext uri="{FF2B5EF4-FFF2-40B4-BE49-F238E27FC236}">
                  <a16:creationId xmlns:a16="http://schemas.microsoft.com/office/drawing/2014/main" id="{567905EC-4745-E778-0CE5-80E0D9D69A30}"/>
                </a:ext>
              </a:extLst>
            </p:cNvPr>
            <p:cNvSpPr txBox="1">
              <a:spLocks noChangeArrowheads="1"/>
            </p:cNvSpPr>
            <p:nvPr/>
          </p:nvSpPr>
          <p:spPr bwMode="auto">
            <a:xfrm>
              <a:off x="1957" y="3264"/>
              <a:ext cx="92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UB=42.75</a:t>
              </a:r>
            </a:p>
            <a:p>
              <a:pPr>
                <a:spcBef>
                  <a:spcPct val="0"/>
                </a:spcBef>
                <a:buFontTx/>
                <a:buNone/>
              </a:pPr>
              <a:r>
                <a:rPr lang="en-US" altLang="en-US" sz="2400"/>
                <a:t>LB= 41</a:t>
              </a:r>
              <a:endParaRPr lang="en-US" altLang="en-US" sz="2400">
                <a:sym typeface="Symbol" panose="05050102010706020507" pitchFamily="18" charset="2"/>
              </a:endParaRPr>
            </a:p>
          </p:txBody>
        </p:sp>
        <p:sp>
          <p:nvSpPr>
            <p:cNvPr id="8220" name="Text Box 43">
              <a:extLst>
                <a:ext uri="{FF2B5EF4-FFF2-40B4-BE49-F238E27FC236}">
                  <a16:creationId xmlns:a16="http://schemas.microsoft.com/office/drawing/2014/main" id="{3CFCD68A-A615-381D-517C-4AD4C31B6F16}"/>
                </a:ext>
              </a:extLst>
            </p:cNvPr>
            <p:cNvSpPr txBox="1">
              <a:spLocks noChangeArrowheads="1"/>
            </p:cNvSpPr>
            <p:nvPr/>
          </p:nvSpPr>
          <p:spPr bwMode="auto">
            <a:xfrm>
              <a:off x="4992" y="3360"/>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UB=42.75</a:t>
              </a:r>
            </a:p>
            <a:p>
              <a:pPr>
                <a:spcBef>
                  <a:spcPct val="0"/>
                </a:spcBef>
                <a:buFontTx/>
                <a:buNone/>
              </a:pPr>
              <a:r>
                <a:rPr lang="en-US" altLang="en-US" sz="1800"/>
                <a:t>LB= 42</a:t>
              </a:r>
              <a:endParaRPr lang="en-US" altLang="en-US" sz="1800">
                <a:sym typeface="Symbol" panose="05050102010706020507" pitchFamily="18"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4325">
                                            <p:txEl>
                                              <p:pRg st="0" end="0"/>
                                            </p:txEl>
                                          </p:spTgt>
                                        </p:tgtEl>
                                        <p:attrNameLst>
                                          <p:attrName>style.visibility</p:attrName>
                                        </p:attrNameLst>
                                      </p:cBhvr>
                                      <p:to>
                                        <p:strVal val="visible"/>
                                      </p:to>
                                    </p:set>
                                    <p:anim calcmode="lin" valueType="num">
                                      <p:cBhvr additive="base">
                                        <p:cTn id="7" dur="500" fill="hold"/>
                                        <p:tgtEl>
                                          <p:spTgt spid="18432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432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4326"/>
                                        </p:tgtEl>
                                        <p:attrNameLst>
                                          <p:attrName>style.visibility</p:attrName>
                                        </p:attrNameLst>
                                      </p:cBhvr>
                                      <p:to>
                                        <p:strVal val="visible"/>
                                      </p:to>
                                    </p:set>
                                    <p:anim calcmode="lin" valueType="num">
                                      <p:cBhvr additive="base">
                                        <p:cTn id="19" dur="500" fill="hold"/>
                                        <p:tgtEl>
                                          <p:spTgt spid="184326"/>
                                        </p:tgtEl>
                                        <p:attrNameLst>
                                          <p:attrName>ppt_x</p:attrName>
                                        </p:attrNameLst>
                                      </p:cBhvr>
                                      <p:tavLst>
                                        <p:tav tm="0">
                                          <p:val>
                                            <p:strVal val="0-#ppt_w/2"/>
                                          </p:val>
                                        </p:tav>
                                        <p:tav tm="100000">
                                          <p:val>
                                            <p:strVal val="#ppt_x"/>
                                          </p:val>
                                        </p:tav>
                                      </p:tavLst>
                                    </p:anim>
                                    <p:anim calcmode="lin" valueType="num">
                                      <p:cBhvr additive="base">
                                        <p:cTn id="20" dur="500" fill="hold"/>
                                        <p:tgtEl>
                                          <p:spTgt spid="1843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5" grpId="0" build="p" autoUpdateAnimBg="0"/>
      <p:bldP spid="184326"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5EA83B2-E391-5E53-DFD4-B63C076C4293}"/>
              </a:ext>
            </a:extLst>
          </p:cNvPr>
          <p:cNvSpPr>
            <a:spLocks noGrp="1" noChangeArrowheads="1"/>
          </p:cNvSpPr>
          <p:nvPr>
            <p:ph type="title"/>
          </p:nvPr>
        </p:nvSpPr>
        <p:spPr>
          <a:xfrm>
            <a:off x="228600" y="228600"/>
            <a:ext cx="3200400" cy="1143000"/>
          </a:xfrm>
        </p:spPr>
        <p:txBody>
          <a:bodyPr>
            <a:normAutofit fontScale="90000"/>
          </a:bodyPr>
          <a:lstStyle/>
          <a:p>
            <a:pPr>
              <a:lnSpc>
                <a:spcPct val="80000"/>
              </a:lnSpc>
            </a:pPr>
            <a:r>
              <a:rPr lang="en-US" altLang="en-US" sz="4600"/>
              <a:t>Binary Tree, continued </a:t>
            </a:r>
          </a:p>
        </p:txBody>
      </p:sp>
      <p:sp>
        <p:nvSpPr>
          <p:cNvPr id="9219" name="Rectangle 3">
            <a:extLst>
              <a:ext uri="{FF2B5EF4-FFF2-40B4-BE49-F238E27FC236}">
                <a16:creationId xmlns:a16="http://schemas.microsoft.com/office/drawing/2014/main" id="{8E938DBB-C02D-6281-4DFA-11BB3CC656C4}"/>
              </a:ext>
            </a:extLst>
          </p:cNvPr>
          <p:cNvSpPr>
            <a:spLocks noChangeArrowheads="1"/>
          </p:cNvSpPr>
          <p:nvPr/>
        </p:nvSpPr>
        <p:spPr bwMode="auto">
          <a:xfrm>
            <a:off x="152400" y="152400"/>
            <a:ext cx="89916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0" name="Rectangle 4">
            <a:extLst>
              <a:ext uri="{FF2B5EF4-FFF2-40B4-BE49-F238E27FC236}">
                <a16:creationId xmlns:a16="http://schemas.microsoft.com/office/drawing/2014/main" id="{CF746232-1EB7-E888-19D8-AC1D4036308B}"/>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25</a:t>
            </a:r>
          </a:p>
        </p:txBody>
      </p:sp>
      <p:sp>
        <p:nvSpPr>
          <p:cNvPr id="185349" name="Text Box 5">
            <a:extLst>
              <a:ext uri="{FF2B5EF4-FFF2-40B4-BE49-F238E27FC236}">
                <a16:creationId xmlns:a16="http://schemas.microsoft.com/office/drawing/2014/main" id="{D5E9BEF4-0E6E-BA1A-919D-5E5DB0D366DE}"/>
              </a:ext>
            </a:extLst>
          </p:cNvPr>
          <p:cNvSpPr txBox="1">
            <a:spLocks noChangeArrowheads="1"/>
          </p:cNvSpPr>
          <p:nvPr/>
        </p:nvSpPr>
        <p:spPr bwMode="auto">
          <a:xfrm>
            <a:off x="381000" y="1371600"/>
            <a:ext cx="3352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a:t>  Are we done?</a:t>
            </a:r>
          </a:p>
        </p:txBody>
      </p:sp>
      <p:sp>
        <p:nvSpPr>
          <p:cNvPr id="185350" name="Text Box 6">
            <a:extLst>
              <a:ext uri="{FF2B5EF4-FFF2-40B4-BE49-F238E27FC236}">
                <a16:creationId xmlns:a16="http://schemas.microsoft.com/office/drawing/2014/main" id="{FAFA219F-E293-6BC3-05FC-2E3EFB9B91F5}"/>
              </a:ext>
            </a:extLst>
          </p:cNvPr>
          <p:cNvSpPr txBox="1">
            <a:spLocks noChangeArrowheads="1"/>
          </p:cNvSpPr>
          <p:nvPr/>
        </p:nvSpPr>
        <p:spPr bwMode="auto">
          <a:xfrm>
            <a:off x="228600" y="2743200"/>
            <a:ext cx="32766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2973388" algn="l"/>
              </a:tabLst>
              <a:defRPr sz="3200">
                <a:solidFill>
                  <a:schemeClr val="tx1"/>
                </a:solidFill>
                <a:latin typeface="Times New Roman" panose="02020603050405020304" pitchFamily="18" charset="0"/>
              </a:defRPr>
            </a:lvl1pPr>
            <a:lvl2pPr marL="742950" indent="-285750">
              <a:spcBef>
                <a:spcPct val="20000"/>
              </a:spcBef>
              <a:buChar char="–"/>
              <a:tabLst>
                <a:tab pos="2973388" algn="l"/>
              </a:tabLst>
              <a:defRPr sz="2800">
                <a:solidFill>
                  <a:schemeClr val="tx1"/>
                </a:solidFill>
                <a:latin typeface="Times New Roman" panose="02020603050405020304" pitchFamily="18" charset="0"/>
              </a:defRPr>
            </a:lvl2pPr>
            <a:lvl3pPr marL="1143000" indent="-228600">
              <a:spcBef>
                <a:spcPct val="20000"/>
              </a:spcBef>
              <a:buChar char="•"/>
              <a:tabLst>
                <a:tab pos="2973388" algn="l"/>
              </a:tabLst>
              <a:defRPr sz="2400">
                <a:solidFill>
                  <a:schemeClr val="tx1"/>
                </a:solidFill>
                <a:latin typeface="Times New Roman" panose="02020603050405020304" pitchFamily="18" charset="0"/>
              </a:defRPr>
            </a:lvl3pPr>
            <a:lvl4pPr marL="1600200" indent="-228600">
              <a:spcBef>
                <a:spcPct val="20000"/>
              </a:spcBef>
              <a:buChar char="–"/>
              <a:tabLst>
                <a:tab pos="2973388" algn="l"/>
              </a:tabLst>
              <a:defRPr sz="2000">
                <a:solidFill>
                  <a:schemeClr val="tx1"/>
                </a:solidFill>
                <a:latin typeface="Times New Roman" panose="02020603050405020304" pitchFamily="18" charset="0"/>
              </a:defRPr>
            </a:lvl4pPr>
            <a:lvl5pPr marL="2057400" indent="-228600">
              <a:spcBef>
                <a:spcPct val="20000"/>
              </a:spcBef>
              <a:buChar char="»"/>
              <a:tabLst>
                <a:tab pos="297338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9pPr>
          </a:lstStyle>
          <a:p>
            <a:pPr>
              <a:spcBef>
                <a:spcPct val="0"/>
              </a:spcBef>
            </a:pPr>
            <a:r>
              <a:rPr lang="en-US" altLang="en-US" sz="2800"/>
              <a:t>  Yes.  The lower bound (z=42) is higher than the upper bound for all nodes not explicitly fathomed</a:t>
            </a:r>
          </a:p>
          <a:p>
            <a:pPr>
              <a:spcBef>
                <a:spcPct val="0"/>
              </a:spcBef>
            </a:pPr>
            <a:endParaRPr lang="en-US" altLang="en-US" sz="2800"/>
          </a:p>
        </p:txBody>
      </p:sp>
      <p:grpSp>
        <p:nvGrpSpPr>
          <p:cNvPr id="9223" name="Group 7">
            <a:extLst>
              <a:ext uri="{FF2B5EF4-FFF2-40B4-BE49-F238E27FC236}">
                <a16:creationId xmlns:a16="http://schemas.microsoft.com/office/drawing/2014/main" id="{A2454907-4BE3-CAF6-7649-2F0469BEE478}"/>
              </a:ext>
            </a:extLst>
          </p:cNvPr>
          <p:cNvGrpSpPr>
            <a:grpSpLocks/>
          </p:cNvGrpSpPr>
          <p:nvPr/>
        </p:nvGrpSpPr>
        <p:grpSpPr bwMode="auto">
          <a:xfrm>
            <a:off x="5334000" y="152400"/>
            <a:ext cx="3125788" cy="1371600"/>
            <a:chOff x="2304" y="1824"/>
            <a:chExt cx="1969" cy="864"/>
          </a:xfrm>
        </p:grpSpPr>
        <p:sp>
          <p:nvSpPr>
            <p:cNvPr id="9256" name="Oval 8">
              <a:extLst>
                <a:ext uri="{FF2B5EF4-FFF2-40B4-BE49-F238E27FC236}">
                  <a16:creationId xmlns:a16="http://schemas.microsoft.com/office/drawing/2014/main" id="{0CB4C4D8-F605-D592-3BC6-1BC42D6B8248}"/>
                </a:ext>
              </a:extLst>
            </p:cNvPr>
            <p:cNvSpPr>
              <a:spLocks noChangeArrowheads="1"/>
            </p:cNvSpPr>
            <p:nvPr/>
          </p:nvSpPr>
          <p:spPr bwMode="auto">
            <a:xfrm>
              <a:off x="2304" y="1824"/>
              <a:ext cx="960" cy="86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57" name="Text Box 9">
              <a:extLst>
                <a:ext uri="{FF2B5EF4-FFF2-40B4-BE49-F238E27FC236}">
                  <a16:creationId xmlns:a16="http://schemas.microsoft.com/office/drawing/2014/main" id="{BB42354B-18D8-66D6-D479-DFA2C2B6F332}"/>
                </a:ext>
              </a:extLst>
            </p:cNvPr>
            <p:cNvSpPr txBox="1">
              <a:spLocks noChangeArrowheads="1"/>
            </p:cNvSpPr>
            <p:nvPr/>
          </p:nvSpPr>
          <p:spPr bwMode="auto">
            <a:xfrm>
              <a:off x="3350" y="2090"/>
              <a:ext cx="92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UB=43.59</a:t>
              </a:r>
            </a:p>
            <a:p>
              <a:pPr>
                <a:spcBef>
                  <a:spcPct val="0"/>
                </a:spcBef>
                <a:buFontTx/>
                <a:buNone/>
              </a:pPr>
              <a:r>
                <a:rPr lang="en-US" altLang="en-US" sz="2400"/>
                <a:t>LB= -</a:t>
              </a:r>
              <a:r>
                <a:rPr lang="en-US" altLang="en-US" sz="2400">
                  <a:sym typeface="Symbol" panose="05050102010706020507" pitchFamily="18" charset="2"/>
                </a:rPr>
                <a:t></a:t>
              </a:r>
              <a:endParaRPr lang="en-US" altLang="en-US" sz="2400"/>
            </a:p>
          </p:txBody>
        </p:sp>
        <p:graphicFrame>
          <p:nvGraphicFramePr>
            <p:cNvPr id="9258" name="Object 10">
              <a:extLst>
                <a:ext uri="{FF2B5EF4-FFF2-40B4-BE49-F238E27FC236}">
                  <a16:creationId xmlns:a16="http://schemas.microsoft.com/office/drawing/2014/main" id="{DACA0BCF-DBDD-1A7D-F5AA-DEE727C91517}"/>
                </a:ext>
              </a:extLst>
            </p:cNvPr>
            <p:cNvGraphicFramePr>
              <a:graphicFrameLocks noChangeAspect="1"/>
            </p:cNvGraphicFramePr>
            <p:nvPr/>
          </p:nvGraphicFramePr>
          <p:xfrm>
            <a:off x="2400" y="1968"/>
            <a:ext cx="816" cy="582"/>
          </p:xfrm>
          <a:graphic>
            <a:graphicData uri="http://schemas.openxmlformats.org/presentationml/2006/ole">
              <mc:AlternateContent xmlns:mc="http://schemas.openxmlformats.org/markup-compatibility/2006">
                <mc:Choice xmlns:v="urn:schemas-microsoft-com:vml" Requires="v">
                  <p:oleObj name="Equation" r:id="rId2" imgW="1002865" imgH="660113" progId="Equation.3">
                    <p:embed/>
                  </p:oleObj>
                </mc:Choice>
                <mc:Fallback>
                  <p:oleObj name="Equation" r:id="rId2" imgW="1002865" imgH="660113" progId="Equation.3">
                    <p:embed/>
                    <p:pic>
                      <p:nvPicPr>
                        <p:cNvPr id="9258" name="Object 10">
                          <a:extLst>
                            <a:ext uri="{FF2B5EF4-FFF2-40B4-BE49-F238E27FC236}">
                              <a16:creationId xmlns:a16="http://schemas.microsoft.com/office/drawing/2014/main" id="{DACA0BCF-DBDD-1A7D-F5AA-DEE727C915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 y="1968"/>
                          <a:ext cx="816" cy="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4" name="Group 11">
            <a:extLst>
              <a:ext uri="{FF2B5EF4-FFF2-40B4-BE49-F238E27FC236}">
                <a16:creationId xmlns:a16="http://schemas.microsoft.com/office/drawing/2014/main" id="{E288E692-5EBC-DC4C-E59C-9AC697EFC1AD}"/>
              </a:ext>
            </a:extLst>
          </p:cNvPr>
          <p:cNvGrpSpPr>
            <a:grpSpLocks/>
          </p:cNvGrpSpPr>
          <p:nvPr/>
        </p:nvGrpSpPr>
        <p:grpSpPr bwMode="auto">
          <a:xfrm>
            <a:off x="2286000" y="1371600"/>
            <a:ext cx="6702425" cy="1676400"/>
            <a:chOff x="1538" y="1296"/>
            <a:chExt cx="4222" cy="1056"/>
          </a:xfrm>
        </p:grpSpPr>
        <p:sp>
          <p:nvSpPr>
            <p:cNvPr id="9246" name="Line 12">
              <a:extLst>
                <a:ext uri="{FF2B5EF4-FFF2-40B4-BE49-F238E27FC236}">
                  <a16:creationId xmlns:a16="http://schemas.microsoft.com/office/drawing/2014/main" id="{7E804107-4AC6-1D39-A930-4FB587D76F05}"/>
                </a:ext>
              </a:extLst>
            </p:cNvPr>
            <p:cNvSpPr>
              <a:spLocks noChangeShapeType="1"/>
            </p:cNvSpPr>
            <p:nvPr/>
          </p:nvSpPr>
          <p:spPr bwMode="auto">
            <a:xfrm flipH="1">
              <a:off x="3367" y="1296"/>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47" name="Line 13">
              <a:extLst>
                <a:ext uri="{FF2B5EF4-FFF2-40B4-BE49-F238E27FC236}">
                  <a16:creationId xmlns:a16="http://schemas.microsoft.com/office/drawing/2014/main" id="{D9B681C4-0EF3-03EC-A235-1405A5E3CACE}"/>
                </a:ext>
              </a:extLst>
            </p:cNvPr>
            <p:cNvSpPr>
              <a:spLocks noChangeShapeType="1"/>
            </p:cNvSpPr>
            <p:nvPr/>
          </p:nvSpPr>
          <p:spPr bwMode="auto">
            <a:xfrm rot="17181192" flipH="1">
              <a:off x="4207" y="1320"/>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9248" name="Object 14">
              <a:extLst>
                <a:ext uri="{FF2B5EF4-FFF2-40B4-BE49-F238E27FC236}">
                  <a16:creationId xmlns:a16="http://schemas.microsoft.com/office/drawing/2014/main" id="{32E842C0-81CB-97FA-7405-20DE7D938067}"/>
                </a:ext>
              </a:extLst>
            </p:cNvPr>
            <p:cNvGraphicFramePr>
              <a:graphicFrameLocks noChangeAspect="1"/>
            </p:cNvGraphicFramePr>
            <p:nvPr/>
          </p:nvGraphicFramePr>
          <p:xfrm>
            <a:off x="4423" y="1344"/>
            <a:ext cx="432" cy="257"/>
          </p:xfrm>
          <a:graphic>
            <a:graphicData uri="http://schemas.openxmlformats.org/presentationml/2006/ole">
              <mc:AlternateContent xmlns:mc="http://schemas.openxmlformats.org/markup-compatibility/2006">
                <mc:Choice xmlns:v="urn:schemas-microsoft-com:vml" Requires="v">
                  <p:oleObj name="Equation" r:id="rId4" imgW="393359" imgH="215713" progId="Equation.3">
                    <p:embed/>
                  </p:oleObj>
                </mc:Choice>
                <mc:Fallback>
                  <p:oleObj name="Equation" r:id="rId4" imgW="393359" imgH="215713" progId="Equation.3">
                    <p:embed/>
                    <p:pic>
                      <p:nvPicPr>
                        <p:cNvPr id="9248" name="Object 14">
                          <a:extLst>
                            <a:ext uri="{FF2B5EF4-FFF2-40B4-BE49-F238E27FC236}">
                              <a16:creationId xmlns:a16="http://schemas.microsoft.com/office/drawing/2014/main" id="{32E842C0-81CB-97FA-7405-20DE7D9380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3" y="1344"/>
                          <a:ext cx="43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9" name="Object 15">
              <a:extLst>
                <a:ext uri="{FF2B5EF4-FFF2-40B4-BE49-F238E27FC236}">
                  <a16:creationId xmlns:a16="http://schemas.microsoft.com/office/drawing/2014/main" id="{079059CE-A401-EDA9-C623-CFDE1F112A1E}"/>
                </a:ext>
              </a:extLst>
            </p:cNvPr>
            <p:cNvGraphicFramePr>
              <a:graphicFrameLocks noChangeAspect="1"/>
            </p:cNvGraphicFramePr>
            <p:nvPr/>
          </p:nvGraphicFramePr>
          <p:xfrm>
            <a:off x="2976" y="1296"/>
            <a:ext cx="446" cy="257"/>
          </p:xfrm>
          <a:graphic>
            <a:graphicData uri="http://schemas.openxmlformats.org/presentationml/2006/ole">
              <mc:AlternateContent xmlns:mc="http://schemas.openxmlformats.org/markup-compatibility/2006">
                <mc:Choice xmlns:v="urn:schemas-microsoft-com:vml" Requires="v">
                  <p:oleObj name="Equation" r:id="rId6" imgW="406048" imgH="215713" progId="Equation.3">
                    <p:embed/>
                  </p:oleObj>
                </mc:Choice>
                <mc:Fallback>
                  <p:oleObj name="Equation" r:id="rId6" imgW="406048" imgH="215713" progId="Equation.3">
                    <p:embed/>
                    <p:pic>
                      <p:nvPicPr>
                        <p:cNvPr id="9249" name="Object 15">
                          <a:extLst>
                            <a:ext uri="{FF2B5EF4-FFF2-40B4-BE49-F238E27FC236}">
                              <a16:creationId xmlns:a16="http://schemas.microsoft.com/office/drawing/2014/main" id="{079059CE-A401-EDA9-C623-CFDE1F112A1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6" y="1296"/>
                          <a:ext cx="44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0" name="Rectangle 16">
              <a:extLst>
                <a:ext uri="{FF2B5EF4-FFF2-40B4-BE49-F238E27FC236}">
                  <a16:creationId xmlns:a16="http://schemas.microsoft.com/office/drawing/2014/main" id="{42379749-A811-731D-748E-66D6B4182BB5}"/>
                </a:ext>
              </a:extLst>
            </p:cNvPr>
            <p:cNvSpPr>
              <a:spLocks noChangeArrowheads="1"/>
            </p:cNvSpPr>
            <p:nvPr/>
          </p:nvSpPr>
          <p:spPr bwMode="auto">
            <a:xfrm>
              <a:off x="2450" y="1632"/>
              <a:ext cx="1248" cy="7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51" name="Rectangle 17">
              <a:extLst>
                <a:ext uri="{FF2B5EF4-FFF2-40B4-BE49-F238E27FC236}">
                  <a16:creationId xmlns:a16="http://schemas.microsoft.com/office/drawing/2014/main" id="{7D71D3A0-1E33-D107-E91E-5749C74267C3}"/>
                </a:ext>
              </a:extLst>
            </p:cNvPr>
            <p:cNvSpPr>
              <a:spLocks noChangeArrowheads="1"/>
            </p:cNvSpPr>
            <p:nvPr/>
          </p:nvSpPr>
          <p:spPr bwMode="auto">
            <a:xfrm>
              <a:off x="3842" y="1680"/>
              <a:ext cx="1152" cy="6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9252" name="Object 18">
              <a:extLst>
                <a:ext uri="{FF2B5EF4-FFF2-40B4-BE49-F238E27FC236}">
                  <a16:creationId xmlns:a16="http://schemas.microsoft.com/office/drawing/2014/main" id="{1A50EB74-0A5F-A80D-AB60-58B3088C4A70}"/>
                </a:ext>
              </a:extLst>
            </p:cNvPr>
            <p:cNvGraphicFramePr>
              <a:graphicFrameLocks noChangeAspect="1"/>
            </p:cNvGraphicFramePr>
            <p:nvPr/>
          </p:nvGraphicFramePr>
          <p:xfrm>
            <a:off x="2470" y="1680"/>
            <a:ext cx="1228" cy="619"/>
          </p:xfrm>
          <a:graphic>
            <a:graphicData uri="http://schemas.openxmlformats.org/presentationml/2006/ole">
              <mc:AlternateContent xmlns:mc="http://schemas.openxmlformats.org/markup-compatibility/2006">
                <mc:Choice xmlns:v="urn:schemas-microsoft-com:vml" Requires="v">
                  <p:oleObj name="Equation" r:id="rId8" imgW="1384300" imgH="698500" progId="Equation.3">
                    <p:embed/>
                  </p:oleObj>
                </mc:Choice>
                <mc:Fallback>
                  <p:oleObj name="Equation" r:id="rId8" imgW="1384300" imgH="698500" progId="Equation.3">
                    <p:embed/>
                    <p:pic>
                      <p:nvPicPr>
                        <p:cNvPr id="9252" name="Object 18">
                          <a:extLst>
                            <a:ext uri="{FF2B5EF4-FFF2-40B4-BE49-F238E27FC236}">
                              <a16:creationId xmlns:a16="http://schemas.microsoft.com/office/drawing/2014/main" id="{1A50EB74-0A5F-A80D-AB60-58B3088C4A7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70" y="1680"/>
                          <a:ext cx="1228" cy="6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3" name="Object 19">
              <a:extLst>
                <a:ext uri="{FF2B5EF4-FFF2-40B4-BE49-F238E27FC236}">
                  <a16:creationId xmlns:a16="http://schemas.microsoft.com/office/drawing/2014/main" id="{858090B0-2BFE-D1A4-1A94-5A5AB3DDBE4C}"/>
                </a:ext>
              </a:extLst>
            </p:cNvPr>
            <p:cNvGraphicFramePr>
              <a:graphicFrameLocks noChangeAspect="1"/>
            </p:cNvGraphicFramePr>
            <p:nvPr/>
          </p:nvGraphicFramePr>
          <p:xfrm>
            <a:off x="3890" y="1728"/>
            <a:ext cx="1115" cy="619"/>
          </p:xfrm>
          <a:graphic>
            <a:graphicData uri="http://schemas.openxmlformats.org/presentationml/2006/ole">
              <mc:AlternateContent xmlns:mc="http://schemas.openxmlformats.org/markup-compatibility/2006">
                <mc:Choice xmlns:v="urn:schemas-microsoft-com:vml" Requires="v">
                  <p:oleObj name="Equation" r:id="rId10" imgW="1257300" imgH="698500" progId="Equation.3">
                    <p:embed/>
                  </p:oleObj>
                </mc:Choice>
                <mc:Fallback>
                  <p:oleObj name="Equation" r:id="rId10" imgW="1257300" imgH="698500" progId="Equation.3">
                    <p:embed/>
                    <p:pic>
                      <p:nvPicPr>
                        <p:cNvPr id="9253" name="Object 19">
                          <a:extLst>
                            <a:ext uri="{FF2B5EF4-FFF2-40B4-BE49-F238E27FC236}">
                              <a16:creationId xmlns:a16="http://schemas.microsoft.com/office/drawing/2014/main" id="{858090B0-2BFE-D1A4-1A94-5A5AB3DDBE4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90" y="1728"/>
                          <a:ext cx="1115" cy="6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4" name="Text Box 20">
              <a:extLst>
                <a:ext uri="{FF2B5EF4-FFF2-40B4-BE49-F238E27FC236}">
                  <a16:creationId xmlns:a16="http://schemas.microsoft.com/office/drawing/2014/main" id="{01FB71C4-4978-4738-F80C-373E233B8182}"/>
                </a:ext>
              </a:extLst>
            </p:cNvPr>
            <p:cNvSpPr txBox="1">
              <a:spLocks noChangeArrowheads="1"/>
            </p:cNvSpPr>
            <p:nvPr/>
          </p:nvSpPr>
          <p:spPr bwMode="auto">
            <a:xfrm>
              <a:off x="1538" y="1632"/>
              <a:ext cx="82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UB=41.2</a:t>
              </a:r>
            </a:p>
            <a:p>
              <a:pPr>
                <a:spcBef>
                  <a:spcPct val="0"/>
                </a:spcBef>
                <a:buFontTx/>
                <a:buNone/>
              </a:pPr>
              <a:r>
                <a:rPr lang="en-US" altLang="en-US" sz="2400"/>
                <a:t>LB=-</a:t>
              </a:r>
              <a:r>
                <a:rPr lang="en-US" altLang="en-US" sz="2400">
                  <a:sym typeface="Symbol" panose="05050102010706020507" pitchFamily="18" charset="2"/>
                </a:rPr>
                <a:t></a:t>
              </a:r>
              <a:endParaRPr lang="en-US" altLang="en-US" sz="2400"/>
            </a:p>
          </p:txBody>
        </p:sp>
        <p:sp>
          <p:nvSpPr>
            <p:cNvPr id="9255" name="Text Box 21">
              <a:extLst>
                <a:ext uri="{FF2B5EF4-FFF2-40B4-BE49-F238E27FC236}">
                  <a16:creationId xmlns:a16="http://schemas.microsoft.com/office/drawing/2014/main" id="{E54C7487-D6FE-64A3-1934-14608F285986}"/>
                </a:ext>
              </a:extLst>
            </p:cNvPr>
            <p:cNvSpPr txBox="1">
              <a:spLocks noChangeArrowheads="1"/>
            </p:cNvSpPr>
            <p:nvPr/>
          </p:nvSpPr>
          <p:spPr bwMode="auto">
            <a:xfrm>
              <a:off x="5042" y="1642"/>
              <a:ext cx="71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UB=43</a:t>
              </a:r>
            </a:p>
            <a:p>
              <a:pPr>
                <a:spcBef>
                  <a:spcPct val="0"/>
                </a:spcBef>
                <a:buFontTx/>
                <a:buNone/>
              </a:pPr>
              <a:r>
                <a:rPr lang="en-US" altLang="en-US" sz="2400"/>
                <a:t>LB= -</a:t>
              </a:r>
              <a:r>
                <a:rPr lang="en-US" altLang="en-US" sz="2400">
                  <a:sym typeface="Symbol" panose="05050102010706020507" pitchFamily="18" charset="2"/>
                </a:rPr>
                <a:t></a:t>
              </a:r>
            </a:p>
          </p:txBody>
        </p:sp>
      </p:grpSp>
      <p:sp>
        <p:nvSpPr>
          <p:cNvPr id="9225" name="Line 22">
            <a:extLst>
              <a:ext uri="{FF2B5EF4-FFF2-40B4-BE49-F238E27FC236}">
                <a16:creationId xmlns:a16="http://schemas.microsoft.com/office/drawing/2014/main" id="{9069A353-85C3-1BFB-96BF-993E29665899}"/>
              </a:ext>
            </a:extLst>
          </p:cNvPr>
          <p:cNvSpPr>
            <a:spLocks noChangeShapeType="1"/>
          </p:cNvSpPr>
          <p:nvPr/>
        </p:nvSpPr>
        <p:spPr bwMode="auto">
          <a:xfrm flipH="1">
            <a:off x="6172200" y="3048000"/>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26" name="Line 23">
            <a:extLst>
              <a:ext uri="{FF2B5EF4-FFF2-40B4-BE49-F238E27FC236}">
                <a16:creationId xmlns:a16="http://schemas.microsoft.com/office/drawing/2014/main" id="{A398DD48-DCA4-F086-2058-8722F8B6A02D}"/>
              </a:ext>
            </a:extLst>
          </p:cNvPr>
          <p:cNvSpPr>
            <a:spLocks noChangeShapeType="1"/>
          </p:cNvSpPr>
          <p:nvPr/>
        </p:nvSpPr>
        <p:spPr bwMode="auto">
          <a:xfrm>
            <a:off x="7315200" y="3048000"/>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27" name="Rectangle 24">
            <a:extLst>
              <a:ext uri="{FF2B5EF4-FFF2-40B4-BE49-F238E27FC236}">
                <a16:creationId xmlns:a16="http://schemas.microsoft.com/office/drawing/2014/main" id="{7951E636-51C6-F50B-9A53-6B0059FA2D2C}"/>
              </a:ext>
            </a:extLst>
          </p:cNvPr>
          <p:cNvSpPr>
            <a:spLocks noChangeArrowheads="1"/>
          </p:cNvSpPr>
          <p:nvPr/>
        </p:nvSpPr>
        <p:spPr bwMode="auto">
          <a:xfrm>
            <a:off x="5105400" y="3657600"/>
            <a:ext cx="1828800" cy="76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8" name="Rectangle 25">
            <a:extLst>
              <a:ext uri="{FF2B5EF4-FFF2-40B4-BE49-F238E27FC236}">
                <a16:creationId xmlns:a16="http://schemas.microsoft.com/office/drawing/2014/main" id="{FBF81E16-1B31-E370-B4A1-4E20D8717299}"/>
              </a:ext>
            </a:extLst>
          </p:cNvPr>
          <p:cNvSpPr>
            <a:spLocks noChangeArrowheads="1"/>
          </p:cNvSpPr>
          <p:nvPr/>
        </p:nvSpPr>
        <p:spPr bwMode="auto">
          <a:xfrm>
            <a:off x="7086600" y="3657600"/>
            <a:ext cx="1447800" cy="76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9229" name="Object 26">
            <a:extLst>
              <a:ext uri="{FF2B5EF4-FFF2-40B4-BE49-F238E27FC236}">
                <a16:creationId xmlns:a16="http://schemas.microsoft.com/office/drawing/2014/main" id="{1E88E1A1-351A-B90A-8C95-42A49B959C1D}"/>
              </a:ext>
            </a:extLst>
          </p:cNvPr>
          <p:cNvGraphicFramePr>
            <a:graphicFrameLocks noChangeAspect="1"/>
          </p:cNvGraphicFramePr>
          <p:nvPr/>
        </p:nvGraphicFramePr>
        <p:xfrm>
          <a:off x="5105400" y="3733800"/>
          <a:ext cx="1828800" cy="644525"/>
        </p:xfrm>
        <a:graphic>
          <a:graphicData uri="http://schemas.openxmlformats.org/presentationml/2006/ole">
            <mc:AlternateContent xmlns:mc="http://schemas.openxmlformats.org/markup-compatibility/2006">
              <mc:Choice xmlns:v="urn:schemas-microsoft-com:vml" Requires="v">
                <p:oleObj name="Equation" r:id="rId12" imgW="1447800" imgH="457200" progId="Equation.3">
                  <p:embed/>
                </p:oleObj>
              </mc:Choice>
              <mc:Fallback>
                <p:oleObj name="Equation" r:id="rId12" imgW="1447800" imgH="457200" progId="Equation.3">
                  <p:embed/>
                  <p:pic>
                    <p:nvPicPr>
                      <p:cNvPr id="9229" name="Object 26">
                        <a:extLst>
                          <a:ext uri="{FF2B5EF4-FFF2-40B4-BE49-F238E27FC236}">
                            <a16:creationId xmlns:a16="http://schemas.microsoft.com/office/drawing/2014/main" id="{1E88E1A1-351A-B90A-8C95-42A49B959C1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05400" y="3733800"/>
                        <a:ext cx="1828800"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0" name="Object 27">
            <a:extLst>
              <a:ext uri="{FF2B5EF4-FFF2-40B4-BE49-F238E27FC236}">
                <a16:creationId xmlns:a16="http://schemas.microsoft.com/office/drawing/2014/main" id="{5D88D180-056C-0987-D09C-EFFE096E3A52}"/>
              </a:ext>
            </a:extLst>
          </p:cNvPr>
          <p:cNvGraphicFramePr>
            <a:graphicFrameLocks noChangeAspect="1"/>
          </p:cNvGraphicFramePr>
          <p:nvPr/>
        </p:nvGraphicFramePr>
        <p:xfrm>
          <a:off x="7237413" y="3768725"/>
          <a:ext cx="1144587" cy="573088"/>
        </p:xfrm>
        <a:graphic>
          <a:graphicData uri="http://schemas.openxmlformats.org/presentationml/2006/ole">
            <mc:AlternateContent xmlns:mc="http://schemas.openxmlformats.org/markup-compatibility/2006">
              <mc:Choice xmlns:v="urn:schemas-microsoft-com:vml" Requires="v">
                <p:oleObj name="Equation" r:id="rId14" imgW="812447" imgH="406224" progId="Equation.3">
                  <p:embed/>
                </p:oleObj>
              </mc:Choice>
              <mc:Fallback>
                <p:oleObj name="Equation" r:id="rId14" imgW="812447" imgH="406224" progId="Equation.3">
                  <p:embed/>
                  <p:pic>
                    <p:nvPicPr>
                      <p:cNvPr id="9230" name="Object 27">
                        <a:extLst>
                          <a:ext uri="{FF2B5EF4-FFF2-40B4-BE49-F238E27FC236}">
                            <a16:creationId xmlns:a16="http://schemas.microsoft.com/office/drawing/2014/main" id="{5D88D180-056C-0987-D09C-EFFE096E3A5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37413" y="3768725"/>
                        <a:ext cx="1144587"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1" name="Object 28">
            <a:extLst>
              <a:ext uri="{FF2B5EF4-FFF2-40B4-BE49-F238E27FC236}">
                <a16:creationId xmlns:a16="http://schemas.microsoft.com/office/drawing/2014/main" id="{1BF96AD5-0633-2389-AB7A-85FC9B2A76F1}"/>
              </a:ext>
            </a:extLst>
          </p:cNvPr>
          <p:cNvGraphicFramePr>
            <a:graphicFrameLocks noChangeAspect="1"/>
          </p:cNvGraphicFramePr>
          <p:nvPr/>
        </p:nvGraphicFramePr>
        <p:xfrm>
          <a:off x="5475288" y="3124200"/>
          <a:ext cx="730250" cy="407988"/>
        </p:xfrm>
        <a:graphic>
          <a:graphicData uri="http://schemas.openxmlformats.org/presentationml/2006/ole">
            <mc:AlternateContent xmlns:mc="http://schemas.openxmlformats.org/markup-compatibility/2006">
              <mc:Choice xmlns:v="urn:schemas-microsoft-com:vml" Requires="v">
                <p:oleObj name="Equation" r:id="rId16" imgW="418918" imgH="215806" progId="Equation.3">
                  <p:embed/>
                </p:oleObj>
              </mc:Choice>
              <mc:Fallback>
                <p:oleObj name="Equation" r:id="rId16" imgW="418918" imgH="215806" progId="Equation.3">
                  <p:embed/>
                  <p:pic>
                    <p:nvPicPr>
                      <p:cNvPr id="9231" name="Object 28">
                        <a:extLst>
                          <a:ext uri="{FF2B5EF4-FFF2-40B4-BE49-F238E27FC236}">
                            <a16:creationId xmlns:a16="http://schemas.microsoft.com/office/drawing/2014/main" id="{1BF96AD5-0633-2389-AB7A-85FC9B2A76F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475288" y="3124200"/>
                        <a:ext cx="730250"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2" name="Object 29">
            <a:extLst>
              <a:ext uri="{FF2B5EF4-FFF2-40B4-BE49-F238E27FC236}">
                <a16:creationId xmlns:a16="http://schemas.microsoft.com/office/drawing/2014/main" id="{EFC122F5-912B-A5FE-6906-346CD64E01C1}"/>
              </a:ext>
            </a:extLst>
          </p:cNvPr>
          <p:cNvGraphicFramePr>
            <a:graphicFrameLocks noChangeAspect="1"/>
          </p:cNvGraphicFramePr>
          <p:nvPr/>
        </p:nvGraphicFramePr>
        <p:xfrm>
          <a:off x="7554913" y="3124200"/>
          <a:ext cx="708025" cy="407988"/>
        </p:xfrm>
        <a:graphic>
          <a:graphicData uri="http://schemas.openxmlformats.org/presentationml/2006/ole">
            <mc:AlternateContent xmlns:mc="http://schemas.openxmlformats.org/markup-compatibility/2006">
              <mc:Choice xmlns:v="urn:schemas-microsoft-com:vml" Requires="v">
                <p:oleObj name="Equation" r:id="rId18" imgW="406048" imgH="215713" progId="Equation.3">
                  <p:embed/>
                </p:oleObj>
              </mc:Choice>
              <mc:Fallback>
                <p:oleObj name="Equation" r:id="rId18" imgW="406048" imgH="215713" progId="Equation.3">
                  <p:embed/>
                  <p:pic>
                    <p:nvPicPr>
                      <p:cNvPr id="9232" name="Object 29">
                        <a:extLst>
                          <a:ext uri="{FF2B5EF4-FFF2-40B4-BE49-F238E27FC236}">
                            <a16:creationId xmlns:a16="http://schemas.microsoft.com/office/drawing/2014/main" id="{EFC122F5-912B-A5FE-6906-346CD64E01C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554913" y="3124200"/>
                        <a:ext cx="708025"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3" name="Text Box 30">
            <a:extLst>
              <a:ext uri="{FF2B5EF4-FFF2-40B4-BE49-F238E27FC236}">
                <a16:creationId xmlns:a16="http://schemas.microsoft.com/office/drawing/2014/main" id="{F8B969AC-232C-3566-8BC3-3A60B4B12D46}"/>
              </a:ext>
            </a:extLst>
          </p:cNvPr>
          <p:cNvSpPr txBox="1">
            <a:spLocks noChangeArrowheads="1"/>
          </p:cNvSpPr>
          <p:nvPr/>
        </p:nvSpPr>
        <p:spPr bwMode="auto">
          <a:xfrm>
            <a:off x="3657600" y="3657600"/>
            <a:ext cx="14652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UB=42.75</a:t>
            </a:r>
          </a:p>
          <a:p>
            <a:pPr>
              <a:spcBef>
                <a:spcPct val="0"/>
              </a:spcBef>
              <a:buFontTx/>
              <a:buNone/>
            </a:pPr>
            <a:r>
              <a:rPr lang="en-US" altLang="en-US" sz="2400"/>
              <a:t>LB= -</a:t>
            </a:r>
            <a:r>
              <a:rPr lang="en-US" altLang="en-US" sz="2400">
                <a:sym typeface="Symbol" panose="05050102010706020507" pitchFamily="18" charset="2"/>
              </a:rPr>
              <a:t></a:t>
            </a:r>
          </a:p>
        </p:txBody>
      </p:sp>
      <p:grpSp>
        <p:nvGrpSpPr>
          <p:cNvPr id="9234" name="Group 31">
            <a:extLst>
              <a:ext uri="{FF2B5EF4-FFF2-40B4-BE49-F238E27FC236}">
                <a16:creationId xmlns:a16="http://schemas.microsoft.com/office/drawing/2014/main" id="{823033D8-85A3-ADBD-C0EC-FB1EFF5628F0}"/>
              </a:ext>
            </a:extLst>
          </p:cNvPr>
          <p:cNvGrpSpPr>
            <a:grpSpLocks/>
          </p:cNvGrpSpPr>
          <p:nvPr/>
        </p:nvGrpSpPr>
        <p:grpSpPr bwMode="auto">
          <a:xfrm>
            <a:off x="3106738" y="4419600"/>
            <a:ext cx="6037262" cy="1431925"/>
            <a:chOff x="1957" y="2880"/>
            <a:chExt cx="3803" cy="902"/>
          </a:xfrm>
        </p:grpSpPr>
        <p:sp>
          <p:nvSpPr>
            <p:cNvPr id="9236" name="Line 32">
              <a:extLst>
                <a:ext uri="{FF2B5EF4-FFF2-40B4-BE49-F238E27FC236}">
                  <a16:creationId xmlns:a16="http://schemas.microsoft.com/office/drawing/2014/main" id="{9A76FA87-EDD9-2E37-3DA8-FF2ABA1B352E}"/>
                </a:ext>
              </a:extLst>
            </p:cNvPr>
            <p:cNvSpPr>
              <a:spLocks noChangeShapeType="1"/>
            </p:cNvSpPr>
            <p:nvPr/>
          </p:nvSpPr>
          <p:spPr bwMode="auto">
            <a:xfrm flipH="1">
              <a:off x="3552" y="2880"/>
              <a:ext cx="192"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37" name="Line 33">
              <a:extLst>
                <a:ext uri="{FF2B5EF4-FFF2-40B4-BE49-F238E27FC236}">
                  <a16:creationId xmlns:a16="http://schemas.microsoft.com/office/drawing/2014/main" id="{3232BFFE-F66B-9E36-DAFA-B10359A366A6}"/>
                </a:ext>
              </a:extLst>
            </p:cNvPr>
            <p:cNvSpPr>
              <a:spLocks noChangeShapeType="1"/>
            </p:cNvSpPr>
            <p:nvPr/>
          </p:nvSpPr>
          <p:spPr bwMode="auto">
            <a:xfrm>
              <a:off x="4272" y="2880"/>
              <a:ext cx="192"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38" name="Rectangle 34">
              <a:extLst>
                <a:ext uri="{FF2B5EF4-FFF2-40B4-BE49-F238E27FC236}">
                  <a16:creationId xmlns:a16="http://schemas.microsoft.com/office/drawing/2014/main" id="{2FC95242-AE49-5EB8-22C2-335C4477FF2F}"/>
                </a:ext>
              </a:extLst>
            </p:cNvPr>
            <p:cNvSpPr>
              <a:spLocks noChangeArrowheads="1"/>
            </p:cNvSpPr>
            <p:nvPr/>
          </p:nvSpPr>
          <p:spPr bwMode="auto">
            <a:xfrm>
              <a:off x="2880" y="3264"/>
              <a:ext cx="1152"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39" name="Rectangle 35">
              <a:extLst>
                <a:ext uri="{FF2B5EF4-FFF2-40B4-BE49-F238E27FC236}">
                  <a16:creationId xmlns:a16="http://schemas.microsoft.com/office/drawing/2014/main" id="{8EC1AB8A-996F-103F-789D-13A723FAD9AA}"/>
                </a:ext>
              </a:extLst>
            </p:cNvPr>
            <p:cNvSpPr>
              <a:spLocks noChangeArrowheads="1"/>
            </p:cNvSpPr>
            <p:nvPr/>
          </p:nvSpPr>
          <p:spPr bwMode="auto">
            <a:xfrm>
              <a:off x="4128" y="3264"/>
              <a:ext cx="912"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9240" name="Object 36">
              <a:extLst>
                <a:ext uri="{FF2B5EF4-FFF2-40B4-BE49-F238E27FC236}">
                  <a16:creationId xmlns:a16="http://schemas.microsoft.com/office/drawing/2014/main" id="{2F5214EA-D36A-D74A-8E92-9369A91F82D7}"/>
                </a:ext>
              </a:extLst>
            </p:cNvPr>
            <p:cNvGraphicFramePr>
              <a:graphicFrameLocks noChangeAspect="1"/>
            </p:cNvGraphicFramePr>
            <p:nvPr/>
          </p:nvGraphicFramePr>
          <p:xfrm>
            <a:off x="2880" y="3312"/>
            <a:ext cx="1104" cy="458"/>
          </p:xfrm>
          <a:graphic>
            <a:graphicData uri="http://schemas.openxmlformats.org/presentationml/2006/ole">
              <mc:AlternateContent xmlns:mc="http://schemas.openxmlformats.org/markup-compatibility/2006">
                <mc:Choice xmlns:v="urn:schemas-microsoft-com:vml" Requires="v">
                  <p:oleObj name="Equation" r:id="rId20" imgW="1130300" imgH="457200" progId="Equation.3">
                    <p:embed/>
                  </p:oleObj>
                </mc:Choice>
                <mc:Fallback>
                  <p:oleObj name="Equation" r:id="rId20" imgW="1130300" imgH="457200" progId="Equation.3">
                    <p:embed/>
                    <p:pic>
                      <p:nvPicPr>
                        <p:cNvPr id="9240" name="Object 36">
                          <a:extLst>
                            <a:ext uri="{FF2B5EF4-FFF2-40B4-BE49-F238E27FC236}">
                              <a16:creationId xmlns:a16="http://schemas.microsoft.com/office/drawing/2014/main" id="{2F5214EA-D36A-D74A-8E92-9369A91F82D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80" y="3312"/>
                          <a:ext cx="1104" cy="4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1" name="Object 37">
              <a:extLst>
                <a:ext uri="{FF2B5EF4-FFF2-40B4-BE49-F238E27FC236}">
                  <a16:creationId xmlns:a16="http://schemas.microsoft.com/office/drawing/2014/main" id="{BDAE56CC-9CFE-CE79-5877-D63E627D9856}"/>
                </a:ext>
              </a:extLst>
            </p:cNvPr>
            <p:cNvGraphicFramePr>
              <a:graphicFrameLocks noChangeAspect="1"/>
            </p:cNvGraphicFramePr>
            <p:nvPr/>
          </p:nvGraphicFramePr>
          <p:xfrm>
            <a:off x="4111" y="3312"/>
            <a:ext cx="946" cy="406"/>
          </p:xfrm>
          <a:graphic>
            <a:graphicData uri="http://schemas.openxmlformats.org/presentationml/2006/ole">
              <mc:AlternateContent xmlns:mc="http://schemas.openxmlformats.org/markup-compatibility/2006">
                <mc:Choice xmlns:v="urn:schemas-microsoft-com:vml" Requires="v">
                  <p:oleObj name="Equation" r:id="rId22" imgW="1066800" imgH="457200" progId="Equation.3">
                    <p:embed/>
                  </p:oleObj>
                </mc:Choice>
                <mc:Fallback>
                  <p:oleObj name="Equation" r:id="rId22" imgW="1066800" imgH="457200" progId="Equation.3">
                    <p:embed/>
                    <p:pic>
                      <p:nvPicPr>
                        <p:cNvPr id="9241" name="Object 37">
                          <a:extLst>
                            <a:ext uri="{FF2B5EF4-FFF2-40B4-BE49-F238E27FC236}">
                              <a16:creationId xmlns:a16="http://schemas.microsoft.com/office/drawing/2014/main" id="{BDAE56CC-9CFE-CE79-5877-D63E627D985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111" y="3312"/>
                          <a:ext cx="94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2" name="Object 38">
              <a:extLst>
                <a:ext uri="{FF2B5EF4-FFF2-40B4-BE49-F238E27FC236}">
                  <a16:creationId xmlns:a16="http://schemas.microsoft.com/office/drawing/2014/main" id="{5D06328D-DA78-62F0-6FD2-4DCD081AFD30}"/>
                </a:ext>
              </a:extLst>
            </p:cNvPr>
            <p:cNvGraphicFramePr>
              <a:graphicFrameLocks noChangeAspect="1"/>
            </p:cNvGraphicFramePr>
            <p:nvPr/>
          </p:nvGraphicFramePr>
          <p:xfrm>
            <a:off x="4464" y="2928"/>
            <a:ext cx="446" cy="257"/>
          </p:xfrm>
          <a:graphic>
            <a:graphicData uri="http://schemas.openxmlformats.org/presentationml/2006/ole">
              <mc:AlternateContent xmlns:mc="http://schemas.openxmlformats.org/markup-compatibility/2006">
                <mc:Choice xmlns:v="urn:schemas-microsoft-com:vml" Requires="v">
                  <p:oleObj name="Equation" r:id="rId24" imgW="406048" imgH="215713" progId="Equation.3">
                    <p:embed/>
                  </p:oleObj>
                </mc:Choice>
                <mc:Fallback>
                  <p:oleObj name="Equation" r:id="rId24" imgW="406048" imgH="215713" progId="Equation.3">
                    <p:embed/>
                    <p:pic>
                      <p:nvPicPr>
                        <p:cNvPr id="9242" name="Object 38">
                          <a:extLst>
                            <a:ext uri="{FF2B5EF4-FFF2-40B4-BE49-F238E27FC236}">
                              <a16:creationId xmlns:a16="http://schemas.microsoft.com/office/drawing/2014/main" id="{5D06328D-DA78-62F0-6FD2-4DCD081AFD30}"/>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464" y="2928"/>
                          <a:ext cx="44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3" name="Object 39">
              <a:extLst>
                <a:ext uri="{FF2B5EF4-FFF2-40B4-BE49-F238E27FC236}">
                  <a16:creationId xmlns:a16="http://schemas.microsoft.com/office/drawing/2014/main" id="{5B860671-B1DB-9821-4038-2CB4EBA2F56A}"/>
                </a:ext>
              </a:extLst>
            </p:cNvPr>
            <p:cNvGraphicFramePr>
              <a:graphicFrameLocks noChangeAspect="1"/>
            </p:cNvGraphicFramePr>
            <p:nvPr/>
          </p:nvGraphicFramePr>
          <p:xfrm>
            <a:off x="3168" y="2928"/>
            <a:ext cx="432" cy="257"/>
          </p:xfrm>
          <a:graphic>
            <a:graphicData uri="http://schemas.openxmlformats.org/presentationml/2006/ole">
              <mc:AlternateContent xmlns:mc="http://schemas.openxmlformats.org/markup-compatibility/2006">
                <mc:Choice xmlns:v="urn:schemas-microsoft-com:vml" Requires="v">
                  <p:oleObj name="Equation" r:id="rId26" imgW="393359" imgH="215713" progId="Equation.3">
                    <p:embed/>
                  </p:oleObj>
                </mc:Choice>
                <mc:Fallback>
                  <p:oleObj name="Equation" r:id="rId26" imgW="393359" imgH="215713" progId="Equation.3">
                    <p:embed/>
                    <p:pic>
                      <p:nvPicPr>
                        <p:cNvPr id="9243" name="Object 39">
                          <a:extLst>
                            <a:ext uri="{FF2B5EF4-FFF2-40B4-BE49-F238E27FC236}">
                              <a16:creationId xmlns:a16="http://schemas.microsoft.com/office/drawing/2014/main" id="{5B860671-B1DB-9821-4038-2CB4EBA2F56A}"/>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168" y="2928"/>
                          <a:ext cx="43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4" name="Text Box 40">
              <a:extLst>
                <a:ext uri="{FF2B5EF4-FFF2-40B4-BE49-F238E27FC236}">
                  <a16:creationId xmlns:a16="http://schemas.microsoft.com/office/drawing/2014/main" id="{5325D091-7396-0688-016C-7004D988BAAF}"/>
                </a:ext>
              </a:extLst>
            </p:cNvPr>
            <p:cNvSpPr txBox="1">
              <a:spLocks noChangeArrowheads="1"/>
            </p:cNvSpPr>
            <p:nvPr/>
          </p:nvSpPr>
          <p:spPr bwMode="auto">
            <a:xfrm>
              <a:off x="1957" y="3264"/>
              <a:ext cx="92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UB=42.75</a:t>
              </a:r>
            </a:p>
            <a:p>
              <a:pPr>
                <a:spcBef>
                  <a:spcPct val="0"/>
                </a:spcBef>
                <a:buFontTx/>
                <a:buNone/>
              </a:pPr>
              <a:r>
                <a:rPr lang="en-US" altLang="en-US" sz="2400"/>
                <a:t>LB= 41</a:t>
              </a:r>
              <a:endParaRPr lang="en-US" altLang="en-US" sz="2400">
                <a:sym typeface="Symbol" panose="05050102010706020507" pitchFamily="18" charset="2"/>
              </a:endParaRPr>
            </a:p>
          </p:txBody>
        </p:sp>
        <p:sp>
          <p:nvSpPr>
            <p:cNvPr id="9245" name="Text Box 41">
              <a:extLst>
                <a:ext uri="{FF2B5EF4-FFF2-40B4-BE49-F238E27FC236}">
                  <a16:creationId xmlns:a16="http://schemas.microsoft.com/office/drawing/2014/main" id="{31A46D16-EBD5-8742-571E-6A5A3E3A956C}"/>
                </a:ext>
              </a:extLst>
            </p:cNvPr>
            <p:cNvSpPr txBox="1">
              <a:spLocks noChangeArrowheads="1"/>
            </p:cNvSpPr>
            <p:nvPr/>
          </p:nvSpPr>
          <p:spPr bwMode="auto">
            <a:xfrm>
              <a:off x="4992" y="3360"/>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UB=42.75</a:t>
              </a:r>
            </a:p>
            <a:p>
              <a:pPr>
                <a:spcBef>
                  <a:spcPct val="0"/>
                </a:spcBef>
                <a:buFontTx/>
                <a:buNone/>
              </a:pPr>
              <a:r>
                <a:rPr lang="en-US" altLang="en-US" sz="1800"/>
                <a:t>LB= 42</a:t>
              </a:r>
              <a:endParaRPr lang="en-US" altLang="en-US" sz="1800">
                <a:sym typeface="Symbol" panose="05050102010706020507" pitchFamily="18" charset="2"/>
              </a:endParaRPr>
            </a:p>
          </p:txBody>
        </p:sp>
      </p:grpSp>
      <p:sp>
        <p:nvSpPr>
          <p:cNvPr id="185386" name="Text Box 42">
            <a:extLst>
              <a:ext uri="{FF2B5EF4-FFF2-40B4-BE49-F238E27FC236}">
                <a16:creationId xmlns:a16="http://schemas.microsoft.com/office/drawing/2014/main" id="{45C29C9F-E604-FB0C-5389-FD10F627B0C7}"/>
              </a:ext>
            </a:extLst>
          </p:cNvPr>
          <p:cNvSpPr txBox="1">
            <a:spLocks noChangeArrowheads="1"/>
          </p:cNvSpPr>
          <p:nvPr/>
        </p:nvSpPr>
        <p:spPr bwMode="auto">
          <a:xfrm>
            <a:off x="228600" y="6019800"/>
            <a:ext cx="7543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2973388" algn="l"/>
              </a:tabLst>
              <a:defRPr sz="3200">
                <a:solidFill>
                  <a:schemeClr val="tx1"/>
                </a:solidFill>
                <a:latin typeface="Times New Roman" panose="02020603050405020304" pitchFamily="18" charset="0"/>
              </a:defRPr>
            </a:lvl1pPr>
            <a:lvl2pPr marL="742950" indent="-285750">
              <a:spcBef>
                <a:spcPct val="20000"/>
              </a:spcBef>
              <a:buChar char="–"/>
              <a:tabLst>
                <a:tab pos="2973388" algn="l"/>
              </a:tabLst>
              <a:defRPr sz="2800">
                <a:solidFill>
                  <a:schemeClr val="tx1"/>
                </a:solidFill>
                <a:latin typeface="Times New Roman" panose="02020603050405020304" pitchFamily="18" charset="0"/>
              </a:defRPr>
            </a:lvl2pPr>
            <a:lvl3pPr marL="1143000" indent="-228600">
              <a:spcBef>
                <a:spcPct val="20000"/>
              </a:spcBef>
              <a:buChar char="•"/>
              <a:tabLst>
                <a:tab pos="2973388" algn="l"/>
              </a:tabLst>
              <a:defRPr sz="2400">
                <a:solidFill>
                  <a:schemeClr val="tx1"/>
                </a:solidFill>
                <a:latin typeface="Times New Roman" panose="02020603050405020304" pitchFamily="18" charset="0"/>
              </a:defRPr>
            </a:lvl3pPr>
            <a:lvl4pPr marL="1600200" indent="-228600">
              <a:spcBef>
                <a:spcPct val="20000"/>
              </a:spcBef>
              <a:buChar char="–"/>
              <a:tabLst>
                <a:tab pos="2973388" algn="l"/>
              </a:tabLst>
              <a:defRPr sz="2000">
                <a:solidFill>
                  <a:schemeClr val="tx1"/>
                </a:solidFill>
                <a:latin typeface="Times New Roman" panose="02020603050405020304" pitchFamily="18" charset="0"/>
              </a:defRPr>
            </a:lvl4pPr>
            <a:lvl5pPr marL="2057400" indent="-228600">
              <a:spcBef>
                <a:spcPct val="20000"/>
              </a:spcBef>
              <a:buChar char="»"/>
              <a:tabLst>
                <a:tab pos="297338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2973388" algn="l"/>
              </a:tabLst>
              <a:defRPr sz="2000">
                <a:solidFill>
                  <a:schemeClr val="tx1"/>
                </a:solidFill>
                <a:latin typeface="Times New Roman" panose="02020603050405020304" pitchFamily="18" charset="0"/>
              </a:defRPr>
            </a:lvl9pPr>
          </a:lstStyle>
          <a:p>
            <a:pPr>
              <a:spcBef>
                <a:spcPct val="0"/>
              </a:spcBef>
            </a:pPr>
            <a:r>
              <a:rPr lang="en-US" altLang="en-US" sz="2800"/>
              <a:t>  Optimal solution: [6,0], z=42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5349">
                                            <p:txEl>
                                              <p:pRg st="0" end="0"/>
                                            </p:txEl>
                                          </p:spTgt>
                                        </p:tgtEl>
                                        <p:attrNameLst>
                                          <p:attrName>style.visibility</p:attrName>
                                        </p:attrNameLst>
                                      </p:cBhvr>
                                      <p:to>
                                        <p:strVal val="visible"/>
                                      </p:to>
                                    </p:set>
                                    <p:anim calcmode="lin" valueType="num">
                                      <p:cBhvr additive="base">
                                        <p:cTn id="7" dur="500" fill="hold"/>
                                        <p:tgtEl>
                                          <p:spTgt spid="18534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534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5350"/>
                                        </p:tgtEl>
                                        <p:attrNameLst>
                                          <p:attrName>style.visibility</p:attrName>
                                        </p:attrNameLst>
                                      </p:cBhvr>
                                      <p:to>
                                        <p:strVal val="visible"/>
                                      </p:to>
                                    </p:set>
                                    <p:anim calcmode="lin" valueType="num">
                                      <p:cBhvr additive="base">
                                        <p:cTn id="13" dur="500" fill="hold"/>
                                        <p:tgtEl>
                                          <p:spTgt spid="185350"/>
                                        </p:tgtEl>
                                        <p:attrNameLst>
                                          <p:attrName>ppt_x</p:attrName>
                                        </p:attrNameLst>
                                      </p:cBhvr>
                                      <p:tavLst>
                                        <p:tav tm="0">
                                          <p:val>
                                            <p:strVal val="0-#ppt_w/2"/>
                                          </p:val>
                                        </p:tav>
                                        <p:tav tm="100000">
                                          <p:val>
                                            <p:strVal val="#ppt_x"/>
                                          </p:val>
                                        </p:tav>
                                      </p:tavLst>
                                    </p:anim>
                                    <p:anim calcmode="lin" valueType="num">
                                      <p:cBhvr additive="base">
                                        <p:cTn id="14" dur="500" fill="hold"/>
                                        <p:tgtEl>
                                          <p:spTgt spid="18535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5386"/>
                                        </p:tgtEl>
                                        <p:attrNameLst>
                                          <p:attrName>style.visibility</p:attrName>
                                        </p:attrNameLst>
                                      </p:cBhvr>
                                      <p:to>
                                        <p:strVal val="visible"/>
                                      </p:to>
                                    </p:set>
                                    <p:anim calcmode="lin" valueType="num">
                                      <p:cBhvr additive="base">
                                        <p:cTn id="19" dur="500" fill="hold"/>
                                        <p:tgtEl>
                                          <p:spTgt spid="185386"/>
                                        </p:tgtEl>
                                        <p:attrNameLst>
                                          <p:attrName>ppt_x</p:attrName>
                                        </p:attrNameLst>
                                      </p:cBhvr>
                                      <p:tavLst>
                                        <p:tav tm="0">
                                          <p:val>
                                            <p:strVal val="0-#ppt_w/2"/>
                                          </p:val>
                                        </p:tav>
                                        <p:tav tm="100000">
                                          <p:val>
                                            <p:strVal val="#ppt_x"/>
                                          </p:val>
                                        </p:tav>
                                      </p:tavLst>
                                    </p:anim>
                                    <p:anim calcmode="lin" valueType="num">
                                      <p:cBhvr additive="base">
                                        <p:cTn id="20" dur="500" fill="hold"/>
                                        <p:tgtEl>
                                          <p:spTgt spid="1853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9" grpId="0" build="p" autoUpdateAnimBg="0"/>
      <p:bldP spid="185350" grpId="0" autoUpdateAnimBg="0"/>
      <p:bldP spid="185386"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07B5489-892B-3AB7-532B-4A34513C4E79}"/>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Complexity Issues </a:t>
            </a:r>
          </a:p>
        </p:txBody>
      </p:sp>
      <p:sp>
        <p:nvSpPr>
          <p:cNvPr id="10243" name="Rectangle 3">
            <a:extLst>
              <a:ext uri="{FF2B5EF4-FFF2-40B4-BE49-F238E27FC236}">
                <a16:creationId xmlns:a16="http://schemas.microsoft.com/office/drawing/2014/main" id="{0DBCD9B9-FE9B-CE7A-C6AE-BB88EED74784}"/>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0244" name="Rectangle 4">
            <a:extLst>
              <a:ext uri="{FF2B5EF4-FFF2-40B4-BE49-F238E27FC236}">
                <a16:creationId xmlns:a16="http://schemas.microsoft.com/office/drawing/2014/main" id="{35EF5ACB-D44B-7142-8810-7E192EA7481C}"/>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25</a:t>
            </a:r>
          </a:p>
        </p:txBody>
      </p:sp>
      <p:sp>
        <p:nvSpPr>
          <p:cNvPr id="177159" name="Text Box 7">
            <a:extLst>
              <a:ext uri="{FF2B5EF4-FFF2-40B4-BE49-F238E27FC236}">
                <a16:creationId xmlns:a16="http://schemas.microsoft.com/office/drawing/2014/main" id="{ABFB9D18-F981-CC5F-FC21-26B8E931F2A6}"/>
              </a:ext>
            </a:extLst>
          </p:cNvPr>
          <p:cNvSpPr txBox="1">
            <a:spLocks noChangeArrowheads="1"/>
          </p:cNvSpPr>
          <p:nvPr/>
        </p:nvSpPr>
        <p:spPr bwMode="auto">
          <a:xfrm>
            <a:off x="266700" y="3200400"/>
            <a:ext cx="86106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Note we had to evaluate 6 nodes out of...</a:t>
            </a:r>
          </a:p>
          <a:p>
            <a:pPr>
              <a:spcBef>
                <a:spcPct val="0"/>
              </a:spcBef>
            </a:pPr>
            <a:r>
              <a:rPr lang="en-US" altLang="en-US" sz="3000"/>
              <a:t>  An infinite number! (if infeasble possibilities counted)</a:t>
            </a:r>
          </a:p>
          <a:p>
            <a:pPr>
              <a:spcBef>
                <a:spcPct val="0"/>
              </a:spcBef>
            </a:pPr>
            <a:r>
              <a:rPr lang="en-US" altLang="en-US" sz="3000"/>
              <a:t>  Even if we only count feasible solutions, there are 33 possibilities</a:t>
            </a:r>
          </a:p>
          <a:p>
            <a:pPr>
              <a:spcBef>
                <a:spcPct val="0"/>
              </a:spcBef>
            </a:pPr>
            <a:r>
              <a:rPr lang="en-US" altLang="en-US" sz="3000"/>
              <a:t>  So this is efficient, even though we must sometimes solve a large number of LP’s</a:t>
            </a:r>
          </a:p>
        </p:txBody>
      </p:sp>
      <p:graphicFrame>
        <p:nvGraphicFramePr>
          <p:cNvPr id="10246" name="Object 9">
            <a:extLst>
              <a:ext uri="{FF2B5EF4-FFF2-40B4-BE49-F238E27FC236}">
                <a16:creationId xmlns:a16="http://schemas.microsoft.com/office/drawing/2014/main" id="{78EC0012-CE8E-4238-EAAA-1C97CD61FABA}"/>
              </a:ext>
            </a:extLst>
          </p:cNvPr>
          <p:cNvGraphicFramePr>
            <a:graphicFrameLocks noChangeAspect="1"/>
          </p:cNvGraphicFramePr>
          <p:nvPr/>
        </p:nvGraphicFramePr>
        <p:xfrm>
          <a:off x="1370013" y="914400"/>
          <a:ext cx="6405562" cy="2178050"/>
        </p:xfrm>
        <a:graphic>
          <a:graphicData uri="http://schemas.openxmlformats.org/presentationml/2006/ole">
            <mc:AlternateContent xmlns:mc="http://schemas.openxmlformats.org/markup-compatibility/2006">
              <mc:Choice xmlns:v="urn:schemas-microsoft-com:vml" Requires="v">
                <p:oleObj name="Equation" r:id="rId2" imgW="2692400" imgH="914400" progId="Equation.3">
                  <p:embed/>
                </p:oleObj>
              </mc:Choice>
              <mc:Fallback>
                <p:oleObj name="Equation" r:id="rId2" imgW="2692400" imgH="914400" progId="Equation.3">
                  <p:embed/>
                  <p:pic>
                    <p:nvPicPr>
                      <p:cNvPr id="10246" name="Object 9">
                        <a:extLst>
                          <a:ext uri="{FF2B5EF4-FFF2-40B4-BE49-F238E27FC236}">
                            <a16:creationId xmlns:a16="http://schemas.microsoft.com/office/drawing/2014/main" id="{78EC0012-CE8E-4238-EAAA-1C97CD61F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0013" y="914400"/>
                        <a:ext cx="6405562" cy="217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7159">
                                            <p:txEl>
                                              <p:pRg st="0" end="0"/>
                                            </p:txEl>
                                          </p:spTgt>
                                        </p:tgtEl>
                                        <p:attrNameLst>
                                          <p:attrName>style.visibility</p:attrName>
                                        </p:attrNameLst>
                                      </p:cBhvr>
                                      <p:to>
                                        <p:strVal val="visible"/>
                                      </p:to>
                                    </p:set>
                                    <p:anim calcmode="lin" valueType="num">
                                      <p:cBhvr additive="base">
                                        <p:cTn id="7" dur="500" fill="hold"/>
                                        <p:tgtEl>
                                          <p:spTgt spid="1771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71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7159">
                                            <p:txEl>
                                              <p:pRg st="1" end="1"/>
                                            </p:txEl>
                                          </p:spTgt>
                                        </p:tgtEl>
                                        <p:attrNameLst>
                                          <p:attrName>style.visibility</p:attrName>
                                        </p:attrNameLst>
                                      </p:cBhvr>
                                      <p:to>
                                        <p:strVal val="visible"/>
                                      </p:to>
                                    </p:set>
                                    <p:anim calcmode="lin" valueType="num">
                                      <p:cBhvr additive="base">
                                        <p:cTn id="13" dur="500" fill="hold"/>
                                        <p:tgtEl>
                                          <p:spTgt spid="1771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71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7159">
                                            <p:txEl>
                                              <p:pRg st="2" end="2"/>
                                            </p:txEl>
                                          </p:spTgt>
                                        </p:tgtEl>
                                        <p:attrNameLst>
                                          <p:attrName>style.visibility</p:attrName>
                                        </p:attrNameLst>
                                      </p:cBhvr>
                                      <p:to>
                                        <p:strVal val="visible"/>
                                      </p:to>
                                    </p:set>
                                    <p:anim calcmode="lin" valueType="num">
                                      <p:cBhvr additive="base">
                                        <p:cTn id="19" dur="500" fill="hold"/>
                                        <p:tgtEl>
                                          <p:spTgt spid="1771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71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7159">
                                            <p:txEl>
                                              <p:pRg st="3" end="3"/>
                                            </p:txEl>
                                          </p:spTgt>
                                        </p:tgtEl>
                                        <p:attrNameLst>
                                          <p:attrName>style.visibility</p:attrName>
                                        </p:attrNameLst>
                                      </p:cBhvr>
                                      <p:to>
                                        <p:strVal val="visible"/>
                                      </p:to>
                                    </p:set>
                                    <p:anim calcmode="lin" valueType="num">
                                      <p:cBhvr additive="base">
                                        <p:cTn id="25" dur="500" fill="hold"/>
                                        <p:tgtEl>
                                          <p:spTgt spid="1771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715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9"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B36FD253-B989-12CD-A31B-958437ED48B7}"/>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NP-Completeness</a:t>
            </a:r>
          </a:p>
        </p:txBody>
      </p:sp>
      <p:sp>
        <p:nvSpPr>
          <p:cNvPr id="11267" name="Rectangle 3">
            <a:extLst>
              <a:ext uri="{FF2B5EF4-FFF2-40B4-BE49-F238E27FC236}">
                <a16:creationId xmlns:a16="http://schemas.microsoft.com/office/drawing/2014/main" id="{43DA4507-199A-7C11-8B74-FD9004BB596B}"/>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68" name="Rectangle 4">
            <a:extLst>
              <a:ext uri="{FF2B5EF4-FFF2-40B4-BE49-F238E27FC236}">
                <a16:creationId xmlns:a16="http://schemas.microsoft.com/office/drawing/2014/main" id="{3923D67F-5F31-F619-A2BD-FC9FA741D7C0}"/>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25</a:t>
            </a:r>
          </a:p>
        </p:txBody>
      </p:sp>
      <p:sp>
        <p:nvSpPr>
          <p:cNvPr id="178183" name="Text Box 7">
            <a:extLst>
              <a:ext uri="{FF2B5EF4-FFF2-40B4-BE49-F238E27FC236}">
                <a16:creationId xmlns:a16="http://schemas.microsoft.com/office/drawing/2014/main" id="{CA683455-467E-7744-8F89-8657AD55CF38}"/>
              </a:ext>
            </a:extLst>
          </p:cNvPr>
          <p:cNvSpPr txBox="1">
            <a:spLocks noChangeArrowheads="1"/>
          </p:cNvSpPr>
          <p:nvPr/>
        </p:nvSpPr>
        <p:spPr bwMode="auto">
          <a:xfrm>
            <a:off x="457200" y="1447800"/>
            <a:ext cx="8229600"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a:t>
            </a:r>
            <a:r>
              <a:rPr lang="en-US" altLang="en-US" sz="3500"/>
              <a:t>These problems are </a:t>
            </a:r>
            <a:r>
              <a:rPr lang="en-US" altLang="en-US" sz="3500" u="sng"/>
              <a:t>NP-complete</a:t>
            </a:r>
          </a:p>
          <a:p>
            <a:pPr lvl="1">
              <a:spcBef>
                <a:spcPct val="0"/>
              </a:spcBef>
              <a:buFontTx/>
              <a:buChar char="•"/>
            </a:pPr>
            <a:r>
              <a:rPr lang="en-US" altLang="en-US" sz="3500"/>
              <a:t>  No known algorithm solves them in “polynomial time”</a:t>
            </a:r>
          </a:p>
          <a:p>
            <a:pPr lvl="1">
              <a:spcBef>
                <a:spcPct val="0"/>
              </a:spcBef>
              <a:buFontTx/>
              <a:buChar char="•"/>
            </a:pPr>
            <a:r>
              <a:rPr lang="en-US" altLang="en-US" sz="3500"/>
              <a:t>  Even simple-looking problems can take a huge amount of time to solve</a:t>
            </a:r>
          </a:p>
          <a:p>
            <a:pPr>
              <a:spcBef>
                <a:spcPct val="0"/>
              </a:spcBef>
            </a:pPr>
            <a:r>
              <a:rPr lang="en-US" altLang="en-US" sz="3500"/>
              <a:t>  It is therefore critical to formulate your problem in a way which is likely to be solvable within a reasonable time</a:t>
            </a:r>
          </a:p>
          <a:p>
            <a:pPr>
              <a:spcBef>
                <a:spcPct val="0"/>
              </a:spcBef>
              <a:buFontTx/>
              <a:buNone/>
            </a:pPr>
            <a:endParaRPr lang="en-US" altLang="en-US" sz="35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8183">
                                            <p:txEl>
                                              <p:pRg st="0" end="0"/>
                                            </p:txEl>
                                          </p:spTgt>
                                        </p:tgtEl>
                                        <p:attrNameLst>
                                          <p:attrName>style.visibility</p:attrName>
                                        </p:attrNameLst>
                                      </p:cBhvr>
                                      <p:to>
                                        <p:strVal val="visible"/>
                                      </p:to>
                                    </p:set>
                                    <p:anim calcmode="lin" valueType="num">
                                      <p:cBhvr additive="base">
                                        <p:cTn id="7" dur="500" fill="hold"/>
                                        <p:tgtEl>
                                          <p:spTgt spid="1781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81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8183">
                                            <p:txEl>
                                              <p:pRg st="1" end="1"/>
                                            </p:txEl>
                                          </p:spTgt>
                                        </p:tgtEl>
                                        <p:attrNameLst>
                                          <p:attrName>style.visibility</p:attrName>
                                        </p:attrNameLst>
                                      </p:cBhvr>
                                      <p:to>
                                        <p:strVal val="visible"/>
                                      </p:to>
                                    </p:set>
                                    <p:anim calcmode="lin" valueType="num">
                                      <p:cBhvr additive="base">
                                        <p:cTn id="13" dur="500" fill="hold"/>
                                        <p:tgtEl>
                                          <p:spTgt spid="1781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81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8183">
                                            <p:txEl>
                                              <p:pRg st="2" end="2"/>
                                            </p:txEl>
                                          </p:spTgt>
                                        </p:tgtEl>
                                        <p:attrNameLst>
                                          <p:attrName>style.visibility</p:attrName>
                                        </p:attrNameLst>
                                      </p:cBhvr>
                                      <p:to>
                                        <p:strVal val="visible"/>
                                      </p:to>
                                    </p:set>
                                    <p:anim calcmode="lin" valueType="num">
                                      <p:cBhvr additive="base">
                                        <p:cTn id="19" dur="500" fill="hold"/>
                                        <p:tgtEl>
                                          <p:spTgt spid="1781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81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8183">
                                            <p:txEl>
                                              <p:pRg st="3" end="3"/>
                                            </p:txEl>
                                          </p:spTgt>
                                        </p:tgtEl>
                                        <p:attrNameLst>
                                          <p:attrName>style.visibility</p:attrName>
                                        </p:attrNameLst>
                                      </p:cBhvr>
                                      <p:to>
                                        <p:strVal val="visible"/>
                                      </p:to>
                                    </p:set>
                                    <p:anim calcmode="lin" valueType="num">
                                      <p:cBhvr additive="base">
                                        <p:cTn id="25" dur="500" fill="hold"/>
                                        <p:tgtEl>
                                          <p:spTgt spid="1781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818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3" grpId="0" build="p" bldLvl="2"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44333F6-A200-B295-FA13-1D67BAAD3D94}"/>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Hints: Computer Solution of MILP’s </a:t>
            </a:r>
          </a:p>
        </p:txBody>
      </p:sp>
      <p:sp>
        <p:nvSpPr>
          <p:cNvPr id="12291" name="Rectangle 3">
            <a:extLst>
              <a:ext uri="{FF2B5EF4-FFF2-40B4-BE49-F238E27FC236}">
                <a16:creationId xmlns:a16="http://schemas.microsoft.com/office/drawing/2014/main" id="{6FA6D454-9DCA-614C-0691-B788C94C2649}"/>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292" name="Rectangle 4">
            <a:extLst>
              <a:ext uri="{FF2B5EF4-FFF2-40B4-BE49-F238E27FC236}">
                <a16:creationId xmlns:a16="http://schemas.microsoft.com/office/drawing/2014/main" id="{08809C04-45E7-D53E-F7C2-60E3EA9362F4}"/>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25</a:t>
            </a:r>
          </a:p>
        </p:txBody>
      </p:sp>
      <p:sp>
        <p:nvSpPr>
          <p:cNvPr id="183301" name="Text Box 5">
            <a:extLst>
              <a:ext uri="{FF2B5EF4-FFF2-40B4-BE49-F238E27FC236}">
                <a16:creationId xmlns:a16="http://schemas.microsoft.com/office/drawing/2014/main" id="{CD36455B-742E-F748-E1BF-E60A38B17217}"/>
              </a:ext>
            </a:extLst>
          </p:cNvPr>
          <p:cNvSpPr txBox="1">
            <a:spLocks noChangeArrowheads="1"/>
          </p:cNvSpPr>
          <p:nvPr/>
        </p:nvSpPr>
        <p:spPr bwMode="auto">
          <a:xfrm>
            <a:off x="495300" y="1371600"/>
            <a:ext cx="8153400"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600"/>
              <a:t>  </a:t>
            </a:r>
            <a:r>
              <a:rPr lang="en-US" altLang="en-US"/>
              <a:t>Do you really need all those integer variables?</a:t>
            </a:r>
          </a:p>
          <a:p>
            <a:pPr lvl="1">
              <a:spcBef>
                <a:spcPct val="0"/>
              </a:spcBef>
              <a:buFontTx/>
              <a:buChar char="•"/>
            </a:pPr>
            <a:r>
              <a:rPr lang="en-US" altLang="en-US" sz="3200"/>
              <a:t>  If a value is very large, then assuming that it is continuous followed by rounding it only introduces a small amount of error</a:t>
            </a:r>
          </a:p>
          <a:p>
            <a:pPr lvl="1">
              <a:spcBef>
                <a:spcPct val="0"/>
              </a:spcBef>
              <a:buFontTx/>
              <a:buChar char="•"/>
            </a:pPr>
            <a:r>
              <a:rPr lang="en-US" altLang="en-US" sz="3200"/>
              <a:t>  How much uncertainty exists in your parameters anyway?</a:t>
            </a:r>
          </a:p>
          <a:p>
            <a:pPr>
              <a:spcBef>
                <a:spcPct val="0"/>
              </a:spcBef>
            </a:pPr>
            <a:r>
              <a:rPr lang="en-US" altLang="en-US"/>
              <a:t>  Set the tightest bounds possible on your integer variables </a:t>
            </a:r>
          </a:p>
          <a:p>
            <a:pPr lvl="1">
              <a:spcBef>
                <a:spcPct val="0"/>
              </a:spcBef>
              <a:buFontTx/>
              <a:buChar char="•"/>
            </a:pPr>
            <a:r>
              <a:rPr lang="en-US" altLang="en-US" sz="3200"/>
              <a:t>  Causes branches of the tree to be fathomed more quickly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3301">
                                            <p:txEl>
                                              <p:pRg st="0" end="0"/>
                                            </p:txEl>
                                          </p:spTgt>
                                        </p:tgtEl>
                                        <p:attrNameLst>
                                          <p:attrName>style.visibility</p:attrName>
                                        </p:attrNameLst>
                                      </p:cBhvr>
                                      <p:to>
                                        <p:strVal val="visible"/>
                                      </p:to>
                                    </p:set>
                                    <p:anim calcmode="lin" valueType="num">
                                      <p:cBhvr additive="base">
                                        <p:cTn id="7" dur="500" fill="hold"/>
                                        <p:tgtEl>
                                          <p:spTgt spid="18330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330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3301">
                                            <p:txEl>
                                              <p:pRg st="1" end="1"/>
                                            </p:txEl>
                                          </p:spTgt>
                                        </p:tgtEl>
                                        <p:attrNameLst>
                                          <p:attrName>style.visibility</p:attrName>
                                        </p:attrNameLst>
                                      </p:cBhvr>
                                      <p:to>
                                        <p:strVal val="visible"/>
                                      </p:to>
                                    </p:set>
                                    <p:anim calcmode="lin" valueType="num">
                                      <p:cBhvr additive="base">
                                        <p:cTn id="13" dur="500" fill="hold"/>
                                        <p:tgtEl>
                                          <p:spTgt spid="18330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330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3301">
                                            <p:txEl>
                                              <p:pRg st="2" end="2"/>
                                            </p:txEl>
                                          </p:spTgt>
                                        </p:tgtEl>
                                        <p:attrNameLst>
                                          <p:attrName>style.visibility</p:attrName>
                                        </p:attrNameLst>
                                      </p:cBhvr>
                                      <p:to>
                                        <p:strVal val="visible"/>
                                      </p:to>
                                    </p:set>
                                    <p:anim calcmode="lin" valueType="num">
                                      <p:cBhvr additive="base">
                                        <p:cTn id="19" dur="500" fill="hold"/>
                                        <p:tgtEl>
                                          <p:spTgt spid="18330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330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3301">
                                            <p:txEl>
                                              <p:pRg st="3" end="3"/>
                                            </p:txEl>
                                          </p:spTgt>
                                        </p:tgtEl>
                                        <p:attrNameLst>
                                          <p:attrName>style.visibility</p:attrName>
                                        </p:attrNameLst>
                                      </p:cBhvr>
                                      <p:to>
                                        <p:strVal val="visible"/>
                                      </p:to>
                                    </p:set>
                                    <p:anim calcmode="lin" valueType="num">
                                      <p:cBhvr additive="base">
                                        <p:cTn id="25" dur="500" fill="hold"/>
                                        <p:tgtEl>
                                          <p:spTgt spid="18330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330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83301">
                                            <p:txEl>
                                              <p:pRg st="4" end="4"/>
                                            </p:txEl>
                                          </p:spTgt>
                                        </p:tgtEl>
                                        <p:attrNameLst>
                                          <p:attrName>style.visibility</p:attrName>
                                        </p:attrNameLst>
                                      </p:cBhvr>
                                      <p:to>
                                        <p:strVal val="visible"/>
                                      </p:to>
                                    </p:set>
                                    <p:anim calcmode="lin" valueType="num">
                                      <p:cBhvr additive="base">
                                        <p:cTn id="31" dur="500" fill="hold"/>
                                        <p:tgtEl>
                                          <p:spTgt spid="18330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330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1" grpId="0" build="p" bldLvl="2"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18951A2-69DA-16AF-FAC7-CF3BCD53CB88}"/>
              </a:ext>
            </a:extLst>
          </p:cNvPr>
          <p:cNvSpPr>
            <a:spLocks noGrp="1" noChangeArrowheads="1"/>
          </p:cNvSpPr>
          <p:nvPr>
            <p:ph type="title"/>
          </p:nvPr>
        </p:nvSpPr>
        <p:spPr>
          <a:xfrm>
            <a:off x="381000" y="152400"/>
            <a:ext cx="8382000" cy="1143000"/>
          </a:xfrm>
        </p:spPr>
        <p:txBody>
          <a:bodyPr>
            <a:normAutofit fontScale="90000"/>
          </a:bodyPr>
          <a:lstStyle/>
          <a:p>
            <a:pPr>
              <a:lnSpc>
                <a:spcPct val="80000"/>
              </a:lnSpc>
            </a:pPr>
            <a:r>
              <a:rPr lang="en-US" altLang="en-US" sz="4600"/>
              <a:t>More Hints: Computer Solution of MILP’s </a:t>
            </a:r>
          </a:p>
        </p:txBody>
      </p:sp>
      <p:sp>
        <p:nvSpPr>
          <p:cNvPr id="13315" name="Rectangle 3">
            <a:extLst>
              <a:ext uri="{FF2B5EF4-FFF2-40B4-BE49-F238E27FC236}">
                <a16:creationId xmlns:a16="http://schemas.microsoft.com/office/drawing/2014/main" id="{0C5A4E43-69B9-0F80-E857-3EE2D3316614}"/>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16" name="Rectangle 4">
            <a:extLst>
              <a:ext uri="{FF2B5EF4-FFF2-40B4-BE49-F238E27FC236}">
                <a16:creationId xmlns:a16="http://schemas.microsoft.com/office/drawing/2014/main" id="{09FAEFD1-91F6-8571-D869-E949210ACC14}"/>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25</a:t>
            </a:r>
          </a:p>
        </p:txBody>
      </p:sp>
      <p:sp>
        <p:nvSpPr>
          <p:cNvPr id="186373" name="Text Box 5">
            <a:extLst>
              <a:ext uri="{FF2B5EF4-FFF2-40B4-BE49-F238E27FC236}">
                <a16:creationId xmlns:a16="http://schemas.microsoft.com/office/drawing/2014/main" id="{AC3EEF89-0FAC-BCF6-7AB3-6DC217F7F9EE}"/>
              </a:ext>
            </a:extLst>
          </p:cNvPr>
          <p:cNvSpPr txBox="1">
            <a:spLocks noChangeArrowheads="1"/>
          </p:cNvSpPr>
          <p:nvPr/>
        </p:nvSpPr>
        <p:spPr bwMode="auto">
          <a:xfrm>
            <a:off x="495300" y="1600200"/>
            <a:ext cx="815340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600"/>
              <a:t>  Have we seen this before?</a:t>
            </a:r>
          </a:p>
          <a:p>
            <a:pPr lvl="1">
              <a:spcBef>
                <a:spcPct val="0"/>
              </a:spcBef>
              <a:buFontTx/>
              <a:buChar char="•"/>
            </a:pPr>
            <a:r>
              <a:rPr lang="en-US" altLang="en-US" sz="3600"/>
              <a:t>  Many “classic” problems have specific solvers (software) created just to handle them, like TSP’s and assignment problems</a:t>
            </a:r>
          </a:p>
          <a:p>
            <a:pPr lvl="1">
              <a:spcBef>
                <a:spcPct val="0"/>
              </a:spcBef>
              <a:buFontTx/>
              <a:buChar char="•"/>
            </a:pPr>
            <a:r>
              <a:rPr lang="en-US" altLang="en-US" sz="3600"/>
              <a:t>  Try to formulate your problem like one of these, and get software which is effective for that type of problem</a:t>
            </a:r>
          </a:p>
          <a:p>
            <a:pPr>
              <a:spcBef>
                <a:spcPct val="0"/>
              </a:spcBef>
              <a:buFontTx/>
              <a:buNone/>
            </a:pPr>
            <a:endParaRPr lang="en-US" altLang="en-US" sz="3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6373">
                                            <p:txEl>
                                              <p:pRg st="0" end="0"/>
                                            </p:txEl>
                                          </p:spTgt>
                                        </p:tgtEl>
                                        <p:attrNameLst>
                                          <p:attrName>style.visibility</p:attrName>
                                        </p:attrNameLst>
                                      </p:cBhvr>
                                      <p:to>
                                        <p:strVal val="visible"/>
                                      </p:to>
                                    </p:set>
                                    <p:anim calcmode="lin" valueType="num">
                                      <p:cBhvr additive="base">
                                        <p:cTn id="7" dur="500" fill="hold"/>
                                        <p:tgtEl>
                                          <p:spTgt spid="18637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637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6373">
                                            <p:txEl>
                                              <p:pRg st="1" end="1"/>
                                            </p:txEl>
                                          </p:spTgt>
                                        </p:tgtEl>
                                        <p:attrNameLst>
                                          <p:attrName>style.visibility</p:attrName>
                                        </p:attrNameLst>
                                      </p:cBhvr>
                                      <p:to>
                                        <p:strVal val="visible"/>
                                      </p:to>
                                    </p:set>
                                    <p:anim calcmode="lin" valueType="num">
                                      <p:cBhvr additive="base">
                                        <p:cTn id="13" dur="500" fill="hold"/>
                                        <p:tgtEl>
                                          <p:spTgt spid="18637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637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6373">
                                            <p:txEl>
                                              <p:pRg st="2" end="2"/>
                                            </p:txEl>
                                          </p:spTgt>
                                        </p:tgtEl>
                                        <p:attrNameLst>
                                          <p:attrName>style.visibility</p:attrName>
                                        </p:attrNameLst>
                                      </p:cBhvr>
                                      <p:to>
                                        <p:strVal val="visible"/>
                                      </p:to>
                                    </p:set>
                                    <p:anim calcmode="lin" valueType="num">
                                      <p:cBhvr additive="base">
                                        <p:cTn id="19" dur="500" fill="hold"/>
                                        <p:tgtEl>
                                          <p:spTgt spid="18637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637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3" grpId="0" build="p" bldLvl="2"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FED7BC0-C267-9B62-8B47-D7731813ED6D}"/>
              </a:ext>
            </a:extLst>
          </p:cNvPr>
          <p:cNvSpPr>
            <a:spLocks noGrp="1" noChangeArrowheads="1"/>
          </p:cNvSpPr>
          <p:nvPr>
            <p:ph type="title"/>
          </p:nvPr>
        </p:nvSpPr>
        <p:spPr>
          <a:xfrm>
            <a:off x="381000" y="152400"/>
            <a:ext cx="8382000" cy="1143000"/>
          </a:xfrm>
        </p:spPr>
        <p:txBody>
          <a:bodyPr>
            <a:normAutofit fontScale="90000"/>
          </a:bodyPr>
          <a:lstStyle/>
          <a:p>
            <a:pPr>
              <a:lnSpc>
                <a:spcPct val="80000"/>
              </a:lnSpc>
            </a:pPr>
            <a:r>
              <a:rPr lang="en-US" altLang="en-US" sz="4600"/>
              <a:t>More Hints: Computer Solution of MILP’s </a:t>
            </a:r>
          </a:p>
        </p:txBody>
      </p:sp>
      <p:sp>
        <p:nvSpPr>
          <p:cNvPr id="14339" name="Rectangle 3">
            <a:extLst>
              <a:ext uri="{FF2B5EF4-FFF2-40B4-BE49-F238E27FC236}">
                <a16:creationId xmlns:a16="http://schemas.microsoft.com/office/drawing/2014/main" id="{DD49E1F9-C562-9212-0772-2ECC7C7E45AA}"/>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4340" name="Rectangle 4">
            <a:extLst>
              <a:ext uri="{FF2B5EF4-FFF2-40B4-BE49-F238E27FC236}">
                <a16:creationId xmlns:a16="http://schemas.microsoft.com/office/drawing/2014/main" id="{6658BBFF-4F59-3E2F-2B47-210B38715D12}"/>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25</a:t>
            </a:r>
          </a:p>
        </p:txBody>
      </p:sp>
      <p:sp>
        <p:nvSpPr>
          <p:cNvPr id="187397" name="Text Box 5">
            <a:extLst>
              <a:ext uri="{FF2B5EF4-FFF2-40B4-BE49-F238E27FC236}">
                <a16:creationId xmlns:a16="http://schemas.microsoft.com/office/drawing/2014/main" id="{3AE93D02-B32F-2921-353E-66A8F5C328F3}"/>
              </a:ext>
            </a:extLst>
          </p:cNvPr>
          <p:cNvSpPr txBox="1">
            <a:spLocks noChangeArrowheads="1"/>
          </p:cNvSpPr>
          <p:nvPr/>
        </p:nvSpPr>
        <p:spPr bwMode="auto">
          <a:xfrm>
            <a:off x="495300" y="1273175"/>
            <a:ext cx="8153400"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600"/>
              <a:t>  Try not to mix integers and binaries</a:t>
            </a:r>
          </a:p>
          <a:p>
            <a:pPr lvl="1">
              <a:spcBef>
                <a:spcPct val="0"/>
              </a:spcBef>
              <a:buFontTx/>
              <a:buChar char="•"/>
            </a:pPr>
            <a:r>
              <a:rPr lang="en-US" altLang="en-US" sz="3600"/>
              <a:t>  This causes two types of branching rules to be enforced simultaneously, which slows down the solver</a:t>
            </a:r>
          </a:p>
          <a:p>
            <a:pPr lvl="1">
              <a:spcBef>
                <a:spcPct val="0"/>
              </a:spcBef>
              <a:buFontTx/>
              <a:buChar char="•"/>
            </a:pPr>
            <a:r>
              <a:rPr lang="en-US" altLang="en-US" sz="3600"/>
              <a:t>  For just a few integer variables, you can convert them to binaries using:</a:t>
            </a:r>
          </a:p>
          <a:p>
            <a:pPr lvl="1">
              <a:spcBef>
                <a:spcPct val="0"/>
              </a:spcBef>
              <a:buFontTx/>
              <a:buChar char="•"/>
            </a:pPr>
            <a:endParaRPr lang="en-US" altLang="en-US"/>
          </a:p>
          <a:p>
            <a:pPr lvl="1">
              <a:spcBef>
                <a:spcPct val="0"/>
              </a:spcBef>
              <a:buFontTx/>
              <a:buChar char="•"/>
            </a:pPr>
            <a:endParaRPr lang="en-US" altLang="en-US"/>
          </a:p>
          <a:p>
            <a:pPr lvl="1">
              <a:spcBef>
                <a:spcPct val="0"/>
              </a:spcBef>
              <a:buFontTx/>
              <a:buNone/>
            </a:pPr>
            <a:r>
              <a:rPr lang="en-US" altLang="en-US" sz="3600"/>
              <a:t> </a:t>
            </a:r>
          </a:p>
        </p:txBody>
      </p:sp>
      <p:graphicFrame>
        <p:nvGraphicFramePr>
          <p:cNvPr id="187398" name="Object 6">
            <a:extLst>
              <a:ext uri="{FF2B5EF4-FFF2-40B4-BE49-F238E27FC236}">
                <a16:creationId xmlns:a16="http://schemas.microsoft.com/office/drawing/2014/main" id="{5297D6CB-AEFC-AB24-9546-303B9F32D6D1}"/>
              </a:ext>
            </a:extLst>
          </p:cNvPr>
          <p:cNvGraphicFramePr>
            <a:graphicFrameLocks noChangeAspect="1"/>
          </p:cNvGraphicFramePr>
          <p:nvPr/>
        </p:nvGraphicFramePr>
        <p:xfrm>
          <a:off x="3467100" y="4495800"/>
          <a:ext cx="2209800" cy="1089025"/>
        </p:xfrm>
        <a:graphic>
          <a:graphicData uri="http://schemas.openxmlformats.org/presentationml/2006/ole">
            <mc:AlternateContent xmlns:mc="http://schemas.openxmlformats.org/markup-compatibility/2006">
              <mc:Choice xmlns:v="urn:schemas-microsoft-com:vml" Requires="v">
                <p:oleObj name="Equation" r:id="rId2" imgW="876300" imgH="431800" progId="Equation.3">
                  <p:embed/>
                </p:oleObj>
              </mc:Choice>
              <mc:Fallback>
                <p:oleObj name="Equation" r:id="rId2" imgW="876300" imgH="431800" progId="Equation.3">
                  <p:embed/>
                  <p:pic>
                    <p:nvPicPr>
                      <p:cNvPr id="187398" name="Object 6">
                        <a:extLst>
                          <a:ext uri="{FF2B5EF4-FFF2-40B4-BE49-F238E27FC236}">
                            <a16:creationId xmlns:a16="http://schemas.microsoft.com/office/drawing/2014/main" id="{5297D6CB-AEFC-AB24-9546-303B9F32D6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7100" y="4495800"/>
                        <a:ext cx="2209800" cy="108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7399" name="Text Box 7">
            <a:extLst>
              <a:ext uri="{FF2B5EF4-FFF2-40B4-BE49-F238E27FC236}">
                <a16:creationId xmlns:a16="http://schemas.microsoft.com/office/drawing/2014/main" id="{05932FA1-1D5C-2453-A2C0-5560947CD432}"/>
              </a:ext>
            </a:extLst>
          </p:cNvPr>
          <p:cNvSpPr txBox="1">
            <a:spLocks noChangeArrowheads="1"/>
          </p:cNvSpPr>
          <p:nvPr/>
        </p:nvSpPr>
        <p:spPr bwMode="auto">
          <a:xfrm>
            <a:off x="381000" y="5486400"/>
            <a:ext cx="76200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lnSpc>
                <a:spcPct val="90000"/>
              </a:lnSpc>
              <a:spcBef>
                <a:spcPct val="0"/>
              </a:spcBef>
              <a:buFontTx/>
              <a:buNone/>
            </a:pPr>
            <a:r>
              <a:rPr lang="en-US" altLang="en-US" sz="3600"/>
              <a:t>where </a:t>
            </a:r>
            <a:r>
              <a:rPr lang="en-US" altLang="en-US" sz="3600" i="1"/>
              <a:t>n</a:t>
            </a:r>
            <a:r>
              <a:rPr lang="en-US" altLang="en-US" sz="3600"/>
              <a:t> is the no. of binary digits needed to store </a:t>
            </a:r>
            <a:r>
              <a:rPr lang="en-US" altLang="en-US" sz="3600" i="1"/>
              <a:t>x</a:t>
            </a:r>
            <a:endParaRPr lang="en-US" altLang="en-US" sz="3600"/>
          </a:p>
          <a:p>
            <a:pPr>
              <a:spcBef>
                <a:spcPct val="0"/>
              </a:spcBef>
              <a:buFontTx/>
              <a:buNone/>
            </a:pPr>
            <a:endParaRPr lang="en-US" altLang="en-US" sz="3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7397">
                                            <p:txEl>
                                              <p:pRg st="0" end="0"/>
                                            </p:txEl>
                                          </p:spTgt>
                                        </p:tgtEl>
                                        <p:attrNameLst>
                                          <p:attrName>style.visibility</p:attrName>
                                        </p:attrNameLst>
                                      </p:cBhvr>
                                      <p:to>
                                        <p:strVal val="visible"/>
                                      </p:to>
                                    </p:set>
                                    <p:anim calcmode="lin" valueType="num">
                                      <p:cBhvr additive="base">
                                        <p:cTn id="7" dur="500" fill="hold"/>
                                        <p:tgtEl>
                                          <p:spTgt spid="18739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739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7397">
                                            <p:txEl>
                                              <p:pRg st="1" end="1"/>
                                            </p:txEl>
                                          </p:spTgt>
                                        </p:tgtEl>
                                        <p:attrNameLst>
                                          <p:attrName>style.visibility</p:attrName>
                                        </p:attrNameLst>
                                      </p:cBhvr>
                                      <p:to>
                                        <p:strVal val="visible"/>
                                      </p:to>
                                    </p:set>
                                    <p:anim calcmode="lin" valueType="num">
                                      <p:cBhvr additive="base">
                                        <p:cTn id="13" dur="500" fill="hold"/>
                                        <p:tgtEl>
                                          <p:spTgt spid="18739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739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7397">
                                            <p:txEl>
                                              <p:pRg st="2" end="2"/>
                                            </p:txEl>
                                          </p:spTgt>
                                        </p:tgtEl>
                                        <p:attrNameLst>
                                          <p:attrName>style.visibility</p:attrName>
                                        </p:attrNameLst>
                                      </p:cBhvr>
                                      <p:to>
                                        <p:strVal val="visible"/>
                                      </p:to>
                                    </p:set>
                                    <p:anim calcmode="lin" valueType="num">
                                      <p:cBhvr additive="base">
                                        <p:cTn id="19" dur="500" fill="hold"/>
                                        <p:tgtEl>
                                          <p:spTgt spid="18739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739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7397">
                                            <p:txEl>
                                              <p:pRg st="5" end="5"/>
                                            </p:txEl>
                                          </p:spTgt>
                                        </p:tgtEl>
                                        <p:attrNameLst>
                                          <p:attrName>style.visibility</p:attrName>
                                        </p:attrNameLst>
                                      </p:cBhvr>
                                      <p:to>
                                        <p:strVal val="visible"/>
                                      </p:to>
                                    </p:set>
                                    <p:anim calcmode="lin" valueType="num">
                                      <p:cBhvr additive="base">
                                        <p:cTn id="25" dur="500" fill="hold"/>
                                        <p:tgtEl>
                                          <p:spTgt spid="187397">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739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87398"/>
                                        </p:tgtEl>
                                        <p:attrNameLst>
                                          <p:attrName>style.visibility</p:attrName>
                                        </p:attrNameLst>
                                      </p:cBhvr>
                                      <p:to>
                                        <p:strVal val="visible"/>
                                      </p:to>
                                    </p:set>
                                    <p:anim calcmode="lin" valueType="num">
                                      <p:cBhvr additive="base">
                                        <p:cTn id="31" dur="500" fill="hold"/>
                                        <p:tgtEl>
                                          <p:spTgt spid="187398"/>
                                        </p:tgtEl>
                                        <p:attrNameLst>
                                          <p:attrName>ppt_x</p:attrName>
                                        </p:attrNameLst>
                                      </p:cBhvr>
                                      <p:tavLst>
                                        <p:tav tm="0">
                                          <p:val>
                                            <p:strVal val="0-#ppt_w/2"/>
                                          </p:val>
                                        </p:tav>
                                        <p:tav tm="100000">
                                          <p:val>
                                            <p:strVal val="#ppt_x"/>
                                          </p:val>
                                        </p:tav>
                                      </p:tavLst>
                                    </p:anim>
                                    <p:anim calcmode="lin" valueType="num">
                                      <p:cBhvr additive="base">
                                        <p:cTn id="32" dur="500" fill="hold"/>
                                        <p:tgtEl>
                                          <p:spTgt spid="18739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87399"/>
                                        </p:tgtEl>
                                        <p:attrNameLst>
                                          <p:attrName>style.visibility</p:attrName>
                                        </p:attrNameLst>
                                      </p:cBhvr>
                                      <p:to>
                                        <p:strVal val="visible"/>
                                      </p:to>
                                    </p:set>
                                    <p:anim calcmode="lin" valueType="num">
                                      <p:cBhvr additive="base">
                                        <p:cTn id="37" dur="500" fill="hold"/>
                                        <p:tgtEl>
                                          <p:spTgt spid="187399"/>
                                        </p:tgtEl>
                                        <p:attrNameLst>
                                          <p:attrName>ppt_x</p:attrName>
                                        </p:attrNameLst>
                                      </p:cBhvr>
                                      <p:tavLst>
                                        <p:tav tm="0">
                                          <p:val>
                                            <p:strVal val="0-#ppt_w/2"/>
                                          </p:val>
                                        </p:tav>
                                        <p:tav tm="100000">
                                          <p:val>
                                            <p:strVal val="#ppt_x"/>
                                          </p:val>
                                        </p:tav>
                                      </p:tavLst>
                                    </p:anim>
                                    <p:anim calcmode="lin" valueType="num">
                                      <p:cBhvr additive="base">
                                        <p:cTn id="38" dur="500" fill="hold"/>
                                        <p:tgtEl>
                                          <p:spTgt spid="1873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7" grpId="0" build="p" bldLvl="2" autoUpdateAnimBg="0"/>
      <p:bldP spid="187399"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6D3B785B-EEE0-D65D-07CF-0CA0635D9276}"/>
              </a:ext>
            </a:extLst>
          </p:cNvPr>
          <p:cNvSpPr>
            <a:spLocks noGrp="1" noChangeArrowheads="1"/>
          </p:cNvSpPr>
          <p:nvPr>
            <p:ph type="title"/>
          </p:nvPr>
        </p:nvSpPr>
        <p:spPr>
          <a:xfrm>
            <a:off x="381000" y="304800"/>
            <a:ext cx="8382000" cy="1143000"/>
          </a:xfrm>
        </p:spPr>
        <p:txBody>
          <a:bodyPr>
            <a:normAutofit fontScale="90000"/>
          </a:bodyPr>
          <a:lstStyle/>
          <a:p>
            <a:pPr>
              <a:lnSpc>
                <a:spcPct val="80000"/>
              </a:lnSpc>
            </a:pPr>
            <a:r>
              <a:rPr lang="en-US" altLang="en-US" sz="4600"/>
              <a:t>Production Sizing with Batch Processes </a:t>
            </a:r>
          </a:p>
        </p:txBody>
      </p:sp>
      <p:sp>
        <p:nvSpPr>
          <p:cNvPr id="4099" name="Rectangle 3">
            <a:extLst>
              <a:ext uri="{FF2B5EF4-FFF2-40B4-BE49-F238E27FC236}">
                <a16:creationId xmlns:a16="http://schemas.microsoft.com/office/drawing/2014/main" id="{89C1738C-FA26-43D0-6B50-BC31B2836FF7}"/>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0" name="Rectangle 4">
            <a:extLst>
              <a:ext uri="{FF2B5EF4-FFF2-40B4-BE49-F238E27FC236}">
                <a16:creationId xmlns:a16="http://schemas.microsoft.com/office/drawing/2014/main" id="{3CF67F91-D8B3-FD8D-144B-A3F68829B132}"/>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173061" name="Text Box 5">
            <a:extLst>
              <a:ext uri="{FF2B5EF4-FFF2-40B4-BE49-F238E27FC236}">
                <a16:creationId xmlns:a16="http://schemas.microsoft.com/office/drawing/2014/main" id="{978CF3FB-EE9A-3905-8EEA-6AAF39EBB435}"/>
              </a:ext>
            </a:extLst>
          </p:cNvPr>
          <p:cNvSpPr txBox="1">
            <a:spLocks noChangeArrowheads="1"/>
          </p:cNvSpPr>
          <p:nvPr/>
        </p:nvSpPr>
        <p:spPr bwMode="auto">
          <a:xfrm>
            <a:off x="495300" y="1600200"/>
            <a:ext cx="8153400"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Many chemical plants produce multiple products from similar feedstocks</a:t>
            </a:r>
          </a:p>
          <a:p>
            <a:pPr lvl="1">
              <a:spcBef>
                <a:spcPct val="0"/>
              </a:spcBef>
              <a:buFontTx/>
              <a:buChar char="•"/>
            </a:pPr>
            <a:r>
              <a:rPr lang="en-US" altLang="en-US" sz="3400"/>
              <a:t> Quickly meet changing demands</a:t>
            </a:r>
          </a:p>
          <a:p>
            <a:pPr lvl="1">
              <a:spcBef>
                <a:spcPct val="0"/>
              </a:spcBef>
              <a:buFontTx/>
              <a:buChar char="•"/>
            </a:pPr>
            <a:r>
              <a:rPr lang="en-US" altLang="en-US" sz="3400"/>
              <a:t> Flexibility if one production or supply line gets interrupted</a:t>
            </a:r>
          </a:p>
          <a:p>
            <a:pPr lvl="1">
              <a:spcBef>
                <a:spcPct val="0"/>
              </a:spcBef>
              <a:buFontTx/>
              <a:buChar char="•"/>
            </a:pPr>
            <a:r>
              <a:rPr lang="en-US" altLang="en-US" sz="3400"/>
              <a:t> Improve profits relative to a one-product plant</a:t>
            </a:r>
          </a:p>
          <a:p>
            <a:pPr>
              <a:spcBef>
                <a:spcPct val="0"/>
              </a:spcBef>
            </a:pPr>
            <a:r>
              <a:rPr lang="en-US" altLang="en-US" sz="3400"/>
              <a:t>  Let’s look at a small example of a production planning problem: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3061">
                                            <p:txEl>
                                              <p:pRg st="0" end="0"/>
                                            </p:txEl>
                                          </p:spTgt>
                                        </p:tgtEl>
                                        <p:attrNameLst>
                                          <p:attrName>style.visibility</p:attrName>
                                        </p:attrNameLst>
                                      </p:cBhvr>
                                      <p:to>
                                        <p:strVal val="visible"/>
                                      </p:to>
                                    </p:set>
                                    <p:anim calcmode="lin" valueType="num">
                                      <p:cBhvr additive="base">
                                        <p:cTn id="7" dur="500" fill="hold"/>
                                        <p:tgtEl>
                                          <p:spTgt spid="17306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30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3061">
                                            <p:txEl>
                                              <p:pRg st="1" end="1"/>
                                            </p:txEl>
                                          </p:spTgt>
                                        </p:tgtEl>
                                        <p:attrNameLst>
                                          <p:attrName>style.visibility</p:attrName>
                                        </p:attrNameLst>
                                      </p:cBhvr>
                                      <p:to>
                                        <p:strVal val="visible"/>
                                      </p:to>
                                    </p:set>
                                    <p:anim calcmode="lin" valueType="num">
                                      <p:cBhvr additive="base">
                                        <p:cTn id="13" dur="500" fill="hold"/>
                                        <p:tgtEl>
                                          <p:spTgt spid="17306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306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3061">
                                            <p:txEl>
                                              <p:pRg st="2" end="2"/>
                                            </p:txEl>
                                          </p:spTgt>
                                        </p:tgtEl>
                                        <p:attrNameLst>
                                          <p:attrName>style.visibility</p:attrName>
                                        </p:attrNameLst>
                                      </p:cBhvr>
                                      <p:to>
                                        <p:strVal val="visible"/>
                                      </p:to>
                                    </p:set>
                                    <p:anim calcmode="lin" valueType="num">
                                      <p:cBhvr additive="base">
                                        <p:cTn id="19" dur="500" fill="hold"/>
                                        <p:tgtEl>
                                          <p:spTgt spid="17306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306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3061">
                                            <p:txEl>
                                              <p:pRg st="3" end="3"/>
                                            </p:txEl>
                                          </p:spTgt>
                                        </p:tgtEl>
                                        <p:attrNameLst>
                                          <p:attrName>style.visibility</p:attrName>
                                        </p:attrNameLst>
                                      </p:cBhvr>
                                      <p:to>
                                        <p:strVal val="visible"/>
                                      </p:to>
                                    </p:set>
                                    <p:anim calcmode="lin" valueType="num">
                                      <p:cBhvr additive="base">
                                        <p:cTn id="25" dur="500" fill="hold"/>
                                        <p:tgtEl>
                                          <p:spTgt spid="17306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306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73061">
                                            <p:txEl>
                                              <p:pRg st="4" end="4"/>
                                            </p:txEl>
                                          </p:spTgt>
                                        </p:tgtEl>
                                        <p:attrNameLst>
                                          <p:attrName>style.visibility</p:attrName>
                                        </p:attrNameLst>
                                      </p:cBhvr>
                                      <p:to>
                                        <p:strVal val="visible"/>
                                      </p:to>
                                    </p:set>
                                    <p:anim calcmode="lin" valueType="num">
                                      <p:cBhvr additive="base">
                                        <p:cTn id="31" dur="500" fill="hold"/>
                                        <p:tgtEl>
                                          <p:spTgt spid="17306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306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1" grpId="0" build="p" bldLvl="2"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4D1A430-23D1-B241-BCDD-0448330CE7E6}"/>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Batch Sizing </a:t>
            </a:r>
          </a:p>
        </p:txBody>
      </p:sp>
      <p:sp>
        <p:nvSpPr>
          <p:cNvPr id="6147" name="Rectangle 3">
            <a:extLst>
              <a:ext uri="{FF2B5EF4-FFF2-40B4-BE49-F238E27FC236}">
                <a16:creationId xmlns:a16="http://schemas.microsoft.com/office/drawing/2014/main" id="{B79CE385-13C2-7104-1C84-51666713C217}"/>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48" name="Rectangle 4">
            <a:extLst>
              <a:ext uri="{FF2B5EF4-FFF2-40B4-BE49-F238E27FC236}">
                <a16:creationId xmlns:a16="http://schemas.microsoft.com/office/drawing/2014/main" id="{8D64A955-6EF5-33AB-7EA4-80AF70BCD17F}"/>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6149" name="Text Box 5">
            <a:extLst>
              <a:ext uri="{FF2B5EF4-FFF2-40B4-BE49-F238E27FC236}">
                <a16:creationId xmlns:a16="http://schemas.microsoft.com/office/drawing/2014/main" id="{99A6DC97-0AC7-B36C-8CF0-5CD51FFD7E62}"/>
              </a:ext>
            </a:extLst>
          </p:cNvPr>
          <p:cNvSpPr txBox="1">
            <a:spLocks noChangeArrowheads="1"/>
          </p:cNvSpPr>
          <p:nvPr/>
        </p:nvSpPr>
        <p:spPr bwMode="auto">
          <a:xfrm>
            <a:off x="495300" y="1371600"/>
            <a:ext cx="8153400"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Due to shutdown and startup costs, batch sizes are constrained to be 2000 lb for P1 and P2</a:t>
            </a:r>
            <a:endParaRPr lang="en-US" altLang="en-US" sz="1800"/>
          </a:p>
          <a:p>
            <a:pPr>
              <a:spcBef>
                <a:spcPct val="0"/>
              </a:spcBef>
            </a:pPr>
            <a:r>
              <a:rPr lang="en-US" altLang="en-US" sz="3400"/>
              <a:t>  Formulate this problem by addressing the following issues:</a:t>
            </a:r>
          </a:p>
          <a:p>
            <a:pPr lvl="1">
              <a:spcBef>
                <a:spcPct val="0"/>
              </a:spcBef>
            </a:pPr>
            <a:r>
              <a:rPr lang="en-US" altLang="en-US" sz="3400"/>
              <a:t>  Scale the problem to avoid numerical difficulties</a:t>
            </a:r>
          </a:p>
          <a:p>
            <a:pPr lvl="1">
              <a:spcBef>
                <a:spcPct val="0"/>
              </a:spcBef>
            </a:pPr>
            <a:r>
              <a:rPr lang="en-US" altLang="en-US" sz="3400"/>
              <a:t> Write the objective function</a:t>
            </a:r>
          </a:p>
          <a:p>
            <a:pPr lvl="1">
              <a:spcBef>
                <a:spcPct val="0"/>
              </a:spcBef>
            </a:pPr>
            <a:r>
              <a:rPr lang="en-US" altLang="en-US" sz="3400"/>
              <a:t> Write the constraints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6B261CE-414F-00D1-0AF0-938696EAE047}"/>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One Possible Formulation</a:t>
            </a:r>
          </a:p>
        </p:txBody>
      </p:sp>
      <p:sp>
        <p:nvSpPr>
          <p:cNvPr id="7171" name="Rectangle 3">
            <a:extLst>
              <a:ext uri="{FF2B5EF4-FFF2-40B4-BE49-F238E27FC236}">
                <a16:creationId xmlns:a16="http://schemas.microsoft.com/office/drawing/2014/main" id="{DA20FEC4-6748-2682-B60D-D89D7BFE52F1}"/>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72" name="Rectangle 4">
            <a:extLst>
              <a:ext uri="{FF2B5EF4-FFF2-40B4-BE49-F238E27FC236}">
                <a16:creationId xmlns:a16="http://schemas.microsoft.com/office/drawing/2014/main" id="{F729C7D8-8C7D-FDE7-50BD-A1F096C1EF7B}"/>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189445" name="Text Box 5">
            <a:extLst>
              <a:ext uri="{FF2B5EF4-FFF2-40B4-BE49-F238E27FC236}">
                <a16:creationId xmlns:a16="http://schemas.microsoft.com/office/drawing/2014/main" id="{4A10E367-FDEA-F1AB-A2D2-8E241EC1A1D5}"/>
              </a:ext>
            </a:extLst>
          </p:cNvPr>
          <p:cNvSpPr txBox="1">
            <a:spLocks noChangeArrowheads="1"/>
          </p:cNvSpPr>
          <p:nvPr/>
        </p:nvSpPr>
        <p:spPr bwMode="auto">
          <a:xfrm>
            <a:off x="495300" y="1266825"/>
            <a:ext cx="8153400"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Scaling:  </a:t>
            </a:r>
            <a:r>
              <a:rPr lang="en-US" altLang="en-US" sz="3400" i="1"/>
              <a:t>x</a:t>
            </a:r>
            <a:r>
              <a:rPr lang="en-US" altLang="en-US" sz="3400" i="1" baseline="-25000"/>
              <a:t>1</a:t>
            </a:r>
            <a:r>
              <a:rPr lang="en-US" altLang="en-US" sz="3400"/>
              <a:t> is number of 1000 lb/day runs of P1, </a:t>
            </a:r>
            <a:r>
              <a:rPr lang="en-US" altLang="en-US" sz="3400" i="1"/>
              <a:t>x</a:t>
            </a:r>
            <a:r>
              <a:rPr lang="en-US" altLang="en-US" sz="3400" i="1" baseline="-25000"/>
              <a:t>2</a:t>
            </a:r>
            <a:r>
              <a:rPr lang="en-US" altLang="en-US" sz="3400"/>
              <a:t> is number of 1000 lb/day runs of P2, profit in $1000/day</a:t>
            </a:r>
            <a:endParaRPr lang="en-US" altLang="en-US" sz="1800"/>
          </a:p>
          <a:p>
            <a:pPr>
              <a:spcBef>
                <a:spcPct val="0"/>
              </a:spcBef>
            </a:pPr>
            <a:r>
              <a:rPr lang="en-US" altLang="en-US" sz="3400"/>
              <a:t>  Objective function:</a:t>
            </a:r>
          </a:p>
        </p:txBody>
      </p:sp>
      <p:graphicFrame>
        <p:nvGraphicFramePr>
          <p:cNvPr id="189446" name="Object 6">
            <a:extLst>
              <a:ext uri="{FF2B5EF4-FFF2-40B4-BE49-F238E27FC236}">
                <a16:creationId xmlns:a16="http://schemas.microsoft.com/office/drawing/2014/main" id="{A608EBDA-2C06-BB1A-3C24-23AF55BE9A04}"/>
              </a:ext>
            </a:extLst>
          </p:cNvPr>
          <p:cNvGraphicFramePr>
            <a:graphicFrameLocks noChangeAspect="1"/>
          </p:cNvGraphicFramePr>
          <p:nvPr/>
        </p:nvGraphicFramePr>
        <p:xfrm>
          <a:off x="2217738" y="3581400"/>
          <a:ext cx="4708525" cy="639763"/>
        </p:xfrm>
        <a:graphic>
          <a:graphicData uri="http://schemas.openxmlformats.org/presentationml/2006/ole">
            <mc:AlternateContent xmlns:mc="http://schemas.openxmlformats.org/markup-compatibility/2006">
              <mc:Choice xmlns:v="urn:schemas-microsoft-com:vml" Requires="v">
                <p:oleObj name="Equation" r:id="rId2" imgW="1586811" imgH="215806" progId="Equation.3">
                  <p:embed/>
                </p:oleObj>
              </mc:Choice>
              <mc:Fallback>
                <p:oleObj name="Equation" r:id="rId2" imgW="1586811" imgH="215806" progId="Equation.3">
                  <p:embed/>
                  <p:pic>
                    <p:nvPicPr>
                      <p:cNvPr id="189446" name="Object 6">
                        <a:extLst>
                          <a:ext uri="{FF2B5EF4-FFF2-40B4-BE49-F238E27FC236}">
                            <a16:creationId xmlns:a16="http://schemas.microsoft.com/office/drawing/2014/main" id="{A608EBDA-2C06-BB1A-3C24-23AF55BE9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7738" y="3581400"/>
                        <a:ext cx="4708525"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9447" name="Text Box 7">
            <a:extLst>
              <a:ext uri="{FF2B5EF4-FFF2-40B4-BE49-F238E27FC236}">
                <a16:creationId xmlns:a16="http://schemas.microsoft.com/office/drawing/2014/main" id="{30E2266E-C59D-A068-300A-4D1AB4A09A34}"/>
              </a:ext>
            </a:extLst>
          </p:cNvPr>
          <p:cNvSpPr txBox="1">
            <a:spLocks noChangeArrowheads="1"/>
          </p:cNvSpPr>
          <p:nvPr/>
        </p:nvSpPr>
        <p:spPr bwMode="auto">
          <a:xfrm>
            <a:off x="533400" y="4191000"/>
            <a:ext cx="34083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Constraint on B:</a:t>
            </a:r>
          </a:p>
        </p:txBody>
      </p:sp>
      <p:graphicFrame>
        <p:nvGraphicFramePr>
          <p:cNvPr id="189448" name="Object 8">
            <a:extLst>
              <a:ext uri="{FF2B5EF4-FFF2-40B4-BE49-F238E27FC236}">
                <a16:creationId xmlns:a16="http://schemas.microsoft.com/office/drawing/2014/main" id="{3223CC6A-0C14-36FB-E73C-C968065E1C22}"/>
              </a:ext>
            </a:extLst>
          </p:cNvPr>
          <p:cNvGraphicFramePr>
            <a:graphicFrameLocks noChangeAspect="1"/>
          </p:cNvGraphicFramePr>
          <p:nvPr/>
        </p:nvGraphicFramePr>
        <p:xfrm>
          <a:off x="3027363" y="4876800"/>
          <a:ext cx="3089275" cy="639763"/>
        </p:xfrm>
        <a:graphic>
          <a:graphicData uri="http://schemas.openxmlformats.org/presentationml/2006/ole">
            <mc:AlternateContent xmlns:mc="http://schemas.openxmlformats.org/markup-compatibility/2006">
              <mc:Choice xmlns:v="urn:schemas-microsoft-com:vml" Requires="v">
                <p:oleObj name="Equation" r:id="rId4" imgW="1040948" imgH="215806" progId="Equation.3">
                  <p:embed/>
                </p:oleObj>
              </mc:Choice>
              <mc:Fallback>
                <p:oleObj name="Equation" r:id="rId4" imgW="1040948" imgH="215806" progId="Equation.3">
                  <p:embed/>
                  <p:pic>
                    <p:nvPicPr>
                      <p:cNvPr id="189448" name="Object 8">
                        <a:extLst>
                          <a:ext uri="{FF2B5EF4-FFF2-40B4-BE49-F238E27FC236}">
                            <a16:creationId xmlns:a16="http://schemas.microsoft.com/office/drawing/2014/main" id="{3223CC6A-0C14-36FB-E73C-C968065E1C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7363" y="4876800"/>
                        <a:ext cx="3089275"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9449" name="Text Box 9">
            <a:extLst>
              <a:ext uri="{FF2B5EF4-FFF2-40B4-BE49-F238E27FC236}">
                <a16:creationId xmlns:a16="http://schemas.microsoft.com/office/drawing/2014/main" id="{9314551F-8E41-9873-6860-D11EF46C9532}"/>
              </a:ext>
            </a:extLst>
          </p:cNvPr>
          <p:cNvSpPr txBox="1">
            <a:spLocks noChangeArrowheads="1"/>
          </p:cNvSpPr>
          <p:nvPr/>
        </p:nvSpPr>
        <p:spPr bwMode="auto">
          <a:xfrm>
            <a:off x="568325" y="5562600"/>
            <a:ext cx="80057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How do we write the batch size constraint?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9445">
                                            <p:txEl>
                                              <p:pRg st="0" end="0"/>
                                            </p:txEl>
                                          </p:spTgt>
                                        </p:tgtEl>
                                        <p:attrNameLst>
                                          <p:attrName>style.visibility</p:attrName>
                                        </p:attrNameLst>
                                      </p:cBhvr>
                                      <p:to>
                                        <p:strVal val="visible"/>
                                      </p:to>
                                    </p:set>
                                    <p:anim calcmode="lin" valueType="num">
                                      <p:cBhvr additive="base">
                                        <p:cTn id="7" dur="500" fill="hold"/>
                                        <p:tgtEl>
                                          <p:spTgt spid="18944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944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9445">
                                            <p:txEl>
                                              <p:pRg st="1" end="1"/>
                                            </p:txEl>
                                          </p:spTgt>
                                        </p:tgtEl>
                                        <p:attrNameLst>
                                          <p:attrName>style.visibility</p:attrName>
                                        </p:attrNameLst>
                                      </p:cBhvr>
                                      <p:to>
                                        <p:strVal val="visible"/>
                                      </p:to>
                                    </p:set>
                                    <p:anim calcmode="lin" valueType="num">
                                      <p:cBhvr additive="base">
                                        <p:cTn id="13" dur="500" fill="hold"/>
                                        <p:tgtEl>
                                          <p:spTgt spid="18944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944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9446"/>
                                        </p:tgtEl>
                                        <p:attrNameLst>
                                          <p:attrName>style.visibility</p:attrName>
                                        </p:attrNameLst>
                                      </p:cBhvr>
                                      <p:to>
                                        <p:strVal val="visible"/>
                                      </p:to>
                                    </p:set>
                                    <p:anim calcmode="lin" valueType="num">
                                      <p:cBhvr additive="base">
                                        <p:cTn id="19" dur="500" fill="hold"/>
                                        <p:tgtEl>
                                          <p:spTgt spid="189446"/>
                                        </p:tgtEl>
                                        <p:attrNameLst>
                                          <p:attrName>ppt_x</p:attrName>
                                        </p:attrNameLst>
                                      </p:cBhvr>
                                      <p:tavLst>
                                        <p:tav tm="0">
                                          <p:val>
                                            <p:strVal val="0-#ppt_w/2"/>
                                          </p:val>
                                        </p:tav>
                                        <p:tav tm="100000">
                                          <p:val>
                                            <p:strVal val="#ppt_x"/>
                                          </p:val>
                                        </p:tav>
                                      </p:tavLst>
                                    </p:anim>
                                    <p:anim calcmode="lin" valueType="num">
                                      <p:cBhvr additive="base">
                                        <p:cTn id="20" dur="500" fill="hold"/>
                                        <p:tgtEl>
                                          <p:spTgt spid="18944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9447"/>
                                        </p:tgtEl>
                                        <p:attrNameLst>
                                          <p:attrName>style.visibility</p:attrName>
                                        </p:attrNameLst>
                                      </p:cBhvr>
                                      <p:to>
                                        <p:strVal val="visible"/>
                                      </p:to>
                                    </p:set>
                                    <p:anim calcmode="lin" valueType="num">
                                      <p:cBhvr additive="base">
                                        <p:cTn id="25" dur="500" fill="hold"/>
                                        <p:tgtEl>
                                          <p:spTgt spid="189447"/>
                                        </p:tgtEl>
                                        <p:attrNameLst>
                                          <p:attrName>ppt_x</p:attrName>
                                        </p:attrNameLst>
                                      </p:cBhvr>
                                      <p:tavLst>
                                        <p:tav tm="0">
                                          <p:val>
                                            <p:strVal val="0-#ppt_w/2"/>
                                          </p:val>
                                        </p:tav>
                                        <p:tav tm="100000">
                                          <p:val>
                                            <p:strVal val="#ppt_x"/>
                                          </p:val>
                                        </p:tav>
                                      </p:tavLst>
                                    </p:anim>
                                    <p:anim calcmode="lin" valueType="num">
                                      <p:cBhvr additive="base">
                                        <p:cTn id="26" dur="500" fill="hold"/>
                                        <p:tgtEl>
                                          <p:spTgt spid="18944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89448"/>
                                        </p:tgtEl>
                                        <p:attrNameLst>
                                          <p:attrName>style.visibility</p:attrName>
                                        </p:attrNameLst>
                                      </p:cBhvr>
                                      <p:to>
                                        <p:strVal val="visible"/>
                                      </p:to>
                                    </p:set>
                                    <p:anim calcmode="lin" valueType="num">
                                      <p:cBhvr additive="base">
                                        <p:cTn id="31" dur="500" fill="hold"/>
                                        <p:tgtEl>
                                          <p:spTgt spid="189448"/>
                                        </p:tgtEl>
                                        <p:attrNameLst>
                                          <p:attrName>ppt_x</p:attrName>
                                        </p:attrNameLst>
                                      </p:cBhvr>
                                      <p:tavLst>
                                        <p:tav tm="0">
                                          <p:val>
                                            <p:strVal val="0-#ppt_w/2"/>
                                          </p:val>
                                        </p:tav>
                                        <p:tav tm="100000">
                                          <p:val>
                                            <p:strVal val="#ppt_x"/>
                                          </p:val>
                                        </p:tav>
                                      </p:tavLst>
                                    </p:anim>
                                    <p:anim calcmode="lin" valueType="num">
                                      <p:cBhvr additive="base">
                                        <p:cTn id="32" dur="500" fill="hold"/>
                                        <p:tgtEl>
                                          <p:spTgt spid="18944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89449"/>
                                        </p:tgtEl>
                                        <p:attrNameLst>
                                          <p:attrName>style.visibility</p:attrName>
                                        </p:attrNameLst>
                                      </p:cBhvr>
                                      <p:to>
                                        <p:strVal val="visible"/>
                                      </p:to>
                                    </p:set>
                                    <p:anim calcmode="lin" valueType="num">
                                      <p:cBhvr additive="base">
                                        <p:cTn id="37" dur="500" fill="hold"/>
                                        <p:tgtEl>
                                          <p:spTgt spid="189449"/>
                                        </p:tgtEl>
                                        <p:attrNameLst>
                                          <p:attrName>ppt_x</p:attrName>
                                        </p:attrNameLst>
                                      </p:cBhvr>
                                      <p:tavLst>
                                        <p:tav tm="0">
                                          <p:val>
                                            <p:strVal val="0-#ppt_w/2"/>
                                          </p:val>
                                        </p:tav>
                                        <p:tav tm="100000">
                                          <p:val>
                                            <p:strVal val="#ppt_x"/>
                                          </p:val>
                                        </p:tav>
                                      </p:tavLst>
                                    </p:anim>
                                    <p:anim calcmode="lin" valueType="num">
                                      <p:cBhvr additive="base">
                                        <p:cTn id="38" dur="500" fill="hold"/>
                                        <p:tgtEl>
                                          <p:spTgt spid="1894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5" grpId="0" build="p" autoUpdateAnimBg="0"/>
      <p:bldP spid="189447" grpId="0" autoUpdateAnimBg="0"/>
      <p:bldP spid="189449"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26">
            <a:extLst>
              <a:ext uri="{FF2B5EF4-FFF2-40B4-BE49-F238E27FC236}">
                <a16:creationId xmlns:a16="http://schemas.microsoft.com/office/drawing/2014/main" id="{9CB36E8C-9C93-59A6-F452-316C1DFED7D2}"/>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Batch Size Constraint</a:t>
            </a:r>
          </a:p>
        </p:txBody>
      </p:sp>
      <p:sp>
        <p:nvSpPr>
          <p:cNvPr id="8195" name="Rectangle 1027">
            <a:extLst>
              <a:ext uri="{FF2B5EF4-FFF2-40B4-BE49-F238E27FC236}">
                <a16:creationId xmlns:a16="http://schemas.microsoft.com/office/drawing/2014/main" id="{35410F4F-2491-6E19-523E-D9CE28035D0D}"/>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196" name="Rectangle 1028">
            <a:extLst>
              <a:ext uri="{FF2B5EF4-FFF2-40B4-BE49-F238E27FC236}">
                <a16:creationId xmlns:a16="http://schemas.microsoft.com/office/drawing/2014/main" id="{8D498D16-2DCC-3910-A710-C0CB6EA3B353}"/>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190469" name="Text Box 1029">
            <a:extLst>
              <a:ext uri="{FF2B5EF4-FFF2-40B4-BE49-F238E27FC236}">
                <a16:creationId xmlns:a16="http://schemas.microsoft.com/office/drawing/2014/main" id="{846A91E7-5F0C-83F7-2752-A76AD04A6CE3}"/>
              </a:ext>
            </a:extLst>
          </p:cNvPr>
          <p:cNvSpPr txBox="1">
            <a:spLocks noChangeArrowheads="1"/>
          </p:cNvSpPr>
          <p:nvPr/>
        </p:nvSpPr>
        <p:spPr bwMode="auto">
          <a:xfrm>
            <a:off x="495300" y="1266825"/>
            <a:ext cx="8153400" cy="267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Using the variables previously defined, we need to make sure the number of batches is an </a:t>
            </a:r>
            <a:r>
              <a:rPr lang="en-US" altLang="en-US" sz="3400" u="sng"/>
              <a:t>even</a:t>
            </a:r>
            <a:r>
              <a:rPr lang="en-US" altLang="en-US" sz="3400"/>
              <a:t> integer</a:t>
            </a:r>
            <a:endParaRPr lang="en-US" altLang="en-US" sz="1800"/>
          </a:p>
          <a:p>
            <a:pPr>
              <a:spcBef>
                <a:spcPct val="0"/>
              </a:spcBef>
            </a:pPr>
            <a:r>
              <a:rPr lang="en-US" altLang="en-US" sz="3400"/>
              <a:t>  To ensure this, invent new variables </a:t>
            </a:r>
            <a:r>
              <a:rPr lang="en-US" altLang="en-US" sz="3400" i="1"/>
              <a:t>y</a:t>
            </a:r>
            <a:r>
              <a:rPr lang="en-US" altLang="en-US" sz="3400" i="1" baseline="-25000"/>
              <a:t>i</a:t>
            </a:r>
            <a:r>
              <a:rPr lang="en-US" altLang="en-US" sz="3400"/>
              <a:t> such that:</a:t>
            </a:r>
          </a:p>
        </p:txBody>
      </p:sp>
      <p:graphicFrame>
        <p:nvGraphicFramePr>
          <p:cNvPr id="190470" name="Object 1030">
            <a:extLst>
              <a:ext uri="{FF2B5EF4-FFF2-40B4-BE49-F238E27FC236}">
                <a16:creationId xmlns:a16="http://schemas.microsoft.com/office/drawing/2014/main" id="{CEF91D72-D2F9-AD5E-AD92-2BA6911AE472}"/>
              </a:ext>
            </a:extLst>
          </p:cNvPr>
          <p:cNvGraphicFramePr>
            <a:graphicFrameLocks noChangeAspect="1"/>
          </p:cNvGraphicFramePr>
          <p:nvPr/>
        </p:nvGraphicFramePr>
        <p:xfrm>
          <a:off x="2209800" y="3581400"/>
          <a:ext cx="1770063" cy="677863"/>
        </p:xfrm>
        <a:graphic>
          <a:graphicData uri="http://schemas.openxmlformats.org/presentationml/2006/ole">
            <mc:AlternateContent xmlns:mc="http://schemas.openxmlformats.org/markup-compatibility/2006">
              <mc:Choice xmlns:v="urn:schemas-microsoft-com:vml" Requires="v">
                <p:oleObj name="Equation" r:id="rId2" imgW="596900" imgH="228600" progId="Equation.3">
                  <p:embed/>
                </p:oleObj>
              </mc:Choice>
              <mc:Fallback>
                <p:oleObj name="Equation" r:id="rId2" imgW="596900" imgH="228600" progId="Equation.3">
                  <p:embed/>
                  <p:pic>
                    <p:nvPicPr>
                      <p:cNvPr id="190470" name="Object 1030">
                        <a:extLst>
                          <a:ext uri="{FF2B5EF4-FFF2-40B4-BE49-F238E27FC236}">
                            <a16:creationId xmlns:a16="http://schemas.microsoft.com/office/drawing/2014/main" id="{CEF91D72-D2F9-AD5E-AD92-2BA6911AE4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1400"/>
                        <a:ext cx="1770063" cy="677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74" name="Object 1034">
            <a:extLst>
              <a:ext uri="{FF2B5EF4-FFF2-40B4-BE49-F238E27FC236}">
                <a16:creationId xmlns:a16="http://schemas.microsoft.com/office/drawing/2014/main" id="{8011D95F-4F90-A4EE-81F0-78DD8813E17E}"/>
              </a:ext>
            </a:extLst>
          </p:cNvPr>
          <p:cNvGraphicFramePr>
            <a:graphicFrameLocks noChangeAspect="1"/>
          </p:cNvGraphicFramePr>
          <p:nvPr/>
        </p:nvGraphicFramePr>
        <p:xfrm>
          <a:off x="2613025" y="5029200"/>
          <a:ext cx="3917950" cy="1355725"/>
        </p:xfrm>
        <a:graphic>
          <a:graphicData uri="http://schemas.openxmlformats.org/presentationml/2006/ole">
            <mc:AlternateContent xmlns:mc="http://schemas.openxmlformats.org/markup-compatibility/2006">
              <mc:Choice xmlns:v="urn:schemas-microsoft-com:vml" Requires="v">
                <p:oleObj name="Equation" r:id="rId4" imgW="1320800" imgH="457200" progId="Equation.3">
                  <p:embed/>
                </p:oleObj>
              </mc:Choice>
              <mc:Fallback>
                <p:oleObj name="Equation" r:id="rId4" imgW="1320800" imgH="457200" progId="Equation.3">
                  <p:embed/>
                  <p:pic>
                    <p:nvPicPr>
                      <p:cNvPr id="190474" name="Object 1034">
                        <a:extLst>
                          <a:ext uri="{FF2B5EF4-FFF2-40B4-BE49-F238E27FC236}">
                            <a16:creationId xmlns:a16="http://schemas.microsoft.com/office/drawing/2014/main" id="{8011D95F-4F90-A4EE-81F0-78DD8813E1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3025" y="5029200"/>
                        <a:ext cx="3917950" cy="1355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0475" name="Text Box 1035">
            <a:extLst>
              <a:ext uri="{FF2B5EF4-FFF2-40B4-BE49-F238E27FC236}">
                <a16:creationId xmlns:a16="http://schemas.microsoft.com/office/drawing/2014/main" id="{A30BF845-A3CA-B3D3-6574-E04541D32DB2}"/>
              </a:ext>
            </a:extLst>
          </p:cNvPr>
          <p:cNvSpPr txBox="1">
            <a:spLocks noChangeArrowheads="1"/>
          </p:cNvSpPr>
          <p:nvPr/>
        </p:nvSpPr>
        <p:spPr bwMode="auto">
          <a:xfrm>
            <a:off x="500063" y="4267200"/>
            <a:ext cx="81438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This results in constraints on the </a:t>
            </a:r>
            <a:r>
              <a:rPr lang="en-US" altLang="en-US" sz="3400" i="1"/>
              <a:t>y</a:t>
            </a:r>
            <a:r>
              <a:rPr lang="en-US" altLang="en-US" sz="3400"/>
              <a:t> variables: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0469">
                                            <p:txEl>
                                              <p:pRg st="0" end="0"/>
                                            </p:txEl>
                                          </p:spTgt>
                                        </p:tgtEl>
                                        <p:attrNameLst>
                                          <p:attrName>style.visibility</p:attrName>
                                        </p:attrNameLst>
                                      </p:cBhvr>
                                      <p:to>
                                        <p:strVal val="visible"/>
                                      </p:to>
                                    </p:set>
                                    <p:anim calcmode="lin" valueType="num">
                                      <p:cBhvr additive="base">
                                        <p:cTn id="7" dur="500" fill="hold"/>
                                        <p:tgtEl>
                                          <p:spTgt spid="19046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046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0469">
                                            <p:txEl>
                                              <p:pRg st="1" end="1"/>
                                            </p:txEl>
                                          </p:spTgt>
                                        </p:tgtEl>
                                        <p:attrNameLst>
                                          <p:attrName>style.visibility</p:attrName>
                                        </p:attrNameLst>
                                      </p:cBhvr>
                                      <p:to>
                                        <p:strVal val="visible"/>
                                      </p:to>
                                    </p:set>
                                    <p:anim calcmode="lin" valueType="num">
                                      <p:cBhvr additive="base">
                                        <p:cTn id="13" dur="500" fill="hold"/>
                                        <p:tgtEl>
                                          <p:spTgt spid="19046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046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0470"/>
                                        </p:tgtEl>
                                        <p:attrNameLst>
                                          <p:attrName>style.visibility</p:attrName>
                                        </p:attrNameLst>
                                      </p:cBhvr>
                                      <p:to>
                                        <p:strVal val="visible"/>
                                      </p:to>
                                    </p:set>
                                    <p:anim calcmode="lin" valueType="num">
                                      <p:cBhvr additive="base">
                                        <p:cTn id="19" dur="500" fill="hold"/>
                                        <p:tgtEl>
                                          <p:spTgt spid="190470"/>
                                        </p:tgtEl>
                                        <p:attrNameLst>
                                          <p:attrName>ppt_x</p:attrName>
                                        </p:attrNameLst>
                                      </p:cBhvr>
                                      <p:tavLst>
                                        <p:tav tm="0">
                                          <p:val>
                                            <p:strVal val="0-#ppt_w/2"/>
                                          </p:val>
                                        </p:tav>
                                        <p:tav tm="100000">
                                          <p:val>
                                            <p:strVal val="#ppt_x"/>
                                          </p:val>
                                        </p:tav>
                                      </p:tavLst>
                                    </p:anim>
                                    <p:anim calcmode="lin" valueType="num">
                                      <p:cBhvr additive="base">
                                        <p:cTn id="20" dur="500" fill="hold"/>
                                        <p:tgtEl>
                                          <p:spTgt spid="19047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90475"/>
                                        </p:tgtEl>
                                        <p:attrNameLst>
                                          <p:attrName>style.visibility</p:attrName>
                                        </p:attrNameLst>
                                      </p:cBhvr>
                                      <p:to>
                                        <p:strVal val="visible"/>
                                      </p:to>
                                    </p:set>
                                    <p:anim calcmode="lin" valueType="num">
                                      <p:cBhvr additive="base">
                                        <p:cTn id="25" dur="500" fill="hold"/>
                                        <p:tgtEl>
                                          <p:spTgt spid="190475"/>
                                        </p:tgtEl>
                                        <p:attrNameLst>
                                          <p:attrName>ppt_x</p:attrName>
                                        </p:attrNameLst>
                                      </p:cBhvr>
                                      <p:tavLst>
                                        <p:tav tm="0">
                                          <p:val>
                                            <p:strVal val="0-#ppt_w/2"/>
                                          </p:val>
                                        </p:tav>
                                        <p:tav tm="100000">
                                          <p:val>
                                            <p:strVal val="#ppt_x"/>
                                          </p:val>
                                        </p:tav>
                                      </p:tavLst>
                                    </p:anim>
                                    <p:anim calcmode="lin" valueType="num">
                                      <p:cBhvr additive="base">
                                        <p:cTn id="26" dur="500" fill="hold"/>
                                        <p:tgtEl>
                                          <p:spTgt spid="19047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90474"/>
                                        </p:tgtEl>
                                        <p:attrNameLst>
                                          <p:attrName>style.visibility</p:attrName>
                                        </p:attrNameLst>
                                      </p:cBhvr>
                                      <p:to>
                                        <p:strVal val="visible"/>
                                      </p:to>
                                    </p:set>
                                    <p:anim calcmode="lin" valueType="num">
                                      <p:cBhvr additive="base">
                                        <p:cTn id="31" dur="500" fill="hold"/>
                                        <p:tgtEl>
                                          <p:spTgt spid="190474"/>
                                        </p:tgtEl>
                                        <p:attrNameLst>
                                          <p:attrName>ppt_x</p:attrName>
                                        </p:attrNameLst>
                                      </p:cBhvr>
                                      <p:tavLst>
                                        <p:tav tm="0">
                                          <p:val>
                                            <p:strVal val="0-#ppt_w/2"/>
                                          </p:val>
                                        </p:tav>
                                        <p:tav tm="100000">
                                          <p:val>
                                            <p:strVal val="#ppt_x"/>
                                          </p:val>
                                        </p:tav>
                                      </p:tavLst>
                                    </p:anim>
                                    <p:anim calcmode="lin" valueType="num">
                                      <p:cBhvr additive="base">
                                        <p:cTn id="32" dur="500" fill="hold"/>
                                        <p:tgtEl>
                                          <p:spTgt spid="1904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9" grpId="0" build="p" autoUpdateAnimBg="0"/>
      <p:bldP spid="190475"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A94694C-7764-3D6C-B42E-81877B039257}"/>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The Complete MILP</a:t>
            </a:r>
          </a:p>
        </p:txBody>
      </p:sp>
      <p:sp>
        <p:nvSpPr>
          <p:cNvPr id="9219" name="Rectangle 3">
            <a:extLst>
              <a:ext uri="{FF2B5EF4-FFF2-40B4-BE49-F238E27FC236}">
                <a16:creationId xmlns:a16="http://schemas.microsoft.com/office/drawing/2014/main" id="{C173931A-2CC4-A60D-613E-38DB48BBB5A0}"/>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0" name="Rectangle 4">
            <a:extLst>
              <a:ext uri="{FF2B5EF4-FFF2-40B4-BE49-F238E27FC236}">
                <a16:creationId xmlns:a16="http://schemas.microsoft.com/office/drawing/2014/main" id="{326F663A-4ACC-973F-3F0E-4E710784954B}"/>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9221" name="Text Box 5">
            <a:extLst>
              <a:ext uri="{FF2B5EF4-FFF2-40B4-BE49-F238E27FC236}">
                <a16:creationId xmlns:a16="http://schemas.microsoft.com/office/drawing/2014/main" id="{1E97DBF4-734C-0BED-B4E7-81BC73C4A447}"/>
              </a:ext>
            </a:extLst>
          </p:cNvPr>
          <p:cNvSpPr txBox="1">
            <a:spLocks noChangeArrowheads="1"/>
          </p:cNvSpPr>
          <p:nvPr/>
        </p:nvSpPr>
        <p:spPr bwMode="auto">
          <a:xfrm>
            <a:off x="495300" y="1266825"/>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So the final MILP problem is:</a:t>
            </a:r>
          </a:p>
        </p:txBody>
      </p:sp>
      <p:grpSp>
        <p:nvGrpSpPr>
          <p:cNvPr id="2" name="Group 13">
            <a:extLst>
              <a:ext uri="{FF2B5EF4-FFF2-40B4-BE49-F238E27FC236}">
                <a16:creationId xmlns:a16="http://schemas.microsoft.com/office/drawing/2014/main" id="{F788D1F1-2DCC-24D2-FD9C-D1CDD552C7D7}"/>
              </a:ext>
            </a:extLst>
          </p:cNvPr>
          <p:cNvGrpSpPr>
            <a:grpSpLocks/>
          </p:cNvGrpSpPr>
          <p:nvPr/>
        </p:nvGrpSpPr>
        <p:grpSpPr bwMode="auto">
          <a:xfrm>
            <a:off x="2217738" y="1981200"/>
            <a:ext cx="5659437" cy="3336925"/>
            <a:chOff x="1397" y="1248"/>
            <a:chExt cx="3565" cy="2102"/>
          </a:xfrm>
        </p:grpSpPr>
        <p:graphicFrame>
          <p:nvGraphicFramePr>
            <p:cNvPr id="9224" name="Object 6">
              <a:extLst>
                <a:ext uri="{FF2B5EF4-FFF2-40B4-BE49-F238E27FC236}">
                  <a16:creationId xmlns:a16="http://schemas.microsoft.com/office/drawing/2014/main" id="{84813AF4-8FED-F0D3-BF6B-43F339F0890F}"/>
                </a:ext>
              </a:extLst>
            </p:cNvPr>
            <p:cNvGraphicFramePr>
              <a:graphicFrameLocks noChangeAspect="1"/>
            </p:cNvGraphicFramePr>
            <p:nvPr/>
          </p:nvGraphicFramePr>
          <p:xfrm>
            <a:off x="1397" y="1248"/>
            <a:ext cx="2966" cy="403"/>
          </p:xfrm>
          <a:graphic>
            <a:graphicData uri="http://schemas.openxmlformats.org/presentationml/2006/ole">
              <mc:AlternateContent xmlns:mc="http://schemas.openxmlformats.org/markup-compatibility/2006">
                <mc:Choice xmlns:v="urn:schemas-microsoft-com:vml" Requires="v">
                  <p:oleObj name="Equation" r:id="rId2" imgW="1586811" imgH="215806" progId="Equation.3">
                    <p:embed/>
                  </p:oleObj>
                </mc:Choice>
                <mc:Fallback>
                  <p:oleObj name="Equation" r:id="rId2" imgW="1586811" imgH="215806" progId="Equation.3">
                    <p:embed/>
                    <p:pic>
                      <p:nvPicPr>
                        <p:cNvPr id="9224" name="Object 6">
                          <a:extLst>
                            <a:ext uri="{FF2B5EF4-FFF2-40B4-BE49-F238E27FC236}">
                              <a16:creationId xmlns:a16="http://schemas.microsoft.com/office/drawing/2014/main" id="{84813AF4-8FED-F0D3-BF6B-43F339F08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 y="1248"/>
                          <a:ext cx="2966"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5" name="Object 8">
              <a:extLst>
                <a:ext uri="{FF2B5EF4-FFF2-40B4-BE49-F238E27FC236}">
                  <a16:creationId xmlns:a16="http://schemas.microsoft.com/office/drawing/2014/main" id="{0A5C3583-6852-CB06-C034-943F88BB5948}"/>
                </a:ext>
              </a:extLst>
            </p:cNvPr>
            <p:cNvGraphicFramePr>
              <a:graphicFrameLocks noChangeAspect="1"/>
            </p:cNvGraphicFramePr>
            <p:nvPr/>
          </p:nvGraphicFramePr>
          <p:xfrm>
            <a:off x="1515" y="1680"/>
            <a:ext cx="2730" cy="403"/>
          </p:xfrm>
          <a:graphic>
            <a:graphicData uri="http://schemas.openxmlformats.org/presentationml/2006/ole">
              <mc:AlternateContent xmlns:mc="http://schemas.openxmlformats.org/markup-compatibility/2006">
                <mc:Choice xmlns:v="urn:schemas-microsoft-com:vml" Requires="v">
                  <p:oleObj name="Equation" r:id="rId4" imgW="1459866" imgH="215806" progId="Equation.3">
                    <p:embed/>
                  </p:oleObj>
                </mc:Choice>
                <mc:Fallback>
                  <p:oleObj name="Equation" r:id="rId4" imgW="1459866" imgH="215806" progId="Equation.3">
                    <p:embed/>
                    <p:pic>
                      <p:nvPicPr>
                        <p:cNvPr id="9225" name="Object 8">
                          <a:extLst>
                            <a:ext uri="{FF2B5EF4-FFF2-40B4-BE49-F238E27FC236}">
                              <a16:creationId xmlns:a16="http://schemas.microsoft.com/office/drawing/2014/main" id="{0A5C3583-6852-CB06-C034-943F88BB59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5" y="1680"/>
                          <a:ext cx="2730"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6" name="Object 10">
              <a:extLst>
                <a:ext uri="{FF2B5EF4-FFF2-40B4-BE49-F238E27FC236}">
                  <a16:creationId xmlns:a16="http://schemas.microsoft.com/office/drawing/2014/main" id="{6CB3ADD7-0813-C269-C0B1-03F90455C8FE}"/>
                </a:ext>
              </a:extLst>
            </p:cNvPr>
            <p:cNvGraphicFramePr>
              <a:graphicFrameLocks noChangeAspect="1"/>
            </p:cNvGraphicFramePr>
            <p:nvPr/>
          </p:nvGraphicFramePr>
          <p:xfrm>
            <a:off x="2322" y="2064"/>
            <a:ext cx="1115" cy="427"/>
          </p:xfrm>
          <a:graphic>
            <a:graphicData uri="http://schemas.openxmlformats.org/presentationml/2006/ole">
              <mc:AlternateContent xmlns:mc="http://schemas.openxmlformats.org/markup-compatibility/2006">
                <mc:Choice xmlns:v="urn:schemas-microsoft-com:vml" Requires="v">
                  <p:oleObj name="Equation" r:id="rId6" imgW="596900" imgH="228600" progId="Equation.3">
                    <p:embed/>
                  </p:oleObj>
                </mc:Choice>
                <mc:Fallback>
                  <p:oleObj name="Equation" r:id="rId6" imgW="596900" imgH="228600" progId="Equation.3">
                    <p:embed/>
                    <p:pic>
                      <p:nvPicPr>
                        <p:cNvPr id="9226" name="Object 10">
                          <a:extLst>
                            <a:ext uri="{FF2B5EF4-FFF2-40B4-BE49-F238E27FC236}">
                              <a16:creationId xmlns:a16="http://schemas.microsoft.com/office/drawing/2014/main" id="{6CB3ADD7-0813-C269-C0B1-03F90455C8F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22" y="2064"/>
                          <a:ext cx="1115"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7" name="Object 11">
              <a:extLst>
                <a:ext uri="{FF2B5EF4-FFF2-40B4-BE49-F238E27FC236}">
                  <a16:creationId xmlns:a16="http://schemas.microsoft.com/office/drawing/2014/main" id="{AEBE7FCC-4A58-9433-8945-7CAFBCB16B87}"/>
                </a:ext>
              </a:extLst>
            </p:cNvPr>
            <p:cNvGraphicFramePr>
              <a:graphicFrameLocks noChangeAspect="1"/>
            </p:cNvGraphicFramePr>
            <p:nvPr/>
          </p:nvGraphicFramePr>
          <p:xfrm>
            <a:off x="2352" y="2496"/>
            <a:ext cx="2610" cy="854"/>
          </p:xfrm>
          <a:graphic>
            <a:graphicData uri="http://schemas.openxmlformats.org/presentationml/2006/ole">
              <mc:AlternateContent xmlns:mc="http://schemas.openxmlformats.org/markup-compatibility/2006">
                <mc:Choice xmlns:v="urn:schemas-microsoft-com:vml" Requires="v">
                  <p:oleObj name="Equation" r:id="rId8" imgW="1397000" imgH="457200" progId="Equation.3">
                    <p:embed/>
                  </p:oleObj>
                </mc:Choice>
                <mc:Fallback>
                  <p:oleObj name="Equation" r:id="rId8" imgW="1397000" imgH="457200" progId="Equation.3">
                    <p:embed/>
                    <p:pic>
                      <p:nvPicPr>
                        <p:cNvPr id="9227" name="Object 11">
                          <a:extLst>
                            <a:ext uri="{FF2B5EF4-FFF2-40B4-BE49-F238E27FC236}">
                              <a16:creationId xmlns:a16="http://schemas.microsoft.com/office/drawing/2014/main" id="{AEBE7FCC-4A58-9433-8945-7CAFBCB16B8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2" y="2496"/>
                          <a:ext cx="2610" cy="8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23" name="Text Box 12">
            <a:extLst>
              <a:ext uri="{FF2B5EF4-FFF2-40B4-BE49-F238E27FC236}">
                <a16:creationId xmlns:a16="http://schemas.microsoft.com/office/drawing/2014/main" id="{838FBE5F-04C4-8ED0-C777-23B5EA6CBDD7}"/>
              </a:ext>
            </a:extLst>
          </p:cNvPr>
          <p:cNvSpPr txBox="1">
            <a:spLocks noChangeArrowheads="1"/>
          </p:cNvSpPr>
          <p:nvPr/>
        </p:nvSpPr>
        <p:spPr bwMode="auto">
          <a:xfrm>
            <a:off x="533400" y="5334000"/>
            <a:ext cx="52784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How would you solve this?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D3700CF-0D27-37D0-4867-EDF98A9F0EA4}"/>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Solution Methods</a:t>
            </a:r>
          </a:p>
        </p:txBody>
      </p:sp>
      <p:sp>
        <p:nvSpPr>
          <p:cNvPr id="10243" name="Rectangle 3">
            <a:extLst>
              <a:ext uri="{FF2B5EF4-FFF2-40B4-BE49-F238E27FC236}">
                <a16:creationId xmlns:a16="http://schemas.microsoft.com/office/drawing/2014/main" id="{A28B0F06-AC33-B689-1EEA-F8A8C269D31B}"/>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0244" name="Rectangle 4">
            <a:extLst>
              <a:ext uri="{FF2B5EF4-FFF2-40B4-BE49-F238E27FC236}">
                <a16:creationId xmlns:a16="http://schemas.microsoft.com/office/drawing/2014/main" id="{CC944ED8-2BC6-56DB-16FD-E605D185E8C7}"/>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192517" name="Text Box 5">
            <a:extLst>
              <a:ext uri="{FF2B5EF4-FFF2-40B4-BE49-F238E27FC236}">
                <a16:creationId xmlns:a16="http://schemas.microsoft.com/office/drawing/2014/main" id="{1F6E53EA-FFD9-7205-409E-6C47973F9B0F}"/>
              </a:ext>
            </a:extLst>
          </p:cNvPr>
          <p:cNvSpPr txBox="1">
            <a:spLocks noChangeArrowheads="1"/>
          </p:cNvSpPr>
          <p:nvPr/>
        </p:nvSpPr>
        <p:spPr bwMode="auto">
          <a:xfrm>
            <a:off x="304800" y="1447800"/>
            <a:ext cx="4267200" cy="423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Low Tech Plan:  Complete Enumeration</a:t>
            </a:r>
          </a:p>
          <a:p>
            <a:pPr>
              <a:spcBef>
                <a:spcPct val="0"/>
              </a:spcBef>
              <a:buFontTx/>
              <a:buNone/>
            </a:pPr>
            <a:r>
              <a:rPr lang="en-US" altLang="en-US" sz="3400"/>
              <a:t>(30 possibilities)</a:t>
            </a:r>
          </a:p>
          <a:p>
            <a:pPr>
              <a:spcBef>
                <a:spcPct val="0"/>
              </a:spcBef>
            </a:pPr>
            <a:r>
              <a:rPr lang="en-US" altLang="en-US" sz="3400"/>
              <a:t>  High Tech Plan: use GAMS/CPLEX</a:t>
            </a:r>
          </a:p>
          <a:p>
            <a:pPr>
              <a:spcBef>
                <a:spcPct val="0"/>
              </a:spcBef>
            </a:pPr>
            <a:r>
              <a:rPr lang="en-US" altLang="en-US" sz="3400"/>
              <a:t>  Medium Tech Plan: use Excel’s LP solver, Branch and Bound</a:t>
            </a:r>
          </a:p>
        </p:txBody>
      </p:sp>
      <p:grpSp>
        <p:nvGrpSpPr>
          <p:cNvPr id="2" name="Group 11">
            <a:extLst>
              <a:ext uri="{FF2B5EF4-FFF2-40B4-BE49-F238E27FC236}">
                <a16:creationId xmlns:a16="http://schemas.microsoft.com/office/drawing/2014/main" id="{26E1A106-34E7-F67C-F2C5-15F14697D1AF}"/>
              </a:ext>
            </a:extLst>
          </p:cNvPr>
          <p:cNvGrpSpPr>
            <a:grpSpLocks/>
          </p:cNvGrpSpPr>
          <p:nvPr/>
        </p:nvGrpSpPr>
        <p:grpSpPr bwMode="auto">
          <a:xfrm>
            <a:off x="4572000" y="1295400"/>
            <a:ext cx="4191000" cy="2693988"/>
            <a:chOff x="2880" y="816"/>
            <a:chExt cx="2640" cy="1697"/>
          </a:xfrm>
        </p:grpSpPr>
        <p:graphicFrame>
          <p:nvGraphicFramePr>
            <p:cNvPr id="10247" name="Object 6">
              <a:extLst>
                <a:ext uri="{FF2B5EF4-FFF2-40B4-BE49-F238E27FC236}">
                  <a16:creationId xmlns:a16="http://schemas.microsoft.com/office/drawing/2014/main" id="{0B6B0F91-3E2F-AE39-88B7-6545B790080B}"/>
                </a:ext>
              </a:extLst>
            </p:cNvPr>
            <p:cNvGraphicFramePr>
              <a:graphicFrameLocks noChangeAspect="1"/>
            </p:cNvGraphicFramePr>
            <p:nvPr/>
          </p:nvGraphicFramePr>
          <p:xfrm>
            <a:off x="2880" y="816"/>
            <a:ext cx="2347" cy="319"/>
          </p:xfrm>
          <a:graphic>
            <a:graphicData uri="http://schemas.openxmlformats.org/presentationml/2006/ole">
              <mc:AlternateContent xmlns:mc="http://schemas.openxmlformats.org/markup-compatibility/2006">
                <mc:Choice xmlns:v="urn:schemas-microsoft-com:vml" Requires="v">
                  <p:oleObj name="Equation" r:id="rId2" imgW="1586811" imgH="215806" progId="Equation.3">
                    <p:embed/>
                  </p:oleObj>
                </mc:Choice>
                <mc:Fallback>
                  <p:oleObj name="Equation" r:id="rId2" imgW="1586811" imgH="215806" progId="Equation.3">
                    <p:embed/>
                    <p:pic>
                      <p:nvPicPr>
                        <p:cNvPr id="10247" name="Object 6">
                          <a:extLst>
                            <a:ext uri="{FF2B5EF4-FFF2-40B4-BE49-F238E27FC236}">
                              <a16:creationId xmlns:a16="http://schemas.microsoft.com/office/drawing/2014/main" id="{0B6B0F91-3E2F-AE39-88B7-6545B79008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0" y="816"/>
                          <a:ext cx="2347"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8" name="Object 7">
              <a:extLst>
                <a:ext uri="{FF2B5EF4-FFF2-40B4-BE49-F238E27FC236}">
                  <a16:creationId xmlns:a16="http://schemas.microsoft.com/office/drawing/2014/main" id="{5F80C71D-C223-71B4-C589-F617FFC3A859}"/>
                </a:ext>
              </a:extLst>
            </p:cNvPr>
            <p:cNvGraphicFramePr>
              <a:graphicFrameLocks noChangeAspect="1"/>
            </p:cNvGraphicFramePr>
            <p:nvPr/>
          </p:nvGraphicFramePr>
          <p:xfrm>
            <a:off x="2880" y="1104"/>
            <a:ext cx="2249" cy="350"/>
          </p:xfrm>
          <a:graphic>
            <a:graphicData uri="http://schemas.openxmlformats.org/presentationml/2006/ole">
              <mc:AlternateContent xmlns:mc="http://schemas.openxmlformats.org/markup-compatibility/2006">
                <mc:Choice xmlns:v="urn:schemas-microsoft-com:vml" Requires="v">
                  <p:oleObj name="Equation" r:id="rId4" imgW="1383699" imgH="215806" progId="Equation.3">
                    <p:embed/>
                  </p:oleObj>
                </mc:Choice>
                <mc:Fallback>
                  <p:oleObj name="Equation" r:id="rId4" imgW="1383699" imgH="215806" progId="Equation.3">
                    <p:embed/>
                    <p:pic>
                      <p:nvPicPr>
                        <p:cNvPr id="10248" name="Object 7">
                          <a:extLst>
                            <a:ext uri="{FF2B5EF4-FFF2-40B4-BE49-F238E27FC236}">
                              <a16:creationId xmlns:a16="http://schemas.microsoft.com/office/drawing/2014/main" id="{5F80C71D-C223-71B4-C589-F617FFC3A8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0" y="1104"/>
                          <a:ext cx="2249" cy="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9" name="Object 8">
              <a:extLst>
                <a:ext uri="{FF2B5EF4-FFF2-40B4-BE49-F238E27FC236}">
                  <a16:creationId xmlns:a16="http://schemas.microsoft.com/office/drawing/2014/main" id="{81BD3369-3854-B30B-53AD-915519FBF136}"/>
                </a:ext>
              </a:extLst>
            </p:cNvPr>
            <p:cNvGraphicFramePr>
              <a:graphicFrameLocks noChangeAspect="1"/>
            </p:cNvGraphicFramePr>
            <p:nvPr/>
          </p:nvGraphicFramePr>
          <p:xfrm>
            <a:off x="3456" y="1440"/>
            <a:ext cx="894" cy="342"/>
          </p:xfrm>
          <a:graphic>
            <a:graphicData uri="http://schemas.openxmlformats.org/presentationml/2006/ole">
              <mc:AlternateContent xmlns:mc="http://schemas.openxmlformats.org/markup-compatibility/2006">
                <mc:Choice xmlns:v="urn:schemas-microsoft-com:vml" Requires="v">
                  <p:oleObj name="Equation" r:id="rId6" imgW="596900" imgH="228600" progId="Equation.3">
                    <p:embed/>
                  </p:oleObj>
                </mc:Choice>
                <mc:Fallback>
                  <p:oleObj name="Equation" r:id="rId6" imgW="596900" imgH="228600" progId="Equation.3">
                    <p:embed/>
                    <p:pic>
                      <p:nvPicPr>
                        <p:cNvPr id="10249" name="Object 8">
                          <a:extLst>
                            <a:ext uri="{FF2B5EF4-FFF2-40B4-BE49-F238E27FC236}">
                              <a16:creationId xmlns:a16="http://schemas.microsoft.com/office/drawing/2014/main" id="{81BD3369-3854-B30B-53AD-915519FBF1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56" y="1440"/>
                          <a:ext cx="894" cy="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0" name="Object 9">
              <a:extLst>
                <a:ext uri="{FF2B5EF4-FFF2-40B4-BE49-F238E27FC236}">
                  <a16:creationId xmlns:a16="http://schemas.microsoft.com/office/drawing/2014/main" id="{1B691B1A-5B02-384D-27E3-E5364C3BB873}"/>
                </a:ext>
              </a:extLst>
            </p:cNvPr>
            <p:cNvGraphicFramePr>
              <a:graphicFrameLocks noChangeAspect="1"/>
            </p:cNvGraphicFramePr>
            <p:nvPr/>
          </p:nvGraphicFramePr>
          <p:xfrm>
            <a:off x="3456" y="1807"/>
            <a:ext cx="2064" cy="706"/>
          </p:xfrm>
          <a:graphic>
            <a:graphicData uri="http://schemas.openxmlformats.org/presentationml/2006/ole">
              <mc:AlternateContent xmlns:mc="http://schemas.openxmlformats.org/markup-compatibility/2006">
                <mc:Choice xmlns:v="urn:schemas-microsoft-com:vml" Requires="v">
                  <p:oleObj name="Equation" r:id="rId8" imgW="1397000" imgH="457200" progId="Equation.3">
                    <p:embed/>
                  </p:oleObj>
                </mc:Choice>
                <mc:Fallback>
                  <p:oleObj name="Equation" r:id="rId8" imgW="1397000" imgH="457200" progId="Equation.3">
                    <p:embed/>
                    <p:pic>
                      <p:nvPicPr>
                        <p:cNvPr id="10250" name="Object 9">
                          <a:extLst>
                            <a:ext uri="{FF2B5EF4-FFF2-40B4-BE49-F238E27FC236}">
                              <a16:creationId xmlns:a16="http://schemas.microsoft.com/office/drawing/2014/main" id="{1B691B1A-5B02-384D-27E3-E5364C3BB87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56" y="1807"/>
                          <a:ext cx="2064" cy="7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2517">
                                            <p:txEl>
                                              <p:pRg st="0" end="0"/>
                                            </p:txEl>
                                          </p:spTgt>
                                        </p:tgtEl>
                                        <p:attrNameLst>
                                          <p:attrName>style.visibility</p:attrName>
                                        </p:attrNameLst>
                                      </p:cBhvr>
                                      <p:to>
                                        <p:strVal val="visible"/>
                                      </p:to>
                                    </p:set>
                                    <p:anim calcmode="lin" valueType="num">
                                      <p:cBhvr additive="base">
                                        <p:cTn id="13" dur="500" fill="hold"/>
                                        <p:tgtEl>
                                          <p:spTgt spid="19251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25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2517">
                                            <p:txEl>
                                              <p:pRg st="1" end="1"/>
                                            </p:txEl>
                                          </p:spTgt>
                                        </p:tgtEl>
                                        <p:attrNameLst>
                                          <p:attrName>style.visibility</p:attrName>
                                        </p:attrNameLst>
                                      </p:cBhvr>
                                      <p:to>
                                        <p:strVal val="visible"/>
                                      </p:to>
                                    </p:set>
                                    <p:anim calcmode="lin" valueType="num">
                                      <p:cBhvr additive="base">
                                        <p:cTn id="19" dur="500" fill="hold"/>
                                        <p:tgtEl>
                                          <p:spTgt spid="19251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251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92517">
                                            <p:txEl>
                                              <p:pRg st="2" end="2"/>
                                            </p:txEl>
                                          </p:spTgt>
                                        </p:tgtEl>
                                        <p:attrNameLst>
                                          <p:attrName>style.visibility</p:attrName>
                                        </p:attrNameLst>
                                      </p:cBhvr>
                                      <p:to>
                                        <p:strVal val="visible"/>
                                      </p:to>
                                    </p:set>
                                    <p:anim calcmode="lin" valueType="num">
                                      <p:cBhvr additive="base">
                                        <p:cTn id="25" dur="500" fill="hold"/>
                                        <p:tgtEl>
                                          <p:spTgt spid="192517">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251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92517">
                                            <p:txEl>
                                              <p:pRg st="3" end="3"/>
                                            </p:txEl>
                                          </p:spTgt>
                                        </p:tgtEl>
                                        <p:attrNameLst>
                                          <p:attrName>style.visibility</p:attrName>
                                        </p:attrNameLst>
                                      </p:cBhvr>
                                      <p:to>
                                        <p:strVal val="visible"/>
                                      </p:to>
                                    </p:set>
                                    <p:anim calcmode="lin" valueType="num">
                                      <p:cBhvr additive="base">
                                        <p:cTn id="31" dur="500" fill="hold"/>
                                        <p:tgtEl>
                                          <p:spTgt spid="192517">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9251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7"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F3FBA609-23AE-9DD7-BF69-CC32675B87AF}"/>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Branch and Bound Solution </a:t>
            </a:r>
          </a:p>
        </p:txBody>
      </p:sp>
      <p:sp>
        <p:nvSpPr>
          <p:cNvPr id="11267" name="Rectangle 3">
            <a:extLst>
              <a:ext uri="{FF2B5EF4-FFF2-40B4-BE49-F238E27FC236}">
                <a16:creationId xmlns:a16="http://schemas.microsoft.com/office/drawing/2014/main" id="{18305484-2245-8FC2-89CD-807FEB2C8E56}"/>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68" name="Rectangle 4">
            <a:extLst>
              <a:ext uri="{FF2B5EF4-FFF2-40B4-BE49-F238E27FC236}">
                <a16:creationId xmlns:a16="http://schemas.microsoft.com/office/drawing/2014/main" id="{93F1B2C6-0D87-7329-8D16-DFE62877896B}"/>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175109" name="Text Box 5">
            <a:extLst>
              <a:ext uri="{FF2B5EF4-FFF2-40B4-BE49-F238E27FC236}">
                <a16:creationId xmlns:a16="http://schemas.microsoft.com/office/drawing/2014/main" id="{A7DF8156-749E-B151-416D-867DCF7BF7EB}"/>
              </a:ext>
            </a:extLst>
          </p:cNvPr>
          <p:cNvSpPr txBox="1">
            <a:spLocks noChangeArrowheads="1"/>
          </p:cNvSpPr>
          <p:nvPr/>
        </p:nvSpPr>
        <p:spPr bwMode="auto">
          <a:xfrm>
            <a:off x="152400" y="990600"/>
            <a:ext cx="4572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Start with the root node (LP-relaxation)</a:t>
            </a:r>
          </a:p>
        </p:txBody>
      </p:sp>
      <p:sp>
        <p:nvSpPr>
          <p:cNvPr id="175114" name="Text Box 10">
            <a:extLst>
              <a:ext uri="{FF2B5EF4-FFF2-40B4-BE49-F238E27FC236}">
                <a16:creationId xmlns:a16="http://schemas.microsoft.com/office/drawing/2014/main" id="{F645DD98-992E-6424-1E7A-AF04010E6ADA}"/>
              </a:ext>
            </a:extLst>
          </p:cNvPr>
          <p:cNvSpPr txBox="1">
            <a:spLocks noChangeArrowheads="1"/>
          </p:cNvSpPr>
          <p:nvPr/>
        </p:nvSpPr>
        <p:spPr bwMode="auto">
          <a:xfrm>
            <a:off x="152400" y="1965325"/>
            <a:ext cx="4419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Next, branch on </a:t>
            </a:r>
            <a:r>
              <a:rPr lang="en-US" altLang="en-US" sz="3000" i="1"/>
              <a:t>y</a:t>
            </a:r>
            <a:r>
              <a:rPr lang="en-US" altLang="en-US" sz="3000" i="1" baseline="-25000"/>
              <a:t>1</a:t>
            </a:r>
            <a:r>
              <a:rPr lang="en-US" altLang="en-US" sz="3000"/>
              <a:t>:</a:t>
            </a:r>
          </a:p>
        </p:txBody>
      </p:sp>
      <p:grpSp>
        <p:nvGrpSpPr>
          <p:cNvPr id="2" name="Group 38">
            <a:extLst>
              <a:ext uri="{FF2B5EF4-FFF2-40B4-BE49-F238E27FC236}">
                <a16:creationId xmlns:a16="http://schemas.microsoft.com/office/drawing/2014/main" id="{138DA0C6-2BBC-7F0A-486D-32BD5A96B6FD}"/>
              </a:ext>
            </a:extLst>
          </p:cNvPr>
          <p:cNvGrpSpPr>
            <a:grpSpLocks/>
          </p:cNvGrpSpPr>
          <p:nvPr/>
        </p:nvGrpSpPr>
        <p:grpSpPr bwMode="auto">
          <a:xfrm>
            <a:off x="533400" y="2590800"/>
            <a:ext cx="4038600" cy="1981200"/>
            <a:chOff x="336" y="1632"/>
            <a:chExt cx="2544" cy="1248"/>
          </a:xfrm>
        </p:grpSpPr>
        <p:sp>
          <p:nvSpPr>
            <p:cNvPr id="11290" name="Oval 7">
              <a:extLst>
                <a:ext uri="{FF2B5EF4-FFF2-40B4-BE49-F238E27FC236}">
                  <a16:creationId xmlns:a16="http://schemas.microsoft.com/office/drawing/2014/main" id="{285B82DC-A4C6-588C-BA1A-6A5724DB678F}"/>
                </a:ext>
              </a:extLst>
            </p:cNvPr>
            <p:cNvSpPr>
              <a:spLocks noChangeArrowheads="1"/>
            </p:cNvSpPr>
            <p:nvPr/>
          </p:nvSpPr>
          <p:spPr bwMode="auto">
            <a:xfrm>
              <a:off x="1296" y="1632"/>
              <a:ext cx="1584" cy="124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91" name="Text Box 9">
              <a:extLst>
                <a:ext uri="{FF2B5EF4-FFF2-40B4-BE49-F238E27FC236}">
                  <a16:creationId xmlns:a16="http://schemas.microsoft.com/office/drawing/2014/main" id="{4AF34CD3-EE39-6152-AC1D-F7F2810FA7B4}"/>
                </a:ext>
              </a:extLst>
            </p:cNvPr>
            <p:cNvSpPr txBox="1">
              <a:spLocks noChangeArrowheads="1"/>
            </p:cNvSpPr>
            <p:nvPr/>
          </p:nvSpPr>
          <p:spPr bwMode="auto">
            <a:xfrm>
              <a:off x="336" y="1901"/>
              <a:ext cx="82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 = 2.8</a:t>
              </a:r>
            </a:p>
            <a:p>
              <a:pPr>
                <a:spcBef>
                  <a:spcPct val="0"/>
                </a:spcBef>
                <a:buFontTx/>
                <a:buNone/>
              </a:pPr>
              <a:r>
                <a:rPr lang="en-US" altLang="en-US" sz="2400"/>
                <a:t>LB = -</a:t>
              </a:r>
              <a:r>
                <a:rPr lang="en-US" altLang="en-US" sz="2400">
                  <a:sym typeface="Symbol" panose="05050102010706020507" pitchFamily="18" charset="2"/>
                </a:rPr>
                <a:t></a:t>
              </a:r>
              <a:endParaRPr lang="en-US" altLang="en-US" sz="2400"/>
            </a:p>
          </p:txBody>
        </p:sp>
        <p:graphicFrame>
          <p:nvGraphicFramePr>
            <p:cNvPr id="11292" name="Object 28">
              <a:extLst>
                <a:ext uri="{FF2B5EF4-FFF2-40B4-BE49-F238E27FC236}">
                  <a16:creationId xmlns:a16="http://schemas.microsoft.com/office/drawing/2014/main" id="{B6DBD786-2010-D325-D272-D84030C1CB8F}"/>
                </a:ext>
              </a:extLst>
            </p:cNvPr>
            <p:cNvGraphicFramePr>
              <a:graphicFrameLocks noChangeAspect="1"/>
            </p:cNvGraphicFramePr>
            <p:nvPr/>
          </p:nvGraphicFramePr>
          <p:xfrm>
            <a:off x="1488" y="1872"/>
            <a:ext cx="1322" cy="783"/>
          </p:xfrm>
          <a:graphic>
            <a:graphicData uri="http://schemas.openxmlformats.org/presentationml/2006/ole">
              <mc:AlternateContent xmlns:mc="http://schemas.openxmlformats.org/markup-compatibility/2006">
                <mc:Choice xmlns:v="urn:schemas-microsoft-com:vml" Requires="v">
                  <p:oleObj name="Equation" r:id="rId2" imgW="1625600" imgH="889000" progId="Equation.3">
                    <p:embed/>
                  </p:oleObj>
                </mc:Choice>
                <mc:Fallback>
                  <p:oleObj name="Equation" r:id="rId2" imgW="1625600" imgH="889000" progId="Equation.3">
                    <p:embed/>
                    <p:pic>
                      <p:nvPicPr>
                        <p:cNvPr id="11292" name="Object 28">
                          <a:extLst>
                            <a:ext uri="{FF2B5EF4-FFF2-40B4-BE49-F238E27FC236}">
                              <a16:creationId xmlns:a16="http://schemas.microsoft.com/office/drawing/2014/main" id="{B6DBD786-2010-D325-D272-D84030C1CB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 y="1872"/>
                          <a:ext cx="1322" cy="7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39">
            <a:extLst>
              <a:ext uri="{FF2B5EF4-FFF2-40B4-BE49-F238E27FC236}">
                <a16:creationId xmlns:a16="http://schemas.microsoft.com/office/drawing/2014/main" id="{68B5FE9E-7727-4589-3922-06EC096167E4}"/>
              </a:ext>
            </a:extLst>
          </p:cNvPr>
          <p:cNvGrpSpPr>
            <a:grpSpLocks/>
          </p:cNvGrpSpPr>
          <p:nvPr/>
        </p:nvGrpSpPr>
        <p:grpSpPr bwMode="auto">
          <a:xfrm>
            <a:off x="1828800" y="4495800"/>
            <a:ext cx="2982913" cy="533400"/>
            <a:chOff x="1152" y="2832"/>
            <a:chExt cx="1879" cy="336"/>
          </a:xfrm>
        </p:grpSpPr>
        <p:sp>
          <p:nvSpPr>
            <p:cNvPr id="11286" name="Line 12">
              <a:extLst>
                <a:ext uri="{FF2B5EF4-FFF2-40B4-BE49-F238E27FC236}">
                  <a16:creationId xmlns:a16="http://schemas.microsoft.com/office/drawing/2014/main" id="{DBB7FDE1-F170-7100-05DF-A14E595D0674}"/>
                </a:ext>
              </a:extLst>
            </p:cNvPr>
            <p:cNvSpPr>
              <a:spLocks noChangeShapeType="1"/>
            </p:cNvSpPr>
            <p:nvPr/>
          </p:nvSpPr>
          <p:spPr bwMode="auto">
            <a:xfrm flipH="1">
              <a:off x="1488" y="2832"/>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87" name="Line 14">
              <a:extLst>
                <a:ext uri="{FF2B5EF4-FFF2-40B4-BE49-F238E27FC236}">
                  <a16:creationId xmlns:a16="http://schemas.microsoft.com/office/drawing/2014/main" id="{D06F324A-BCCD-4159-AD23-69D30AA68414}"/>
                </a:ext>
              </a:extLst>
            </p:cNvPr>
            <p:cNvSpPr>
              <a:spLocks noChangeShapeType="1"/>
            </p:cNvSpPr>
            <p:nvPr/>
          </p:nvSpPr>
          <p:spPr bwMode="auto">
            <a:xfrm rot="17181192" flipH="1">
              <a:off x="2383" y="2856"/>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1288" name="Object 29">
              <a:extLst>
                <a:ext uri="{FF2B5EF4-FFF2-40B4-BE49-F238E27FC236}">
                  <a16:creationId xmlns:a16="http://schemas.microsoft.com/office/drawing/2014/main" id="{1F899F4F-F9DD-CCAD-C71D-B8B2484F6701}"/>
                </a:ext>
              </a:extLst>
            </p:cNvPr>
            <p:cNvGraphicFramePr>
              <a:graphicFrameLocks noChangeAspect="1"/>
            </p:cNvGraphicFramePr>
            <p:nvPr/>
          </p:nvGraphicFramePr>
          <p:xfrm>
            <a:off x="2599" y="2880"/>
            <a:ext cx="432" cy="257"/>
          </p:xfrm>
          <a:graphic>
            <a:graphicData uri="http://schemas.openxmlformats.org/presentationml/2006/ole">
              <mc:AlternateContent xmlns:mc="http://schemas.openxmlformats.org/markup-compatibility/2006">
                <mc:Choice xmlns:v="urn:schemas-microsoft-com:vml" Requires="v">
                  <p:oleObj name="Equation" r:id="rId4" imgW="393359" imgH="215713" progId="Equation.3">
                    <p:embed/>
                  </p:oleObj>
                </mc:Choice>
                <mc:Fallback>
                  <p:oleObj name="Equation" r:id="rId4" imgW="393359" imgH="215713" progId="Equation.3">
                    <p:embed/>
                    <p:pic>
                      <p:nvPicPr>
                        <p:cNvPr id="11288" name="Object 29">
                          <a:extLst>
                            <a:ext uri="{FF2B5EF4-FFF2-40B4-BE49-F238E27FC236}">
                              <a16:creationId xmlns:a16="http://schemas.microsoft.com/office/drawing/2014/main" id="{1F899F4F-F9DD-CCAD-C71D-B8B2484F67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9" y="2880"/>
                          <a:ext cx="43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9" name="Object 30">
              <a:extLst>
                <a:ext uri="{FF2B5EF4-FFF2-40B4-BE49-F238E27FC236}">
                  <a16:creationId xmlns:a16="http://schemas.microsoft.com/office/drawing/2014/main" id="{F898C4B9-AF99-91B4-52B4-3AA29D35F2AB}"/>
                </a:ext>
              </a:extLst>
            </p:cNvPr>
            <p:cNvGraphicFramePr>
              <a:graphicFrameLocks noChangeAspect="1"/>
            </p:cNvGraphicFramePr>
            <p:nvPr/>
          </p:nvGraphicFramePr>
          <p:xfrm>
            <a:off x="1152" y="2832"/>
            <a:ext cx="446" cy="257"/>
          </p:xfrm>
          <a:graphic>
            <a:graphicData uri="http://schemas.openxmlformats.org/presentationml/2006/ole">
              <mc:AlternateContent xmlns:mc="http://schemas.openxmlformats.org/markup-compatibility/2006">
                <mc:Choice xmlns:v="urn:schemas-microsoft-com:vml" Requires="v">
                  <p:oleObj name="Equation" r:id="rId6" imgW="406048" imgH="215713" progId="Equation.3">
                    <p:embed/>
                  </p:oleObj>
                </mc:Choice>
                <mc:Fallback>
                  <p:oleObj name="Equation" r:id="rId6" imgW="406048" imgH="215713" progId="Equation.3">
                    <p:embed/>
                    <p:pic>
                      <p:nvPicPr>
                        <p:cNvPr id="11289" name="Object 30">
                          <a:extLst>
                            <a:ext uri="{FF2B5EF4-FFF2-40B4-BE49-F238E27FC236}">
                              <a16:creationId xmlns:a16="http://schemas.microsoft.com/office/drawing/2014/main" id="{F898C4B9-AF99-91B4-52B4-3AA29D35F2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2" y="2832"/>
                          <a:ext cx="44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273" name="Group 33">
            <a:extLst>
              <a:ext uri="{FF2B5EF4-FFF2-40B4-BE49-F238E27FC236}">
                <a16:creationId xmlns:a16="http://schemas.microsoft.com/office/drawing/2014/main" id="{E044D8F2-7247-D588-DEDD-F5DB0EBC7BF5}"/>
              </a:ext>
            </a:extLst>
          </p:cNvPr>
          <p:cNvGrpSpPr>
            <a:grpSpLocks/>
          </p:cNvGrpSpPr>
          <p:nvPr/>
        </p:nvGrpSpPr>
        <p:grpSpPr bwMode="auto">
          <a:xfrm>
            <a:off x="4800600" y="990600"/>
            <a:ext cx="4191000" cy="2693988"/>
            <a:chOff x="2880" y="816"/>
            <a:chExt cx="2640" cy="1697"/>
          </a:xfrm>
        </p:grpSpPr>
        <p:graphicFrame>
          <p:nvGraphicFramePr>
            <p:cNvPr id="11282" name="Object 34">
              <a:extLst>
                <a:ext uri="{FF2B5EF4-FFF2-40B4-BE49-F238E27FC236}">
                  <a16:creationId xmlns:a16="http://schemas.microsoft.com/office/drawing/2014/main" id="{434FA980-5F0E-B7A7-C93E-2776F02C3075}"/>
                </a:ext>
              </a:extLst>
            </p:cNvPr>
            <p:cNvGraphicFramePr>
              <a:graphicFrameLocks noChangeAspect="1"/>
            </p:cNvGraphicFramePr>
            <p:nvPr/>
          </p:nvGraphicFramePr>
          <p:xfrm>
            <a:off x="2880" y="816"/>
            <a:ext cx="2347" cy="319"/>
          </p:xfrm>
          <a:graphic>
            <a:graphicData uri="http://schemas.openxmlformats.org/presentationml/2006/ole">
              <mc:AlternateContent xmlns:mc="http://schemas.openxmlformats.org/markup-compatibility/2006">
                <mc:Choice xmlns:v="urn:schemas-microsoft-com:vml" Requires="v">
                  <p:oleObj name="Equation" r:id="rId8" imgW="1586811" imgH="215806" progId="Equation.3">
                    <p:embed/>
                  </p:oleObj>
                </mc:Choice>
                <mc:Fallback>
                  <p:oleObj name="Equation" r:id="rId8" imgW="1586811" imgH="215806" progId="Equation.3">
                    <p:embed/>
                    <p:pic>
                      <p:nvPicPr>
                        <p:cNvPr id="11282" name="Object 34">
                          <a:extLst>
                            <a:ext uri="{FF2B5EF4-FFF2-40B4-BE49-F238E27FC236}">
                              <a16:creationId xmlns:a16="http://schemas.microsoft.com/office/drawing/2014/main" id="{434FA980-5F0E-B7A7-C93E-2776F02C307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80" y="816"/>
                          <a:ext cx="2347"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3" name="Object 35">
              <a:extLst>
                <a:ext uri="{FF2B5EF4-FFF2-40B4-BE49-F238E27FC236}">
                  <a16:creationId xmlns:a16="http://schemas.microsoft.com/office/drawing/2014/main" id="{50799641-1240-5B11-AB5E-F5E69993DB97}"/>
                </a:ext>
              </a:extLst>
            </p:cNvPr>
            <p:cNvGraphicFramePr>
              <a:graphicFrameLocks noChangeAspect="1"/>
            </p:cNvGraphicFramePr>
            <p:nvPr/>
          </p:nvGraphicFramePr>
          <p:xfrm>
            <a:off x="2880" y="1104"/>
            <a:ext cx="2249" cy="350"/>
          </p:xfrm>
          <a:graphic>
            <a:graphicData uri="http://schemas.openxmlformats.org/presentationml/2006/ole">
              <mc:AlternateContent xmlns:mc="http://schemas.openxmlformats.org/markup-compatibility/2006">
                <mc:Choice xmlns:v="urn:schemas-microsoft-com:vml" Requires="v">
                  <p:oleObj name="Equation" r:id="rId10" imgW="1383699" imgH="215806" progId="Equation.3">
                    <p:embed/>
                  </p:oleObj>
                </mc:Choice>
                <mc:Fallback>
                  <p:oleObj name="Equation" r:id="rId10" imgW="1383699" imgH="215806" progId="Equation.3">
                    <p:embed/>
                    <p:pic>
                      <p:nvPicPr>
                        <p:cNvPr id="11283" name="Object 35">
                          <a:extLst>
                            <a:ext uri="{FF2B5EF4-FFF2-40B4-BE49-F238E27FC236}">
                              <a16:creationId xmlns:a16="http://schemas.microsoft.com/office/drawing/2014/main" id="{50799641-1240-5B11-AB5E-F5E69993DB9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80" y="1104"/>
                          <a:ext cx="2249" cy="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4" name="Object 36">
              <a:extLst>
                <a:ext uri="{FF2B5EF4-FFF2-40B4-BE49-F238E27FC236}">
                  <a16:creationId xmlns:a16="http://schemas.microsoft.com/office/drawing/2014/main" id="{A500EEA7-BCAC-E605-389E-84CCD0E13086}"/>
                </a:ext>
              </a:extLst>
            </p:cNvPr>
            <p:cNvGraphicFramePr>
              <a:graphicFrameLocks noChangeAspect="1"/>
            </p:cNvGraphicFramePr>
            <p:nvPr/>
          </p:nvGraphicFramePr>
          <p:xfrm>
            <a:off x="3456" y="1440"/>
            <a:ext cx="894" cy="342"/>
          </p:xfrm>
          <a:graphic>
            <a:graphicData uri="http://schemas.openxmlformats.org/presentationml/2006/ole">
              <mc:AlternateContent xmlns:mc="http://schemas.openxmlformats.org/markup-compatibility/2006">
                <mc:Choice xmlns:v="urn:schemas-microsoft-com:vml" Requires="v">
                  <p:oleObj name="Equation" r:id="rId12" imgW="596900" imgH="228600" progId="Equation.3">
                    <p:embed/>
                  </p:oleObj>
                </mc:Choice>
                <mc:Fallback>
                  <p:oleObj name="Equation" r:id="rId12" imgW="596900" imgH="228600" progId="Equation.3">
                    <p:embed/>
                    <p:pic>
                      <p:nvPicPr>
                        <p:cNvPr id="11284" name="Object 36">
                          <a:extLst>
                            <a:ext uri="{FF2B5EF4-FFF2-40B4-BE49-F238E27FC236}">
                              <a16:creationId xmlns:a16="http://schemas.microsoft.com/office/drawing/2014/main" id="{A500EEA7-BCAC-E605-389E-84CCD0E1308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56" y="1440"/>
                          <a:ext cx="894" cy="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5" name="Object 37">
              <a:extLst>
                <a:ext uri="{FF2B5EF4-FFF2-40B4-BE49-F238E27FC236}">
                  <a16:creationId xmlns:a16="http://schemas.microsoft.com/office/drawing/2014/main" id="{30BB6369-951E-131D-C0DD-88F67E19EC3B}"/>
                </a:ext>
              </a:extLst>
            </p:cNvPr>
            <p:cNvGraphicFramePr>
              <a:graphicFrameLocks noChangeAspect="1"/>
            </p:cNvGraphicFramePr>
            <p:nvPr/>
          </p:nvGraphicFramePr>
          <p:xfrm>
            <a:off x="3456" y="1807"/>
            <a:ext cx="2064" cy="706"/>
          </p:xfrm>
          <a:graphic>
            <a:graphicData uri="http://schemas.openxmlformats.org/presentationml/2006/ole">
              <mc:AlternateContent xmlns:mc="http://schemas.openxmlformats.org/markup-compatibility/2006">
                <mc:Choice xmlns:v="urn:schemas-microsoft-com:vml" Requires="v">
                  <p:oleObj name="Equation" r:id="rId14" imgW="1397000" imgH="457200" progId="Equation.3">
                    <p:embed/>
                  </p:oleObj>
                </mc:Choice>
                <mc:Fallback>
                  <p:oleObj name="Equation" r:id="rId14" imgW="1397000" imgH="457200" progId="Equation.3">
                    <p:embed/>
                    <p:pic>
                      <p:nvPicPr>
                        <p:cNvPr id="11285" name="Object 37">
                          <a:extLst>
                            <a:ext uri="{FF2B5EF4-FFF2-40B4-BE49-F238E27FC236}">
                              <a16:creationId xmlns:a16="http://schemas.microsoft.com/office/drawing/2014/main" id="{30BB6369-951E-131D-C0DD-88F67E19EC3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56" y="1807"/>
                          <a:ext cx="2064" cy="7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41">
            <a:extLst>
              <a:ext uri="{FF2B5EF4-FFF2-40B4-BE49-F238E27FC236}">
                <a16:creationId xmlns:a16="http://schemas.microsoft.com/office/drawing/2014/main" id="{7ADE483A-D3CC-FD86-962C-1CF650A52AF1}"/>
              </a:ext>
            </a:extLst>
          </p:cNvPr>
          <p:cNvGrpSpPr>
            <a:grpSpLocks/>
          </p:cNvGrpSpPr>
          <p:nvPr/>
        </p:nvGrpSpPr>
        <p:grpSpPr bwMode="auto">
          <a:xfrm>
            <a:off x="152400" y="5029200"/>
            <a:ext cx="6916738" cy="1554163"/>
            <a:chOff x="96" y="3168"/>
            <a:chExt cx="4357" cy="979"/>
          </a:xfrm>
        </p:grpSpPr>
        <p:sp>
          <p:nvSpPr>
            <p:cNvPr id="11276" name="Rectangle 18">
              <a:extLst>
                <a:ext uri="{FF2B5EF4-FFF2-40B4-BE49-F238E27FC236}">
                  <a16:creationId xmlns:a16="http://schemas.microsoft.com/office/drawing/2014/main" id="{78E862F3-79E1-C54B-4CE0-68DF1AF8073D}"/>
                </a:ext>
              </a:extLst>
            </p:cNvPr>
            <p:cNvSpPr>
              <a:spLocks noChangeArrowheads="1"/>
            </p:cNvSpPr>
            <p:nvPr/>
          </p:nvSpPr>
          <p:spPr bwMode="auto">
            <a:xfrm>
              <a:off x="816" y="3168"/>
              <a:ext cx="1248" cy="7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77" name="Rectangle 19">
              <a:extLst>
                <a:ext uri="{FF2B5EF4-FFF2-40B4-BE49-F238E27FC236}">
                  <a16:creationId xmlns:a16="http://schemas.microsoft.com/office/drawing/2014/main" id="{00714563-ECD1-8B23-AC27-3FF909491F2D}"/>
                </a:ext>
              </a:extLst>
            </p:cNvPr>
            <p:cNvSpPr>
              <a:spLocks noChangeArrowheads="1"/>
            </p:cNvSpPr>
            <p:nvPr/>
          </p:nvSpPr>
          <p:spPr bwMode="auto">
            <a:xfrm>
              <a:off x="2304" y="3216"/>
              <a:ext cx="1152" cy="6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graphicFrame>
          <p:nvGraphicFramePr>
            <p:cNvPr id="11278" name="Object 20">
              <a:extLst>
                <a:ext uri="{FF2B5EF4-FFF2-40B4-BE49-F238E27FC236}">
                  <a16:creationId xmlns:a16="http://schemas.microsoft.com/office/drawing/2014/main" id="{3FCF03DA-E37F-2783-2B53-D6A67D36E237}"/>
                </a:ext>
              </a:extLst>
            </p:cNvPr>
            <p:cNvGraphicFramePr>
              <a:graphicFrameLocks noChangeAspect="1"/>
            </p:cNvGraphicFramePr>
            <p:nvPr/>
          </p:nvGraphicFramePr>
          <p:xfrm>
            <a:off x="864" y="3264"/>
            <a:ext cx="1206" cy="585"/>
          </p:xfrm>
          <a:graphic>
            <a:graphicData uri="http://schemas.openxmlformats.org/presentationml/2006/ole">
              <mc:AlternateContent xmlns:mc="http://schemas.openxmlformats.org/markup-compatibility/2006">
                <mc:Choice xmlns:v="urn:schemas-microsoft-com:vml" Requires="v">
                  <p:oleObj name="Equation" r:id="rId16" imgW="1358900" imgH="660400" progId="Equation.3">
                    <p:embed/>
                  </p:oleObj>
                </mc:Choice>
                <mc:Fallback>
                  <p:oleObj name="Equation" r:id="rId16" imgW="1358900" imgH="660400" progId="Equation.3">
                    <p:embed/>
                    <p:pic>
                      <p:nvPicPr>
                        <p:cNvPr id="11278" name="Object 20">
                          <a:extLst>
                            <a:ext uri="{FF2B5EF4-FFF2-40B4-BE49-F238E27FC236}">
                              <a16:creationId xmlns:a16="http://schemas.microsoft.com/office/drawing/2014/main" id="{3FCF03DA-E37F-2783-2B53-D6A67D36E23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64" y="3264"/>
                          <a:ext cx="1206" cy="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9" name="Text Box 22">
              <a:extLst>
                <a:ext uri="{FF2B5EF4-FFF2-40B4-BE49-F238E27FC236}">
                  <a16:creationId xmlns:a16="http://schemas.microsoft.com/office/drawing/2014/main" id="{5124B41D-007D-5778-4503-F0706E872127}"/>
                </a:ext>
              </a:extLst>
            </p:cNvPr>
            <p:cNvSpPr txBox="1">
              <a:spLocks noChangeArrowheads="1"/>
            </p:cNvSpPr>
            <p:nvPr/>
          </p:nvSpPr>
          <p:spPr bwMode="auto">
            <a:xfrm>
              <a:off x="96" y="3456"/>
              <a:ext cx="1200" cy="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UB=2.8</a:t>
              </a:r>
            </a:p>
            <a:p>
              <a:pPr>
                <a:spcBef>
                  <a:spcPct val="0"/>
                </a:spcBef>
                <a:buFontTx/>
                <a:buNone/>
              </a:pPr>
              <a:r>
                <a:rPr lang="en-US" altLang="en-US" sz="2200"/>
                <a:t>LB=2.64</a:t>
              </a:r>
            </a:p>
            <a:p>
              <a:pPr>
                <a:spcBef>
                  <a:spcPct val="0"/>
                </a:spcBef>
                <a:buFontTx/>
                <a:buNone/>
              </a:pPr>
              <a:r>
                <a:rPr lang="en-US" altLang="en-US" sz="2200"/>
                <a:t>B.I.S. = [2,5]</a:t>
              </a:r>
            </a:p>
          </p:txBody>
        </p:sp>
        <p:sp>
          <p:nvSpPr>
            <p:cNvPr id="11280" name="Text Box 23">
              <a:extLst>
                <a:ext uri="{FF2B5EF4-FFF2-40B4-BE49-F238E27FC236}">
                  <a16:creationId xmlns:a16="http://schemas.microsoft.com/office/drawing/2014/main" id="{AA54F9C3-BEA0-A17C-6E2C-0D8EB80F293F}"/>
                </a:ext>
              </a:extLst>
            </p:cNvPr>
            <p:cNvSpPr txBox="1">
              <a:spLocks noChangeArrowheads="1"/>
            </p:cNvSpPr>
            <p:nvPr/>
          </p:nvSpPr>
          <p:spPr bwMode="auto">
            <a:xfrm>
              <a:off x="3600" y="3264"/>
              <a:ext cx="85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UB=2.8</a:t>
              </a:r>
            </a:p>
            <a:p>
              <a:pPr>
                <a:spcBef>
                  <a:spcPct val="0"/>
                </a:spcBef>
                <a:buFontTx/>
                <a:buNone/>
              </a:pPr>
              <a:r>
                <a:rPr lang="en-US" altLang="en-US" sz="2400"/>
                <a:t>LB= 2.64</a:t>
              </a:r>
              <a:endParaRPr lang="en-US" altLang="en-US" sz="2400">
                <a:sym typeface="Symbol" panose="05050102010706020507" pitchFamily="18" charset="2"/>
              </a:endParaRPr>
            </a:p>
          </p:txBody>
        </p:sp>
        <p:graphicFrame>
          <p:nvGraphicFramePr>
            <p:cNvPr id="11281" name="Object 40">
              <a:extLst>
                <a:ext uri="{FF2B5EF4-FFF2-40B4-BE49-F238E27FC236}">
                  <a16:creationId xmlns:a16="http://schemas.microsoft.com/office/drawing/2014/main" id="{DC024D63-B939-6E38-3A13-87D358A638DD}"/>
                </a:ext>
              </a:extLst>
            </p:cNvPr>
            <p:cNvGraphicFramePr>
              <a:graphicFrameLocks noChangeAspect="1"/>
            </p:cNvGraphicFramePr>
            <p:nvPr/>
          </p:nvGraphicFramePr>
          <p:xfrm>
            <a:off x="2357" y="3264"/>
            <a:ext cx="1094" cy="585"/>
          </p:xfrm>
          <a:graphic>
            <a:graphicData uri="http://schemas.openxmlformats.org/presentationml/2006/ole">
              <mc:AlternateContent xmlns:mc="http://schemas.openxmlformats.org/markup-compatibility/2006">
                <mc:Choice xmlns:v="urn:schemas-microsoft-com:vml" Requires="v">
                  <p:oleObj name="Equation" r:id="rId18" imgW="1346200" imgH="660400" progId="Equation.3">
                    <p:embed/>
                  </p:oleObj>
                </mc:Choice>
                <mc:Fallback>
                  <p:oleObj name="Equation" r:id="rId18" imgW="1346200" imgH="660400" progId="Equation.3">
                    <p:embed/>
                    <p:pic>
                      <p:nvPicPr>
                        <p:cNvPr id="11281" name="Object 40">
                          <a:extLst>
                            <a:ext uri="{FF2B5EF4-FFF2-40B4-BE49-F238E27FC236}">
                              <a16:creationId xmlns:a16="http://schemas.microsoft.com/office/drawing/2014/main" id="{DC024D63-B939-6E38-3A13-87D358A638D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57" y="3264"/>
                          <a:ext cx="1094" cy="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5146" name="Text Box 42">
            <a:extLst>
              <a:ext uri="{FF2B5EF4-FFF2-40B4-BE49-F238E27FC236}">
                <a16:creationId xmlns:a16="http://schemas.microsoft.com/office/drawing/2014/main" id="{FA3906AE-D8A8-CA73-4C73-8DB18B7B6CC5}"/>
              </a:ext>
            </a:extLst>
          </p:cNvPr>
          <p:cNvSpPr txBox="1">
            <a:spLocks noChangeArrowheads="1"/>
          </p:cNvSpPr>
          <p:nvPr/>
        </p:nvSpPr>
        <p:spPr bwMode="auto">
          <a:xfrm>
            <a:off x="5562600" y="3657600"/>
            <a:ext cx="3292475"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700"/>
              <a:t>  Both leaves fathomed, optimal solution is [2,5]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5109">
                                            <p:txEl>
                                              <p:pRg st="0" end="0"/>
                                            </p:txEl>
                                          </p:spTgt>
                                        </p:tgtEl>
                                        <p:attrNameLst>
                                          <p:attrName>style.visibility</p:attrName>
                                        </p:attrNameLst>
                                      </p:cBhvr>
                                      <p:to>
                                        <p:strVal val="visible"/>
                                      </p:to>
                                    </p:set>
                                    <p:anim calcmode="lin" valueType="num">
                                      <p:cBhvr additive="base">
                                        <p:cTn id="7" dur="500" fill="hold"/>
                                        <p:tgtEl>
                                          <p:spTgt spid="17510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51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5114"/>
                                        </p:tgtEl>
                                        <p:attrNameLst>
                                          <p:attrName>style.visibility</p:attrName>
                                        </p:attrNameLst>
                                      </p:cBhvr>
                                      <p:to>
                                        <p:strVal val="visible"/>
                                      </p:to>
                                    </p:set>
                                    <p:anim calcmode="lin" valueType="num">
                                      <p:cBhvr additive="base">
                                        <p:cTn id="19" dur="500" fill="hold"/>
                                        <p:tgtEl>
                                          <p:spTgt spid="175114"/>
                                        </p:tgtEl>
                                        <p:attrNameLst>
                                          <p:attrName>ppt_x</p:attrName>
                                        </p:attrNameLst>
                                      </p:cBhvr>
                                      <p:tavLst>
                                        <p:tav tm="0">
                                          <p:val>
                                            <p:strVal val="0-#ppt_w/2"/>
                                          </p:val>
                                        </p:tav>
                                        <p:tav tm="100000">
                                          <p:val>
                                            <p:strVal val="#ppt_x"/>
                                          </p:val>
                                        </p:tav>
                                      </p:tavLst>
                                    </p:anim>
                                    <p:anim calcmode="lin" valueType="num">
                                      <p:cBhvr additive="base">
                                        <p:cTn id="20" dur="500" fill="hold"/>
                                        <p:tgtEl>
                                          <p:spTgt spid="17511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0-#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75146"/>
                                        </p:tgtEl>
                                        <p:attrNameLst>
                                          <p:attrName>style.visibility</p:attrName>
                                        </p:attrNameLst>
                                      </p:cBhvr>
                                      <p:to>
                                        <p:strVal val="visible"/>
                                      </p:to>
                                    </p:set>
                                    <p:anim calcmode="lin" valueType="num">
                                      <p:cBhvr additive="base">
                                        <p:cTn id="37" dur="500" fill="hold"/>
                                        <p:tgtEl>
                                          <p:spTgt spid="175146"/>
                                        </p:tgtEl>
                                        <p:attrNameLst>
                                          <p:attrName>ppt_x</p:attrName>
                                        </p:attrNameLst>
                                      </p:cBhvr>
                                      <p:tavLst>
                                        <p:tav tm="0">
                                          <p:val>
                                            <p:strVal val="0-#ppt_w/2"/>
                                          </p:val>
                                        </p:tav>
                                        <p:tav tm="100000">
                                          <p:val>
                                            <p:strVal val="#ppt_x"/>
                                          </p:val>
                                        </p:tav>
                                      </p:tavLst>
                                    </p:anim>
                                    <p:anim calcmode="lin" valueType="num">
                                      <p:cBhvr additive="base">
                                        <p:cTn id="38" dur="500" fill="hold"/>
                                        <p:tgtEl>
                                          <p:spTgt spid="1751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9" grpId="0" build="p" autoUpdateAnimBg="0"/>
      <p:bldP spid="175114" grpId="0" autoUpdateAnimBg="0"/>
      <p:bldP spid="175146"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CDD36E9-0021-074A-054F-9D1258C6E203}"/>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Minimizing Manufacturing Costs</a:t>
            </a:r>
          </a:p>
        </p:txBody>
      </p:sp>
      <p:sp>
        <p:nvSpPr>
          <p:cNvPr id="12291" name="Rectangle 3">
            <a:extLst>
              <a:ext uri="{FF2B5EF4-FFF2-40B4-BE49-F238E27FC236}">
                <a16:creationId xmlns:a16="http://schemas.microsoft.com/office/drawing/2014/main" id="{ECD7FFA2-C305-2C9C-CCAE-C7AAE4AE2FFF}"/>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292" name="Rectangle 4">
            <a:extLst>
              <a:ext uri="{FF2B5EF4-FFF2-40B4-BE49-F238E27FC236}">
                <a16:creationId xmlns:a16="http://schemas.microsoft.com/office/drawing/2014/main" id="{49A30811-0B4A-EAF6-1B08-FD211E802A8C}"/>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177159" name="Text Box 7">
            <a:extLst>
              <a:ext uri="{FF2B5EF4-FFF2-40B4-BE49-F238E27FC236}">
                <a16:creationId xmlns:a16="http://schemas.microsoft.com/office/drawing/2014/main" id="{28D5D98F-33C8-51C3-BC50-CC3C0B917131}"/>
              </a:ext>
            </a:extLst>
          </p:cNvPr>
          <p:cNvSpPr txBox="1">
            <a:spLocks noChangeArrowheads="1"/>
          </p:cNvSpPr>
          <p:nvPr/>
        </p:nvSpPr>
        <p:spPr bwMode="auto">
          <a:xfrm>
            <a:off x="266700" y="1295400"/>
            <a:ext cx="8610600"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10000"/>
              </a:lnSpc>
              <a:spcBef>
                <a:spcPct val="0"/>
              </a:spcBef>
            </a:pPr>
            <a:r>
              <a:rPr lang="en-US" altLang="en-US" sz="3400"/>
              <a:t>  Assume we must produce a number of products </a:t>
            </a:r>
            <a:r>
              <a:rPr lang="en-US" altLang="en-US" sz="3400" i="1"/>
              <a:t>j</a:t>
            </a:r>
            <a:r>
              <a:rPr lang="en-US" altLang="en-US" sz="3400"/>
              <a:t>=1,...,</a:t>
            </a:r>
            <a:r>
              <a:rPr lang="en-US" altLang="en-US" sz="3400" i="1"/>
              <a:t>n</a:t>
            </a:r>
            <a:r>
              <a:rPr lang="en-US" altLang="en-US" sz="3400"/>
              <a:t> , with a cost </a:t>
            </a:r>
            <a:r>
              <a:rPr lang="en-US" altLang="en-US" sz="3400" i="1"/>
              <a:t>C</a:t>
            </a:r>
            <a:r>
              <a:rPr lang="en-US" altLang="en-US" sz="3400" i="1" baseline="-25000"/>
              <a:t>j</a:t>
            </a:r>
            <a:r>
              <a:rPr lang="en-US" altLang="en-US" sz="3400" i="1"/>
              <a:t> </a:t>
            </a:r>
            <a:r>
              <a:rPr lang="en-US" altLang="en-US" sz="3400"/>
              <a:t>to produce one unit of </a:t>
            </a:r>
            <a:r>
              <a:rPr lang="en-US" altLang="en-US" sz="3400" i="1"/>
              <a:t>j</a:t>
            </a:r>
            <a:endParaRPr lang="en-US" altLang="en-US" sz="3400"/>
          </a:p>
          <a:p>
            <a:pPr>
              <a:lnSpc>
                <a:spcPct val="110000"/>
              </a:lnSpc>
              <a:spcBef>
                <a:spcPct val="0"/>
              </a:spcBef>
            </a:pPr>
            <a:r>
              <a:rPr lang="en-US" altLang="en-US" sz="3400"/>
              <a:t>  Also, if we make </a:t>
            </a:r>
            <a:r>
              <a:rPr lang="en-US" altLang="en-US" sz="3400" u="sng"/>
              <a:t>any</a:t>
            </a:r>
            <a:r>
              <a:rPr lang="en-US" altLang="en-US" sz="3400"/>
              <a:t> of a given product </a:t>
            </a:r>
            <a:r>
              <a:rPr lang="en-US" altLang="en-US" sz="3400" i="1"/>
              <a:t>j</a:t>
            </a:r>
            <a:r>
              <a:rPr lang="en-US" altLang="en-US" sz="3400"/>
              <a:t>, we must pay a fixed equipment cost </a:t>
            </a:r>
            <a:r>
              <a:rPr lang="en-US" altLang="en-US" sz="3400" i="1"/>
              <a:t>K</a:t>
            </a:r>
            <a:r>
              <a:rPr lang="en-US" altLang="en-US" sz="3400" i="1" baseline="-25000"/>
              <a:t>j</a:t>
            </a:r>
            <a:endParaRPr lang="en-US" altLang="en-US" sz="3400"/>
          </a:p>
          <a:p>
            <a:pPr>
              <a:lnSpc>
                <a:spcPct val="110000"/>
              </a:lnSpc>
              <a:spcBef>
                <a:spcPct val="0"/>
              </a:spcBef>
            </a:pPr>
            <a:r>
              <a:rPr lang="en-US" altLang="en-US" sz="3400"/>
              <a:t>  There are also demands </a:t>
            </a:r>
            <a:r>
              <a:rPr lang="en-US" altLang="en-US" sz="3400" i="1"/>
              <a:t>d</a:t>
            </a:r>
            <a:r>
              <a:rPr lang="en-US" altLang="en-US" sz="3400" i="1" baseline="-25000"/>
              <a:t>j</a:t>
            </a:r>
            <a:r>
              <a:rPr lang="en-US" altLang="en-US" sz="3400"/>
              <a:t> to be satisfied</a:t>
            </a:r>
          </a:p>
          <a:p>
            <a:pPr>
              <a:lnSpc>
                <a:spcPct val="110000"/>
              </a:lnSpc>
              <a:spcBef>
                <a:spcPct val="0"/>
              </a:spcBef>
            </a:pPr>
            <a:r>
              <a:rPr lang="en-US" altLang="en-US" sz="3400"/>
              <a:t>  How do we formulate this?  (hint: use a discontinuous constraint)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7159">
                                            <p:txEl>
                                              <p:pRg st="0" end="0"/>
                                            </p:txEl>
                                          </p:spTgt>
                                        </p:tgtEl>
                                        <p:attrNameLst>
                                          <p:attrName>style.visibility</p:attrName>
                                        </p:attrNameLst>
                                      </p:cBhvr>
                                      <p:to>
                                        <p:strVal val="visible"/>
                                      </p:to>
                                    </p:set>
                                    <p:anim calcmode="lin" valueType="num">
                                      <p:cBhvr additive="base">
                                        <p:cTn id="7" dur="500" fill="hold"/>
                                        <p:tgtEl>
                                          <p:spTgt spid="1771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71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7159">
                                            <p:txEl>
                                              <p:pRg st="1" end="1"/>
                                            </p:txEl>
                                          </p:spTgt>
                                        </p:tgtEl>
                                        <p:attrNameLst>
                                          <p:attrName>style.visibility</p:attrName>
                                        </p:attrNameLst>
                                      </p:cBhvr>
                                      <p:to>
                                        <p:strVal val="visible"/>
                                      </p:to>
                                    </p:set>
                                    <p:anim calcmode="lin" valueType="num">
                                      <p:cBhvr additive="base">
                                        <p:cTn id="13" dur="500" fill="hold"/>
                                        <p:tgtEl>
                                          <p:spTgt spid="1771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71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7159">
                                            <p:txEl>
                                              <p:pRg st="2" end="2"/>
                                            </p:txEl>
                                          </p:spTgt>
                                        </p:tgtEl>
                                        <p:attrNameLst>
                                          <p:attrName>style.visibility</p:attrName>
                                        </p:attrNameLst>
                                      </p:cBhvr>
                                      <p:to>
                                        <p:strVal val="visible"/>
                                      </p:to>
                                    </p:set>
                                    <p:anim calcmode="lin" valueType="num">
                                      <p:cBhvr additive="base">
                                        <p:cTn id="19" dur="500" fill="hold"/>
                                        <p:tgtEl>
                                          <p:spTgt spid="1771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71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7159">
                                            <p:txEl>
                                              <p:pRg st="3" end="3"/>
                                            </p:txEl>
                                          </p:spTgt>
                                        </p:tgtEl>
                                        <p:attrNameLst>
                                          <p:attrName>style.visibility</p:attrName>
                                        </p:attrNameLst>
                                      </p:cBhvr>
                                      <p:to>
                                        <p:strVal val="visible"/>
                                      </p:to>
                                    </p:set>
                                    <p:anim calcmode="lin" valueType="num">
                                      <p:cBhvr additive="base">
                                        <p:cTn id="25" dur="500" fill="hold"/>
                                        <p:tgtEl>
                                          <p:spTgt spid="1771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715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9" grpId="0" build="p"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EF28E54-106A-02F0-8513-50719007BFB9}"/>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A Discontinuous Formulation</a:t>
            </a:r>
          </a:p>
        </p:txBody>
      </p:sp>
      <p:sp>
        <p:nvSpPr>
          <p:cNvPr id="13315" name="Rectangle 3">
            <a:extLst>
              <a:ext uri="{FF2B5EF4-FFF2-40B4-BE49-F238E27FC236}">
                <a16:creationId xmlns:a16="http://schemas.microsoft.com/office/drawing/2014/main" id="{2C6A04FB-C2AA-DDCF-6A5D-9913306E4397}"/>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16" name="Rectangle 4">
            <a:extLst>
              <a:ext uri="{FF2B5EF4-FFF2-40B4-BE49-F238E27FC236}">
                <a16:creationId xmlns:a16="http://schemas.microsoft.com/office/drawing/2014/main" id="{44A2FC71-47CC-C235-DB64-2EACFC818ACA}"/>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193541" name="Text Box 5">
            <a:extLst>
              <a:ext uri="{FF2B5EF4-FFF2-40B4-BE49-F238E27FC236}">
                <a16:creationId xmlns:a16="http://schemas.microsoft.com/office/drawing/2014/main" id="{91364405-7764-27E6-4F33-20E097FC7D56}"/>
              </a:ext>
            </a:extLst>
          </p:cNvPr>
          <p:cNvSpPr txBox="1">
            <a:spLocks noChangeArrowheads="1"/>
          </p:cNvSpPr>
          <p:nvPr/>
        </p:nvSpPr>
        <p:spPr bwMode="auto">
          <a:xfrm>
            <a:off x="495300" y="1066800"/>
            <a:ext cx="815340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a:t>  We could use continuous variables </a:t>
            </a:r>
            <a:r>
              <a:rPr lang="en-US" altLang="en-US" i="1"/>
              <a:t>x</a:t>
            </a:r>
            <a:r>
              <a:rPr lang="en-US" altLang="en-US" i="1" baseline="-25000"/>
              <a:t>j</a:t>
            </a:r>
            <a:r>
              <a:rPr lang="en-US" altLang="en-US"/>
              <a:t> to store the amount of each product produced, and binary variables </a:t>
            </a:r>
            <a:r>
              <a:rPr lang="en-US" altLang="en-US" i="1"/>
              <a:t>y</a:t>
            </a:r>
            <a:r>
              <a:rPr lang="en-US" altLang="en-US" i="1" baseline="-25000"/>
              <a:t>j</a:t>
            </a:r>
            <a:r>
              <a:rPr lang="en-US" altLang="en-US"/>
              <a:t> to store whether any of a given product is produced:</a:t>
            </a:r>
          </a:p>
        </p:txBody>
      </p:sp>
      <p:graphicFrame>
        <p:nvGraphicFramePr>
          <p:cNvPr id="193542" name="Object 6">
            <a:extLst>
              <a:ext uri="{FF2B5EF4-FFF2-40B4-BE49-F238E27FC236}">
                <a16:creationId xmlns:a16="http://schemas.microsoft.com/office/drawing/2014/main" id="{7ABE8D5D-9FB8-8BF9-C02A-218DAD8D2D65}"/>
              </a:ext>
            </a:extLst>
          </p:cNvPr>
          <p:cNvGraphicFramePr>
            <a:graphicFrameLocks noChangeAspect="1"/>
          </p:cNvGraphicFramePr>
          <p:nvPr/>
        </p:nvGraphicFramePr>
        <p:xfrm>
          <a:off x="4572000" y="3200400"/>
          <a:ext cx="4010025" cy="2798763"/>
        </p:xfrm>
        <a:graphic>
          <a:graphicData uri="http://schemas.openxmlformats.org/presentationml/2006/ole">
            <mc:AlternateContent xmlns:mc="http://schemas.openxmlformats.org/markup-compatibility/2006">
              <mc:Choice xmlns:v="urn:schemas-microsoft-com:vml" Requires="v">
                <p:oleObj name="Equation" r:id="rId2" imgW="1727200" imgH="1206500" progId="Equation.3">
                  <p:embed/>
                </p:oleObj>
              </mc:Choice>
              <mc:Fallback>
                <p:oleObj name="Equation" r:id="rId2" imgW="1727200" imgH="1206500" progId="Equation.3">
                  <p:embed/>
                  <p:pic>
                    <p:nvPicPr>
                      <p:cNvPr id="193542" name="Object 6">
                        <a:extLst>
                          <a:ext uri="{FF2B5EF4-FFF2-40B4-BE49-F238E27FC236}">
                            <a16:creationId xmlns:a16="http://schemas.microsoft.com/office/drawing/2014/main" id="{7ABE8D5D-9FB8-8BF9-C02A-218DAD8D2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200400"/>
                        <a:ext cx="4010025" cy="2798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3546" name="Text Box 10">
            <a:extLst>
              <a:ext uri="{FF2B5EF4-FFF2-40B4-BE49-F238E27FC236}">
                <a16:creationId xmlns:a16="http://schemas.microsoft.com/office/drawing/2014/main" id="{A2FE30FB-4F58-5F7E-4849-AFA237DA5018}"/>
              </a:ext>
            </a:extLst>
          </p:cNvPr>
          <p:cNvSpPr txBox="1">
            <a:spLocks noChangeArrowheads="1"/>
          </p:cNvSpPr>
          <p:nvPr/>
        </p:nvSpPr>
        <p:spPr bwMode="auto">
          <a:xfrm>
            <a:off x="517525" y="3295650"/>
            <a:ext cx="3673475" cy="252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a:t>  Tough to solve!</a:t>
            </a:r>
          </a:p>
          <a:p>
            <a:pPr>
              <a:spcBef>
                <a:spcPct val="0"/>
              </a:spcBef>
            </a:pPr>
            <a:r>
              <a:rPr lang="en-US" altLang="en-US"/>
              <a:t>  We need a way to relate </a:t>
            </a:r>
            <a:r>
              <a:rPr lang="en-US" altLang="en-US" i="1"/>
              <a:t>x</a:t>
            </a:r>
            <a:r>
              <a:rPr lang="en-US" altLang="en-US"/>
              <a:t> and </a:t>
            </a:r>
            <a:r>
              <a:rPr lang="en-US" altLang="en-US" i="1"/>
              <a:t>y</a:t>
            </a:r>
            <a:r>
              <a:rPr lang="en-US" altLang="en-US"/>
              <a:t> in a linear and continuous manner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3541">
                                            <p:txEl>
                                              <p:pRg st="0" end="0"/>
                                            </p:txEl>
                                          </p:spTgt>
                                        </p:tgtEl>
                                        <p:attrNameLst>
                                          <p:attrName>style.visibility</p:attrName>
                                        </p:attrNameLst>
                                      </p:cBhvr>
                                      <p:to>
                                        <p:strVal val="visible"/>
                                      </p:to>
                                    </p:set>
                                    <p:anim calcmode="lin" valueType="num">
                                      <p:cBhvr additive="base">
                                        <p:cTn id="7" dur="500" fill="hold"/>
                                        <p:tgtEl>
                                          <p:spTgt spid="19354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354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3542"/>
                                        </p:tgtEl>
                                        <p:attrNameLst>
                                          <p:attrName>style.visibility</p:attrName>
                                        </p:attrNameLst>
                                      </p:cBhvr>
                                      <p:to>
                                        <p:strVal val="visible"/>
                                      </p:to>
                                    </p:set>
                                    <p:anim calcmode="lin" valueType="num">
                                      <p:cBhvr additive="base">
                                        <p:cTn id="13" dur="500" fill="hold"/>
                                        <p:tgtEl>
                                          <p:spTgt spid="193542"/>
                                        </p:tgtEl>
                                        <p:attrNameLst>
                                          <p:attrName>ppt_x</p:attrName>
                                        </p:attrNameLst>
                                      </p:cBhvr>
                                      <p:tavLst>
                                        <p:tav tm="0">
                                          <p:val>
                                            <p:strVal val="0-#ppt_w/2"/>
                                          </p:val>
                                        </p:tav>
                                        <p:tav tm="100000">
                                          <p:val>
                                            <p:strVal val="#ppt_x"/>
                                          </p:val>
                                        </p:tav>
                                      </p:tavLst>
                                    </p:anim>
                                    <p:anim calcmode="lin" valueType="num">
                                      <p:cBhvr additive="base">
                                        <p:cTn id="14" dur="500" fill="hold"/>
                                        <p:tgtEl>
                                          <p:spTgt spid="19354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3546">
                                            <p:txEl>
                                              <p:pRg st="0" end="0"/>
                                            </p:txEl>
                                          </p:spTgt>
                                        </p:tgtEl>
                                        <p:attrNameLst>
                                          <p:attrName>style.visibility</p:attrName>
                                        </p:attrNameLst>
                                      </p:cBhvr>
                                      <p:to>
                                        <p:strVal val="visible"/>
                                      </p:to>
                                    </p:set>
                                    <p:anim calcmode="lin" valueType="num">
                                      <p:cBhvr additive="base">
                                        <p:cTn id="19" dur="500" fill="hold"/>
                                        <p:tgtEl>
                                          <p:spTgt spid="193546">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354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93546">
                                            <p:txEl>
                                              <p:pRg st="1" end="1"/>
                                            </p:txEl>
                                          </p:spTgt>
                                        </p:tgtEl>
                                        <p:attrNameLst>
                                          <p:attrName>style.visibility</p:attrName>
                                        </p:attrNameLst>
                                      </p:cBhvr>
                                      <p:to>
                                        <p:strVal val="visible"/>
                                      </p:to>
                                    </p:set>
                                    <p:anim calcmode="lin" valueType="num">
                                      <p:cBhvr additive="base">
                                        <p:cTn id="25" dur="500" fill="hold"/>
                                        <p:tgtEl>
                                          <p:spTgt spid="193546">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354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1" grpId="0" build="p" autoUpdateAnimBg="0"/>
      <p:bldP spid="193546"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A8FAE7A-3C29-8A26-0182-97FF5173DFD6}"/>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Big-M Constraints</a:t>
            </a:r>
          </a:p>
        </p:txBody>
      </p:sp>
      <p:sp>
        <p:nvSpPr>
          <p:cNvPr id="14339" name="Rectangle 3">
            <a:extLst>
              <a:ext uri="{FF2B5EF4-FFF2-40B4-BE49-F238E27FC236}">
                <a16:creationId xmlns:a16="http://schemas.microsoft.com/office/drawing/2014/main" id="{A520C17C-AFA8-223F-E5C8-AD82B688D9D0}"/>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4340" name="Rectangle 4">
            <a:extLst>
              <a:ext uri="{FF2B5EF4-FFF2-40B4-BE49-F238E27FC236}">
                <a16:creationId xmlns:a16="http://schemas.microsoft.com/office/drawing/2014/main" id="{0FE97CF5-BAB3-195A-4792-BFEF7B3B2D76}"/>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194565" name="Text Box 5">
            <a:extLst>
              <a:ext uri="{FF2B5EF4-FFF2-40B4-BE49-F238E27FC236}">
                <a16:creationId xmlns:a16="http://schemas.microsoft.com/office/drawing/2014/main" id="{DF36BC06-9AC0-64DE-0828-D63CE3DB9E03}"/>
              </a:ext>
            </a:extLst>
          </p:cNvPr>
          <p:cNvSpPr txBox="1">
            <a:spLocks noChangeArrowheads="1"/>
          </p:cNvSpPr>
          <p:nvPr/>
        </p:nvSpPr>
        <p:spPr bwMode="auto">
          <a:xfrm>
            <a:off x="495300" y="1266825"/>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Assume that you have:</a:t>
            </a:r>
          </a:p>
        </p:txBody>
      </p:sp>
      <p:graphicFrame>
        <p:nvGraphicFramePr>
          <p:cNvPr id="197632" name="Object 0">
            <a:extLst>
              <a:ext uri="{FF2B5EF4-FFF2-40B4-BE49-F238E27FC236}">
                <a16:creationId xmlns:a16="http://schemas.microsoft.com/office/drawing/2014/main" id="{9F167E9D-19F3-BEFE-1EE7-2FD04E366891}"/>
              </a:ext>
            </a:extLst>
          </p:cNvPr>
          <p:cNvGraphicFramePr>
            <a:graphicFrameLocks noChangeAspect="1"/>
          </p:cNvGraphicFramePr>
          <p:nvPr/>
        </p:nvGraphicFramePr>
        <p:xfrm>
          <a:off x="3781425" y="1905000"/>
          <a:ext cx="1581150" cy="715963"/>
        </p:xfrm>
        <a:graphic>
          <a:graphicData uri="http://schemas.openxmlformats.org/presentationml/2006/ole">
            <mc:AlternateContent xmlns:mc="http://schemas.openxmlformats.org/markup-compatibility/2006">
              <mc:Choice xmlns:v="urn:schemas-microsoft-com:vml" Requires="v">
                <p:oleObj name="Equation" r:id="rId2" imgW="533169" imgH="241195" progId="Equation.3">
                  <p:embed/>
                </p:oleObj>
              </mc:Choice>
              <mc:Fallback>
                <p:oleObj name="Equation" r:id="rId2" imgW="533169" imgH="241195" progId="Equation.3">
                  <p:embed/>
                  <p:pic>
                    <p:nvPicPr>
                      <p:cNvPr id="197632" name="Object 0">
                        <a:extLst>
                          <a:ext uri="{FF2B5EF4-FFF2-40B4-BE49-F238E27FC236}">
                            <a16:creationId xmlns:a16="http://schemas.microsoft.com/office/drawing/2014/main" id="{9F167E9D-19F3-BEFE-1EE7-2FD04E3668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1425" y="1905000"/>
                        <a:ext cx="1581150" cy="71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33" name="Object 1">
            <a:extLst>
              <a:ext uri="{FF2B5EF4-FFF2-40B4-BE49-F238E27FC236}">
                <a16:creationId xmlns:a16="http://schemas.microsoft.com/office/drawing/2014/main" id="{DA57AF7F-C2D7-8C63-51FB-7B2A65319D26}"/>
              </a:ext>
            </a:extLst>
          </p:cNvPr>
          <p:cNvGraphicFramePr>
            <a:graphicFrameLocks noChangeAspect="1"/>
          </p:cNvGraphicFramePr>
          <p:nvPr/>
        </p:nvGraphicFramePr>
        <p:xfrm>
          <a:off x="2952750" y="3429000"/>
          <a:ext cx="3238500" cy="1393825"/>
        </p:xfrm>
        <a:graphic>
          <a:graphicData uri="http://schemas.openxmlformats.org/presentationml/2006/ole">
            <mc:AlternateContent xmlns:mc="http://schemas.openxmlformats.org/markup-compatibility/2006">
              <mc:Choice xmlns:v="urn:schemas-microsoft-com:vml" Requires="v">
                <p:oleObj name="Equation" r:id="rId4" imgW="1091726" imgH="469696" progId="Equation.3">
                  <p:embed/>
                </p:oleObj>
              </mc:Choice>
              <mc:Fallback>
                <p:oleObj name="Equation" r:id="rId4" imgW="1091726" imgH="469696" progId="Equation.3">
                  <p:embed/>
                  <p:pic>
                    <p:nvPicPr>
                      <p:cNvPr id="197633" name="Object 1">
                        <a:extLst>
                          <a:ext uri="{FF2B5EF4-FFF2-40B4-BE49-F238E27FC236}">
                            <a16:creationId xmlns:a16="http://schemas.microsoft.com/office/drawing/2014/main" id="{DA57AF7F-C2D7-8C63-51FB-7B2A65319D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2750" y="3429000"/>
                        <a:ext cx="3238500" cy="1393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568" name="Text Box 8">
            <a:extLst>
              <a:ext uri="{FF2B5EF4-FFF2-40B4-BE49-F238E27FC236}">
                <a16:creationId xmlns:a16="http://schemas.microsoft.com/office/drawing/2014/main" id="{2BC3D872-58E0-B7DD-D393-82A823556EBC}"/>
              </a:ext>
            </a:extLst>
          </p:cNvPr>
          <p:cNvSpPr txBox="1">
            <a:spLocks noChangeArrowheads="1"/>
          </p:cNvSpPr>
          <p:nvPr/>
        </p:nvSpPr>
        <p:spPr bwMode="auto">
          <a:xfrm>
            <a:off x="457200" y="2514600"/>
            <a:ext cx="7958138"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Then, to force </a:t>
            </a:r>
            <a:r>
              <a:rPr lang="en-US" altLang="en-US" sz="3400" i="1"/>
              <a:t>y</a:t>
            </a:r>
            <a:r>
              <a:rPr lang="en-US" altLang="en-US" sz="3400" i="1" baseline="-25000"/>
              <a:t>j</a:t>
            </a:r>
            <a:r>
              <a:rPr lang="en-US" altLang="en-US" sz="3400"/>
              <a:t> to be 0 when </a:t>
            </a:r>
            <a:r>
              <a:rPr lang="en-US" altLang="en-US" sz="3400" i="1"/>
              <a:t>x</a:t>
            </a:r>
            <a:r>
              <a:rPr lang="en-US" altLang="en-US" sz="3400" i="1" baseline="-25000"/>
              <a:t>j</a:t>
            </a:r>
            <a:r>
              <a:rPr lang="en-US" altLang="en-US" sz="3400"/>
              <a:t>=0, apply the new constraint</a:t>
            </a:r>
          </a:p>
        </p:txBody>
      </p:sp>
      <p:sp>
        <p:nvSpPr>
          <p:cNvPr id="194569" name="Text Box 9">
            <a:extLst>
              <a:ext uri="{FF2B5EF4-FFF2-40B4-BE49-F238E27FC236}">
                <a16:creationId xmlns:a16="http://schemas.microsoft.com/office/drawing/2014/main" id="{D71FBE2B-84FB-2E58-E58D-B8D4E4491160}"/>
              </a:ext>
            </a:extLst>
          </p:cNvPr>
          <p:cNvSpPr txBox="1">
            <a:spLocks noChangeArrowheads="1"/>
          </p:cNvSpPr>
          <p:nvPr/>
        </p:nvSpPr>
        <p:spPr bwMode="auto">
          <a:xfrm>
            <a:off x="592138" y="4800600"/>
            <a:ext cx="7958137"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If </a:t>
            </a:r>
            <a:r>
              <a:rPr lang="en-US" altLang="en-US" sz="3400" i="1"/>
              <a:t>x</a:t>
            </a:r>
            <a:r>
              <a:rPr lang="en-US" altLang="en-US" sz="3400" i="1" baseline="-25000"/>
              <a:t>j</a:t>
            </a:r>
            <a:r>
              <a:rPr lang="en-US" altLang="en-US" sz="3400">
                <a:sym typeface="Symbol" panose="05050102010706020507" pitchFamily="18" charset="2"/>
              </a:rPr>
              <a:t></a:t>
            </a:r>
            <a:r>
              <a:rPr lang="en-US" altLang="en-US" sz="3400"/>
              <a:t>0, then </a:t>
            </a:r>
            <a:r>
              <a:rPr lang="en-US" altLang="en-US" sz="3400" i="1"/>
              <a:t>y</a:t>
            </a:r>
            <a:r>
              <a:rPr lang="en-US" altLang="en-US" sz="3400" i="1" baseline="-25000"/>
              <a:t>j</a:t>
            </a:r>
            <a:r>
              <a:rPr lang="en-US" altLang="en-US" sz="3400"/>
              <a:t>=1 by this constraint. If </a:t>
            </a:r>
            <a:r>
              <a:rPr lang="en-US" altLang="en-US" sz="3400" i="1"/>
              <a:t>x</a:t>
            </a:r>
            <a:r>
              <a:rPr lang="en-US" altLang="en-US" sz="3400" i="1" baseline="-25000"/>
              <a:t>j</a:t>
            </a:r>
            <a:r>
              <a:rPr lang="en-US" altLang="en-US" sz="3400"/>
              <a:t>=0, </a:t>
            </a:r>
            <a:r>
              <a:rPr lang="en-US" altLang="en-US" sz="3400" i="1"/>
              <a:t>y</a:t>
            </a:r>
            <a:r>
              <a:rPr lang="en-US" altLang="en-US" sz="3400" i="1" baseline="-25000"/>
              <a:t>j</a:t>
            </a:r>
            <a:r>
              <a:rPr lang="en-US" altLang="en-US" sz="3400"/>
              <a:t> will be forced to zero by the </a:t>
            </a:r>
            <a:r>
              <a:rPr lang="en-US" altLang="en-US" sz="3400" u="sng"/>
              <a:t>objective function</a:t>
            </a:r>
            <a:endParaRPr lang="en-US" altLang="en-US" sz="3400" i="1" u="sng" baseline="-25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4565">
                                            <p:txEl>
                                              <p:pRg st="0" end="0"/>
                                            </p:txEl>
                                          </p:spTgt>
                                        </p:tgtEl>
                                        <p:attrNameLst>
                                          <p:attrName>style.visibility</p:attrName>
                                        </p:attrNameLst>
                                      </p:cBhvr>
                                      <p:to>
                                        <p:strVal val="visible"/>
                                      </p:to>
                                    </p:set>
                                    <p:anim calcmode="lin" valueType="num">
                                      <p:cBhvr additive="base">
                                        <p:cTn id="7" dur="500" fill="hold"/>
                                        <p:tgtEl>
                                          <p:spTgt spid="19456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456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7632"/>
                                        </p:tgtEl>
                                        <p:attrNameLst>
                                          <p:attrName>style.visibility</p:attrName>
                                        </p:attrNameLst>
                                      </p:cBhvr>
                                      <p:to>
                                        <p:strVal val="visible"/>
                                      </p:to>
                                    </p:set>
                                    <p:anim calcmode="lin" valueType="num">
                                      <p:cBhvr additive="base">
                                        <p:cTn id="13" dur="500" fill="hold"/>
                                        <p:tgtEl>
                                          <p:spTgt spid="197632"/>
                                        </p:tgtEl>
                                        <p:attrNameLst>
                                          <p:attrName>ppt_x</p:attrName>
                                        </p:attrNameLst>
                                      </p:cBhvr>
                                      <p:tavLst>
                                        <p:tav tm="0">
                                          <p:val>
                                            <p:strVal val="0-#ppt_w/2"/>
                                          </p:val>
                                        </p:tav>
                                        <p:tav tm="100000">
                                          <p:val>
                                            <p:strVal val="#ppt_x"/>
                                          </p:val>
                                        </p:tav>
                                      </p:tavLst>
                                    </p:anim>
                                    <p:anim calcmode="lin" valueType="num">
                                      <p:cBhvr additive="base">
                                        <p:cTn id="14" dur="500" fill="hold"/>
                                        <p:tgtEl>
                                          <p:spTgt spid="19763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4568"/>
                                        </p:tgtEl>
                                        <p:attrNameLst>
                                          <p:attrName>style.visibility</p:attrName>
                                        </p:attrNameLst>
                                      </p:cBhvr>
                                      <p:to>
                                        <p:strVal val="visible"/>
                                      </p:to>
                                    </p:set>
                                    <p:anim calcmode="lin" valueType="num">
                                      <p:cBhvr additive="base">
                                        <p:cTn id="19" dur="500" fill="hold"/>
                                        <p:tgtEl>
                                          <p:spTgt spid="194568"/>
                                        </p:tgtEl>
                                        <p:attrNameLst>
                                          <p:attrName>ppt_x</p:attrName>
                                        </p:attrNameLst>
                                      </p:cBhvr>
                                      <p:tavLst>
                                        <p:tav tm="0">
                                          <p:val>
                                            <p:strVal val="0-#ppt_w/2"/>
                                          </p:val>
                                        </p:tav>
                                        <p:tav tm="100000">
                                          <p:val>
                                            <p:strVal val="#ppt_x"/>
                                          </p:val>
                                        </p:tav>
                                      </p:tavLst>
                                    </p:anim>
                                    <p:anim calcmode="lin" valueType="num">
                                      <p:cBhvr additive="base">
                                        <p:cTn id="20" dur="500" fill="hold"/>
                                        <p:tgtEl>
                                          <p:spTgt spid="19456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97633"/>
                                        </p:tgtEl>
                                        <p:attrNameLst>
                                          <p:attrName>style.visibility</p:attrName>
                                        </p:attrNameLst>
                                      </p:cBhvr>
                                      <p:to>
                                        <p:strVal val="visible"/>
                                      </p:to>
                                    </p:set>
                                    <p:anim calcmode="lin" valueType="num">
                                      <p:cBhvr additive="base">
                                        <p:cTn id="25" dur="500" fill="hold"/>
                                        <p:tgtEl>
                                          <p:spTgt spid="197633"/>
                                        </p:tgtEl>
                                        <p:attrNameLst>
                                          <p:attrName>ppt_x</p:attrName>
                                        </p:attrNameLst>
                                      </p:cBhvr>
                                      <p:tavLst>
                                        <p:tav tm="0">
                                          <p:val>
                                            <p:strVal val="0-#ppt_w/2"/>
                                          </p:val>
                                        </p:tav>
                                        <p:tav tm="100000">
                                          <p:val>
                                            <p:strVal val="#ppt_x"/>
                                          </p:val>
                                        </p:tav>
                                      </p:tavLst>
                                    </p:anim>
                                    <p:anim calcmode="lin" valueType="num">
                                      <p:cBhvr additive="base">
                                        <p:cTn id="26" dur="500" fill="hold"/>
                                        <p:tgtEl>
                                          <p:spTgt spid="19763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94569"/>
                                        </p:tgtEl>
                                        <p:attrNameLst>
                                          <p:attrName>style.visibility</p:attrName>
                                        </p:attrNameLst>
                                      </p:cBhvr>
                                      <p:to>
                                        <p:strVal val="visible"/>
                                      </p:to>
                                    </p:set>
                                    <p:anim calcmode="lin" valueType="num">
                                      <p:cBhvr additive="base">
                                        <p:cTn id="31" dur="500" fill="hold"/>
                                        <p:tgtEl>
                                          <p:spTgt spid="194569"/>
                                        </p:tgtEl>
                                        <p:attrNameLst>
                                          <p:attrName>ppt_x</p:attrName>
                                        </p:attrNameLst>
                                      </p:cBhvr>
                                      <p:tavLst>
                                        <p:tav tm="0">
                                          <p:val>
                                            <p:strVal val="0-#ppt_w/2"/>
                                          </p:val>
                                        </p:tav>
                                        <p:tav tm="100000">
                                          <p:val>
                                            <p:strVal val="#ppt_x"/>
                                          </p:val>
                                        </p:tav>
                                      </p:tavLst>
                                    </p:anim>
                                    <p:anim calcmode="lin" valueType="num">
                                      <p:cBhvr additive="base">
                                        <p:cTn id="32" dur="500" fill="hold"/>
                                        <p:tgtEl>
                                          <p:spTgt spid="1945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5" grpId="0" build="p" autoUpdateAnimBg="0"/>
      <p:bldP spid="194568" grpId="0" autoUpdateAnimBg="0"/>
      <p:bldP spid="194569"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98C4A2D-9690-6C49-0C3A-C5D3AF7D077C}"/>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Big-M Constraints, continued</a:t>
            </a:r>
          </a:p>
        </p:txBody>
      </p:sp>
      <p:sp>
        <p:nvSpPr>
          <p:cNvPr id="15363" name="Rectangle 3">
            <a:extLst>
              <a:ext uri="{FF2B5EF4-FFF2-40B4-BE49-F238E27FC236}">
                <a16:creationId xmlns:a16="http://schemas.microsoft.com/office/drawing/2014/main" id="{AB2A9474-9380-9B1B-404D-7795EE4AFCEA}"/>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5364" name="Rectangle 4">
            <a:extLst>
              <a:ext uri="{FF2B5EF4-FFF2-40B4-BE49-F238E27FC236}">
                <a16:creationId xmlns:a16="http://schemas.microsoft.com/office/drawing/2014/main" id="{0DEE33A6-EAAF-D622-5B57-D07D1F61477A}"/>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195589" name="Text Box 5">
            <a:extLst>
              <a:ext uri="{FF2B5EF4-FFF2-40B4-BE49-F238E27FC236}">
                <a16:creationId xmlns:a16="http://schemas.microsoft.com/office/drawing/2014/main" id="{A17C5FD7-DB5D-8F0F-4E70-3E8EC223F8D0}"/>
              </a:ext>
            </a:extLst>
          </p:cNvPr>
          <p:cNvSpPr txBox="1">
            <a:spLocks noChangeArrowheads="1"/>
          </p:cNvSpPr>
          <p:nvPr/>
        </p:nvSpPr>
        <p:spPr bwMode="auto">
          <a:xfrm>
            <a:off x="495300" y="3429000"/>
            <a:ext cx="81534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To improve solution times, make the </a:t>
            </a:r>
            <a:r>
              <a:rPr lang="en-US" altLang="en-US" sz="3400" i="1"/>
              <a:t>M</a:t>
            </a:r>
            <a:r>
              <a:rPr lang="en-US" altLang="en-US" sz="3400"/>
              <a:t>’s as small as possible.  Why?</a:t>
            </a:r>
          </a:p>
        </p:txBody>
      </p:sp>
      <p:graphicFrame>
        <p:nvGraphicFramePr>
          <p:cNvPr id="15366" name="Object 0">
            <a:extLst>
              <a:ext uri="{FF2B5EF4-FFF2-40B4-BE49-F238E27FC236}">
                <a16:creationId xmlns:a16="http://schemas.microsoft.com/office/drawing/2014/main" id="{1E69470D-CE27-A894-EC5A-433075B33E8A}"/>
              </a:ext>
            </a:extLst>
          </p:cNvPr>
          <p:cNvGraphicFramePr>
            <a:graphicFrameLocks noChangeAspect="1"/>
          </p:cNvGraphicFramePr>
          <p:nvPr/>
        </p:nvGraphicFramePr>
        <p:xfrm>
          <a:off x="2952750" y="1143000"/>
          <a:ext cx="3238500" cy="1393825"/>
        </p:xfrm>
        <a:graphic>
          <a:graphicData uri="http://schemas.openxmlformats.org/presentationml/2006/ole">
            <mc:AlternateContent xmlns:mc="http://schemas.openxmlformats.org/markup-compatibility/2006">
              <mc:Choice xmlns:v="urn:schemas-microsoft-com:vml" Requires="v">
                <p:oleObj name="Equation" r:id="rId2" imgW="1091726" imgH="469696" progId="Equation.3">
                  <p:embed/>
                </p:oleObj>
              </mc:Choice>
              <mc:Fallback>
                <p:oleObj name="Equation" r:id="rId2" imgW="1091726" imgH="469696" progId="Equation.3">
                  <p:embed/>
                  <p:pic>
                    <p:nvPicPr>
                      <p:cNvPr id="15366" name="Object 0">
                        <a:extLst>
                          <a:ext uri="{FF2B5EF4-FFF2-40B4-BE49-F238E27FC236}">
                            <a16:creationId xmlns:a16="http://schemas.microsoft.com/office/drawing/2014/main" id="{1E69470D-CE27-A894-EC5A-433075B33E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50" y="1143000"/>
                        <a:ext cx="3238500" cy="1393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592" name="Text Box 8">
            <a:extLst>
              <a:ext uri="{FF2B5EF4-FFF2-40B4-BE49-F238E27FC236}">
                <a16:creationId xmlns:a16="http://schemas.microsoft.com/office/drawing/2014/main" id="{6669D4AC-EF0A-F99A-3993-429BB682CCE9}"/>
              </a:ext>
            </a:extLst>
          </p:cNvPr>
          <p:cNvSpPr txBox="1">
            <a:spLocks noChangeArrowheads="1"/>
          </p:cNvSpPr>
          <p:nvPr/>
        </p:nvSpPr>
        <p:spPr bwMode="auto">
          <a:xfrm>
            <a:off x="592138" y="2590800"/>
            <a:ext cx="79581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Note these constraints are linear</a:t>
            </a:r>
          </a:p>
        </p:txBody>
      </p:sp>
      <p:sp>
        <p:nvSpPr>
          <p:cNvPr id="195593" name="Text Box 9">
            <a:extLst>
              <a:ext uri="{FF2B5EF4-FFF2-40B4-BE49-F238E27FC236}">
                <a16:creationId xmlns:a16="http://schemas.microsoft.com/office/drawing/2014/main" id="{C22D6178-611C-AE18-3917-4647994D116F}"/>
              </a:ext>
            </a:extLst>
          </p:cNvPr>
          <p:cNvSpPr txBox="1">
            <a:spLocks noChangeArrowheads="1"/>
          </p:cNvSpPr>
          <p:nvPr/>
        </p:nvSpPr>
        <p:spPr bwMode="auto">
          <a:xfrm>
            <a:off x="592138" y="4724400"/>
            <a:ext cx="7958137"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This decreases the size of the feasible region for the LP-relaxations in the branch-and-bound tree</a:t>
            </a:r>
            <a:endParaRPr lang="en-US" altLang="en-US" sz="3400" i="1" u="sng" baseline="-25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5592"/>
                                        </p:tgtEl>
                                        <p:attrNameLst>
                                          <p:attrName>style.visibility</p:attrName>
                                        </p:attrNameLst>
                                      </p:cBhvr>
                                      <p:to>
                                        <p:strVal val="visible"/>
                                      </p:to>
                                    </p:set>
                                    <p:anim calcmode="lin" valueType="num">
                                      <p:cBhvr additive="base">
                                        <p:cTn id="7" dur="500" fill="hold"/>
                                        <p:tgtEl>
                                          <p:spTgt spid="195592"/>
                                        </p:tgtEl>
                                        <p:attrNameLst>
                                          <p:attrName>ppt_x</p:attrName>
                                        </p:attrNameLst>
                                      </p:cBhvr>
                                      <p:tavLst>
                                        <p:tav tm="0">
                                          <p:val>
                                            <p:strVal val="0-#ppt_w/2"/>
                                          </p:val>
                                        </p:tav>
                                        <p:tav tm="100000">
                                          <p:val>
                                            <p:strVal val="#ppt_x"/>
                                          </p:val>
                                        </p:tav>
                                      </p:tavLst>
                                    </p:anim>
                                    <p:anim calcmode="lin" valueType="num">
                                      <p:cBhvr additive="base">
                                        <p:cTn id="8" dur="500" fill="hold"/>
                                        <p:tgtEl>
                                          <p:spTgt spid="1955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5589">
                                            <p:txEl>
                                              <p:pRg st="0" end="0"/>
                                            </p:txEl>
                                          </p:spTgt>
                                        </p:tgtEl>
                                        <p:attrNameLst>
                                          <p:attrName>style.visibility</p:attrName>
                                        </p:attrNameLst>
                                      </p:cBhvr>
                                      <p:to>
                                        <p:strVal val="visible"/>
                                      </p:to>
                                    </p:set>
                                    <p:anim calcmode="lin" valueType="num">
                                      <p:cBhvr additive="base">
                                        <p:cTn id="13" dur="500" fill="hold"/>
                                        <p:tgtEl>
                                          <p:spTgt spid="19558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558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5593"/>
                                        </p:tgtEl>
                                        <p:attrNameLst>
                                          <p:attrName>style.visibility</p:attrName>
                                        </p:attrNameLst>
                                      </p:cBhvr>
                                      <p:to>
                                        <p:strVal val="visible"/>
                                      </p:to>
                                    </p:set>
                                    <p:anim calcmode="lin" valueType="num">
                                      <p:cBhvr additive="base">
                                        <p:cTn id="19" dur="500" fill="hold"/>
                                        <p:tgtEl>
                                          <p:spTgt spid="195593"/>
                                        </p:tgtEl>
                                        <p:attrNameLst>
                                          <p:attrName>ppt_x</p:attrName>
                                        </p:attrNameLst>
                                      </p:cBhvr>
                                      <p:tavLst>
                                        <p:tav tm="0">
                                          <p:val>
                                            <p:strVal val="0-#ppt_w/2"/>
                                          </p:val>
                                        </p:tav>
                                        <p:tav tm="100000">
                                          <p:val>
                                            <p:strVal val="#ppt_x"/>
                                          </p:val>
                                        </p:tav>
                                      </p:tavLst>
                                    </p:anim>
                                    <p:anim calcmode="lin" valueType="num">
                                      <p:cBhvr additive="base">
                                        <p:cTn id="20" dur="500" fill="hold"/>
                                        <p:tgtEl>
                                          <p:spTgt spid="1955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9" grpId="0" build="p" autoUpdateAnimBg="0"/>
      <p:bldP spid="195592" grpId="0" autoUpdateAnimBg="0"/>
      <p:bldP spid="195593"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F32A9C0-7A29-565B-0980-ACB341CBFCDC}"/>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Solving MILP’s via CPLEX</a:t>
            </a:r>
          </a:p>
        </p:txBody>
      </p:sp>
      <p:sp>
        <p:nvSpPr>
          <p:cNvPr id="16387" name="Rectangle 3">
            <a:extLst>
              <a:ext uri="{FF2B5EF4-FFF2-40B4-BE49-F238E27FC236}">
                <a16:creationId xmlns:a16="http://schemas.microsoft.com/office/drawing/2014/main" id="{42383CEF-0018-A34A-2D73-F14BDD4205B8}"/>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6388" name="Rectangle 4">
            <a:extLst>
              <a:ext uri="{FF2B5EF4-FFF2-40B4-BE49-F238E27FC236}">
                <a16:creationId xmlns:a16="http://schemas.microsoft.com/office/drawing/2014/main" id="{3749649E-4689-4A67-1D48-A39EF4C220DA}"/>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178183" name="Text Box 7">
            <a:extLst>
              <a:ext uri="{FF2B5EF4-FFF2-40B4-BE49-F238E27FC236}">
                <a16:creationId xmlns:a16="http://schemas.microsoft.com/office/drawing/2014/main" id="{0446351B-A1C4-A56F-0145-DC09F04332FF}"/>
              </a:ext>
            </a:extLst>
          </p:cNvPr>
          <p:cNvSpPr txBox="1">
            <a:spLocks noChangeArrowheads="1"/>
          </p:cNvSpPr>
          <p:nvPr/>
        </p:nvSpPr>
        <p:spPr bwMode="auto">
          <a:xfrm>
            <a:off x="457200" y="990600"/>
            <a:ext cx="8229600"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a:t>  The key is to solve the LP-relaxations quickly</a:t>
            </a:r>
          </a:p>
          <a:p>
            <a:pPr>
              <a:spcBef>
                <a:spcPct val="0"/>
              </a:spcBef>
            </a:pPr>
            <a:r>
              <a:rPr lang="en-US" altLang="en-US"/>
              <a:t>  CPLEX has four algorithms to solve LP’s, and you can choose the best one for your problem:</a:t>
            </a:r>
            <a:endParaRPr lang="en-US" altLang="en-US" sz="1000"/>
          </a:p>
          <a:p>
            <a:pPr lvl="1">
              <a:spcBef>
                <a:spcPct val="0"/>
              </a:spcBef>
            </a:pPr>
            <a:r>
              <a:rPr lang="en-US" altLang="en-US" sz="3000"/>
              <a:t>  The Primal Simplex method (the one we discussed in this class)</a:t>
            </a:r>
          </a:p>
          <a:p>
            <a:pPr lvl="1">
              <a:spcBef>
                <a:spcPct val="0"/>
              </a:spcBef>
            </a:pPr>
            <a:r>
              <a:rPr lang="en-US" altLang="en-US" sz="3000"/>
              <a:t>  The Dual Simplex method:  like the original simplex method, but uses information from the dual to speed things up</a:t>
            </a:r>
          </a:p>
          <a:p>
            <a:pPr lvl="1">
              <a:spcBef>
                <a:spcPct val="0"/>
              </a:spcBef>
            </a:pPr>
            <a:r>
              <a:rPr lang="en-US" altLang="en-US" sz="3000"/>
              <a:t>  The Barrier Algorithm, as discussed in class – good for large, sparse problems</a:t>
            </a:r>
          </a:p>
          <a:p>
            <a:pPr lvl="1">
              <a:spcBef>
                <a:spcPct val="0"/>
              </a:spcBef>
            </a:pPr>
            <a:r>
              <a:rPr lang="en-US" altLang="en-US" sz="3000"/>
              <a:t>  A specific solver for network flow problems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8183">
                                            <p:txEl>
                                              <p:pRg st="0" end="0"/>
                                            </p:txEl>
                                          </p:spTgt>
                                        </p:tgtEl>
                                        <p:attrNameLst>
                                          <p:attrName>style.visibility</p:attrName>
                                        </p:attrNameLst>
                                      </p:cBhvr>
                                      <p:to>
                                        <p:strVal val="visible"/>
                                      </p:to>
                                    </p:set>
                                    <p:anim calcmode="lin" valueType="num">
                                      <p:cBhvr additive="base">
                                        <p:cTn id="7" dur="500" fill="hold"/>
                                        <p:tgtEl>
                                          <p:spTgt spid="1781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81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8183">
                                            <p:txEl>
                                              <p:pRg st="1" end="1"/>
                                            </p:txEl>
                                          </p:spTgt>
                                        </p:tgtEl>
                                        <p:attrNameLst>
                                          <p:attrName>style.visibility</p:attrName>
                                        </p:attrNameLst>
                                      </p:cBhvr>
                                      <p:to>
                                        <p:strVal val="visible"/>
                                      </p:to>
                                    </p:set>
                                    <p:anim calcmode="lin" valueType="num">
                                      <p:cBhvr additive="base">
                                        <p:cTn id="13" dur="500" fill="hold"/>
                                        <p:tgtEl>
                                          <p:spTgt spid="1781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81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8183">
                                            <p:txEl>
                                              <p:pRg st="2" end="2"/>
                                            </p:txEl>
                                          </p:spTgt>
                                        </p:tgtEl>
                                        <p:attrNameLst>
                                          <p:attrName>style.visibility</p:attrName>
                                        </p:attrNameLst>
                                      </p:cBhvr>
                                      <p:to>
                                        <p:strVal val="visible"/>
                                      </p:to>
                                    </p:set>
                                    <p:anim calcmode="lin" valueType="num">
                                      <p:cBhvr additive="base">
                                        <p:cTn id="19" dur="500" fill="hold"/>
                                        <p:tgtEl>
                                          <p:spTgt spid="1781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81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8183">
                                            <p:txEl>
                                              <p:pRg st="3" end="3"/>
                                            </p:txEl>
                                          </p:spTgt>
                                        </p:tgtEl>
                                        <p:attrNameLst>
                                          <p:attrName>style.visibility</p:attrName>
                                        </p:attrNameLst>
                                      </p:cBhvr>
                                      <p:to>
                                        <p:strVal val="visible"/>
                                      </p:to>
                                    </p:set>
                                    <p:anim calcmode="lin" valueType="num">
                                      <p:cBhvr additive="base">
                                        <p:cTn id="25" dur="500" fill="hold"/>
                                        <p:tgtEl>
                                          <p:spTgt spid="1781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81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78183">
                                            <p:txEl>
                                              <p:pRg st="4" end="4"/>
                                            </p:txEl>
                                          </p:spTgt>
                                        </p:tgtEl>
                                        <p:attrNameLst>
                                          <p:attrName>style.visibility</p:attrName>
                                        </p:attrNameLst>
                                      </p:cBhvr>
                                      <p:to>
                                        <p:strVal val="visible"/>
                                      </p:to>
                                    </p:set>
                                    <p:anim calcmode="lin" valueType="num">
                                      <p:cBhvr additive="base">
                                        <p:cTn id="31" dur="500" fill="hold"/>
                                        <p:tgtEl>
                                          <p:spTgt spid="1781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81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78183">
                                            <p:txEl>
                                              <p:pRg st="5" end="5"/>
                                            </p:txEl>
                                          </p:spTgt>
                                        </p:tgtEl>
                                        <p:attrNameLst>
                                          <p:attrName>style.visibility</p:attrName>
                                        </p:attrNameLst>
                                      </p:cBhvr>
                                      <p:to>
                                        <p:strVal val="visible"/>
                                      </p:to>
                                    </p:set>
                                    <p:anim calcmode="lin" valueType="num">
                                      <p:cBhvr additive="base">
                                        <p:cTn id="37" dur="500" fill="hold"/>
                                        <p:tgtEl>
                                          <p:spTgt spid="1781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7818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3" grpId="0" build="p" bldLvl="2"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626E113-A60E-7188-9C79-6B460AE360EC}"/>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Network Flow Problems</a:t>
            </a:r>
          </a:p>
        </p:txBody>
      </p:sp>
      <p:sp>
        <p:nvSpPr>
          <p:cNvPr id="17411" name="Rectangle 3">
            <a:extLst>
              <a:ext uri="{FF2B5EF4-FFF2-40B4-BE49-F238E27FC236}">
                <a16:creationId xmlns:a16="http://schemas.microsoft.com/office/drawing/2014/main" id="{5E2E3646-FEAC-98EA-EFC8-5BA94C994995}"/>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7412" name="Rectangle 4">
            <a:extLst>
              <a:ext uri="{FF2B5EF4-FFF2-40B4-BE49-F238E27FC236}">
                <a16:creationId xmlns:a16="http://schemas.microsoft.com/office/drawing/2014/main" id="{EEADC6D3-AC6B-E266-29A4-66BB6DEDB527}"/>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26</a:t>
            </a:r>
          </a:p>
        </p:txBody>
      </p:sp>
      <p:sp>
        <p:nvSpPr>
          <p:cNvPr id="196613" name="Text Box 5">
            <a:extLst>
              <a:ext uri="{FF2B5EF4-FFF2-40B4-BE49-F238E27FC236}">
                <a16:creationId xmlns:a16="http://schemas.microsoft.com/office/drawing/2014/main" id="{72F4765A-4BAA-AC3F-9082-45657760A979}"/>
              </a:ext>
            </a:extLst>
          </p:cNvPr>
          <p:cNvSpPr txBox="1">
            <a:spLocks noChangeArrowheads="1"/>
          </p:cNvSpPr>
          <p:nvPr/>
        </p:nvSpPr>
        <p:spPr bwMode="auto">
          <a:xfrm>
            <a:off x="419100" y="914400"/>
            <a:ext cx="8305800"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a:t>  A subclass of LP’s</a:t>
            </a:r>
          </a:p>
          <a:p>
            <a:pPr>
              <a:spcBef>
                <a:spcPct val="0"/>
              </a:spcBef>
            </a:pPr>
            <a:r>
              <a:rPr lang="en-US" altLang="en-US"/>
              <a:t>  Each coefficient of </a:t>
            </a:r>
            <a:r>
              <a:rPr lang="en-US" altLang="en-US" i="1"/>
              <a:t>A</a:t>
            </a:r>
            <a:r>
              <a:rPr lang="en-US" altLang="en-US"/>
              <a:t> is either –1, 0 or 1</a:t>
            </a:r>
          </a:p>
          <a:p>
            <a:pPr>
              <a:spcBef>
                <a:spcPct val="0"/>
              </a:spcBef>
            </a:pPr>
            <a:r>
              <a:rPr lang="en-US" altLang="en-US"/>
              <a:t>  Each column and row of </a:t>
            </a:r>
            <a:r>
              <a:rPr lang="en-US" altLang="en-US" i="1"/>
              <a:t>A</a:t>
            </a:r>
            <a:r>
              <a:rPr lang="en-US" altLang="en-US"/>
              <a:t> has exactly two non-zero entries, one with a +1 and one with a –1</a:t>
            </a:r>
          </a:p>
          <a:p>
            <a:pPr>
              <a:spcBef>
                <a:spcPct val="0"/>
              </a:spcBef>
            </a:pPr>
            <a:r>
              <a:rPr lang="en-US" altLang="en-US"/>
              <a:t>  This problem occurs often in engineering:</a:t>
            </a:r>
            <a:endParaRPr lang="en-US" altLang="en-US" sz="1000"/>
          </a:p>
          <a:p>
            <a:pPr lvl="1">
              <a:spcBef>
                <a:spcPct val="0"/>
              </a:spcBef>
            </a:pPr>
            <a:r>
              <a:rPr lang="en-US" altLang="en-US" sz="3000"/>
              <a:t>  Machine scheduling</a:t>
            </a:r>
          </a:p>
          <a:p>
            <a:pPr lvl="1">
              <a:spcBef>
                <a:spcPct val="0"/>
              </a:spcBef>
            </a:pPr>
            <a:r>
              <a:rPr lang="en-US" altLang="en-US" sz="3000"/>
              <a:t>  Transportation problems (shipping between locations)</a:t>
            </a:r>
          </a:p>
          <a:p>
            <a:pPr lvl="1">
              <a:spcBef>
                <a:spcPct val="0"/>
              </a:spcBef>
            </a:pPr>
            <a:r>
              <a:rPr lang="en-US" altLang="en-US" sz="3000"/>
              <a:t>  Connectedness of electrical power networks</a:t>
            </a:r>
          </a:p>
        </p:txBody>
      </p:sp>
      <p:sp>
        <p:nvSpPr>
          <p:cNvPr id="196614" name="Text Box 6">
            <a:extLst>
              <a:ext uri="{FF2B5EF4-FFF2-40B4-BE49-F238E27FC236}">
                <a16:creationId xmlns:a16="http://schemas.microsoft.com/office/drawing/2014/main" id="{69C65C70-7803-EE03-8020-AF195EC2ABD3}"/>
              </a:ext>
            </a:extLst>
          </p:cNvPr>
          <p:cNvSpPr txBox="1">
            <a:spLocks noChangeArrowheads="1"/>
          </p:cNvSpPr>
          <p:nvPr/>
        </p:nvSpPr>
        <p:spPr bwMode="auto">
          <a:xfrm>
            <a:off x="419100" y="5257800"/>
            <a:ext cx="83058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sz="3000"/>
              <a:t>  If you have a network flow problem, set the proper option in CPLEX – it has a very fast algorithm for this type of problem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6613">
                                            <p:txEl>
                                              <p:pRg st="0" end="0"/>
                                            </p:txEl>
                                          </p:spTgt>
                                        </p:tgtEl>
                                        <p:attrNameLst>
                                          <p:attrName>style.visibility</p:attrName>
                                        </p:attrNameLst>
                                      </p:cBhvr>
                                      <p:to>
                                        <p:strVal val="visible"/>
                                      </p:to>
                                    </p:set>
                                    <p:anim calcmode="lin" valueType="num">
                                      <p:cBhvr additive="base">
                                        <p:cTn id="7" dur="500" fill="hold"/>
                                        <p:tgtEl>
                                          <p:spTgt spid="19661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66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6613">
                                            <p:txEl>
                                              <p:pRg st="1" end="1"/>
                                            </p:txEl>
                                          </p:spTgt>
                                        </p:tgtEl>
                                        <p:attrNameLst>
                                          <p:attrName>style.visibility</p:attrName>
                                        </p:attrNameLst>
                                      </p:cBhvr>
                                      <p:to>
                                        <p:strVal val="visible"/>
                                      </p:to>
                                    </p:set>
                                    <p:anim calcmode="lin" valueType="num">
                                      <p:cBhvr additive="base">
                                        <p:cTn id="13" dur="500" fill="hold"/>
                                        <p:tgtEl>
                                          <p:spTgt spid="19661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661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6613">
                                            <p:txEl>
                                              <p:pRg st="2" end="2"/>
                                            </p:txEl>
                                          </p:spTgt>
                                        </p:tgtEl>
                                        <p:attrNameLst>
                                          <p:attrName>style.visibility</p:attrName>
                                        </p:attrNameLst>
                                      </p:cBhvr>
                                      <p:to>
                                        <p:strVal val="visible"/>
                                      </p:to>
                                    </p:set>
                                    <p:anim calcmode="lin" valueType="num">
                                      <p:cBhvr additive="base">
                                        <p:cTn id="19" dur="500" fill="hold"/>
                                        <p:tgtEl>
                                          <p:spTgt spid="19661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661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96613">
                                            <p:txEl>
                                              <p:pRg st="3" end="3"/>
                                            </p:txEl>
                                          </p:spTgt>
                                        </p:tgtEl>
                                        <p:attrNameLst>
                                          <p:attrName>style.visibility</p:attrName>
                                        </p:attrNameLst>
                                      </p:cBhvr>
                                      <p:to>
                                        <p:strVal val="visible"/>
                                      </p:to>
                                    </p:set>
                                    <p:anim calcmode="lin" valueType="num">
                                      <p:cBhvr additive="base">
                                        <p:cTn id="25" dur="500" fill="hold"/>
                                        <p:tgtEl>
                                          <p:spTgt spid="19661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661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96613">
                                            <p:txEl>
                                              <p:pRg st="4" end="4"/>
                                            </p:txEl>
                                          </p:spTgt>
                                        </p:tgtEl>
                                        <p:attrNameLst>
                                          <p:attrName>style.visibility</p:attrName>
                                        </p:attrNameLst>
                                      </p:cBhvr>
                                      <p:to>
                                        <p:strVal val="visible"/>
                                      </p:to>
                                    </p:set>
                                    <p:anim calcmode="lin" valueType="num">
                                      <p:cBhvr additive="base">
                                        <p:cTn id="31" dur="500" fill="hold"/>
                                        <p:tgtEl>
                                          <p:spTgt spid="19661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9661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96613">
                                            <p:txEl>
                                              <p:pRg st="5" end="5"/>
                                            </p:txEl>
                                          </p:spTgt>
                                        </p:tgtEl>
                                        <p:attrNameLst>
                                          <p:attrName>style.visibility</p:attrName>
                                        </p:attrNameLst>
                                      </p:cBhvr>
                                      <p:to>
                                        <p:strVal val="visible"/>
                                      </p:to>
                                    </p:set>
                                    <p:anim calcmode="lin" valueType="num">
                                      <p:cBhvr additive="base">
                                        <p:cTn id="37" dur="500" fill="hold"/>
                                        <p:tgtEl>
                                          <p:spTgt spid="19661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9661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96613">
                                            <p:txEl>
                                              <p:pRg st="6" end="6"/>
                                            </p:txEl>
                                          </p:spTgt>
                                        </p:tgtEl>
                                        <p:attrNameLst>
                                          <p:attrName>style.visibility</p:attrName>
                                        </p:attrNameLst>
                                      </p:cBhvr>
                                      <p:to>
                                        <p:strVal val="visible"/>
                                      </p:to>
                                    </p:set>
                                    <p:anim calcmode="lin" valueType="num">
                                      <p:cBhvr additive="base">
                                        <p:cTn id="43" dur="500" fill="hold"/>
                                        <p:tgtEl>
                                          <p:spTgt spid="19661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9661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96614"/>
                                        </p:tgtEl>
                                        <p:attrNameLst>
                                          <p:attrName>style.visibility</p:attrName>
                                        </p:attrNameLst>
                                      </p:cBhvr>
                                      <p:to>
                                        <p:strVal val="visible"/>
                                      </p:to>
                                    </p:set>
                                    <p:anim calcmode="lin" valueType="num">
                                      <p:cBhvr additive="base">
                                        <p:cTn id="49" dur="500" fill="hold"/>
                                        <p:tgtEl>
                                          <p:spTgt spid="196614"/>
                                        </p:tgtEl>
                                        <p:attrNameLst>
                                          <p:attrName>ppt_x</p:attrName>
                                        </p:attrNameLst>
                                      </p:cBhvr>
                                      <p:tavLst>
                                        <p:tav tm="0">
                                          <p:val>
                                            <p:strVal val="0-#ppt_w/2"/>
                                          </p:val>
                                        </p:tav>
                                        <p:tav tm="100000">
                                          <p:val>
                                            <p:strVal val="#ppt_x"/>
                                          </p:val>
                                        </p:tav>
                                      </p:tavLst>
                                    </p:anim>
                                    <p:anim calcmode="lin" valueType="num">
                                      <p:cBhvr additive="base">
                                        <p:cTn id="50" dur="500" fill="hold"/>
                                        <p:tgtEl>
                                          <p:spTgt spid="1966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3" grpId="0" build="p" bldLvl="2" autoUpdateAnimBg="0"/>
      <p:bldP spid="196614"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FEA2A20-9917-C4D6-61CE-F8DEEB25D935}"/>
              </a:ext>
            </a:extLst>
          </p:cNvPr>
          <p:cNvSpPr>
            <a:spLocks noGrp="1" noChangeArrowheads="1"/>
          </p:cNvSpPr>
          <p:nvPr>
            <p:ph type="title"/>
          </p:nvPr>
        </p:nvSpPr>
        <p:spPr>
          <a:xfrm>
            <a:off x="381000" y="304800"/>
            <a:ext cx="8382000" cy="1143000"/>
          </a:xfrm>
        </p:spPr>
        <p:txBody>
          <a:bodyPr>
            <a:normAutofit fontScale="90000"/>
          </a:bodyPr>
          <a:lstStyle/>
          <a:p>
            <a:pPr>
              <a:lnSpc>
                <a:spcPct val="80000"/>
              </a:lnSpc>
            </a:pPr>
            <a:r>
              <a:rPr lang="en-US" altLang="en-US" sz="4600"/>
              <a:t>MINLP’s – a tough class of problems</a:t>
            </a:r>
          </a:p>
        </p:txBody>
      </p:sp>
      <p:sp>
        <p:nvSpPr>
          <p:cNvPr id="5123" name="Rectangle 3">
            <a:extLst>
              <a:ext uri="{FF2B5EF4-FFF2-40B4-BE49-F238E27FC236}">
                <a16:creationId xmlns:a16="http://schemas.microsoft.com/office/drawing/2014/main" id="{0FE055DC-7B23-7656-0210-398BCF6DA7D8}"/>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5124" name="Rectangle 4">
            <a:extLst>
              <a:ext uri="{FF2B5EF4-FFF2-40B4-BE49-F238E27FC236}">
                <a16:creationId xmlns:a16="http://schemas.microsoft.com/office/drawing/2014/main" id="{67C3742D-74AF-A393-D813-41199C20F0D4}"/>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173061" name="Text Box 5">
            <a:extLst>
              <a:ext uri="{FF2B5EF4-FFF2-40B4-BE49-F238E27FC236}">
                <a16:creationId xmlns:a16="http://schemas.microsoft.com/office/drawing/2014/main" id="{0F8F1E5A-0B3A-4FFE-2EAE-DCF0397D4FB3}"/>
              </a:ext>
            </a:extLst>
          </p:cNvPr>
          <p:cNvSpPr txBox="1">
            <a:spLocks noChangeArrowheads="1"/>
          </p:cNvSpPr>
          <p:nvPr/>
        </p:nvSpPr>
        <p:spPr bwMode="auto">
          <a:xfrm>
            <a:off x="495300" y="1600200"/>
            <a:ext cx="8153400" cy="423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MINLP’s have</a:t>
            </a:r>
          </a:p>
          <a:p>
            <a:pPr lvl="1">
              <a:spcBef>
                <a:spcPct val="0"/>
              </a:spcBef>
              <a:buFontTx/>
              <a:buChar char="•"/>
            </a:pPr>
            <a:r>
              <a:rPr lang="en-US" altLang="en-US" sz="3400"/>
              <a:t>  Both continuous and integer/binary variables</a:t>
            </a:r>
          </a:p>
          <a:p>
            <a:pPr lvl="1">
              <a:spcBef>
                <a:spcPct val="0"/>
              </a:spcBef>
              <a:buFontTx/>
              <a:buChar char="•"/>
            </a:pPr>
            <a:r>
              <a:rPr lang="en-US" altLang="en-US" sz="3400"/>
              <a:t>  Some nonlinear constraints and/or a nonlinear objective function</a:t>
            </a:r>
          </a:p>
          <a:p>
            <a:pPr lvl="1">
              <a:spcBef>
                <a:spcPct val="0"/>
              </a:spcBef>
              <a:buFontTx/>
              <a:buChar char="•"/>
            </a:pPr>
            <a:r>
              <a:rPr lang="en-US" altLang="en-US" sz="3400"/>
              <a:t>  Continuous, differentiable functions</a:t>
            </a:r>
          </a:p>
          <a:p>
            <a:pPr>
              <a:spcBef>
                <a:spcPct val="0"/>
              </a:spcBef>
            </a:pPr>
            <a:r>
              <a:rPr lang="en-US" altLang="en-US" sz="3400"/>
              <a:t>  There is no general algorithm to solve all MINLP’s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3061">
                                            <p:txEl>
                                              <p:pRg st="0" end="0"/>
                                            </p:txEl>
                                          </p:spTgt>
                                        </p:tgtEl>
                                        <p:attrNameLst>
                                          <p:attrName>style.visibility</p:attrName>
                                        </p:attrNameLst>
                                      </p:cBhvr>
                                      <p:to>
                                        <p:strVal val="visible"/>
                                      </p:to>
                                    </p:set>
                                    <p:anim calcmode="lin" valueType="num">
                                      <p:cBhvr additive="base">
                                        <p:cTn id="7" dur="500" fill="hold"/>
                                        <p:tgtEl>
                                          <p:spTgt spid="17306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30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3061">
                                            <p:txEl>
                                              <p:pRg st="1" end="1"/>
                                            </p:txEl>
                                          </p:spTgt>
                                        </p:tgtEl>
                                        <p:attrNameLst>
                                          <p:attrName>style.visibility</p:attrName>
                                        </p:attrNameLst>
                                      </p:cBhvr>
                                      <p:to>
                                        <p:strVal val="visible"/>
                                      </p:to>
                                    </p:set>
                                    <p:anim calcmode="lin" valueType="num">
                                      <p:cBhvr additive="base">
                                        <p:cTn id="13" dur="500" fill="hold"/>
                                        <p:tgtEl>
                                          <p:spTgt spid="17306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306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3061">
                                            <p:txEl>
                                              <p:pRg st="2" end="2"/>
                                            </p:txEl>
                                          </p:spTgt>
                                        </p:tgtEl>
                                        <p:attrNameLst>
                                          <p:attrName>style.visibility</p:attrName>
                                        </p:attrNameLst>
                                      </p:cBhvr>
                                      <p:to>
                                        <p:strVal val="visible"/>
                                      </p:to>
                                    </p:set>
                                    <p:anim calcmode="lin" valueType="num">
                                      <p:cBhvr additive="base">
                                        <p:cTn id="19" dur="500" fill="hold"/>
                                        <p:tgtEl>
                                          <p:spTgt spid="17306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306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3061">
                                            <p:txEl>
                                              <p:pRg st="3" end="3"/>
                                            </p:txEl>
                                          </p:spTgt>
                                        </p:tgtEl>
                                        <p:attrNameLst>
                                          <p:attrName>style.visibility</p:attrName>
                                        </p:attrNameLst>
                                      </p:cBhvr>
                                      <p:to>
                                        <p:strVal val="visible"/>
                                      </p:to>
                                    </p:set>
                                    <p:anim calcmode="lin" valueType="num">
                                      <p:cBhvr additive="base">
                                        <p:cTn id="25" dur="500" fill="hold"/>
                                        <p:tgtEl>
                                          <p:spTgt spid="17306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306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73061">
                                            <p:txEl>
                                              <p:pRg st="4" end="4"/>
                                            </p:txEl>
                                          </p:spTgt>
                                        </p:tgtEl>
                                        <p:attrNameLst>
                                          <p:attrName>style.visibility</p:attrName>
                                        </p:attrNameLst>
                                      </p:cBhvr>
                                      <p:to>
                                        <p:strVal val="visible"/>
                                      </p:to>
                                    </p:set>
                                    <p:anim calcmode="lin" valueType="num">
                                      <p:cBhvr additive="base">
                                        <p:cTn id="31" dur="500" fill="hold"/>
                                        <p:tgtEl>
                                          <p:spTgt spid="17306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306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1" grpId="0" build="p" bldLvl="2"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5E59B34-E648-B5A1-7C8B-26880F82B8EE}"/>
              </a:ext>
            </a:extLst>
          </p:cNvPr>
          <p:cNvSpPr>
            <a:spLocks noGrp="1" noChangeArrowheads="1"/>
          </p:cNvSpPr>
          <p:nvPr>
            <p:ph type="title"/>
          </p:nvPr>
        </p:nvSpPr>
        <p:spPr>
          <a:xfrm>
            <a:off x="381000" y="304800"/>
            <a:ext cx="8382000" cy="1143000"/>
          </a:xfrm>
        </p:spPr>
        <p:txBody>
          <a:bodyPr/>
          <a:lstStyle/>
          <a:p>
            <a:pPr>
              <a:lnSpc>
                <a:spcPct val="80000"/>
              </a:lnSpc>
            </a:pPr>
            <a:r>
              <a:rPr lang="en-US" altLang="en-US" sz="4600"/>
              <a:t>Potential MINLP Solution Methods   </a:t>
            </a:r>
          </a:p>
        </p:txBody>
      </p:sp>
      <p:sp>
        <p:nvSpPr>
          <p:cNvPr id="6147" name="Rectangle 3">
            <a:extLst>
              <a:ext uri="{FF2B5EF4-FFF2-40B4-BE49-F238E27FC236}">
                <a16:creationId xmlns:a16="http://schemas.microsoft.com/office/drawing/2014/main" id="{6D97AF93-5B63-7B64-627C-06942FC034CB}"/>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48" name="Rectangle 4">
            <a:extLst>
              <a:ext uri="{FF2B5EF4-FFF2-40B4-BE49-F238E27FC236}">
                <a16:creationId xmlns:a16="http://schemas.microsoft.com/office/drawing/2014/main" id="{61562E9D-613E-F21F-3C1D-A113E354A352}"/>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174085" name="Text Box 5">
            <a:extLst>
              <a:ext uri="{FF2B5EF4-FFF2-40B4-BE49-F238E27FC236}">
                <a16:creationId xmlns:a16="http://schemas.microsoft.com/office/drawing/2014/main" id="{F59CC568-9496-042C-7C16-2BC35375BD0D}"/>
              </a:ext>
            </a:extLst>
          </p:cNvPr>
          <p:cNvSpPr txBox="1">
            <a:spLocks noChangeArrowheads="1"/>
          </p:cNvSpPr>
          <p:nvPr/>
        </p:nvSpPr>
        <p:spPr bwMode="auto">
          <a:xfrm>
            <a:off x="495300" y="1524000"/>
            <a:ext cx="8153400" cy="490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We must overcome two major challenges to solve MINLP’s:</a:t>
            </a:r>
          </a:p>
          <a:p>
            <a:pPr lvl="1">
              <a:spcBef>
                <a:spcPct val="0"/>
              </a:spcBef>
            </a:pPr>
            <a:r>
              <a:rPr lang="en-US" altLang="en-US"/>
              <a:t> Combinatorial Explosion</a:t>
            </a:r>
          </a:p>
          <a:p>
            <a:pPr lvl="1">
              <a:spcBef>
                <a:spcPct val="0"/>
              </a:spcBef>
            </a:pPr>
            <a:r>
              <a:rPr lang="en-US" altLang="en-US"/>
              <a:t> Locally optimal points and saddle points</a:t>
            </a:r>
          </a:p>
          <a:p>
            <a:pPr>
              <a:spcBef>
                <a:spcPct val="0"/>
              </a:spcBef>
            </a:pPr>
            <a:r>
              <a:rPr lang="en-US" altLang="en-US" sz="3400"/>
              <a:t>  Previously, very little work done on this important class of problems</a:t>
            </a:r>
          </a:p>
          <a:p>
            <a:pPr>
              <a:spcBef>
                <a:spcPct val="0"/>
              </a:spcBef>
            </a:pPr>
            <a:r>
              <a:rPr lang="en-US" altLang="en-US" sz="3400"/>
              <a:t>  Current research focusing on two approaches:</a:t>
            </a:r>
            <a:endParaRPr lang="en-US" altLang="en-US" sz="2800"/>
          </a:p>
          <a:p>
            <a:pPr lvl="1">
              <a:spcBef>
                <a:spcPct val="0"/>
              </a:spcBef>
            </a:pPr>
            <a:r>
              <a:rPr lang="en-US" altLang="en-US"/>
              <a:t>  Relaxation techniques (deterministic)</a:t>
            </a:r>
          </a:p>
          <a:p>
            <a:pPr lvl="1">
              <a:spcBef>
                <a:spcPct val="0"/>
              </a:spcBef>
            </a:pPr>
            <a:r>
              <a:rPr lang="en-US" altLang="en-US"/>
              <a:t>  Random search methods (stochastic)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4085">
                                            <p:txEl>
                                              <p:pRg st="0" end="0"/>
                                            </p:txEl>
                                          </p:spTgt>
                                        </p:tgtEl>
                                        <p:attrNameLst>
                                          <p:attrName>style.visibility</p:attrName>
                                        </p:attrNameLst>
                                      </p:cBhvr>
                                      <p:to>
                                        <p:strVal val="visible"/>
                                      </p:to>
                                    </p:set>
                                    <p:anim calcmode="lin" valueType="num">
                                      <p:cBhvr additive="base">
                                        <p:cTn id="7" dur="500" fill="hold"/>
                                        <p:tgtEl>
                                          <p:spTgt spid="17408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0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4085">
                                            <p:txEl>
                                              <p:pRg st="1" end="1"/>
                                            </p:txEl>
                                          </p:spTgt>
                                        </p:tgtEl>
                                        <p:attrNameLst>
                                          <p:attrName>style.visibility</p:attrName>
                                        </p:attrNameLst>
                                      </p:cBhvr>
                                      <p:to>
                                        <p:strVal val="visible"/>
                                      </p:to>
                                    </p:set>
                                    <p:anim calcmode="lin" valueType="num">
                                      <p:cBhvr additive="base">
                                        <p:cTn id="13" dur="500" fill="hold"/>
                                        <p:tgtEl>
                                          <p:spTgt spid="17408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08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4085">
                                            <p:txEl>
                                              <p:pRg st="2" end="2"/>
                                            </p:txEl>
                                          </p:spTgt>
                                        </p:tgtEl>
                                        <p:attrNameLst>
                                          <p:attrName>style.visibility</p:attrName>
                                        </p:attrNameLst>
                                      </p:cBhvr>
                                      <p:to>
                                        <p:strVal val="visible"/>
                                      </p:to>
                                    </p:set>
                                    <p:anim calcmode="lin" valueType="num">
                                      <p:cBhvr additive="base">
                                        <p:cTn id="19" dur="500" fill="hold"/>
                                        <p:tgtEl>
                                          <p:spTgt spid="17408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08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4085">
                                            <p:txEl>
                                              <p:pRg st="3" end="3"/>
                                            </p:txEl>
                                          </p:spTgt>
                                        </p:tgtEl>
                                        <p:attrNameLst>
                                          <p:attrName>style.visibility</p:attrName>
                                        </p:attrNameLst>
                                      </p:cBhvr>
                                      <p:to>
                                        <p:strVal val="visible"/>
                                      </p:to>
                                    </p:set>
                                    <p:anim calcmode="lin" valueType="num">
                                      <p:cBhvr additive="base">
                                        <p:cTn id="25" dur="500" fill="hold"/>
                                        <p:tgtEl>
                                          <p:spTgt spid="17408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08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74085">
                                            <p:txEl>
                                              <p:pRg st="4" end="4"/>
                                            </p:txEl>
                                          </p:spTgt>
                                        </p:tgtEl>
                                        <p:attrNameLst>
                                          <p:attrName>style.visibility</p:attrName>
                                        </p:attrNameLst>
                                      </p:cBhvr>
                                      <p:to>
                                        <p:strVal val="visible"/>
                                      </p:to>
                                    </p:set>
                                    <p:anim calcmode="lin" valueType="num">
                                      <p:cBhvr additive="base">
                                        <p:cTn id="31" dur="500" fill="hold"/>
                                        <p:tgtEl>
                                          <p:spTgt spid="17408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408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74085">
                                            <p:txEl>
                                              <p:pRg st="5" end="5"/>
                                            </p:txEl>
                                          </p:spTgt>
                                        </p:tgtEl>
                                        <p:attrNameLst>
                                          <p:attrName>style.visibility</p:attrName>
                                        </p:attrNameLst>
                                      </p:cBhvr>
                                      <p:to>
                                        <p:strVal val="visible"/>
                                      </p:to>
                                    </p:set>
                                    <p:anim calcmode="lin" valueType="num">
                                      <p:cBhvr additive="base">
                                        <p:cTn id="37" dur="500" fill="hold"/>
                                        <p:tgtEl>
                                          <p:spTgt spid="17408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7408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74085">
                                            <p:txEl>
                                              <p:pRg st="6" end="6"/>
                                            </p:txEl>
                                          </p:spTgt>
                                        </p:tgtEl>
                                        <p:attrNameLst>
                                          <p:attrName>style.visibility</p:attrName>
                                        </p:attrNameLst>
                                      </p:cBhvr>
                                      <p:to>
                                        <p:strVal val="visible"/>
                                      </p:to>
                                    </p:set>
                                    <p:anim calcmode="lin" valueType="num">
                                      <p:cBhvr additive="base">
                                        <p:cTn id="43" dur="500" fill="hold"/>
                                        <p:tgtEl>
                                          <p:spTgt spid="17408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7408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5" grpId="0" build="p" bldLvl="2"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6C00E54-66BB-4D14-6D64-9C4B2CCC0950}"/>
              </a:ext>
            </a:extLst>
          </p:cNvPr>
          <p:cNvSpPr>
            <a:spLocks noGrp="1" noChangeArrowheads="1"/>
          </p:cNvSpPr>
          <p:nvPr>
            <p:ph type="title"/>
          </p:nvPr>
        </p:nvSpPr>
        <p:spPr>
          <a:xfrm>
            <a:off x="381000" y="0"/>
            <a:ext cx="8382000" cy="1143000"/>
          </a:xfrm>
        </p:spPr>
        <p:txBody>
          <a:bodyPr/>
          <a:lstStyle/>
          <a:p>
            <a:pPr>
              <a:lnSpc>
                <a:spcPct val="80000"/>
              </a:lnSpc>
            </a:pPr>
            <a:r>
              <a:rPr lang="en-US" altLang="en-US" sz="4000"/>
              <a:t>Plant Design MINLP: General Structure</a:t>
            </a:r>
          </a:p>
        </p:txBody>
      </p:sp>
      <p:sp>
        <p:nvSpPr>
          <p:cNvPr id="8195" name="Rectangle 3">
            <a:extLst>
              <a:ext uri="{FF2B5EF4-FFF2-40B4-BE49-F238E27FC236}">
                <a16:creationId xmlns:a16="http://schemas.microsoft.com/office/drawing/2014/main" id="{A549EB96-F188-7AFE-78E2-FC966D042FA0}"/>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196" name="Rectangle 4">
            <a:extLst>
              <a:ext uri="{FF2B5EF4-FFF2-40B4-BE49-F238E27FC236}">
                <a16:creationId xmlns:a16="http://schemas.microsoft.com/office/drawing/2014/main" id="{4DEFD2C3-8FC9-CA24-982C-321FDC07FFD4}"/>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189445" name="Text Box 5">
            <a:extLst>
              <a:ext uri="{FF2B5EF4-FFF2-40B4-BE49-F238E27FC236}">
                <a16:creationId xmlns:a16="http://schemas.microsoft.com/office/drawing/2014/main" id="{3B011784-6F4F-6A72-8239-E37E7EA8113E}"/>
              </a:ext>
            </a:extLst>
          </p:cNvPr>
          <p:cNvSpPr txBox="1">
            <a:spLocks noChangeArrowheads="1"/>
          </p:cNvSpPr>
          <p:nvPr/>
        </p:nvSpPr>
        <p:spPr bwMode="auto">
          <a:xfrm>
            <a:off x="304800" y="990600"/>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A plant design MINLP often looks like:</a:t>
            </a:r>
          </a:p>
        </p:txBody>
      </p:sp>
      <p:graphicFrame>
        <p:nvGraphicFramePr>
          <p:cNvPr id="189446" name="Object 6">
            <a:extLst>
              <a:ext uri="{FF2B5EF4-FFF2-40B4-BE49-F238E27FC236}">
                <a16:creationId xmlns:a16="http://schemas.microsoft.com/office/drawing/2014/main" id="{9884882E-5542-7275-E13F-407F12A59B05}"/>
              </a:ext>
            </a:extLst>
          </p:cNvPr>
          <p:cNvGraphicFramePr>
            <a:graphicFrameLocks noChangeAspect="1"/>
          </p:cNvGraphicFramePr>
          <p:nvPr/>
        </p:nvGraphicFramePr>
        <p:xfrm>
          <a:off x="2090738" y="1676400"/>
          <a:ext cx="4960937" cy="3933825"/>
        </p:xfrm>
        <a:graphic>
          <a:graphicData uri="http://schemas.openxmlformats.org/presentationml/2006/ole">
            <mc:AlternateContent xmlns:mc="http://schemas.openxmlformats.org/markup-compatibility/2006">
              <mc:Choice xmlns:v="urn:schemas-microsoft-com:vml" Requires="v">
                <p:oleObj name="Equation" r:id="rId2" imgW="2159000" imgH="1714500" progId="Equation.3">
                  <p:embed/>
                </p:oleObj>
              </mc:Choice>
              <mc:Fallback>
                <p:oleObj name="Equation" r:id="rId2" imgW="2159000" imgH="1714500" progId="Equation.3">
                  <p:embed/>
                  <p:pic>
                    <p:nvPicPr>
                      <p:cNvPr id="189446" name="Object 6">
                        <a:extLst>
                          <a:ext uri="{FF2B5EF4-FFF2-40B4-BE49-F238E27FC236}">
                            <a16:creationId xmlns:a16="http://schemas.microsoft.com/office/drawing/2014/main" id="{9884882E-5542-7275-E13F-407F12A59B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738" y="1676400"/>
                        <a:ext cx="4960937" cy="3933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9449" name="Text Box 9">
            <a:extLst>
              <a:ext uri="{FF2B5EF4-FFF2-40B4-BE49-F238E27FC236}">
                <a16:creationId xmlns:a16="http://schemas.microsoft.com/office/drawing/2014/main" id="{AAF373BD-218F-7CFC-5BE0-2DA0CDCEFA47}"/>
              </a:ext>
            </a:extLst>
          </p:cNvPr>
          <p:cNvSpPr txBox="1">
            <a:spLocks noChangeArrowheads="1"/>
          </p:cNvSpPr>
          <p:nvPr/>
        </p:nvSpPr>
        <p:spPr bwMode="auto">
          <a:xfrm>
            <a:off x="381000" y="5486400"/>
            <a:ext cx="80422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sz="3400"/>
              <a:t>  A specific, easier structure than the general MINLP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9445">
                                            <p:txEl>
                                              <p:pRg st="0" end="0"/>
                                            </p:txEl>
                                          </p:spTgt>
                                        </p:tgtEl>
                                        <p:attrNameLst>
                                          <p:attrName>style.visibility</p:attrName>
                                        </p:attrNameLst>
                                      </p:cBhvr>
                                      <p:to>
                                        <p:strVal val="visible"/>
                                      </p:to>
                                    </p:set>
                                    <p:anim calcmode="lin" valueType="num">
                                      <p:cBhvr additive="base">
                                        <p:cTn id="7" dur="500" fill="hold"/>
                                        <p:tgtEl>
                                          <p:spTgt spid="18944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944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9446"/>
                                        </p:tgtEl>
                                        <p:attrNameLst>
                                          <p:attrName>style.visibility</p:attrName>
                                        </p:attrNameLst>
                                      </p:cBhvr>
                                      <p:to>
                                        <p:strVal val="visible"/>
                                      </p:to>
                                    </p:set>
                                    <p:anim calcmode="lin" valueType="num">
                                      <p:cBhvr additive="base">
                                        <p:cTn id="13" dur="500" fill="hold"/>
                                        <p:tgtEl>
                                          <p:spTgt spid="189446"/>
                                        </p:tgtEl>
                                        <p:attrNameLst>
                                          <p:attrName>ppt_x</p:attrName>
                                        </p:attrNameLst>
                                      </p:cBhvr>
                                      <p:tavLst>
                                        <p:tav tm="0">
                                          <p:val>
                                            <p:strVal val="0-#ppt_w/2"/>
                                          </p:val>
                                        </p:tav>
                                        <p:tav tm="100000">
                                          <p:val>
                                            <p:strVal val="#ppt_x"/>
                                          </p:val>
                                        </p:tav>
                                      </p:tavLst>
                                    </p:anim>
                                    <p:anim calcmode="lin" valueType="num">
                                      <p:cBhvr additive="base">
                                        <p:cTn id="14" dur="500" fill="hold"/>
                                        <p:tgtEl>
                                          <p:spTgt spid="18944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9449"/>
                                        </p:tgtEl>
                                        <p:attrNameLst>
                                          <p:attrName>style.visibility</p:attrName>
                                        </p:attrNameLst>
                                      </p:cBhvr>
                                      <p:to>
                                        <p:strVal val="visible"/>
                                      </p:to>
                                    </p:set>
                                    <p:anim calcmode="lin" valueType="num">
                                      <p:cBhvr additive="base">
                                        <p:cTn id="19" dur="500" fill="hold"/>
                                        <p:tgtEl>
                                          <p:spTgt spid="189449"/>
                                        </p:tgtEl>
                                        <p:attrNameLst>
                                          <p:attrName>ppt_x</p:attrName>
                                        </p:attrNameLst>
                                      </p:cBhvr>
                                      <p:tavLst>
                                        <p:tav tm="0">
                                          <p:val>
                                            <p:strVal val="0-#ppt_w/2"/>
                                          </p:val>
                                        </p:tav>
                                        <p:tav tm="100000">
                                          <p:val>
                                            <p:strVal val="#ppt_x"/>
                                          </p:val>
                                        </p:tav>
                                      </p:tavLst>
                                    </p:anim>
                                    <p:anim calcmode="lin" valueType="num">
                                      <p:cBhvr additive="base">
                                        <p:cTn id="20" dur="500" fill="hold"/>
                                        <p:tgtEl>
                                          <p:spTgt spid="1894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5" grpId="0" build="p" autoUpdateAnimBg="0"/>
      <p:bldP spid="189449"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0C1924FF-25D5-266D-0989-ACE6D2FD8F7F}"/>
              </a:ext>
            </a:extLst>
          </p:cNvPr>
          <p:cNvSpPr>
            <a:spLocks noGrp="1" noChangeArrowheads="1"/>
          </p:cNvSpPr>
          <p:nvPr>
            <p:ph type="title"/>
          </p:nvPr>
        </p:nvSpPr>
        <p:spPr>
          <a:xfrm>
            <a:off x="381000" y="304800"/>
            <a:ext cx="8382000" cy="1143000"/>
          </a:xfrm>
        </p:spPr>
        <p:txBody>
          <a:bodyPr>
            <a:normAutofit fontScale="90000"/>
          </a:bodyPr>
          <a:lstStyle/>
          <a:p>
            <a:pPr>
              <a:lnSpc>
                <a:spcPct val="80000"/>
              </a:lnSpc>
            </a:pPr>
            <a:r>
              <a:rPr lang="en-US" altLang="en-US" sz="4600"/>
              <a:t>Solving the Plant Design MINLP: Branch and Bound</a:t>
            </a:r>
          </a:p>
        </p:txBody>
      </p:sp>
      <p:sp>
        <p:nvSpPr>
          <p:cNvPr id="9219" name="Rectangle 3">
            <a:extLst>
              <a:ext uri="{FF2B5EF4-FFF2-40B4-BE49-F238E27FC236}">
                <a16:creationId xmlns:a16="http://schemas.microsoft.com/office/drawing/2014/main" id="{48C05CC2-FB98-FAC1-2785-737E950838EC}"/>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0" name="Rectangle 4">
            <a:extLst>
              <a:ext uri="{FF2B5EF4-FFF2-40B4-BE49-F238E27FC236}">
                <a16:creationId xmlns:a16="http://schemas.microsoft.com/office/drawing/2014/main" id="{3467EA14-5A41-FFF8-67C2-81F296BF4145}"/>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190469" name="Text Box 5">
            <a:extLst>
              <a:ext uri="{FF2B5EF4-FFF2-40B4-BE49-F238E27FC236}">
                <a16:creationId xmlns:a16="http://schemas.microsoft.com/office/drawing/2014/main" id="{26850D05-2588-E47A-8EA2-0844ABC379C8}"/>
              </a:ext>
            </a:extLst>
          </p:cNvPr>
          <p:cNvSpPr txBox="1">
            <a:spLocks noChangeArrowheads="1"/>
          </p:cNvSpPr>
          <p:nvPr/>
        </p:nvSpPr>
        <p:spPr bwMode="auto">
          <a:xfrm>
            <a:off x="304800" y="1447800"/>
            <a:ext cx="8534400" cy="484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914400" indent="-4572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We can use the Branch and Bound method for these MINLP’s as well</a:t>
            </a:r>
            <a:endParaRPr lang="en-US" altLang="en-US" sz="1800"/>
          </a:p>
          <a:p>
            <a:pPr>
              <a:spcBef>
                <a:spcPct val="0"/>
              </a:spcBef>
            </a:pPr>
            <a:r>
              <a:rPr lang="en-US" altLang="en-US" sz="3400"/>
              <a:t> Remember the general B&amp;B plan:</a:t>
            </a:r>
            <a:endParaRPr lang="en-US" altLang="en-US" sz="3000"/>
          </a:p>
          <a:p>
            <a:pPr lvl="1">
              <a:spcBef>
                <a:spcPct val="0"/>
              </a:spcBef>
              <a:buFontTx/>
              <a:buAutoNum type="arabicPeriod"/>
            </a:pPr>
            <a:r>
              <a:rPr lang="en-US" altLang="en-US" sz="3000"/>
              <a:t>Solve a relaxed problem to get an upper bound</a:t>
            </a:r>
          </a:p>
          <a:p>
            <a:pPr lvl="1">
              <a:spcBef>
                <a:spcPct val="0"/>
              </a:spcBef>
              <a:buFontTx/>
              <a:buAutoNum type="arabicPeriod"/>
            </a:pPr>
            <a:r>
              <a:rPr lang="en-US" altLang="en-US" sz="3000"/>
              <a:t>If you get an integer solution, it is a lower bound</a:t>
            </a:r>
          </a:p>
          <a:p>
            <a:pPr lvl="1">
              <a:spcBef>
                <a:spcPct val="0"/>
              </a:spcBef>
              <a:buFontTx/>
              <a:buAutoNum type="arabicPeriod"/>
            </a:pPr>
            <a:r>
              <a:rPr lang="en-US" altLang="en-US" sz="3000"/>
              <a:t>Use upper and lower bounds to implicitly eliminate nodes</a:t>
            </a:r>
          </a:p>
          <a:p>
            <a:pPr lvl="1">
              <a:spcBef>
                <a:spcPct val="0"/>
              </a:spcBef>
              <a:buFontTx/>
              <a:buAutoNum type="arabicPeriod"/>
            </a:pPr>
            <a:r>
              <a:rPr lang="en-US" altLang="en-US" sz="3000"/>
              <a:t>Branch on integer variables which come out fractional when solving a relaxed problem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0469">
                                            <p:txEl>
                                              <p:pRg st="0" end="0"/>
                                            </p:txEl>
                                          </p:spTgt>
                                        </p:tgtEl>
                                        <p:attrNameLst>
                                          <p:attrName>style.visibility</p:attrName>
                                        </p:attrNameLst>
                                      </p:cBhvr>
                                      <p:to>
                                        <p:strVal val="visible"/>
                                      </p:to>
                                    </p:set>
                                    <p:anim calcmode="lin" valueType="num">
                                      <p:cBhvr additive="base">
                                        <p:cTn id="7" dur="500" fill="hold"/>
                                        <p:tgtEl>
                                          <p:spTgt spid="19046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046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0469">
                                            <p:txEl>
                                              <p:pRg st="1" end="1"/>
                                            </p:txEl>
                                          </p:spTgt>
                                        </p:tgtEl>
                                        <p:attrNameLst>
                                          <p:attrName>style.visibility</p:attrName>
                                        </p:attrNameLst>
                                      </p:cBhvr>
                                      <p:to>
                                        <p:strVal val="visible"/>
                                      </p:to>
                                    </p:set>
                                    <p:anim calcmode="lin" valueType="num">
                                      <p:cBhvr additive="base">
                                        <p:cTn id="13" dur="500" fill="hold"/>
                                        <p:tgtEl>
                                          <p:spTgt spid="19046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046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0469">
                                            <p:txEl>
                                              <p:pRg st="2" end="2"/>
                                            </p:txEl>
                                          </p:spTgt>
                                        </p:tgtEl>
                                        <p:attrNameLst>
                                          <p:attrName>style.visibility</p:attrName>
                                        </p:attrNameLst>
                                      </p:cBhvr>
                                      <p:to>
                                        <p:strVal val="visible"/>
                                      </p:to>
                                    </p:set>
                                    <p:anim calcmode="lin" valueType="num">
                                      <p:cBhvr additive="base">
                                        <p:cTn id="19" dur="500" fill="hold"/>
                                        <p:tgtEl>
                                          <p:spTgt spid="19046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046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90469">
                                            <p:txEl>
                                              <p:pRg st="3" end="3"/>
                                            </p:txEl>
                                          </p:spTgt>
                                        </p:tgtEl>
                                        <p:attrNameLst>
                                          <p:attrName>style.visibility</p:attrName>
                                        </p:attrNameLst>
                                      </p:cBhvr>
                                      <p:to>
                                        <p:strVal val="visible"/>
                                      </p:to>
                                    </p:set>
                                    <p:anim calcmode="lin" valueType="num">
                                      <p:cBhvr additive="base">
                                        <p:cTn id="25" dur="500" fill="hold"/>
                                        <p:tgtEl>
                                          <p:spTgt spid="19046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046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90469">
                                            <p:txEl>
                                              <p:pRg st="4" end="4"/>
                                            </p:txEl>
                                          </p:spTgt>
                                        </p:tgtEl>
                                        <p:attrNameLst>
                                          <p:attrName>style.visibility</p:attrName>
                                        </p:attrNameLst>
                                      </p:cBhvr>
                                      <p:to>
                                        <p:strVal val="visible"/>
                                      </p:to>
                                    </p:set>
                                    <p:anim calcmode="lin" valueType="num">
                                      <p:cBhvr additive="base">
                                        <p:cTn id="31" dur="500" fill="hold"/>
                                        <p:tgtEl>
                                          <p:spTgt spid="19046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9046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90469">
                                            <p:txEl>
                                              <p:pRg st="5" end="5"/>
                                            </p:txEl>
                                          </p:spTgt>
                                        </p:tgtEl>
                                        <p:attrNameLst>
                                          <p:attrName>style.visibility</p:attrName>
                                        </p:attrNameLst>
                                      </p:cBhvr>
                                      <p:to>
                                        <p:strVal val="visible"/>
                                      </p:to>
                                    </p:set>
                                    <p:anim calcmode="lin" valueType="num">
                                      <p:cBhvr additive="base">
                                        <p:cTn id="37" dur="500" fill="hold"/>
                                        <p:tgtEl>
                                          <p:spTgt spid="19046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9046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9" grpId="0" build="p" bldLvl="2"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F50C251-0205-4ED2-F3BC-21E60BB5BFB0}"/>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Branch and Bound for MINLP’s</a:t>
            </a:r>
          </a:p>
        </p:txBody>
      </p:sp>
      <p:sp>
        <p:nvSpPr>
          <p:cNvPr id="10243" name="Rectangle 3">
            <a:extLst>
              <a:ext uri="{FF2B5EF4-FFF2-40B4-BE49-F238E27FC236}">
                <a16:creationId xmlns:a16="http://schemas.microsoft.com/office/drawing/2014/main" id="{4553BDFA-F6A7-5E89-848E-6DB69C48E6FE}"/>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0244" name="Rectangle 4">
            <a:extLst>
              <a:ext uri="{FF2B5EF4-FFF2-40B4-BE49-F238E27FC236}">
                <a16:creationId xmlns:a16="http://schemas.microsoft.com/office/drawing/2014/main" id="{DCA73ED3-2115-4B02-A235-D432C0978556}"/>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191493" name="Text Box 5">
            <a:extLst>
              <a:ext uri="{FF2B5EF4-FFF2-40B4-BE49-F238E27FC236}">
                <a16:creationId xmlns:a16="http://schemas.microsoft.com/office/drawing/2014/main" id="{4379FE69-0667-C6DE-9E85-5E88BF3BB29A}"/>
              </a:ext>
            </a:extLst>
          </p:cNvPr>
          <p:cNvSpPr txBox="1">
            <a:spLocks noChangeArrowheads="1"/>
          </p:cNvSpPr>
          <p:nvPr/>
        </p:nvSpPr>
        <p:spPr bwMode="auto">
          <a:xfrm>
            <a:off x="495300" y="1266825"/>
            <a:ext cx="8153400"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What type of optimization problems occur when using B&amp;B to solve an MINLP?</a:t>
            </a:r>
          </a:p>
          <a:p>
            <a:pPr>
              <a:spcBef>
                <a:spcPct val="0"/>
              </a:spcBef>
            </a:pPr>
            <a:r>
              <a:rPr lang="en-US" altLang="en-US" sz="3400"/>
              <a:t>  NLP’s.  What happens if we get a locally optimal solution to one of these (but not global?)</a:t>
            </a:r>
          </a:p>
          <a:p>
            <a:pPr>
              <a:spcBef>
                <a:spcPct val="0"/>
              </a:spcBef>
            </a:pPr>
            <a:r>
              <a:rPr lang="en-US" altLang="en-US" sz="3400"/>
              <a:t>  This would give a false upper bound which is higher than it should be</a:t>
            </a:r>
          </a:p>
          <a:p>
            <a:pPr>
              <a:spcBef>
                <a:spcPct val="0"/>
              </a:spcBef>
            </a:pPr>
            <a:r>
              <a:rPr lang="en-US" altLang="en-US" sz="3400"/>
              <a:t>  We may also miss an integer solution for a local noninteger solution which is worse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1493">
                                            <p:txEl>
                                              <p:pRg st="0" end="0"/>
                                            </p:txEl>
                                          </p:spTgt>
                                        </p:tgtEl>
                                        <p:attrNameLst>
                                          <p:attrName>style.visibility</p:attrName>
                                        </p:attrNameLst>
                                      </p:cBhvr>
                                      <p:to>
                                        <p:strVal val="visible"/>
                                      </p:to>
                                    </p:set>
                                    <p:anim calcmode="lin" valueType="num">
                                      <p:cBhvr additive="base">
                                        <p:cTn id="7" dur="500" fill="hold"/>
                                        <p:tgtEl>
                                          <p:spTgt spid="19149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14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1493">
                                            <p:txEl>
                                              <p:pRg st="1" end="1"/>
                                            </p:txEl>
                                          </p:spTgt>
                                        </p:tgtEl>
                                        <p:attrNameLst>
                                          <p:attrName>style.visibility</p:attrName>
                                        </p:attrNameLst>
                                      </p:cBhvr>
                                      <p:to>
                                        <p:strVal val="visible"/>
                                      </p:to>
                                    </p:set>
                                    <p:anim calcmode="lin" valueType="num">
                                      <p:cBhvr additive="base">
                                        <p:cTn id="13" dur="500" fill="hold"/>
                                        <p:tgtEl>
                                          <p:spTgt spid="19149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149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1493">
                                            <p:txEl>
                                              <p:pRg st="2" end="2"/>
                                            </p:txEl>
                                          </p:spTgt>
                                        </p:tgtEl>
                                        <p:attrNameLst>
                                          <p:attrName>style.visibility</p:attrName>
                                        </p:attrNameLst>
                                      </p:cBhvr>
                                      <p:to>
                                        <p:strVal val="visible"/>
                                      </p:to>
                                    </p:set>
                                    <p:anim calcmode="lin" valueType="num">
                                      <p:cBhvr additive="base">
                                        <p:cTn id="19" dur="500" fill="hold"/>
                                        <p:tgtEl>
                                          <p:spTgt spid="19149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149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91493">
                                            <p:txEl>
                                              <p:pRg st="3" end="3"/>
                                            </p:txEl>
                                          </p:spTgt>
                                        </p:tgtEl>
                                        <p:attrNameLst>
                                          <p:attrName>style.visibility</p:attrName>
                                        </p:attrNameLst>
                                      </p:cBhvr>
                                      <p:to>
                                        <p:strVal val="visible"/>
                                      </p:to>
                                    </p:set>
                                    <p:anim calcmode="lin" valueType="num">
                                      <p:cBhvr additive="base">
                                        <p:cTn id="25" dur="500" fill="hold"/>
                                        <p:tgtEl>
                                          <p:spTgt spid="19149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149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3"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E42D93D-3532-F2CE-F964-639A237F1F1F}"/>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Solving the NLP relaxations</a:t>
            </a:r>
          </a:p>
        </p:txBody>
      </p:sp>
      <p:sp>
        <p:nvSpPr>
          <p:cNvPr id="11267" name="Rectangle 3">
            <a:extLst>
              <a:ext uri="{FF2B5EF4-FFF2-40B4-BE49-F238E27FC236}">
                <a16:creationId xmlns:a16="http://schemas.microsoft.com/office/drawing/2014/main" id="{8846CEEF-8EC6-40D5-02E6-6C1401BFA90B}"/>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68" name="Rectangle 4">
            <a:extLst>
              <a:ext uri="{FF2B5EF4-FFF2-40B4-BE49-F238E27FC236}">
                <a16:creationId xmlns:a16="http://schemas.microsoft.com/office/drawing/2014/main" id="{E1BB98B4-C5C9-64DD-C4D3-45D87A8472AF}"/>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197637" name="Text Box 5">
            <a:extLst>
              <a:ext uri="{FF2B5EF4-FFF2-40B4-BE49-F238E27FC236}">
                <a16:creationId xmlns:a16="http://schemas.microsoft.com/office/drawing/2014/main" id="{8ADE7D4B-AABF-DA04-BDB3-382B7C6E7DA4}"/>
              </a:ext>
            </a:extLst>
          </p:cNvPr>
          <p:cNvSpPr txBox="1">
            <a:spLocks noChangeArrowheads="1"/>
          </p:cNvSpPr>
          <p:nvPr/>
        </p:nvSpPr>
        <p:spPr bwMode="auto">
          <a:xfrm>
            <a:off x="495300" y="914400"/>
            <a:ext cx="8153400"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914400" indent="-4572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When can we be sure that we have the global optimum to an NLP?</a:t>
            </a:r>
          </a:p>
          <a:p>
            <a:pPr>
              <a:spcBef>
                <a:spcPct val="0"/>
              </a:spcBef>
            </a:pPr>
            <a:r>
              <a:rPr lang="en-US" altLang="en-US" sz="3400"/>
              <a:t>  Only if the feasible region is </a:t>
            </a:r>
            <a:r>
              <a:rPr lang="en-US" altLang="en-US" sz="3400" u="sng"/>
              <a:t>convex</a:t>
            </a:r>
          </a:p>
          <a:p>
            <a:pPr>
              <a:spcBef>
                <a:spcPct val="0"/>
              </a:spcBef>
            </a:pPr>
            <a:r>
              <a:rPr lang="en-US" altLang="en-US" sz="3400"/>
              <a:t>  Thus we would like the feasible region of all NLP relaxations solved within the B&amp;B algorithm to be convex.  When will this occur?</a:t>
            </a:r>
          </a:p>
          <a:p>
            <a:pPr>
              <a:spcBef>
                <a:spcPct val="0"/>
              </a:spcBef>
            </a:pPr>
            <a:r>
              <a:rPr lang="en-US" altLang="en-US" sz="3400"/>
              <a:t>  For our Process Design MINLP, only if:</a:t>
            </a:r>
          </a:p>
          <a:p>
            <a:pPr lvl="1">
              <a:spcBef>
                <a:spcPct val="0"/>
              </a:spcBef>
              <a:buFontTx/>
              <a:buAutoNum type="arabicPeriod"/>
            </a:pPr>
            <a:r>
              <a:rPr lang="en-US" altLang="en-US" sz="3000"/>
              <a:t>  </a:t>
            </a:r>
            <a:r>
              <a:rPr lang="en-US" altLang="en-US" sz="3000" i="1"/>
              <a:t>f(x)</a:t>
            </a:r>
            <a:r>
              <a:rPr lang="en-US" altLang="en-US" sz="3000"/>
              <a:t> is convex</a:t>
            </a:r>
          </a:p>
          <a:p>
            <a:pPr lvl="1">
              <a:spcBef>
                <a:spcPct val="0"/>
              </a:spcBef>
              <a:buFontTx/>
              <a:buAutoNum type="arabicPeriod"/>
            </a:pPr>
            <a:r>
              <a:rPr lang="en-US" altLang="en-US" sz="3000"/>
              <a:t> </a:t>
            </a:r>
            <a:r>
              <a:rPr lang="en-US" altLang="en-US" sz="3000" i="1"/>
              <a:t>h(x)</a:t>
            </a:r>
            <a:r>
              <a:rPr lang="en-US" altLang="en-US" sz="3000"/>
              <a:t> are </a:t>
            </a:r>
            <a:r>
              <a:rPr lang="en-US" altLang="en-US" sz="3000" u="sng"/>
              <a:t>linear</a:t>
            </a:r>
            <a:r>
              <a:rPr lang="en-US" altLang="en-US" sz="3000"/>
              <a:t>   (tough to meet)</a:t>
            </a:r>
          </a:p>
          <a:p>
            <a:pPr lvl="1">
              <a:spcBef>
                <a:spcPct val="0"/>
              </a:spcBef>
              <a:buFontTx/>
              <a:buAutoNum type="arabicPeriod"/>
            </a:pPr>
            <a:r>
              <a:rPr lang="en-US" altLang="en-US" sz="3000"/>
              <a:t> </a:t>
            </a:r>
            <a:r>
              <a:rPr lang="en-US" altLang="en-US" sz="3000" i="1"/>
              <a:t>g(x) </a:t>
            </a:r>
            <a:r>
              <a:rPr lang="en-US" altLang="en-US" sz="3000"/>
              <a:t>are convex</a:t>
            </a:r>
            <a:endParaRPr lang="en-US" altLang="en-US" sz="3000" u="sng"/>
          </a:p>
          <a:p>
            <a:pPr lvl="1">
              <a:spcBef>
                <a:spcPct val="0"/>
              </a:spcBef>
              <a:buFontTx/>
              <a:buAutoNum type="arabicPeriod"/>
            </a:pPr>
            <a:endParaRPr lang="en-US" altLang="en-US" sz="3000" i="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7637">
                                            <p:txEl>
                                              <p:pRg st="0" end="0"/>
                                            </p:txEl>
                                          </p:spTgt>
                                        </p:tgtEl>
                                        <p:attrNameLst>
                                          <p:attrName>style.visibility</p:attrName>
                                        </p:attrNameLst>
                                      </p:cBhvr>
                                      <p:to>
                                        <p:strVal val="visible"/>
                                      </p:to>
                                    </p:set>
                                    <p:anim calcmode="lin" valueType="num">
                                      <p:cBhvr additive="base">
                                        <p:cTn id="7" dur="500" fill="hold"/>
                                        <p:tgtEl>
                                          <p:spTgt spid="19763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76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7637">
                                            <p:txEl>
                                              <p:pRg st="1" end="1"/>
                                            </p:txEl>
                                          </p:spTgt>
                                        </p:tgtEl>
                                        <p:attrNameLst>
                                          <p:attrName>style.visibility</p:attrName>
                                        </p:attrNameLst>
                                      </p:cBhvr>
                                      <p:to>
                                        <p:strVal val="visible"/>
                                      </p:to>
                                    </p:set>
                                    <p:anim calcmode="lin" valueType="num">
                                      <p:cBhvr additive="base">
                                        <p:cTn id="13" dur="500" fill="hold"/>
                                        <p:tgtEl>
                                          <p:spTgt spid="19763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763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7637">
                                            <p:txEl>
                                              <p:pRg st="2" end="2"/>
                                            </p:txEl>
                                          </p:spTgt>
                                        </p:tgtEl>
                                        <p:attrNameLst>
                                          <p:attrName>style.visibility</p:attrName>
                                        </p:attrNameLst>
                                      </p:cBhvr>
                                      <p:to>
                                        <p:strVal val="visible"/>
                                      </p:to>
                                    </p:set>
                                    <p:anim calcmode="lin" valueType="num">
                                      <p:cBhvr additive="base">
                                        <p:cTn id="19" dur="500" fill="hold"/>
                                        <p:tgtEl>
                                          <p:spTgt spid="19763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763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97637">
                                            <p:txEl>
                                              <p:pRg st="3" end="3"/>
                                            </p:txEl>
                                          </p:spTgt>
                                        </p:tgtEl>
                                        <p:attrNameLst>
                                          <p:attrName>style.visibility</p:attrName>
                                        </p:attrNameLst>
                                      </p:cBhvr>
                                      <p:to>
                                        <p:strVal val="visible"/>
                                      </p:to>
                                    </p:set>
                                    <p:anim calcmode="lin" valueType="num">
                                      <p:cBhvr additive="base">
                                        <p:cTn id="25" dur="500" fill="hold"/>
                                        <p:tgtEl>
                                          <p:spTgt spid="19763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763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97637">
                                            <p:txEl>
                                              <p:pRg st="4" end="4"/>
                                            </p:txEl>
                                          </p:spTgt>
                                        </p:tgtEl>
                                        <p:attrNameLst>
                                          <p:attrName>style.visibility</p:attrName>
                                        </p:attrNameLst>
                                      </p:cBhvr>
                                      <p:to>
                                        <p:strVal val="visible"/>
                                      </p:to>
                                    </p:set>
                                    <p:anim calcmode="lin" valueType="num">
                                      <p:cBhvr additive="base">
                                        <p:cTn id="31" dur="500" fill="hold"/>
                                        <p:tgtEl>
                                          <p:spTgt spid="19763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9763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97637">
                                            <p:txEl>
                                              <p:pRg st="5" end="5"/>
                                            </p:txEl>
                                          </p:spTgt>
                                        </p:tgtEl>
                                        <p:attrNameLst>
                                          <p:attrName>style.visibility</p:attrName>
                                        </p:attrNameLst>
                                      </p:cBhvr>
                                      <p:to>
                                        <p:strVal val="visible"/>
                                      </p:to>
                                    </p:set>
                                    <p:anim calcmode="lin" valueType="num">
                                      <p:cBhvr additive="base">
                                        <p:cTn id="37" dur="500" fill="hold"/>
                                        <p:tgtEl>
                                          <p:spTgt spid="19763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9763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97637">
                                            <p:txEl>
                                              <p:pRg st="6" end="6"/>
                                            </p:txEl>
                                          </p:spTgt>
                                        </p:tgtEl>
                                        <p:attrNameLst>
                                          <p:attrName>style.visibility</p:attrName>
                                        </p:attrNameLst>
                                      </p:cBhvr>
                                      <p:to>
                                        <p:strVal val="visible"/>
                                      </p:to>
                                    </p:set>
                                    <p:anim calcmode="lin" valueType="num">
                                      <p:cBhvr additive="base">
                                        <p:cTn id="43" dur="500" fill="hold"/>
                                        <p:tgtEl>
                                          <p:spTgt spid="19763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9763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7" grpId="0" build="p" bldLvl="2"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D439A6E6-805A-848B-1F26-9290A575F51D}"/>
              </a:ext>
            </a:extLst>
          </p:cNvPr>
          <p:cNvSpPr>
            <a:spLocks noGrp="1" noChangeArrowheads="1"/>
          </p:cNvSpPr>
          <p:nvPr>
            <p:ph type="title"/>
          </p:nvPr>
        </p:nvSpPr>
        <p:spPr>
          <a:xfrm>
            <a:off x="381000" y="381000"/>
            <a:ext cx="8382000" cy="1143000"/>
          </a:xfrm>
        </p:spPr>
        <p:txBody>
          <a:bodyPr/>
          <a:lstStyle/>
          <a:p>
            <a:pPr>
              <a:lnSpc>
                <a:spcPct val="80000"/>
              </a:lnSpc>
            </a:pPr>
            <a:r>
              <a:rPr lang="en-US" altLang="en-US" sz="4600"/>
              <a:t>Dealing with the Limitations</a:t>
            </a:r>
          </a:p>
        </p:txBody>
      </p:sp>
      <p:sp>
        <p:nvSpPr>
          <p:cNvPr id="13315" name="Rectangle 3">
            <a:extLst>
              <a:ext uri="{FF2B5EF4-FFF2-40B4-BE49-F238E27FC236}">
                <a16:creationId xmlns:a16="http://schemas.microsoft.com/office/drawing/2014/main" id="{38D0C7F0-0C25-CCA6-4698-F855E1A48BA8}"/>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16" name="Rectangle 4">
            <a:extLst>
              <a:ext uri="{FF2B5EF4-FFF2-40B4-BE49-F238E27FC236}">
                <a16:creationId xmlns:a16="http://schemas.microsoft.com/office/drawing/2014/main" id="{8ECBA8F0-5801-5CEC-B024-F1C77657ECD2}"/>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198661" name="Text Box 5">
            <a:extLst>
              <a:ext uri="{FF2B5EF4-FFF2-40B4-BE49-F238E27FC236}">
                <a16:creationId xmlns:a16="http://schemas.microsoft.com/office/drawing/2014/main" id="{1D8F2D73-9711-B3DC-B70E-79B2230A35D0}"/>
              </a:ext>
            </a:extLst>
          </p:cNvPr>
          <p:cNvSpPr txBox="1">
            <a:spLocks noChangeArrowheads="1"/>
          </p:cNvSpPr>
          <p:nvPr/>
        </p:nvSpPr>
        <p:spPr bwMode="auto">
          <a:xfrm>
            <a:off x="266700" y="1676400"/>
            <a:ext cx="8610600" cy="408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10000"/>
              </a:lnSpc>
              <a:spcBef>
                <a:spcPct val="0"/>
              </a:spcBef>
            </a:pPr>
            <a:r>
              <a:rPr lang="en-US" altLang="en-US" sz="3400"/>
              <a:t>  What can we do if we don’t have convex feasible regions for all NLP’s?</a:t>
            </a:r>
          </a:p>
          <a:p>
            <a:pPr>
              <a:lnSpc>
                <a:spcPct val="110000"/>
              </a:lnSpc>
              <a:spcBef>
                <a:spcPct val="0"/>
              </a:spcBef>
            </a:pPr>
            <a:r>
              <a:rPr lang="en-US" altLang="en-US" sz="3400"/>
              <a:t>  Try multiple starting points, better algorithms to solve the NLP’s, hope for global optimality  </a:t>
            </a:r>
          </a:p>
          <a:p>
            <a:pPr>
              <a:lnSpc>
                <a:spcPct val="110000"/>
              </a:lnSpc>
              <a:spcBef>
                <a:spcPct val="0"/>
              </a:spcBef>
            </a:pPr>
            <a:r>
              <a:rPr lang="en-US" altLang="en-US" sz="3400"/>
              <a:t>  Use different relaxations: DICOPT</a:t>
            </a:r>
          </a:p>
          <a:p>
            <a:pPr>
              <a:lnSpc>
                <a:spcPct val="110000"/>
              </a:lnSpc>
              <a:spcBef>
                <a:spcPct val="0"/>
              </a:spcBef>
            </a:pPr>
            <a:r>
              <a:rPr lang="en-US" altLang="en-US" sz="3400"/>
              <a:t>  Use a stochastic method which requires no relaxations at all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8661">
                                            <p:txEl>
                                              <p:pRg st="0" end="0"/>
                                            </p:txEl>
                                          </p:spTgt>
                                        </p:tgtEl>
                                        <p:attrNameLst>
                                          <p:attrName>style.visibility</p:attrName>
                                        </p:attrNameLst>
                                      </p:cBhvr>
                                      <p:to>
                                        <p:strVal val="visible"/>
                                      </p:to>
                                    </p:set>
                                    <p:anim calcmode="lin" valueType="num">
                                      <p:cBhvr additive="base">
                                        <p:cTn id="7" dur="500" fill="hold"/>
                                        <p:tgtEl>
                                          <p:spTgt spid="19866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86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8661">
                                            <p:txEl>
                                              <p:pRg st="1" end="1"/>
                                            </p:txEl>
                                          </p:spTgt>
                                        </p:tgtEl>
                                        <p:attrNameLst>
                                          <p:attrName>style.visibility</p:attrName>
                                        </p:attrNameLst>
                                      </p:cBhvr>
                                      <p:to>
                                        <p:strVal val="visible"/>
                                      </p:to>
                                    </p:set>
                                    <p:anim calcmode="lin" valueType="num">
                                      <p:cBhvr additive="base">
                                        <p:cTn id="13" dur="500" fill="hold"/>
                                        <p:tgtEl>
                                          <p:spTgt spid="19866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866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8661">
                                            <p:txEl>
                                              <p:pRg st="2" end="2"/>
                                            </p:txEl>
                                          </p:spTgt>
                                        </p:tgtEl>
                                        <p:attrNameLst>
                                          <p:attrName>style.visibility</p:attrName>
                                        </p:attrNameLst>
                                      </p:cBhvr>
                                      <p:to>
                                        <p:strVal val="visible"/>
                                      </p:to>
                                    </p:set>
                                    <p:anim calcmode="lin" valueType="num">
                                      <p:cBhvr additive="base">
                                        <p:cTn id="19" dur="500" fill="hold"/>
                                        <p:tgtEl>
                                          <p:spTgt spid="19866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866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98661">
                                            <p:txEl>
                                              <p:pRg st="3" end="3"/>
                                            </p:txEl>
                                          </p:spTgt>
                                        </p:tgtEl>
                                        <p:attrNameLst>
                                          <p:attrName>style.visibility</p:attrName>
                                        </p:attrNameLst>
                                      </p:cBhvr>
                                      <p:to>
                                        <p:strVal val="visible"/>
                                      </p:to>
                                    </p:set>
                                    <p:anim calcmode="lin" valueType="num">
                                      <p:cBhvr additive="base">
                                        <p:cTn id="25" dur="500" fill="hold"/>
                                        <p:tgtEl>
                                          <p:spTgt spid="19866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866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1"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F3E6909C-642D-709C-8ED5-10E9E656162E}"/>
              </a:ext>
            </a:extLst>
          </p:cNvPr>
          <p:cNvSpPr>
            <a:spLocks noGrp="1" noChangeArrowheads="1"/>
          </p:cNvSpPr>
          <p:nvPr>
            <p:ph type="title"/>
          </p:nvPr>
        </p:nvSpPr>
        <p:spPr>
          <a:xfrm>
            <a:off x="381000" y="304800"/>
            <a:ext cx="8382000" cy="1143000"/>
          </a:xfrm>
        </p:spPr>
        <p:txBody>
          <a:bodyPr/>
          <a:lstStyle/>
          <a:p>
            <a:pPr>
              <a:lnSpc>
                <a:spcPct val="80000"/>
              </a:lnSpc>
            </a:pPr>
            <a:r>
              <a:rPr lang="en-US" altLang="en-US" sz="4600"/>
              <a:t>Outer Approximation</a:t>
            </a:r>
          </a:p>
        </p:txBody>
      </p:sp>
      <p:sp>
        <p:nvSpPr>
          <p:cNvPr id="14339" name="Rectangle 3">
            <a:extLst>
              <a:ext uri="{FF2B5EF4-FFF2-40B4-BE49-F238E27FC236}">
                <a16:creationId xmlns:a16="http://schemas.microsoft.com/office/drawing/2014/main" id="{BDF70D17-75B9-01D3-BFCB-6991228427D9}"/>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4340" name="Rectangle 4">
            <a:extLst>
              <a:ext uri="{FF2B5EF4-FFF2-40B4-BE49-F238E27FC236}">
                <a16:creationId xmlns:a16="http://schemas.microsoft.com/office/drawing/2014/main" id="{809F92A5-29E6-CCFA-FD8B-10026A9276F7}"/>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173061" name="Text Box 5">
            <a:extLst>
              <a:ext uri="{FF2B5EF4-FFF2-40B4-BE49-F238E27FC236}">
                <a16:creationId xmlns:a16="http://schemas.microsoft.com/office/drawing/2014/main" id="{3F4470E8-6D15-A94E-83C6-4ED006BB5AA2}"/>
              </a:ext>
            </a:extLst>
          </p:cNvPr>
          <p:cNvSpPr txBox="1">
            <a:spLocks noChangeArrowheads="1"/>
          </p:cNvSpPr>
          <p:nvPr/>
        </p:nvSpPr>
        <p:spPr bwMode="auto">
          <a:xfrm>
            <a:off x="495300" y="1600200"/>
            <a:ext cx="8153400"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Invented by Duran and Grossman (1986), improved by Floudas (1995) – all chemical engineers</a:t>
            </a:r>
          </a:p>
          <a:p>
            <a:pPr lvl="1">
              <a:spcBef>
                <a:spcPct val="0"/>
              </a:spcBef>
              <a:buFontTx/>
              <a:buChar char="•"/>
            </a:pPr>
            <a:r>
              <a:rPr lang="en-US" altLang="en-US" sz="3400"/>
              <a:t>  Uses different relaxations that B&amp;B</a:t>
            </a:r>
          </a:p>
          <a:p>
            <a:pPr lvl="1">
              <a:spcBef>
                <a:spcPct val="0"/>
              </a:spcBef>
              <a:buFontTx/>
              <a:buChar char="•"/>
            </a:pPr>
            <a:r>
              <a:rPr lang="en-US" altLang="en-US" sz="3400"/>
              <a:t>  More robust than B&amp;B (solves more types of problems)</a:t>
            </a:r>
          </a:p>
          <a:p>
            <a:pPr lvl="1">
              <a:spcBef>
                <a:spcPct val="0"/>
              </a:spcBef>
              <a:buFontTx/>
              <a:buChar char="•"/>
            </a:pPr>
            <a:r>
              <a:rPr lang="en-US" altLang="en-US" sz="3400"/>
              <a:t>  Implemented in the solver DICOPT</a:t>
            </a:r>
          </a:p>
          <a:p>
            <a:pPr lvl="1">
              <a:spcBef>
                <a:spcPct val="0"/>
              </a:spcBef>
              <a:buFontTx/>
              <a:buChar char="•"/>
            </a:pPr>
            <a:r>
              <a:rPr lang="en-US" altLang="en-US" sz="3400"/>
              <a:t>  Still, does not always solve nonconvex MINLPs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3061">
                                            <p:txEl>
                                              <p:pRg st="0" end="0"/>
                                            </p:txEl>
                                          </p:spTgt>
                                        </p:tgtEl>
                                        <p:attrNameLst>
                                          <p:attrName>style.visibility</p:attrName>
                                        </p:attrNameLst>
                                      </p:cBhvr>
                                      <p:to>
                                        <p:strVal val="visible"/>
                                      </p:to>
                                    </p:set>
                                    <p:anim calcmode="lin" valueType="num">
                                      <p:cBhvr additive="base">
                                        <p:cTn id="7" dur="500" fill="hold"/>
                                        <p:tgtEl>
                                          <p:spTgt spid="17306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30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3061">
                                            <p:txEl>
                                              <p:pRg st="1" end="1"/>
                                            </p:txEl>
                                          </p:spTgt>
                                        </p:tgtEl>
                                        <p:attrNameLst>
                                          <p:attrName>style.visibility</p:attrName>
                                        </p:attrNameLst>
                                      </p:cBhvr>
                                      <p:to>
                                        <p:strVal val="visible"/>
                                      </p:to>
                                    </p:set>
                                    <p:anim calcmode="lin" valueType="num">
                                      <p:cBhvr additive="base">
                                        <p:cTn id="13" dur="500" fill="hold"/>
                                        <p:tgtEl>
                                          <p:spTgt spid="17306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306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3061">
                                            <p:txEl>
                                              <p:pRg st="2" end="2"/>
                                            </p:txEl>
                                          </p:spTgt>
                                        </p:tgtEl>
                                        <p:attrNameLst>
                                          <p:attrName>style.visibility</p:attrName>
                                        </p:attrNameLst>
                                      </p:cBhvr>
                                      <p:to>
                                        <p:strVal val="visible"/>
                                      </p:to>
                                    </p:set>
                                    <p:anim calcmode="lin" valueType="num">
                                      <p:cBhvr additive="base">
                                        <p:cTn id="19" dur="500" fill="hold"/>
                                        <p:tgtEl>
                                          <p:spTgt spid="17306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306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3061">
                                            <p:txEl>
                                              <p:pRg st="3" end="3"/>
                                            </p:txEl>
                                          </p:spTgt>
                                        </p:tgtEl>
                                        <p:attrNameLst>
                                          <p:attrName>style.visibility</p:attrName>
                                        </p:attrNameLst>
                                      </p:cBhvr>
                                      <p:to>
                                        <p:strVal val="visible"/>
                                      </p:to>
                                    </p:set>
                                    <p:anim calcmode="lin" valueType="num">
                                      <p:cBhvr additive="base">
                                        <p:cTn id="25" dur="500" fill="hold"/>
                                        <p:tgtEl>
                                          <p:spTgt spid="17306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306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73061">
                                            <p:txEl>
                                              <p:pRg st="4" end="4"/>
                                            </p:txEl>
                                          </p:spTgt>
                                        </p:tgtEl>
                                        <p:attrNameLst>
                                          <p:attrName>style.visibility</p:attrName>
                                        </p:attrNameLst>
                                      </p:cBhvr>
                                      <p:to>
                                        <p:strVal val="visible"/>
                                      </p:to>
                                    </p:set>
                                    <p:anim calcmode="lin" valueType="num">
                                      <p:cBhvr additive="base">
                                        <p:cTn id="31" dur="500" fill="hold"/>
                                        <p:tgtEl>
                                          <p:spTgt spid="17306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306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1" grpId="0" build="p" bldLvl="2"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160034B-F2E1-3482-7147-23B9B884DC59}"/>
              </a:ext>
            </a:extLst>
          </p:cNvPr>
          <p:cNvSpPr>
            <a:spLocks noGrp="1" noChangeArrowheads="1"/>
          </p:cNvSpPr>
          <p:nvPr>
            <p:ph type="title"/>
          </p:nvPr>
        </p:nvSpPr>
        <p:spPr>
          <a:xfrm>
            <a:off x="381000" y="304800"/>
            <a:ext cx="8382000" cy="1143000"/>
          </a:xfrm>
        </p:spPr>
        <p:txBody>
          <a:bodyPr>
            <a:normAutofit fontScale="90000"/>
          </a:bodyPr>
          <a:lstStyle/>
          <a:p>
            <a:pPr>
              <a:lnSpc>
                <a:spcPct val="80000"/>
              </a:lnSpc>
            </a:pPr>
            <a:r>
              <a:rPr lang="en-US" altLang="en-US" sz="4600"/>
              <a:t>Outer Approximation – Basic Overview   </a:t>
            </a:r>
          </a:p>
        </p:txBody>
      </p:sp>
      <p:sp>
        <p:nvSpPr>
          <p:cNvPr id="15363" name="Rectangle 3">
            <a:extLst>
              <a:ext uri="{FF2B5EF4-FFF2-40B4-BE49-F238E27FC236}">
                <a16:creationId xmlns:a16="http://schemas.microsoft.com/office/drawing/2014/main" id="{6AF649CD-5924-1468-2E57-6403CB742A91}"/>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5364" name="Rectangle 4">
            <a:extLst>
              <a:ext uri="{FF2B5EF4-FFF2-40B4-BE49-F238E27FC236}">
                <a16:creationId xmlns:a16="http://schemas.microsoft.com/office/drawing/2014/main" id="{62B628A7-0220-6453-8047-79D1EDF3F601}"/>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174085" name="Text Box 5">
            <a:extLst>
              <a:ext uri="{FF2B5EF4-FFF2-40B4-BE49-F238E27FC236}">
                <a16:creationId xmlns:a16="http://schemas.microsoft.com/office/drawing/2014/main" id="{5536996A-0B1A-D167-4D53-439219AFBA91}"/>
              </a:ext>
            </a:extLst>
          </p:cNvPr>
          <p:cNvSpPr txBox="1">
            <a:spLocks noChangeArrowheads="1"/>
          </p:cNvSpPr>
          <p:nvPr/>
        </p:nvSpPr>
        <p:spPr bwMode="auto">
          <a:xfrm>
            <a:off x="495300" y="1584325"/>
            <a:ext cx="8153400"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914400" indent="-4572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Here’s the overall plan for the method:</a:t>
            </a:r>
          </a:p>
          <a:p>
            <a:pPr>
              <a:spcBef>
                <a:spcPct val="0"/>
              </a:spcBef>
            </a:pPr>
            <a:endParaRPr lang="en-US" altLang="en-US" sz="1200"/>
          </a:p>
          <a:p>
            <a:pPr lvl="1">
              <a:spcBef>
                <a:spcPct val="0"/>
              </a:spcBef>
              <a:buFontTx/>
              <a:buAutoNum type="arabicPeriod"/>
            </a:pPr>
            <a:r>
              <a:rPr lang="en-US" altLang="en-US" sz="3100"/>
              <a:t>Fix all the integer variables, solve the resulting NLP to </a:t>
            </a:r>
            <a:r>
              <a:rPr lang="en-US" altLang="en-US" sz="3100" u="sng"/>
              <a:t>global optimality</a:t>
            </a:r>
            <a:r>
              <a:rPr lang="en-US" altLang="en-US" sz="3100"/>
              <a:t> (upper bound)</a:t>
            </a:r>
          </a:p>
          <a:p>
            <a:pPr lvl="1">
              <a:spcBef>
                <a:spcPct val="0"/>
              </a:spcBef>
              <a:buFontTx/>
              <a:buAutoNum type="arabicPeriod"/>
            </a:pPr>
            <a:r>
              <a:rPr lang="en-US" altLang="en-US" sz="3100"/>
              <a:t>Linearize all nonlinear functions around the point found from the NLP relaxation.  This gives an MILP – solve via B&amp;B.  Gives a lower bound if the original MINLP is convex</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4085">
                                            <p:txEl>
                                              <p:pRg st="0" end="0"/>
                                            </p:txEl>
                                          </p:spTgt>
                                        </p:tgtEl>
                                        <p:attrNameLst>
                                          <p:attrName>style.visibility</p:attrName>
                                        </p:attrNameLst>
                                      </p:cBhvr>
                                      <p:to>
                                        <p:strVal val="visible"/>
                                      </p:to>
                                    </p:set>
                                    <p:anim calcmode="lin" valueType="num">
                                      <p:cBhvr additive="base">
                                        <p:cTn id="7" dur="500" fill="hold"/>
                                        <p:tgtEl>
                                          <p:spTgt spid="17408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0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4085">
                                            <p:txEl>
                                              <p:pRg st="2" end="2"/>
                                            </p:txEl>
                                          </p:spTgt>
                                        </p:tgtEl>
                                        <p:attrNameLst>
                                          <p:attrName>style.visibility</p:attrName>
                                        </p:attrNameLst>
                                      </p:cBhvr>
                                      <p:to>
                                        <p:strVal val="visible"/>
                                      </p:to>
                                    </p:set>
                                    <p:anim calcmode="lin" valueType="num">
                                      <p:cBhvr additive="base">
                                        <p:cTn id="13" dur="500" fill="hold"/>
                                        <p:tgtEl>
                                          <p:spTgt spid="17408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08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4085">
                                            <p:txEl>
                                              <p:pRg st="3" end="3"/>
                                            </p:txEl>
                                          </p:spTgt>
                                        </p:tgtEl>
                                        <p:attrNameLst>
                                          <p:attrName>style.visibility</p:attrName>
                                        </p:attrNameLst>
                                      </p:cBhvr>
                                      <p:to>
                                        <p:strVal val="visible"/>
                                      </p:to>
                                    </p:set>
                                    <p:anim calcmode="lin" valueType="num">
                                      <p:cBhvr additive="base">
                                        <p:cTn id="19" dur="500" fill="hold"/>
                                        <p:tgtEl>
                                          <p:spTgt spid="17408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08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5" grpId="0" build="p" bldLvl="2"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7CCF440-2125-A985-EFAF-A2142246A6E8}"/>
              </a:ext>
            </a:extLst>
          </p:cNvPr>
          <p:cNvSpPr>
            <a:spLocks noGrp="1" noChangeArrowheads="1"/>
          </p:cNvSpPr>
          <p:nvPr>
            <p:ph type="title"/>
          </p:nvPr>
        </p:nvSpPr>
        <p:spPr>
          <a:xfrm>
            <a:off x="381000" y="304800"/>
            <a:ext cx="8382000" cy="1143000"/>
          </a:xfrm>
        </p:spPr>
        <p:txBody>
          <a:bodyPr>
            <a:normAutofit fontScale="90000"/>
          </a:bodyPr>
          <a:lstStyle/>
          <a:p>
            <a:pPr>
              <a:lnSpc>
                <a:spcPct val="80000"/>
              </a:lnSpc>
            </a:pPr>
            <a:r>
              <a:rPr lang="en-US" altLang="en-US" sz="4600"/>
              <a:t>Outer Approximation – Basic Overview   </a:t>
            </a:r>
          </a:p>
        </p:txBody>
      </p:sp>
      <p:sp>
        <p:nvSpPr>
          <p:cNvPr id="16387" name="Rectangle 3">
            <a:extLst>
              <a:ext uri="{FF2B5EF4-FFF2-40B4-BE49-F238E27FC236}">
                <a16:creationId xmlns:a16="http://schemas.microsoft.com/office/drawing/2014/main" id="{6F4F4AFD-7BDF-FF7B-C700-CAA568046249}"/>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6388" name="Rectangle 4">
            <a:extLst>
              <a:ext uri="{FF2B5EF4-FFF2-40B4-BE49-F238E27FC236}">
                <a16:creationId xmlns:a16="http://schemas.microsoft.com/office/drawing/2014/main" id="{5821FAFC-1606-45AE-6B8E-97991E9A8682}"/>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199685" name="Text Box 5">
            <a:extLst>
              <a:ext uri="{FF2B5EF4-FFF2-40B4-BE49-F238E27FC236}">
                <a16:creationId xmlns:a16="http://schemas.microsoft.com/office/drawing/2014/main" id="{76FFC347-81F2-C7F2-A8FA-974E03A98160}"/>
              </a:ext>
            </a:extLst>
          </p:cNvPr>
          <p:cNvSpPr txBox="1">
            <a:spLocks noChangeArrowheads="1"/>
          </p:cNvSpPr>
          <p:nvPr/>
        </p:nvSpPr>
        <p:spPr bwMode="auto">
          <a:xfrm>
            <a:off x="495300" y="1524000"/>
            <a:ext cx="8153400"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914400" indent="-45720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Here’s the rest of the plan:</a:t>
            </a:r>
          </a:p>
          <a:p>
            <a:pPr lvl="1">
              <a:spcBef>
                <a:spcPct val="0"/>
              </a:spcBef>
              <a:buFontTx/>
              <a:buNone/>
            </a:pPr>
            <a:r>
              <a:rPr lang="en-US" altLang="en-US"/>
              <a:t>3.   </a:t>
            </a:r>
            <a:r>
              <a:rPr lang="en-US" altLang="en-US" sz="3100"/>
              <a:t>Repeat the NLP relaxation, but solve with different values for the integer variables.  This may give a new upper bound.</a:t>
            </a:r>
          </a:p>
          <a:p>
            <a:pPr lvl="1">
              <a:spcBef>
                <a:spcPct val="0"/>
              </a:spcBef>
              <a:buFontTx/>
              <a:buNone/>
            </a:pPr>
            <a:r>
              <a:rPr lang="en-US" altLang="en-US" sz="3100"/>
              <a:t>4.   Again, linearize around the new NLP point. Repeat the MILP solve, but </a:t>
            </a:r>
            <a:r>
              <a:rPr lang="en-US" altLang="en-US" sz="3100" u="sng"/>
              <a:t>add</a:t>
            </a:r>
            <a:r>
              <a:rPr lang="en-US" altLang="en-US" sz="3100"/>
              <a:t> these new constraints to the previous MILP.  This gives a more constrained MILP, so the lower bound moves up.  Convergence is guaranteed!</a:t>
            </a:r>
            <a:endParaRPr lang="en-US" altLang="en-US" sz="3100" u="sng"/>
          </a:p>
          <a:p>
            <a:pPr lvl="1">
              <a:spcBef>
                <a:spcPct val="0"/>
              </a:spcBef>
              <a:buFontTx/>
              <a:buChar char="•"/>
            </a:pPr>
            <a:endParaRPr lang="en-US" altLang="en-US" sz="31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9685">
                                            <p:txEl>
                                              <p:pRg st="0" end="0"/>
                                            </p:txEl>
                                          </p:spTgt>
                                        </p:tgtEl>
                                        <p:attrNameLst>
                                          <p:attrName>style.visibility</p:attrName>
                                        </p:attrNameLst>
                                      </p:cBhvr>
                                      <p:to>
                                        <p:strVal val="visible"/>
                                      </p:to>
                                    </p:set>
                                    <p:anim calcmode="lin" valueType="num">
                                      <p:cBhvr additive="base">
                                        <p:cTn id="7" dur="500" fill="hold"/>
                                        <p:tgtEl>
                                          <p:spTgt spid="19968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96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9685">
                                            <p:txEl>
                                              <p:pRg st="1" end="1"/>
                                            </p:txEl>
                                          </p:spTgt>
                                        </p:tgtEl>
                                        <p:attrNameLst>
                                          <p:attrName>style.visibility</p:attrName>
                                        </p:attrNameLst>
                                      </p:cBhvr>
                                      <p:to>
                                        <p:strVal val="visible"/>
                                      </p:to>
                                    </p:set>
                                    <p:anim calcmode="lin" valueType="num">
                                      <p:cBhvr additive="base">
                                        <p:cTn id="13" dur="500" fill="hold"/>
                                        <p:tgtEl>
                                          <p:spTgt spid="19968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968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9685">
                                            <p:txEl>
                                              <p:pRg st="2" end="2"/>
                                            </p:txEl>
                                          </p:spTgt>
                                        </p:tgtEl>
                                        <p:attrNameLst>
                                          <p:attrName>style.visibility</p:attrName>
                                        </p:attrNameLst>
                                      </p:cBhvr>
                                      <p:to>
                                        <p:strVal val="visible"/>
                                      </p:to>
                                    </p:set>
                                    <p:anim calcmode="lin" valueType="num">
                                      <p:cBhvr additive="base">
                                        <p:cTn id="19" dur="500" fill="hold"/>
                                        <p:tgtEl>
                                          <p:spTgt spid="19968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968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5" grpId="0" build="p" bldLvl="2"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a:extLst>
              <a:ext uri="{FF2B5EF4-FFF2-40B4-BE49-F238E27FC236}">
                <a16:creationId xmlns:a16="http://schemas.microsoft.com/office/drawing/2014/main" id="{504CA26C-1457-1186-8572-670FB649A274}"/>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Solving the Subproblems </a:t>
            </a:r>
          </a:p>
        </p:txBody>
      </p:sp>
      <p:sp>
        <p:nvSpPr>
          <p:cNvPr id="17411" name="Rectangle 1027">
            <a:extLst>
              <a:ext uri="{FF2B5EF4-FFF2-40B4-BE49-F238E27FC236}">
                <a16:creationId xmlns:a16="http://schemas.microsoft.com/office/drawing/2014/main" id="{D0D8DFD2-D989-7619-3261-272EF2E7181D}"/>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7412" name="Rectangle 1028">
            <a:extLst>
              <a:ext uri="{FF2B5EF4-FFF2-40B4-BE49-F238E27FC236}">
                <a16:creationId xmlns:a16="http://schemas.microsoft.com/office/drawing/2014/main" id="{E9947485-22B5-E30B-1BB3-670DEB3FC4F8}"/>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200709" name="Text Box 1029">
            <a:extLst>
              <a:ext uri="{FF2B5EF4-FFF2-40B4-BE49-F238E27FC236}">
                <a16:creationId xmlns:a16="http://schemas.microsoft.com/office/drawing/2014/main" id="{FE571E45-BE1B-6A1E-705C-12DB9AB68906}"/>
              </a:ext>
            </a:extLst>
          </p:cNvPr>
          <p:cNvSpPr txBox="1">
            <a:spLocks noChangeArrowheads="1"/>
          </p:cNvSpPr>
          <p:nvPr/>
        </p:nvSpPr>
        <p:spPr bwMode="auto">
          <a:xfrm>
            <a:off x="495300" y="1295400"/>
            <a:ext cx="8153400"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How does DICOPT solve the NLP and MILP subproblems?</a:t>
            </a:r>
          </a:p>
          <a:p>
            <a:pPr>
              <a:spcBef>
                <a:spcPct val="0"/>
              </a:spcBef>
            </a:pPr>
            <a:r>
              <a:rPr lang="en-US" altLang="en-US" sz="3400"/>
              <a:t>You decide.  Conopt is the default solver for the NLP subproblems, CPLEX for the MILP subproblems</a:t>
            </a:r>
          </a:p>
          <a:p>
            <a:pPr>
              <a:spcBef>
                <a:spcPct val="0"/>
              </a:spcBef>
            </a:pPr>
            <a:r>
              <a:rPr lang="en-US" altLang="en-US" sz="3400"/>
              <a:t>Sometimes, MINOS is faster for the NLP’s, or OSL may be faster for the MILPs</a:t>
            </a:r>
          </a:p>
          <a:p>
            <a:pPr>
              <a:spcBef>
                <a:spcPct val="0"/>
              </a:spcBef>
            </a:pPr>
            <a:r>
              <a:rPr lang="en-US" altLang="en-US" sz="3400"/>
              <a:t>Change via the ‘option’ statement in GAMS</a:t>
            </a:r>
            <a:endParaRPr lang="en-US" altLang="en-US" sz="31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0709">
                                            <p:txEl>
                                              <p:pRg st="0" end="0"/>
                                            </p:txEl>
                                          </p:spTgt>
                                        </p:tgtEl>
                                        <p:attrNameLst>
                                          <p:attrName>style.visibility</p:attrName>
                                        </p:attrNameLst>
                                      </p:cBhvr>
                                      <p:to>
                                        <p:strVal val="visible"/>
                                      </p:to>
                                    </p:set>
                                    <p:anim calcmode="lin" valueType="num">
                                      <p:cBhvr additive="base">
                                        <p:cTn id="7" dur="500" fill="hold"/>
                                        <p:tgtEl>
                                          <p:spTgt spid="20070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07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0709">
                                            <p:txEl>
                                              <p:pRg st="1" end="1"/>
                                            </p:txEl>
                                          </p:spTgt>
                                        </p:tgtEl>
                                        <p:attrNameLst>
                                          <p:attrName>style.visibility</p:attrName>
                                        </p:attrNameLst>
                                      </p:cBhvr>
                                      <p:to>
                                        <p:strVal val="visible"/>
                                      </p:to>
                                    </p:set>
                                    <p:anim calcmode="lin" valueType="num">
                                      <p:cBhvr additive="base">
                                        <p:cTn id="13" dur="500" fill="hold"/>
                                        <p:tgtEl>
                                          <p:spTgt spid="20070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070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00709">
                                            <p:txEl>
                                              <p:pRg st="2" end="2"/>
                                            </p:txEl>
                                          </p:spTgt>
                                        </p:tgtEl>
                                        <p:attrNameLst>
                                          <p:attrName>style.visibility</p:attrName>
                                        </p:attrNameLst>
                                      </p:cBhvr>
                                      <p:to>
                                        <p:strVal val="visible"/>
                                      </p:to>
                                    </p:set>
                                    <p:anim calcmode="lin" valueType="num">
                                      <p:cBhvr additive="base">
                                        <p:cTn id="19" dur="500" fill="hold"/>
                                        <p:tgtEl>
                                          <p:spTgt spid="20070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070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00709">
                                            <p:txEl>
                                              <p:pRg st="3" end="3"/>
                                            </p:txEl>
                                          </p:spTgt>
                                        </p:tgtEl>
                                        <p:attrNameLst>
                                          <p:attrName>style.visibility</p:attrName>
                                        </p:attrNameLst>
                                      </p:cBhvr>
                                      <p:to>
                                        <p:strVal val="visible"/>
                                      </p:to>
                                    </p:set>
                                    <p:anim calcmode="lin" valueType="num">
                                      <p:cBhvr additive="base">
                                        <p:cTn id="25" dur="500" fill="hold"/>
                                        <p:tgtEl>
                                          <p:spTgt spid="20070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070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9" grpId="0" build="p"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F3FE054-A98B-6100-520A-38AC3814D511}"/>
              </a:ext>
            </a:extLst>
          </p:cNvPr>
          <p:cNvSpPr>
            <a:spLocks noGrp="1" noChangeArrowheads="1"/>
          </p:cNvSpPr>
          <p:nvPr>
            <p:ph type="title"/>
          </p:nvPr>
        </p:nvSpPr>
        <p:spPr>
          <a:xfrm>
            <a:off x="381000" y="0"/>
            <a:ext cx="8382000" cy="1143000"/>
          </a:xfrm>
        </p:spPr>
        <p:txBody>
          <a:bodyPr/>
          <a:lstStyle/>
          <a:p>
            <a:pPr>
              <a:lnSpc>
                <a:spcPct val="80000"/>
              </a:lnSpc>
            </a:pPr>
            <a:r>
              <a:rPr lang="en-US" altLang="en-US" sz="4000"/>
              <a:t>General Structure: OA subproblems</a:t>
            </a:r>
          </a:p>
        </p:txBody>
      </p:sp>
      <p:sp>
        <p:nvSpPr>
          <p:cNvPr id="18435" name="Rectangle 3">
            <a:extLst>
              <a:ext uri="{FF2B5EF4-FFF2-40B4-BE49-F238E27FC236}">
                <a16:creationId xmlns:a16="http://schemas.microsoft.com/office/drawing/2014/main" id="{265C69AF-31C5-2EDC-3ADA-E18FBAA29FEE}"/>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8436" name="Rectangle 4">
            <a:extLst>
              <a:ext uri="{FF2B5EF4-FFF2-40B4-BE49-F238E27FC236}">
                <a16:creationId xmlns:a16="http://schemas.microsoft.com/office/drawing/2014/main" id="{D54607DE-82B9-B083-306A-B18FF2448D31}"/>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graphicFrame>
        <p:nvGraphicFramePr>
          <p:cNvPr id="18437" name="Object 1024">
            <a:extLst>
              <a:ext uri="{FF2B5EF4-FFF2-40B4-BE49-F238E27FC236}">
                <a16:creationId xmlns:a16="http://schemas.microsoft.com/office/drawing/2014/main" id="{0AD37E50-5FF1-61C4-3808-C3719EF37828}"/>
              </a:ext>
            </a:extLst>
          </p:cNvPr>
          <p:cNvGraphicFramePr>
            <a:graphicFrameLocks noChangeAspect="1"/>
          </p:cNvGraphicFramePr>
          <p:nvPr/>
        </p:nvGraphicFramePr>
        <p:xfrm>
          <a:off x="914400" y="990600"/>
          <a:ext cx="7667625" cy="5395913"/>
        </p:xfrm>
        <a:graphic>
          <a:graphicData uri="http://schemas.openxmlformats.org/presentationml/2006/ole">
            <mc:AlternateContent xmlns:mc="http://schemas.openxmlformats.org/markup-compatibility/2006">
              <mc:Choice xmlns:v="urn:schemas-microsoft-com:vml" Requires="v">
                <p:oleObj name="Equation" r:id="rId2" imgW="3225800" imgH="2273300" progId="Equation.3">
                  <p:embed/>
                </p:oleObj>
              </mc:Choice>
              <mc:Fallback>
                <p:oleObj name="Equation" r:id="rId2" imgW="3225800" imgH="2273300" progId="Equation.3">
                  <p:embed/>
                  <p:pic>
                    <p:nvPicPr>
                      <p:cNvPr id="18437" name="Object 1024">
                        <a:extLst>
                          <a:ext uri="{FF2B5EF4-FFF2-40B4-BE49-F238E27FC236}">
                            <a16:creationId xmlns:a16="http://schemas.microsoft.com/office/drawing/2014/main" id="{0AD37E50-5FF1-61C4-3808-C3719EF378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990600"/>
                        <a:ext cx="7667625" cy="539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2922CD2-CFCE-EE0E-A05C-1304F0A85836}"/>
              </a:ext>
            </a:extLst>
          </p:cNvPr>
          <p:cNvSpPr>
            <a:spLocks noGrp="1" noChangeArrowheads="1"/>
          </p:cNvSpPr>
          <p:nvPr>
            <p:ph type="title"/>
          </p:nvPr>
        </p:nvSpPr>
        <p:spPr>
          <a:xfrm>
            <a:off x="381000" y="304800"/>
            <a:ext cx="8382000" cy="1143000"/>
          </a:xfrm>
        </p:spPr>
        <p:txBody>
          <a:bodyPr/>
          <a:lstStyle/>
          <a:p>
            <a:pPr>
              <a:lnSpc>
                <a:spcPct val="80000"/>
              </a:lnSpc>
            </a:pPr>
            <a:r>
              <a:rPr lang="en-US" altLang="en-US" sz="4600"/>
              <a:t>“Linearizing” the Objective</a:t>
            </a:r>
          </a:p>
        </p:txBody>
      </p:sp>
      <p:sp>
        <p:nvSpPr>
          <p:cNvPr id="19459" name="Rectangle 3">
            <a:extLst>
              <a:ext uri="{FF2B5EF4-FFF2-40B4-BE49-F238E27FC236}">
                <a16:creationId xmlns:a16="http://schemas.microsoft.com/office/drawing/2014/main" id="{5E2952F1-40B4-9230-FE8A-8E0665613E26}"/>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9460" name="Rectangle 4">
            <a:extLst>
              <a:ext uri="{FF2B5EF4-FFF2-40B4-BE49-F238E27FC236}">
                <a16:creationId xmlns:a16="http://schemas.microsoft.com/office/drawing/2014/main" id="{28319C5C-97DB-5024-FE5C-82ACA7CAF573}"/>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190469" name="Text Box 5">
            <a:extLst>
              <a:ext uri="{FF2B5EF4-FFF2-40B4-BE49-F238E27FC236}">
                <a16:creationId xmlns:a16="http://schemas.microsoft.com/office/drawing/2014/main" id="{6A9F65E7-FA19-EFF5-6161-BA391458F02B}"/>
              </a:ext>
            </a:extLst>
          </p:cNvPr>
          <p:cNvSpPr txBox="1">
            <a:spLocks noChangeArrowheads="1"/>
          </p:cNvSpPr>
          <p:nvPr/>
        </p:nvSpPr>
        <p:spPr bwMode="auto">
          <a:xfrm>
            <a:off x="304800" y="1447800"/>
            <a:ext cx="853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How can I linearize</a:t>
            </a:r>
            <a:endParaRPr lang="en-US" altLang="en-US" sz="3000"/>
          </a:p>
        </p:txBody>
      </p:sp>
      <p:graphicFrame>
        <p:nvGraphicFramePr>
          <p:cNvPr id="203776" name="Object 0">
            <a:extLst>
              <a:ext uri="{FF2B5EF4-FFF2-40B4-BE49-F238E27FC236}">
                <a16:creationId xmlns:a16="http://schemas.microsoft.com/office/drawing/2014/main" id="{C6496E5A-3CEA-5334-81A8-FCFC73054478}"/>
              </a:ext>
            </a:extLst>
          </p:cNvPr>
          <p:cNvGraphicFramePr>
            <a:graphicFrameLocks noChangeAspect="1"/>
          </p:cNvGraphicFramePr>
          <p:nvPr/>
        </p:nvGraphicFramePr>
        <p:xfrm>
          <a:off x="3046413" y="2209800"/>
          <a:ext cx="3048000" cy="542925"/>
        </p:xfrm>
        <a:graphic>
          <a:graphicData uri="http://schemas.openxmlformats.org/presentationml/2006/ole">
            <mc:AlternateContent xmlns:mc="http://schemas.openxmlformats.org/markup-compatibility/2006">
              <mc:Choice xmlns:v="urn:schemas-microsoft-com:vml" Requires="v">
                <p:oleObj name="Equation" r:id="rId2" imgW="1282700" imgH="228600" progId="Equation.3">
                  <p:embed/>
                </p:oleObj>
              </mc:Choice>
              <mc:Fallback>
                <p:oleObj name="Equation" r:id="rId2" imgW="1282700" imgH="228600" progId="Equation.3">
                  <p:embed/>
                  <p:pic>
                    <p:nvPicPr>
                      <p:cNvPr id="203776" name="Object 0">
                        <a:extLst>
                          <a:ext uri="{FF2B5EF4-FFF2-40B4-BE49-F238E27FC236}">
                            <a16:creationId xmlns:a16="http://schemas.microsoft.com/office/drawing/2014/main" id="{C6496E5A-3CEA-5334-81A8-FCFC73054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6413" y="2209800"/>
                        <a:ext cx="3048000"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0477" name="Text Box 13">
            <a:extLst>
              <a:ext uri="{FF2B5EF4-FFF2-40B4-BE49-F238E27FC236}">
                <a16:creationId xmlns:a16="http://schemas.microsoft.com/office/drawing/2014/main" id="{A9F7D6D7-2A5A-A142-0B72-8A484D69B91A}"/>
              </a:ext>
            </a:extLst>
          </p:cNvPr>
          <p:cNvSpPr txBox="1">
            <a:spLocks noChangeArrowheads="1"/>
          </p:cNvSpPr>
          <p:nvPr/>
        </p:nvSpPr>
        <p:spPr bwMode="auto">
          <a:xfrm>
            <a:off x="304800" y="2819400"/>
            <a:ext cx="27606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Use a trick:</a:t>
            </a:r>
          </a:p>
        </p:txBody>
      </p:sp>
      <p:graphicFrame>
        <p:nvGraphicFramePr>
          <p:cNvPr id="203777" name="Object 1">
            <a:extLst>
              <a:ext uri="{FF2B5EF4-FFF2-40B4-BE49-F238E27FC236}">
                <a16:creationId xmlns:a16="http://schemas.microsoft.com/office/drawing/2014/main" id="{D55C7855-EA9E-6F10-8D9F-063EAB844332}"/>
              </a:ext>
            </a:extLst>
          </p:cNvPr>
          <p:cNvGraphicFramePr>
            <a:graphicFrameLocks noChangeAspect="1"/>
          </p:cNvGraphicFramePr>
          <p:nvPr/>
        </p:nvGraphicFramePr>
        <p:xfrm>
          <a:off x="1960563" y="3581400"/>
          <a:ext cx="5222875" cy="1085850"/>
        </p:xfrm>
        <a:graphic>
          <a:graphicData uri="http://schemas.openxmlformats.org/presentationml/2006/ole">
            <mc:AlternateContent xmlns:mc="http://schemas.openxmlformats.org/markup-compatibility/2006">
              <mc:Choice xmlns:v="urn:schemas-microsoft-com:vml" Requires="v">
                <p:oleObj name="Equation" r:id="rId4" imgW="2197100" imgH="457200" progId="Equation.3">
                  <p:embed/>
                </p:oleObj>
              </mc:Choice>
              <mc:Fallback>
                <p:oleObj name="Equation" r:id="rId4" imgW="2197100" imgH="457200" progId="Equation.3">
                  <p:embed/>
                  <p:pic>
                    <p:nvPicPr>
                      <p:cNvPr id="203777" name="Object 1">
                        <a:extLst>
                          <a:ext uri="{FF2B5EF4-FFF2-40B4-BE49-F238E27FC236}">
                            <a16:creationId xmlns:a16="http://schemas.microsoft.com/office/drawing/2014/main" id="{D55C7855-EA9E-6F10-8D9F-063EAB8443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0563" y="3581400"/>
                        <a:ext cx="5222875"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0479" name="Text Box 15">
            <a:extLst>
              <a:ext uri="{FF2B5EF4-FFF2-40B4-BE49-F238E27FC236}">
                <a16:creationId xmlns:a16="http://schemas.microsoft.com/office/drawing/2014/main" id="{CC08C01B-B8F6-7E8C-C26B-B938F555B2DB}"/>
              </a:ext>
            </a:extLst>
          </p:cNvPr>
          <p:cNvSpPr txBox="1">
            <a:spLocks noChangeArrowheads="1"/>
          </p:cNvSpPr>
          <p:nvPr/>
        </p:nvSpPr>
        <p:spPr bwMode="auto">
          <a:xfrm>
            <a:off x="457200" y="5181600"/>
            <a:ext cx="77739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400"/>
              <a:t>and now linearize </a:t>
            </a:r>
            <a:r>
              <a:rPr lang="en-US" altLang="en-US" sz="3400" i="1"/>
              <a:t>f(x)</a:t>
            </a:r>
            <a:r>
              <a:rPr lang="en-US" altLang="en-US" sz="3400"/>
              <a:t> using a Taylor series.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0469">
                                            <p:txEl>
                                              <p:pRg st="0" end="0"/>
                                            </p:txEl>
                                          </p:spTgt>
                                        </p:tgtEl>
                                        <p:attrNameLst>
                                          <p:attrName>style.visibility</p:attrName>
                                        </p:attrNameLst>
                                      </p:cBhvr>
                                      <p:to>
                                        <p:strVal val="visible"/>
                                      </p:to>
                                    </p:set>
                                    <p:anim calcmode="lin" valueType="num">
                                      <p:cBhvr additive="base">
                                        <p:cTn id="7" dur="500" fill="hold"/>
                                        <p:tgtEl>
                                          <p:spTgt spid="19046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046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3776"/>
                                        </p:tgtEl>
                                        <p:attrNameLst>
                                          <p:attrName>style.visibility</p:attrName>
                                        </p:attrNameLst>
                                      </p:cBhvr>
                                      <p:to>
                                        <p:strVal val="visible"/>
                                      </p:to>
                                    </p:set>
                                    <p:anim calcmode="lin" valueType="num">
                                      <p:cBhvr additive="base">
                                        <p:cTn id="13" dur="500" fill="hold"/>
                                        <p:tgtEl>
                                          <p:spTgt spid="203776"/>
                                        </p:tgtEl>
                                        <p:attrNameLst>
                                          <p:attrName>ppt_x</p:attrName>
                                        </p:attrNameLst>
                                      </p:cBhvr>
                                      <p:tavLst>
                                        <p:tav tm="0">
                                          <p:val>
                                            <p:strVal val="0-#ppt_w/2"/>
                                          </p:val>
                                        </p:tav>
                                        <p:tav tm="100000">
                                          <p:val>
                                            <p:strVal val="#ppt_x"/>
                                          </p:val>
                                        </p:tav>
                                      </p:tavLst>
                                    </p:anim>
                                    <p:anim calcmode="lin" valueType="num">
                                      <p:cBhvr additive="base">
                                        <p:cTn id="14" dur="500" fill="hold"/>
                                        <p:tgtEl>
                                          <p:spTgt spid="20377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0477"/>
                                        </p:tgtEl>
                                        <p:attrNameLst>
                                          <p:attrName>style.visibility</p:attrName>
                                        </p:attrNameLst>
                                      </p:cBhvr>
                                      <p:to>
                                        <p:strVal val="visible"/>
                                      </p:to>
                                    </p:set>
                                    <p:anim calcmode="lin" valueType="num">
                                      <p:cBhvr additive="base">
                                        <p:cTn id="19" dur="500" fill="hold"/>
                                        <p:tgtEl>
                                          <p:spTgt spid="190477"/>
                                        </p:tgtEl>
                                        <p:attrNameLst>
                                          <p:attrName>ppt_x</p:attrName>
                                        </p:attrNameLst>
                                      </p:cBhvr>
                                      <p:tavLst>
                                        <p:tav tm="0">
                                          <p:val>
                                            <p:strVal val="0-#ppt_w/2"/>
                                          </p:val>
                                        </p:tav>
                                        <p:tav tm="100000">
                                          <p:val>
                                            <p:strVal val="#ppt_x"/>
                                          </p:val>
                                        </p:tav>
                                      </p:tavLst>
                                    </p:anim>
                                    <p:anim calcmode="lin" valueType="num">
                                      <p:cBhvr additive="base">
                                        <p:cTn id="20" dur="500" fill="hold"/>
                                        <p:tgtEl>
                                          <p:spTgt spid="19047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03777"/>
                                        </p:tgtEl>
                                        <p:attrNameLst>
                                          <p:attrName>style.visibility</p:attrName>
                                        </p:attrNameLst>
                                      </p:cBhvr>
                                      <p:to>
                                        <p:strVal val="visible"/>
                                      </p:to>
                                    </p:set>
                                    <p:anim calcmode="lin" valueType="num">
                                      <p:cBhvr additive="base">
                                        <p:cTn id="25" dur="500" fill="hold"/>
                                        <p:tgtEl>
                                          <p:spTgt spid="203777"/>
                                        </p:tgtEl>
                                        <p:attrNameLst>
                                          <p:attrName>ppt_x</p:attrName>
                                        </p:attrNameLst>
                                      </p:cBhvr>
                                      <p:tavLst>
                                        <p:tav tm="0">
                                          <p:val>
                                            <p:strVal val="0-#ppt_w/2"/>
                                          </p:val>
                                        </p:tav>
                                        <p:tav tm="100000">
                                          <p:val>
                                            <p:strVal val="#ppt_x"/>
                                          </p:val>
                                        </p:tav>
                                      </p:tavLst>
                                    </p:anim>
                                    <p:anim calcmode="lin" valueType="num">
                                      <p:cBhvr additive="base">
                                        <p:cTn id="26" dur="500" fill="hold"/>
                                        <p:tgtEl>
                                          <p:spTgt spid="20377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90479"/>
                                        </p:tgtEl>
                                        <p:attrNameLst>
                                          <p:attrName>style.visibility</p:attrName>
                                        </p:attrNameLst>
                                      </p:cBhvr>
                                      <p:to>
                                        <p:strVal val="visible"/>
                                      </p:to>
                                    </p:set>
                                    <p:anim calcmode="lin" valueType="num">
                                      <p:cBhvr additive="base">
                                        <p:cTn id="31" dur="500" fill="hold"/>
                                        <p:tgtEl>
                                          <p:spTgt spid="190479"/>
                                        </p:tgtEl>
                                        <p:attrNameLst>
                                          <p:attrName>ppt_x</p:attrName>
                                        </p:attrNameLst>
                                      </p:cBhvr>
                                      <p:tavLst>
                                        <p:tav tm="0">
                                          <p:val>
                                            <p:strVal val="0-#ppt_w/2"/>
                                          </p:val>
                                        </p:tav>
                                        <p:tav tm="100000">
                                          <p:val>
                                            <p:strVal val="#ppt_x"/>
                                          </p:val>
                                        </p:tav>
                                      </p:tavLst>
                                    </p:anim>
                                    <p:anim calcmode="lin" valueType="num">
                                      <p:cBhvr additive="base">
                                        <p:cTn id="32" dur="500" fill="hold"/>
                                        <p:tgtEl>
                                          <p:spTgt spid="1904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9" grpId="0" build="p" bldLvl="2" autoUpdateAnimBg="0"/>
      <p:bldP spid="190477" grpId="0" autoUpdateAnimBg="0"/>
      <p:bldP spid="190479"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a:extLst>
              <a:ext uri="{FF2B5EF4-FFF2-40B4-BE49-F238E27FC236}">
                <a16:creationId xmlns:a16="http://schemas.microsoft.com/office/drawing/2014/main" id="{8A593890-E517-F546-3D9E-1041E8A07AFA}"/>
              </a:ext>
            </a:extLst>
          </p:cNvPr>
          <p:cNvSpPr>
            <a:spLocks noGrp="1" noChangeArrowheads="1"/>
          </p:cNvSpPr>
          <p:nvPr>
            <p:ph type="title"/>
          </p:nvPr>
        </p:nvSpPr>
        <p:spPr>
          <a:xfrm>
            <a:off x="381000" y="304800"/>
            <a:ext cx="8382000" cy="1143000"/>
          </a:xfrm>
        </p:spPr>
        <p:txBody>
          <a:bodyPr/>
          <a:lstStyle/>
          <a:p>
            <a:pPr>
              <a:lnSpc>
                <a:spcPct val="80000"/>
              </a:lnSpc>
            </a:pPr>
            <a:r>
              <a:rPr lang="en-US" altLang="en-US" sz="4600"/>
              <a:t>Conclusions</a:t>
            </a:r>
          </a:p>
        </p:txBody>
      </p:sp>
      <p:sp>
        <p:nvSpPr>
          <p:cNvPr id="20483" name="Rectangle 1027">
            <a:extLst>
              <a:ext uri="{FF2B5EF4-FFF2-40B4-BE49-F238E27FC236}">
                <a16:creationId xmlns:a16="http://schemas.microsoft.com/office/drawing/2014/main" id="{819A72C8-8292-A7BD-AA8D-1C751BDB172B}"/>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20484" name="Rectangle 1028">
            <a:extLst>
              <a:ext uri="{FF2B5EF4-FFF2-40B4-BE49-F238E27FC236}">
                <a16:creationId xmlns:a16="http://schemas.microsoft.com/office/drawing/2014/main" id="{78E2FD83-9ADE-4589-964B-B4686E2A9FBD}"/>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27</a:t>
            </a:r>
          </a:p>
        </p:txBody>
      </p:sp>
      <p:sp>
        <p:nvSpPr>
          <p:cNvPr id="20485" name="Text Box 1029">
            <a:extLst>
              <a:ext uri="{FF2B5EF4-FFF2-40B4-BE49-F238E27FC236}">
                <a16:creationId xmlns:a16="http://schemas.microsoft.com/office/drawing/2014/main" id="{88F4C7D5-3D4C-4407-0316-722D89820493}"/>
              </a:ext>
            </a:extLst>
          </p:cNvPr>
          <p:cNvSpPr txBox="1">
            <a:spLocks noChangeArrowheads="1"/>
          </p:cNvSpPr>
          <p:nvPr/>
        </p:nvSpPr>
        <p:spPr bwMode="auto">
          <a:xfrm>
            <a:off x="495300" y="1447800"/>
            <a:ext cx="8153400"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Outer Approximation is a powerful solver for convex and nonconvex MINLPs</a:t>
            </a:r>
          </a:p>
          <a:p>
            <a:pPr lvl="1">
              <a:spcBef>
                <a:spcPct val="0"/>
              </a:spcBef>
              <a:buFontTx/>
              <a:buChar char="•"/>
            </a:pPr>
            <a:r>
              <a:rPr lang="en-US" altLang="en-US" sz="3400"/>
              <a:t>  Solves a sequence of NLPs and MILPs</a:t>
            </a:r>
          </a:p>
          <a:p>
            <a:pPr lvl="1">
              <a:spcBef>
                <a:spcPct val="0"/>
              </a:spcBef>
              <a:buFontTx/>
              <a:buChar char="•"/>
            </a:pPr>
            <a:r>
              <a:rPr lang="en-US" altLang="en-US" sz="3400"/>
              <a:t>  Guaranteed convergence to global optimum for convex problems</a:t>
            </a:r>
          </a:p>
          <a:p>
            <a:pPr lvl="1">
              <a:spcBef>
                <a:spcPct val="0"/>
              </a:spcBef>
              <a:buFontTx/>
              <a:buChar char="•"/>
            </a:pPr>
            <a:r>
              <a:rPr lang="en-US" altLang="en-US" sz="3400"/>
              <a:t>  Often can find the global optimum for nonconvex problems</a:t>
            </a:r>
          </a:p>
          <a:p>
            <a:pPr lvl="1">
              <a:spcBef>
                <a:spcPct val="0"/>
              </a:spcBef>
              <a:buFontTx/>
              <a:buChar char="•"/>
            </a:pPr>
            <a:r>
              <a:rPr lang="en-US" altLang="en-US" sz="3400"/>
              <a:t>  To speed this up, keep the number of binary variables small!</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D451C9-A9C9-43A7-BA7D-F93E8BA8C966}"/>
              </a:ext>
            </a:extLst>
          </p:cNvPr>
          <p:cNvSpPr>
            <a:spLocks noGrp="1" noChangeArrowheads="1"/>
          </p:cNvSpPr>
          <p:nvPr>
            <p:ph type="title"/>
          </p:nvPr>
        </p:nvSpPr>
        <p:spPr>
          <a:xfrm>
            <a:off x="381000" y="152400"/>
            <a:ext cx="8382000" cy="1143000"/>
          </a:xfrm>
        </p:spPr>
        <p:txBody>
          <a:bodyPr>
            <a:normAutofit fontScale="90000"/>
          </a:bodyPr>
          <a:lstStyle/>
          <a:p>
            <a:pPr>
              <a:lnSpc>
                <a:spcPct val="80000"/>
              </a:lnSpc>
            </a:pPr>
            <a:r>
              <a:rPr lang="en-US" altLang="en-US" sz="4600"/>
              <a:t>Bender’s Decomposition - Subproblems </a:t>
            </a:r>
          </a:p>
        </p:txBody>
      </p:sp>
      <p:sp>
        <p:nvSpPr>
          <p:cNvPr id="5123" name="Rectangle 3">
            <a:extLst>
              <a:ext uri="{FF2B5EF4-FFF2-40B4-BE49-F238E27FC236}">
                <a16:creationId xmlns:a16="http://schemas.microsoft.com/office/drawing/2014/main" id="{CD4A6882-5C04-00DE-DC48-30B3D88E71DA}"/>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5124" name="Rectangle 4">
            <a:extLst>
              <a:ext uri="{FF2B5EF4-FFF2-40B4-BE49-F238E27FC236}">
                <a16:creationId xmlns:a16="http://schemas.microsoft.com/office/drawing/2014/main" id="{40509F77-C7B9-AADA-7A83-D34392950221}"/>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28</a:t>
            </a:r>
          </a:p>
        </p:txBody>
      </p:sp>
      <p:sp>
        <p:nvSpPr>
          <p:cNvPr id="200709" name="Text Box 5">
            <a:extLst>
              <a:ext uri="{FF2B5EF4-FFF2-40B4-BE49-F238E27FC236}">
                <a16:creationId xmlns:a16="http://schemas.microsoft.com/office/drawing/2014/main" id="{EA4CDDBF-CC1D-FCF8-9041-5F7702AF3660}"/>
              </a:ext>
            </a:extLst>
          </p:cNvPr>
          <p:cNvSpPr txBox="1">
            <a:spLocks noChangeArrowheads="1"/>
          </p:cNvSpPr>
          <p:nvPr/>
        </p:nvSpPr>
        <p:spPr bwMode="auto">
          <a:xfrm>
            <a:off x="304800" y="1295400"/>
            <a:ext cx="8153400" cy="267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Divide the original MINLP constraints into two sets:  the “easy” ones, usually linear, and the “tough” ones, usually nonlinear</a:t>
            </a:r>
          </a:p>
          <a:p>
            <a:pPr>
              <a:spcBef>
                <a:spcPct val="0"/>
              </a:spcBef>
            </a:pPr>
            <a:r>
              <a:rPr lang="en-US" altLang="en-US" sz="3400"/>
              <a:t>Here’s the upper bounding problem, an NLP (minimizing):</a:t>
            </a:r>
          </a:p>
        </p:txBody>
      </p:sp>
      <p:graphicFrame>
        <p:nvGraphicFramePr>
          <p:cNvPr id="200710" name="Object 6">
            <a:extLst>
              <a:ext uri="{FF2B5EF4-FFF2-40B4-BE49-F238E27FC236}">
                <a16:creationId xmlns:a16="http://schemas.microsoft.com/office/drawing/2014/main" id="{EEE7EF9C-FFB8-3F51-3C8E-62E59BD2AB10}"/>
              </a:ext>
            </a:extLst>
          </p:cNvPr>
          <p:cNvGraphicFramePr>
            <a:graphicFrameLocks noChangeAspect="1"/>
          </p:cNvGraphicFramePr>
          <p:nvPr/>
        </p:nvGraphicFramePr>
        <p:xfrm>
          <a:off x="782638" y="3962400"/>
          <a:ext cx="7577137" cy="2411413"/>
        </p:xfrm>
        <a:graphic>
          <a:graphicData uri="http://schemas.openxmlformats.org/presentationml/2006/ole">
            <mc:AlternateContent xmlns:mc="http://schemas.openxmlformats.org/markup-compatibility/2006">
              <mc:Choice xmlns:v="urn:schemas-microsoft-com:vml" Requires="v">
                <p:oleObj name="Equation" r:id="rId2" imgW="3187700" imgH="1016000" progId="Equation.3">
                  <p:embed/>
                </p:oleObj>
              </mc:Choice>
              <mc:Fallback>
                <p:oleObj name="Equation" r:id="rId2" imgW="3187700" imgH="1016000" progId="Equation.3">
                  <p:embed/>
                  <p:pic>
                    <p:nvPicPr>
                      <p:cNvPr id="200710" name="Object 6">
                        <a:extLst>
                          <a:ext uri="{FF2B5EF4-FFF2-40B4-BE49-F238E27FC236}">
                            <a16:creationId xmlns:a16="http://schemas.microsoft.com/office/drawing/2014/main" id="{EEE7EF9C-FFB8-3F51-3C8E-62E59BD2AB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638" y="3962400"/>
                        <a:ext cx="7577137" cy="2411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0709">
                                            <p:txEl>
                                              <p:pRg st="0" end="0"/>
                                            </p:txEl>
                                          </p:spTgt>
                                        </p:tgtEl>
                                        <p:attrNameLst>
                                          <p:attrName>style.visibility</p:attrName>
                                        </p:attrNameLst>
                                      </p:cBhvr>
                                      <p:to>
                                        <p:strVal val="visible"/>
                                      </p:to>
                                    </p:set>
                                    <p:anim calcmode="lin" valueType="num">
                                      <p:cBhvr additive="base">
                                        <p:cTn id="7" dur="500" fill="hold"/>
                                        <p:tgtEl>
                                          <p:spTgt spid="20070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07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0709">
                                            <p:txEl>
                                              <p:pRg st="1" end="1"/>
                                            </p:txEl>
                                          </p:spTgt>
                                        </p:tgtEl>
                                        <p:attrNameLst>
                                          <p:attrName>style.visibility</p:attrName>
                                        </p:attrNameLst>
                                      </p:cBhvr>
                                      <p:to>
                                        <p:strVal val="visible"/>
                                      </p:to>
                                    </p:set>
                                    <p:anim calcmode="lin" valueType="num">
                                      <p:cBhvr additive="base">
                                        <p:cTn id="13" dur="500" fill="hold"/>
                                        <p:tgtEl>
                                          <p:spTgt spid="20070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070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00710"/>
                                        </p:tgtEl>
                                        <p:attrNameLst>
                                          <p:attrName>style.visibility</p:attrName>
                                        </p:attrNameLst>
                                      </p:cBhvr>
                                      <p:to>
                                        <p:strVal val="visible"/>
                                      </p:to>
                                    </p:set>
                                    <p:anim calcmode="lin" valueType="num">
                                      <p:cBhvr additive="base">
                                        <p:cTn id="19" dur="500" fill="hold"/>
                                        <p:tgtEl>
                                          <p:spTgt spid="200710"/>
                                        </p:tgtEl>
                                        <p:attrNameLst>
                                          <p:attrName>ppt_x</p:attrName>
                                        </p:attrNameLst>
                                      </p:cBhvr>
                                      <p:tavLst>
                                        <p:tav tm="0">
                                          <p:val>
                                            <p:strVal val="0-#ppt_w/2"/>
                                          </p:val>
                                        </p:tav>
                                        <p:tav tm="100000">
                                          <p:val>
                                            <p:strVal val="#ppt_x"/>
                                          </p:val>
                                        </p:tav>
                                      </p:tavLst>
                                    </p:anim>
                                    <p:anim calcmode="lin" valueType="num">
                                      <p:cBhvr additive="base">
                                        <p:cTn id="20" dur="500" fill="hold"/>
                                        <p:tgtEl>
                                          <p:spTgt spid="2007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9" grpId="0" build="p"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07BA303-871F-0C90-CBE9-AD5C13557F62}"/>
              </a:ext>
            </a:extLst>
          </p:cNvPr>
          <p:cNvSpPr>
            <a:spLocks noGrp="1" noChangeArrowheads="1"/>
          </p:cNvSpPr>
          <p:nvPr>
            <p:ph type="title"/>
          </p:nvPr>
        </p:nvSpPr>
        <p:spPr>
          <a:xfrm>
            <a:off x="381000" y="152400"/>
            <a:ext cx="8382000" cy="1143000"/>
          </a:xfrm>
        </p:spPr>
        <p:txBody>
          <a:bodyPr>
            <a:normAutofit fontScale="90000"/>
          </a:bodyPr>
          <a:lstStyle/>
          <a:p>
            <a:pPr>
              <a:lnSpc>
                <a:spcPct val="80000"/>
              </a:lnSpc>
            </a:pPr>
            <a:r>
              <a:rPr lang="en-US" altLang="en-US" sz="4600"/>
              <a:t>Bender’s Decomposition - Subproblems </a:t>
            </a:r>
          </a:p>
        </p:txBody>
      </p:sp>
      <p:sp>
        <p:nvSpPr>
          <p:cNvPr id="6147" name="Rectangle 3">
            <a:extLst>
              <a:ext uri="{FF2B5EF4-FFF2-40B4-BE49-F238E27FC236}">
                <a16:creationId xmlns:a16="http://schemas.microsoft.com/office/drawing/2014/main" id="{B5B5EE35-818B-7F2A-9914-5D4B7AE7B981}"/>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48" name="Rectangle 4">
            <a:extLst>
              <a:ext uri="{FF2B5EF4-FFF2-40B4-BE49-F238E27FC236}">
                <a16:creationId xmlns:a16="http://schemas.microsoft.com/office/drawing/2014/main" id="{C7A78860-5E92-0514-0053-F15552BB6707}"/>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28</a:t>
            </a:r>
          </a:p>
        </p:txBody>
      </p:sp>
      <p:sp>
        <p:nvSpPr>
          <p:cNvPr id="202757" name="Text Box 5">
            <a:extLst>
              <a:ext uri="{FF2B5EF4-FFF2-40B4-BE49-F238E27FC236}">
                <a16:creationId xmlns:a16="http://schemas.microsoft.com/office/drawing/2014/main" id="{44065F85-EAE0-5CD0-ADA1-153EA5F3A42B}"/>
              </a:ext>
            </a:extLst>
          </p:cNvPr>
          <p:cNvSpPr txBox="1">
            <a:spLocks noChangeArrowheads="1"/>
          </p:cNvSpPr>
          <p:nvPr/>
        </p:nvSpPr>
        <p:spPr bwMode="auto">
          <a:xfrm>
            <a:off x="304800" y="1295400"/>
            <a:ext cx="8153400" cy="267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While the upper bounding problem is the same as in OA, the lower bounding problem is different</a:t>
            </a:r>
          </a:p>
          <a:p>
            <a:pPr>
              <a:spcBef>
                <a:spcPct val="0"/>
              </a:spcBef>
            </a:pPr>
            <a:r>
              <a:rPr lang="en-US" altLang="en-US" sz="3400"/>
              <a:t>Fix the </a:t>
            </a:r>
            <a:r>
              <a:rPr lang="en-US" altLang="en-US" sz="3400" i="1"/>
              <a:t>x</a:t>
            </a:r>
            <a:r>
              <a:rPr lang="en-US" altLang="en-US" sz="3400"/>
              <a:t> variables to get a pure binary program:</a:t>
            </a:r>
          </a:p>
        </p:txBody>
      </p:sp>
      <p:graphicFrame>
        <p:nvGraphicFramePr>
          <p:cNvPr id="202759" name="Object 7">
            <a:extLst>
              <a:ext uri="{FF2B5EF4-FFF2-40B4-BE49-F238E27FC236}">
                <a16:creationId xmlns:a16="http://schemas.microsoft.com/office/drawing/2014/main" id="{9BD77EEF-532F-24FF-9B27-BFF50BDA798B}"/>
              </a:ext>
            </a:extLst>
          </p:cNvPr>
          <p:cNvGraphicFramePr>
            <a:graphicFrameLocks noChangeAspect="1"/>
          </p:cNvGraphicFramePr>
          <p:nvPr/>
        </p:nvGraphicFramePr>
        <p:xfrm>
          <a:off x="1400175" y="3962400"/>
          <a:ext cx="6340475" cy="2411413"/>
        </p:xfrm>
        <a:graphic>
          <a:graphicData uri="http://schemas.openxmlformats.org/presentationml/2006/ole">
            <mc:AlternateContent xmlns:mc="http://schemas.openxmlformats.org/markup-compatibility/2006">
              <mc:Choice xmlns:v="urn:schemas-microsoft-com:vml" Requires="v">
                <p:oleObj name="Equation" r:id="rId2" imgW="2667000" imgH="1016000" progId="Equation.3">
                  <p:embed/>
                </p:oleObj>
              </mc:Choice>
              <mc:Fallback>
                <p:oleObj name="Equation" r:id="rId2" imgW="2667000" imgH="1016000" progId="Equation.3">
                  <p:embed/>
                  <p:pic>
                    <p:nvPicPr>
                      <p:cNvPr id="202759" name="Object 7">
                        <a:extLst>
                          <a:ext uri="{FF2B5EF4-FFF2-40B4-BE49-F238E27FC236}">
                            <a16:creationId xmlns:a16="http://schemas.microsoft.com/office/drawing/2014/main" id="{9BD77EEF-532F-24FF-9B27-BFF50BDA79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0175" y="3962400"/>
                        <a:ext cx="6340475" cy="2411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2757">
                                            <p:txEl>
                                              <p:pRg st="0" end="0"/>
                                            </p:txEl>
                                          </p:spTgt>
                                        </p:tgtEl>
                                        <p:attrNameLst>
                                          <p:attrName>style.visibility</p:attrName>
                                        </p:attrNameLst>
                                      </p:cBhvr>
                                      <p:to>
                                        <p:strVal val="visible"/>
                                      </p:to>
                                    </p:set>
                                    <p:anim calcmode="lin" valueType="num">
                                      <p:cBhvr additive="base">
                                        <p:cTn id="7" dur="500" fill="hold"/>
                                        <p:tgtEl>
                                          <p:spTgt spid="2027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27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2757">
                                            <p:txEl>
                                              <p:pRg st="1" end="1"/>
                                            </p:txEl>
                                          </p:spTgt>
                                        </p:tgtEl>
                                        <p:attrNameLst>
                                          <p:attrName>style.visibility</p:attrName>
                                        </p:attrNameLst>
                                      </p:cBhvr>
                                      <p:to>
                                        <p:strVal val="visible"/>
                                      </p:to>
                                    </p:set>
                                    <p:anim calcmode="lin" valueType="num">
                                      <p:cBhvr additive="base">
                                        <p:cTn id="13" dur="500" fill="hold"/>
                                        <p:tgtEl>
                                          <p:spTgt spid="20275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275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02759"/>
                                        </p:tgtEl>
                                        <p:attrNameLst>
                                          <p:attrName>style.visibility</p:attrName>
                                        </p:attrNameLst>
                                      </p:cBhvr>
                                      <p:to>
                                        <p:strVal val="visible"/>
                                      </p:to>
                                    </p:set>
                                    <p:anim calcmode="lin" valueType="num">
                                      <p:cBhvr additive="base">
                                        <p:cTn id="19" dur="500" fill="hold"/>
                                        <p:tgtEl>
                                          <p:spTgt spid="202759"/>
                                        </p:tgtEl>
                                        <p:attrNameLst>
                                          <p:attrName>ppt_x</p:attrName>
                                        </p:attrNameLst>
                                      </p:cBhvr>
                                      <p:tavLst>
                                        <p:tav tm="0">
                                          <p:val>
                                            <p:strVal val="0-#ppt_w/2"/>
                                          </p:val>
                                        </p:tav>
                                        <p:tav tm="100000">
                                          <p:val>
                                            <p:strVal val="#ppt_x"/>
                                          </p:val>
                                        </p:tav>
                                      </p:tavLst>
                                    </p:anim>
                                    <p:anim calcmode="lin" valueType="num">
                                      <p:cBhvr additive="base">
                                        <p:cTn id="20" dur="500" fill="hold"/>
                                        <p:tgtEl>
                                          <p:spTgt spid="2027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7"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CCB93BD-C51E-9990-A797-237CD6E4090D}"/>
              </a:ext>
            </a:extLst>
          </p:cNvPr>
          <p:cNvSpPr>
            <a:spLocks noGrp="1" noChangeArrowheads="1"/>
          </p:cNvSpPr>
          <p:nvPr>
            <p:ph type="title"/>
          </p:nvPr>
        </p:nvSpPr>
        <p:spPr>
          <a:xfrm>
            <a:off x="381000" y="304800"/>
            <a:ext cx="8382000" cy="1143000"/>
          </a:xfrm>
        </p:spPr>
        <p:txBody>
          <a:bodyPr>
            <a:normAutofit fontScale="90000"/>
          </a:bodyPr>
          <a:lstStyle/>
          <a:p>
            <a:pPr>
              <a:lnSpc>
                <a:spcPct val="80000"/>
              </a:lnSpc>
            </a:pPr>
            <a:r>
              <a:rPr lang="en-US" altLang="en-US" sz="4600"/>
              <a:t>Bender’s Decomposition – Lower Bound</a:t>
            </a:r>
          </a:p>
        </p:txBody>
      </p:sp>
      <p:sp>
        <p:nvSpPr>
          <p:cNvPr id="7171" name="Rectangle 3">
            <a:extLst>
              <a:ext uri="{FF2B5EF4-FFF2-40B4-BE49-F238E27FC236}">
                <a16:creationId xmlns:a16="http://schemas.microsoft.com/office/drawing/2014/main" id="{284195C1-2C45-9284-8DCD-3612DD54519B}"/>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72" name="Rectangle 4">
            <a:extLst>
              <a:ext uri="{FF2B5EF4-FFF2-40B4-BE49-F238E27FC236}">
                <a16:creationId xmlns:a16="http://schemas.microsoft.com/office/drawing/2014/main" id="{CC061094-4D7B-74CB-7ECD-CD0CDFFECFDC}"/>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28</a:t>
            </a:r>
          </a:p>
        </p:txBody>
      </p:sp>
      <p:sp>
        <p:nvSpPr>
          <p:cNvPr id="203781" name="Text Box 5">
            <a:extLst>
              <a:ext uri="{FF2B5EF4-FFF2-40B4-BE49-F238E27FC236}">
                <a16:creationId xmlns:a16="http://schemas.microsoft.com/office/drawing/2014/main" id="{11962B37-690C-C565-815A-B204B630E120}"/>
              </a:ext>
            </a:extLst>
          </p:cNvPr>
          <p:cNvSpPr txBox="1">
            <a:spLocks noChangeArrowheads="1"/>
          </p:cNvSpPr>
          <p:nvPr/>
        </p:nvSpPr>
        <p:spPr bwMode="auto">
          <a:xfrm>
            <a:off x="304800" y="1447800"/>
            <a:ext cx="81534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Note that we add one Bender’s cut to the lower bounding problem per iteration, so the lower bound moves up</a:t>
            </a:r>
          </a:p>
          <a:p>
            <a:pPr>
              <a:spcBef>
                <a:spcPct val="0"/>
              </a:spcBef>
            </a:pPr>
            <a:r>
              <a:rPr lang="en-US" altLang="en-US" sz="2800"/>
              <a:t>Remember the </a:t>
            </a:r>
            <a:r>
              <a:rPr lang="en-US" altLang="en-US" sz="2800">
                <a:sym typeface="Symbol" panose="05050102010706020507" pitchFamily="18" charset="2"/>
              </a:rPr>
              <a:t>’s and </a:t>
            </a:r>
            <a:r>
              <a:rPr lang="en-US" altLang="en-US" sz="2800" i="1">
                <a:sym typeface="Symbol" panose="05050102010706020507" pitchFamily="18" charset="2"/>
              </a:rPr>
              <a:t>u</a:t>
            </a:r>
            <a:r>
              <a:rPr lang="en-US" altLang="en-US" sz="2800">
                <a:sym typeface="Symbol" panose="05050102010706020507" pitchFamily="18" charset="2"/>
              </a:rPr>
              <a:t>’s are known, but you need to store them from each NLP iteration to put them in the Bender’s cuts</a:t>
            </a:r>
          </a:p>
          <a:p>
            <a:pPr>
              <a:spcBef>
                <a:spcPct val="0"/>
              </a:spcBef>
            </a:pPr>
            <a:r>
              <a:rPr lang="en-US" altLang="en-US" sz="2800">
                <a:sym typeface="Symbol" panose="05050102010706020507" pitchFamily="18" charset="2"/>
              </a:rPr>
              <a:t>Grossman proved that OA’s lower bound is tighter than with GBD, so we need fewer iterations.  But GBD adds fewer constraints to each MILP subproblem, so each iteration is usually faster.  The trade-off sometimes favors GBD</a:t>
            </a:r>
            <a:endParaRPr lang="en-US"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3781">
                                            <p:txEl>
                                              <p:pRg st="0" end="0"/>
                                            </p:txEl>
                                          </p:spTgt>
                                        </p:tgtEl>
                                        <p:attrNameLst>
                                          <p:attrName>style.visibility</p:attrName>
                                        </p:attrNameLst>
                                      </p:cBhvr>
                                      <p:to>
                                        <p:strVal val="visible"/>
                                      </p:to>
                                    </p:set>
                                    <p:anim calcmode="lin" valueType="num">
                                      <p:cBhvr additive="base">
                                        <p:cTn id="7" dur="500" fill="hold"/>
                                        <p:tgtEl>
                                          <p:spTgt spid="20378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378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3781">
                                            <p:txEl>
                                              <p:pRg st="1" end="1"/>
                                            </p:txEl>
                                          </p:spTgt>
                                        </p:tgtEl>
                                        <p:attrNameLst>
                                          <p:attrName>style.visibility</p:attrName>
                                        </p:attrNameLst>
                                      </p:cBhvr>
                                      <p:to>
                                        <p:strVal val="visible"/>
                                      </p:to>
                                    </p:set>
                                    <p:anim calcmode="lin" valueType="num">
                                      <p:cBhvr additive="base">
                                        <p:cTn id="13" dur="500" fill="hold"/>
                                        <p:tgtEl>
                                          <p:spTgt spid="20378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378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03781">
                                            <p:txEl>
                                              <p:pRg st="2" end="2"/>
                                            </p:txEl>
                                          </p:spTgt>
                                        </p:tgtEl>
                                        <p:attrNameLst>
                                          <p:attrName>style.visibility</p:attrName>
                                        </p:attrNameLst>
                                      </p:cBhvr>
                                      <p:to>
                                        <p:strVal val="visible"/>
                                      </p:to>
                                    </p:set>
                                    <p:anim calcmode="lin" valueType="num">
                                      <p:cBhvr additive="base">
                                        <p:cTn id="19" dur="500" fill="hold"/>
                                        <p:tgtEl>
                                          <p:spTgt spid="20378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378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1" grpId="0" build="p"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EC8175D-6B41-EFB4-8077-1AA41FBA9819}"/>
              </a:ext>
            </a:extLst>
          </p:cNvPr>
          <p:cNvSpPr>
            <a:spLocks noGrp="1" noChangeArrowheads="1"/>
          </p:cNvSpPr>
          <p:nvPr>
            <p:ph type="title"/>
          </p:nvPr>
        </p:nvSpPr>
        <p:spPr>
          <a:xfrm>
            <a:off x="381000" y="152400"/>
            <a:ext cx="8382000" cy="1143000"/>
          </a:xfrm>
        </p:spPr>
        <p:txBody>
          <a:bodyPr>
            <a:normAutofit fontScale="90000"/>
          </a:bodyPr>
          <a:lstStyle/>
          <a:p>
            <a:pPr>
              <a:lnSpc>
                <a:spcPct val="80000"/>
              </a:lnSpc>
            </a:pPr>
            <a:r>
              <a:rPr lang="en-US" altLang="en-US" sz="4600"/>
              <a:t>Bender’s Decomposition - Implementation</a:t>
            </a:r>
          </a:p>
        </p:txBody>
      </p:sp>
      <p:sp>
        <p:nvSpPr>
          <p:cNvPr id="8195" name="Rectangle 3">
            <a:extLst>
              <a:ext uri="{FF2B5EF4-FFF2-40B4-BE49-F238E27FC236}">
                <a16:creationId xmlns:a16="http://schemas.microsoft.com/office/drawing/2014/main" id="{7F138BB4-5351-3351-A2AA-DF5A265B16BF}"/>
              </a:ext>
            </a:extLst>
          </p:cNvPr>
          <p:cNvSpPr>
            <a:spLocks noChangeArrowheads="1"/>
          </p:cNvSpPr>
          <p:nvPr/>
        </p:nvSpPr>
        <p:spPr bwMode="auto">
          <a:xfrm>
            <a:off x="152400" y="152400"/>
            <a:ext cx="8839200" cy="64770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196" name="Rectangle 4">
            <a:extLst>
              <a:ext uri="{FF2B5EF4-FFF2-40B4-BE49-F238E27FC236}">
                <a16:creationId xmlns:a16="http://schemas.microsoft.com/office/drawing/2014/main" id="{B2BA6499-FEAF-E288-28B8-ABD5EE0D1A38}"/>
              </a:ext>
            </a:extLst>
          </p:cNvPr>
          <p:cNvSpPr>
            <a:spLocks noChangeArrowheads="1"/>
          </p:cNvSpPr>
          <p:nvPr/>
        </p:nvSpPr>
        <p:spPr bwMode="auto">
          <a:xfrm>
            <a:off x="6477000" y="61722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28</a:t>
            </a:r>
          </a:p>
        </p:txBody>
      </p:sp>
      <p:sp>
        <p:nvSpPr>
          <p:cNvPr id="188421" name="Text Box 5">
            <a:extLst>
              <a:ext uri="{FF2B5EF4-FFF2-40B4-BE49-F238E27FC236}">
                <a16:creationId xmlns:a16="http://schemas.microsoft.com/office/drawing/2014/main" id="{37844D0C-1BFC-BE80-E2A5-EB7858F901A8}"/>
              </a:ext>
            </a:extLst>
          </p:cNvPr>
          <p:cNvSpPr txBox="1">
            <a:spLocks noChangeArrowheads="1"/>
          </p:cNvSpPr>
          <p:nvPr/>
        </p:nvSpPr>
        <p:spPr bwMode="auto">
          <a:xfrm>
            <a:off x="304800" y="1371600"/>
            <a:ext cx="8534400" cy="514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dirty="0"/>
              <a:t>  How could we implement an iterative scheme like GBD within GAMS?</a:t>
            </a:r>
            <a:endParaRPr lang="en-US" altLang="en-US" sz="3000" dirty="0"/>
          </a:p>
          <a:p>
            <a:pPr>
              <a:spcBef>
                <a:spcPct val="0"/>
              </a:spcBef>
            </a:pPr>
            <a:r>
              <a:rPr lang="en-US" altLang="en-US" sz="3400" dirty="0"/>
              <a:t>  If no prewritten solver is available, then we could solve the sequence of NLPs and MILPs directly:</a:t>
            </a:r>
          </a:p>
          <a:p>
            <a:pPr lvl="1">
              <a:lnSpc>
                <a:spcPct val="90000"/>
              </a:lnSpc>
              <a:spcBef>
                <a:spcPct val="0"/>
              </a:spcBef>
              <a:buFontTx/>
              <a:buChar char="•"/>
            </a:pPr>
            <a:r>
              <a:rPr lang="en-US" altLang="en-US" sz="3000" dirty="0"/>
              <a:t>  Write all the equations for both subproblems in one .</a:t>
            </a:r>
            <a:r>
              <a:rPr lang="en-US" altLang="en-US" sz="3000" dirty="0" err="1"/>
              <a:t>gms</a:t>
            </a:r>
            <a:r>
              <a:rPr lang="en-US" altLang="en-US" sz="3000" dirty="0"/>
              <a:t> file</a:t>
            </a:r>
          </a:p>
          <a:p>
            <a:pPr lvl="1">
              <a:lnSpc>
                <a:spcPct val="90000"/>
              </a:lnSpc>
              <a:spcBef>
                <a:spcPct val="0"/>
              </a:spcBef>
              <a:buFontTx/>
              <a:buChar char="•"/>
            </a:pPr>
            <a:r>
              <a:rPr lang="en-US" altLang="en-US" sz="3000" dirty="0"/>
              <a:t>  Use the Model statement to select the NLP and MILP equations</a:t>
            </a:r>
          </a:p>
          <a:p>
            <a:pPr lvl="1">
              <a:lnSpc>
                <a:spcPct val="90000"/>
              </a:lnSpc>
              <a:spcBef>
                <a:spcPct val="0"/>
              </a:spcBef>
              <a:buFontTx/>
              <a:buChar char="•"/>
            </a:pPr>
            <a:r>
              <a:rPr lang="en-US" altLang="en-US" sz="3000" dirty="0"/>
              <a:t>  Use </a:t>
            </a:r>
            <a:r>
              <a:rPr lang="en-US" altLang="en-US" sz="3000" dirty="0" err="1"/>
              <a:t>var.l</a:t>
            </a:r>
            <a:r>
              <a:rPr lang="en-US" altLang="en-US" sz="3000" dirty="0"/>
              <a:t> within equations to set </a:t>
            </a:r>
            <a:r>
              <a:rPr lang="en-US" altLang="en-US" sz="3000" i="1" dirty="0" err="1"/>
              <a:t>x</a:t>
            </a:r>
            <a:r>
              <a:rPr lang="en-US" altLang="en-US" sz="3000" i="1" baseline="30000" dirty="0" err="1"/>
              <a:t>k</a:t>
            </a:r>
            <a:r>
              <a:rPr lang="en-US" altLang="en-US" sz="3000" dirty="0"/>
              <a:t>, </a:t>
            </a:r>
            <a:r>
              <a:rPr lang="en-US" altLang="en-US" sz="3000" i="1" dirty="0" err="1"/>
              <a:t>y</a:t>
            </a:r>
            <a:r>
              <a:rPr lang="en-US" altLang="en-US" sz="3000" i="1" baseline="30000" dirty="0" err="1"/>
              <a:t>k</a:t>
            </a:r>
            <a:r>
              <a:rPr lang="en-US" altLang="en-US" sz="3000" dirty="0"/>
              <a:t> to values computed in previous solve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8421">
                                            <p:txEl>
                                              <p:pRg st="0" end="0"/>
                                            </p:txEl>
                                          </p:spTgt>
                                        </p:tgtEl>
                                        <p:attrNameLst>
                                          <p:attrName>style.visibility</p:attrName>
                                        </p:attrNameLst>
                                      </p:cBhvr>
                                      <p:to>
                                        <p:strVal val="visible"/>
                                      </p:to>
                                    </p:set>
                                    <p:anim calcmode="lin" valueType="num">
                                      <p:cBhvr additive="base">
                                        <p:cTn id="7" dur="500" fill="hold"/>
                                        <p:tgtEl>
                                          <p:spTgt spid="18842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84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8421">
                                            <p:txEl>
                                              <p:pRg st="1" end="1"/>
                                            </p:txEl>
                                          </p:spTgt>
                                        </p:tgtEl>
                                        <p:attrNameLst>
                                          <p:attrName>style.visibility</p:attrName>
                                        </p:attrNameLst>
                                      </p:cBhvr>
                                      <p:to>
                                        <p:strVal val="visible"/>
                                      </p:to>
                                    </p:set>
                                    <p:anim calcmode="lin" valueType="num">
                                      <p:cBhvr additive="base">
                                        <p:cTn id="13" dur="500" fill="hold"/>
                                        <p:tgtEl>
                                          <p:spTgt spid="18842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842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8421">
                                            <p:txEl>
                                              <p:pRg st="2" end="2"/>
                                            </p:txEl>
                                          </p:spTgt>
                                        </p:tgtEl>
                                        <p:attrNameLst>
                                          <p:attrName>style.visibility</p:attrName>
                                        </p:attrNameLst>
                                      </p:cBhvr>
                                      <p:to>
                                        <p:strVal val="visible"/>
                                      </p:to>
                                    </p:set>
                                    <p:anim calcmode="lin" valueType="num">
                                      <p:cBhvr additive="base">
                                        <p:cTn id="19" dur="500" fill="hold"/>
                                        <p:tgtEl>
                                          <p:spTgt spid="18842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842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8421">
                                            <p:txEl>
                                              <p:pRg st="3" end="3"/>
                                            </p:txEl>
                                          </p:spTgt>
                                        </p:tgtEl>
                                        <p:attrNameLst>
                                          <p:attrName>style.visibility</p:attrName>
                                        </p:attrNameLst>
                                      </p:cBhvr>
                                      <p:to>
                                        <p:strVal val="visible"/>
                                      </p:to>
                                    </p:set>
                                    <p:anim calcmode="lin" valueType="num">
                                      <p:cBhvr additive="base">
                                        <p:cTn id="25" dur="500" fill="hold"/>
                                        <p:tgtEl>
                                          <p:spTgt spid="18842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842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88421">
                                            <p:txEl>
                                              <p:pRg st="4" end="4"/>
                                            </p:txEl>
                                          </p:spTgt>
                                        </p:tgtEl>
                                        <p:attrNameLst>
                                          <p:attrName>style.visibility</p:attrName>
                                        </p:attrNameLst>
                                      </p:cBhvr>
                                      <p:to>
                                        <p:strVal val="visible"/>
                                      </p:to>
                                    </p:set>
                                    <p:anim calcmode="lin" valueType="num">
                                      <p:cBhvr additive="base">
                                        <p:cTn id="31" dur="500" fill="hold"/>
                                        <p:tgtEl>
                                          <p:spTgt spid="18842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842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1" grpId="0" build="p" bldLvl="2"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AE69245-7040-2A5A-5185-BF3D15FC26A2}"/>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Iterative Solving in GAMS</a:t>
            </a:r>
          </a:p>
        </p:txBody>
      </p:sp>
      <p:sp>
        <p:nvSpPr>
          <p:cNvPr id="9219" name="Rectangle 3">
            <a:extLst>
              <a:ext uri="{FF2B5EF4-FFF2-40B4-BE49-F238E27FC236}">
                <a16:creationId xmlns:a16="http://schemas.microsoft.com/office/drawing/2014/main" id="{B93B3CA0-5725-DA1E-31CE-D6F4ECBB2CD3}"/>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0" name="Rectangle 4">
            <a:extLst>
              <a:ext uri="{FF2B5EF4-FFF2-40B4-BE49-F238E27FC236}">
                <a16:creationId xmlns:a16="http://schemas.microsoft.com/office/drawing/2014/main" id="{C5436134-D4C8-B37C-20F6-DFEFF2810B05}"/>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28</a:t>
            </a:r>
          </a:p>
        </p:txBody>
      </p:sp>
      <p:sp>
        <p:nvSpPr>
          <p:cNvPr id="204805" name="Text Box 5">
            <a:extLst>
              <a:ext uri="{FF2B5EF4-FFF2-40B4-BE49-F238E27FC236}">
                <a16:creationId xmlns:a16="http://schemas.microsoft.com/office/drawing/2014/main" id="{093D1019-325A-5600-1EA2-55AA0CC4A9DE}"/>
              </a:ext>
            </a:extLst>
          </p:cNvPr>
          <p:cNvSpPr txBox="1">
            <a:spLocks noChangeArrowheads="1"/>
          </p:cNvSpPr>
          <p:nvPr/>
        </p:nvSpPr>
        <p:spPr bwMode="auto">
          <a:xfrm>
            <a:off x="304800" y="1295400"/>
            <a:ext cx="845820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Once you have the two models set up, you need to solve them repeatedly</a:t>
            </a:r>
          </a:p>
          <a:p>
            <a:pPr>
              <a:spcBef>
                <a:spcPct val="0"/>
              </a:spcBef>
            </a:pPr>
            <a:r>
              <a:rPr lang="en-US" altLang="en-US" sz="3400"/>
              <a:t>So put the solve statements in a loop:</a:t>
            </a:r>
          </a:p>
        </p:txBody>
      </p:sp>
      <p:sp>
        <p:nvSpPr>
          <p:cNvPr id="204807" name="Text Box 7">
            <a:extLst>
              <a:ext uri="{FF2B5EF4-FFF2-40B4-BE49-F238E27FC236}">
                <a16:creationId xmlns:a16="http://schemas.microsoft.com/office/drawing/2014/main" id="{F321801F-E4F4-EE5F-AC97-735A7A043052}"/>
              </a:ext>
            </a:extLst>
          </p:cNvPr>
          <p:cNvSpPr txBox="1">
            <a:spLocks noChangeArrowheads="1"/>
          </p:cNvSpPr>
          <p:nvPr/>
        </p:nvSpPr>
        <p:spPr bwMode="auto">
          <a:xfrm>
            <a:off x="381000" y="2867025"/>
            <a:ext cx="7808913"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spcBef>
                <a:spcPct val="0"/>
              </a:spcBef>
              <a:buFontTx/>
              <a:buNone/>
            </a:pPr>
            <a:r>
              <a:rPr lang="en-US" altLang="en-US" sz="3200"/>
              <a:t>Loop (i,</a:t>
            </a:r>
          </a:p>
          <a:p>
            <a:pPr lvl="1">
              <a:spcBef>
                <a:spcPct val="0"/>
              </a:spcBef>
              <a:buFontTx/>
              <a:buNone/>
            </a:pPr>
            <a:r>
              <a:rPr lang="en-US" altLang="en-US" sz="3200"/>
              <a:t>          y1.fx=y1.l        y2.fx=y2.l ...</a:t>
            </a:r>
          </a:p>
          <a:p>
            <a:pPr lvl="1">
              <a:spcBef>
                <a:spcPct val="0"/>
              </a:spcBef>
              <a:buFontTx/>
              <a:buNone/>
            </a:pPr>
            <a:r>
              <a:rPr lang="en-US" altLang="en-US" sz="3200"/>
              <a:t>          Solve UBP using NLP minimizing z;</a:t>
            </a:r>
          </a:p>
          <a:p>
            <a:pPr lvl="1">
              <a:spcBef>
                <a:spcPct val="0"/>
              </a:spcBef>
              <a:buFontTx/>
              <a:buNone/>
            </a:pPr>
            <a:r>
              <a:rPr lang="en-US" altLang="en-US" sz="3200"/>
              <a:t>          x1.fx=x1.l ...</a:t>
            </a:r>
          </a:p>
          <a:p>
            <a:pPr lvl="1">
              <a:spcBef>
                <a:spcPct val="0"/>
              </a:spcBef>
              <a:buFontTx/>
              <a:buNone/>
            </a:pPr>
            <a:r>
              <a:rPr lang="en-US" altLang="en-US" sz="3200"/>
              <a:t>          Solve LBP using MIP minimizing zp;</a:t>
            </a:r>
          </a:p>
          <a:p>
            <a:pPr lvl="1">
              <a:spcBef>
                <a:spcPct val="0"/>
              </a:spcBef>
              <a:buFontTx/>
              <a:buNone/>
            </a:pPr>
            <a:r>
              <a:rPr lang="en-US" altLang="en-US" sz="3200"/>
              <a:t>          test for convergence</a:t>
            </a:r>
          </a:p>
          <a:p>
            <a:pPr lvl="1">
              <a:spcBef>
                <a:spcPct val="0"/>
              </a:spcBef>
              <a:buFontTx/>
              <a:buNone/>
            </a:pPr>
            <a:r>
              <a:rPr lang="en-US" altLang="en-US" sz="3200"/>
              <a:t>                            ) ;</a:t>
            </a:r>
          </a:p>
          <a:p>
            <a:pPr>
              <a:spcBef>
                <a:spcPct val="0"/>
              </a:spcBef>
              <a:buFontTx/>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4805">
                                            <p:txEl>
                                              <p:pRg st="0" end="0"/>
                                            </p:txEl>
                                          </p:spTgt>
                                        </p:tgtEl>
                                        <p:attrNameLst>
                                          <p:attrName>style.visibility</p:attrName>
                                        </p:attrNameLst>
                                      </p:cBhvr>
                                      <p:to>
                                        <p:strVal val="visible"/>
                                      </p:to>
                                    </p:set>
                                    <p:anim calcmode="lin" valueType="num">
                                      <p:cBhvr additive="base">
                                        <p:cTn id="7" dur="500" fill="hold"/>
                                        <p:tgtEl>
                                          <p:spTgt spid="20480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0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4805">
                                            <p:txEl>
                                              <p:pRg st="1" end="1"/>
                                            </p:txEl>
                                          </p:spTgt>
                                        </p:tgtEl>
                                        <p:attrNameLst>
                                          <p:attrName>style.visibility</p:attrName>
                                        </p:attrNameLst>
                                      </p:cBhvr>
                                      <p:to>
                                        <p:strVal val="visible"/>
                                      </p:to>
                                    </p:set>
                                    <p:anim calcmode="lin" valueType="num">
                                      <p:cBhvr additive="base">
                                        <p:cTn id="13" dur="500" fill="hold"/>
                                        <p:tgtEl>
                                          <p:spTgt spid="20480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480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04807"/>
                                        </p:tgtEl>
                                        <p:attrNameLst>
                                          <p:attrName>style.visibility</p:attrName>
                                        </p:attrNameLst>
                                      </p:cBhvr>
                                      <p:to>
                                        <p:strVal val="visible"/>
                                      </p:to>
                                    </p:set>
                                    <p:anim calcmode="lin" valueType="num">
                                      <p:cBhvr additive="base">
                                        <p:cTn id="19" dur="500" fill="hold"/>
                                        <p:tgtEl>
                                          <p:spTgt spid="204807"/>
                                        </p:tgtEl>
                                        <p:attrNameLst>
                                          <p:attrName>ppt_x</p:attrName>
                                        </p:attrNameLst>
                                      </p:cBhvr>
                                      <p:tavLst>
                                        <p:tav tm="0">
                                          <p:val>
                                            <p:strVal val="0-#ppt_w/2"/>
                                          </p:val>
                                        </p:tav>
                                        <p:tav tm="100000">
                                          <p:val>
                                            <p:strVal val="#ppt_x"/>
                                          </p:val>
                                        </p:tav>
                                      </p:tavLst>
                                    </p:anim>
                                    <p:anim calcmode="lin" valueType="num">
                                      <p:cBhvr additive="base">
                                        <p:cTn id="20" dur="500" fill="hold"/>
                                        <p:tgtEl>
                                          <p:spTgt spid="2048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5" grpId="0" build="p" bldLvl="2" autoUpdateAnimBg="0"/>
      <p:bldP spid="204807"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E684585-6209-B278-81CC-EE69EA8FA5DD}"/>
              </a:ext>
            </a:extLst>
          </p:cNvPr>
          <p:cNvSpPr>
            <a:spLocks noGrp="1" noChangeArrowheads="1"/>
          </p:cNvSpPr>
          <p:nvPr>
            <p:ph type="title"/>
          </p:nvPr>
        </p:nvSpPr>
        <p:spPr>
          <a:xfrm>
            <a:off x="533400" y="228600"/>
            <a:ext cx="8077200" cy="1143000"/>
          </a:xfrm>
        </p:spPr>
        <p:txBody>
          <a:bodyPr/>
          <a:lstStyle/>
          <a:p>
            <a:pPr>
              <a:lnSpc>
                <a:spcPct val="80000"/>
              </a:lnSpc>
            </a:pPr>
            <a:r>
              <a:rPr lang="en-US" altLang="en-US"/>
              <a:t>Stochastic Algorithms</a:t>
            </a:r>
          </a:p>
        </p:txBody>
      </p:sp>
      <p:sp>
        <p:nvSpPr>
          <p:cNvPr id="4099" name="Rectangle 3">
            <a:extLst>
              <a:ext uri="{FF2B5EF4-FFF2-40B4-BE49-F238E27FC236}">
                <a16:creationId xmlns:a16="http://schemas.microsoft.com/office/drawing/2014/main" id="{3E0A839F-63E6-098F-03C5-38E76B8DD920}"/>
              </a:ext>
            </a:extLst>
          </p:cNvPr>
          <p:cNvSpPr>
            <a:spLocks noChangeArrowheads="1"/>
          </p:cNvSpPr>
          <p:nvPr/>
        </p:nvSpPr>
        <p:spPr bwMode="auto">
          <a:xfrm>
            <a:off x="228600" y="228600"/>
            <a:ext cx="8686800" cy="64008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0" name="Rectangle 4">
            <a:extLst>
              <a:ext uri="{FF2B5EF4-FFF2-40B4-BE49-F238E27FC236}">
                <a16:creationId xmlns:a16="http://schemas.microsoft.com/office/drawing/2014/main" id="{17FF9F5B-9A40-776F-D665-285E9E47C81C}"/>
              </a:ext>
            </a:extLst>
          </p:cNvPr>
          <p:cNvSpPr>
            <a:spLocks noChangeArrowheads="1"/>
          </p:cNvSpPr>
          <p:nvPr/>
        </p:nvSpPr>
        <p:spPr bwMode="auto">
          <a:xfrm>
            <a:off x="6400800" y="6172200"/>
            <a:ext cx="24479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29</a:t>
            </a:r>
          </a:p>
        </p:txBody>
      </p:sp>
      <p:sp>
        <p:nvSpPr>
          <p:cNvPr id="119813" name="Rectangle 5">
            <a:extLst>
              <a:ext uri="{FF2B5EF4-FFF2-40B4-BE49-F238E27FC236}">
                <a16:creationId xmlns:a16="http://schemas.microsoft.com/office/drawing/2014/main" id="{EBA24C5E-7666-FFCD-8F75-6D00FCBB0FEF}"/>
              </a:ext>
            </a:extLst>
          </p:cNvPr>
          <p:cNvSpPr>
            <a:spLocks noGrp="1" noChangeArrowheads="1"/>
          </p:cNvSpPr>
          <p:nvPr>
            <p:ph type="body" idx="1"/>
          </p:nvPr>
        </p:nvSpPr>
        <p:spPr>
          <a:xfrm>
            <a:off x="457200" y="1295399"/>
            <a:ext cx="7772400" cy="3640667"/>
          </a:xfrm>
        </p:spPr>
        <p:txBody>
          <a:bodyPr>
            <a:normAutofit/>
          </a:bodyPr>
          <a:lstStyle/>
          <a:p>
            <a:pPr>
              <a:lnSpc>
                <a:spcPct val="90000"/>
              </a:lnSpc>
            </a:pPr>
            <a:r>
              <a:rPr lang="en-US" altLang="en-US" sz="3400" dirty="0"/>
              <a:t>A totally different class of algorithms than the deterministic ones we’ve been using:</a:t>
            </a:r>
          </a:p>
          <a:p>
            <a:pPr lvl="1">
              <a:lnSpc>
                <a:spcPct val="90000"/>
              </a:lnSpc>
            </a:pPr>
            <a:r>
              <a:rPr lang="en-US" altLang="en-US" sz="3000" dirty="0"/>
              <a:t>No relaxations</a:t>
            </a:r>
          </a:p>
          <a:p>
            <a:pPr lvl="1">
              <a:lnSpc>
                <a:spcPct val="90000"/>
              </a:lnSpc>
            </a:pPr>
            <a:r>
              <a:rPr lang="en-US" altLang="en-US" sz="3000" dirty="0"/>
              <a:t>No upper bounds (maximization)</a:t>
            </a:r>
          </a:p>
          <a:p>
            <a:pPr>
              <a:lnSpc>
                <a:spcPct val="90000"/>
              </a:lnSpc>
            </a:pPr>
            <a:r>
              <a:rPr lang="en-US" altLang="en-US" sz="3400" dirty="0"/>
              <a:t>Use random numbers to generate search directions</a:t>
            </a:r>
          </a:p>
        </p:txBody>
      </p:sp>
      <p:sp>
        <p:nvSpPr>
          <p:cNvPr id="4102" name="Text Box 7">
            <a:extLst>
              <a:ext uri="{FF2B5EF4-FFF2-40B4-BE49-F238E27FC236}">
                <a16:creationId xmlns:a16="http://schemas.microsoft.com/office/drawing/2014/main" id="{939731E5-C3DE-FFBA-99F8-A007CFC2FF1B}"/>
              </a:ext>
            </a:extLst>
          </p:cNvPr>
          <p:cNvSpPr txBox="1">
            <a:spLocks noChangeArrowheads="1"/>
          </p:cNvSpPr>
          <p:nvPr/>
        </p:nvSpPr>
        <p:spPr bwMode="auto">
          <a:xfrm>
            <a:off x="525463" y="5410200"/>
            <a:ext cx="80930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400"/>
          </a:p>
        </p:txBody>
      </p:sp>
      <p:sp>
        <p:nvSpPr>
          <p:cNvPr id="119818" name="Text Box 10">
            <a:extLst>
              <a:ext uri="{FF2B5EF4-FFF2-40B4-BE49-F238E27FC236}">
                <a16:creationId xmlns:a16="http://schemas.microsoft.com/office/drawing/2014/main" id="{44854BEC-CD0E-F94F-491C-FBCDD6F8A212}"/>
              </a:ext>
            </a:extLst>
          </p:cNvPr>
          <p:cNvSpPr txBox="1">
            <a:spLocks noChangeArrowheads="1"/>
          </p:cNvSpPr>
          <p:nvPr/>
        </p:nvSpPr>
        <p:spPr bwMode="auto">
          <a:xfrm>
            <a:off x="457200" y="4876800"/>
            <a:ext cx="8150225"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400"/>
              <a:t>  Accept a new point with a given probability</a:t>
            </a:r>
          </a:p>
          <a:p>
            <a:pPr>
              <a:spcBef>
                <a:spcPct val="0"/>
              </a:spcBef>
            </a:pPr>
            <a:r>
              <a:rPr lang="en-US" altLang="en-US" sz="3400"/>
              <a:t>  No guarantees of convergence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9813">
                                            <p:txEl>
                                              <p:pRg st="0" end="0"/>
                                            </p:txEl>
                                          </p:spTgt>
                                        </p:tgtEl>
                                        <p:attrNameLst>
                                          <p:attrName>style.visibility</p:attrName>
                                        </p:attrNameLst>
                                      </p:cBhvr>
                                      <p:to>
                                        <p:strVal val="visible"/>
                                      </p:to>
                                    </p:set>
                                    <p:anim calcmode="lin" valueType="num">
                                      <p:cBhvr additive="base">
                                        <p:cTn id="7" dur="500" fill="hold"/>
                                        <p:tgtEl>
                                          <p:spTgt spid="11981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98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19813">
                                            <p:txEl>
                                              <p:pRg st="1" end="1"/>
                                            </p:txEl>
                                          </p:spTgt>
                                        </p:tgtEl>
                                        <p:attrNameLst>
                                          <p:attrName>style.visibility</p:attrName>
                                        </p:attrNameLst>
                                      </p:cBhvr>
                                      <p:to>
                                        <p:strVal val="visible"/>
                                      </p:to>
                                    </p:set>
                                    <p:anim calcmode="lin" valueType="num">
                                      <p:cBhvr additive="base">
                                        <p:cTn id="13" dur="500" fill="hold"/>
                                        <p:tgtEl>
                                          <p:spTgt spid="11981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981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19813">
                                            <p:txEl>
                                              <p:pRg st="2" end="2"/>
                                            </p:txEl>
                                          </p:spTgt>
                                        </p:tgtEl>
                                        <p:attrNameLst>
                                          <p:attrName>style.visibility</p:attrName>
                                        </p:attrNameLst>
                                      </p:cBhvr>
                                      <p:to>
                                        <p:strVal val="visible"/>
                                      </p:to>
                                    </p:set>
                                    <p:anim calcmode="lin" valueType="num">
                                      <p:cBhvr additive="base">
                                        <p:cTn id="19" dur="500" fill="hold"/>
                                        <p:tgtEl>
                                          <p:spTgt spid="11981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981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19813">
                                            <p:txEl>
                                              <p:pRg st="3" end="3"/>
                                            </p:txEl>
                                          </p:spTgt>
                                        </p:tgtEl>
                                        <p:attrNameLst>
                                          <p:attrName>style.visibility</p:attrName>
                                        </p:attrNameLst>
                                      </p:cBhvr>
                                      <p:to>
                                        <p:strVal val="visible"/>
                                      </p:to>
                                    </p:set>
                                    <p:anim calcmode="lin" valueType="num">
                                      <p:cBhvr additive="base">
                                        <p:cTn id="25" dur="500" fill="hold"/>
                                        <p:tgtEl>
                                          <p:spTgt spid="11981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981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19818">
                                            <p:txEl>
                                              <p:pRg st="0" end="0"/>
                                            </p:txEl>
                                          </p:spTgt>
                                        </p:tgtEl>
                                        <p:attrNameLst>
                                          <p:attrName>style.visibility</p:attrName>
                                        </p:attrNameLst>
                                      </p:cBhvr>
                                      <p:to>
                                        <p:strVal val="visible"/>
                                      </p:to>
                                    </p:set>
                                    <p:anim calcmode="lin" valueType="num">
                                      <p:cBhvr additive="base">
                                        <p:cTn id="31" dur="500" fill="hold"/>
                                        <p:tgtEl>
                                          <p:spTgt spid="119818">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98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19818">
                                            <p:txEl>
                                              <p:pRg st="1" end="1"/>
                                            </p:txEl>
                                          </p:spTgt>
                                        </p:tgtEl>
                                        <p:attrNameLst>
                                          <p:attrName>style.visibility</p:attrName>
                                        </p:attrNameLst>
                                      </p:cBhvr>
                                      <p:to>
                                        <p:strVal val="visible"/>
                                      </p:to>
                                    </p:set>
                                    <p:anim calcmode="lin" valueType="num">
                                      <p:cBhvr additive="base">
                                        <p:cTn id="37" dur="500" fill="hold"/>
                                        <p:tgtEl>
                                          <p:spTgt spid="119818">
                                            <p:txEl>
                                              <p:pRg st="1" end="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9818">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3" grpId="0" build="p" bldLvl="2" autoUpdateAnimBg="0"/>
      <p:bldP spid="119818" grpId="0" build="p"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29CDD10-0F41-069E-1E20-31A6A510D4F6}"/>
              </a:ext>
            </a:extLst>
          </p:cNvPr>
          <p:cNvSpPr>
            <a:spLocks noGrp="1" noChangeArrowheads="1"/>
          </p:cNvSpPr>
          <p:nvPr>
            <p:ph type="title"/>
          </p:nvPr>
        </p:nvSpPr>
        <p:spPr>
          <a:xfrm>
            <a:off x="457200" y="228600"/>
            <a:ext cx="8305800" cy="1143000"/>
          </a:xfrm>
        </p:spPr>
        <p:txBody>
          <a:bodyPr/>
          <a:lstStyle/>
          <a:p>
            <a:pPr>
              <a:lnSpc>
                <a:spcPct val="80000"/>
              </a:lnSpc>
            </a:pPr>
            <a:r>
              <a:rPr lang="en-US" altLang="en-US"/>
              <a:t>Stochastic Algorithms - Advantages</a:t>
            </a:r>
          </a:p>
        </p:txBody>
      </p:sp>
      <p:sp>
        <p:nvSpPr>
          <p:cNvPr id="5123" name="Rectangle 3">
            <a:extLst>
              <a:ext uri="{FF2B5EF4-FFF2-40B4-BE49-F238E27FC236}">
                <a16:creationId xmlns:a16="http://schemas.microsoft.com/office/drawing/2014/main" id="{EB205855-311C-9094-9EBC-F593090EBA45}"/>
              </a:ext>
            </a:extLst>
          </p:cNvPr>
          <p:cNvSpPr>
            <a:spLocks noChangeArrowheads="1"/>
          </p:cNvSpPr>
          <p:nvPr/>
        </p:nvSpPr>
        <p:spPr bwMode="auto">
          <a:xfrm>
            <a:off x="228600" y="228600"/>
            <a:ext cx="8686800" cy="64008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5124" name="Rectangle 4">
            <a:extLst>
              <a:ext uri="{FF2B5EF4-FFF2-40B4-BE49-F238E27FC236}">
                <a16:creationId xmlns:a16="http://schemas.microsoft.com/office/drawing/2014/main" id="{1D0638F5-A70F-95FB-0337-294B9EE8D45A}"/>
              </a:ext>
            </a:extLst>
          </p:cNvPr>
          <p:cNvSpPr>
            <a:spLocks noChangeArrowheads="1"/>
          </p:cNvSpPr>
          <p:nvPr/>
        </p:nvSpPr>
        <p:spPr bwMode="auto">
          <a:xfrm>
            <a:off x="6400800" y="6172200"/>
            <a:ext cx="24479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29</a:t>
            </a:r>
          </a:p>
        </p:txBody>
      </p:sp>
      <p:sp>
        <p:nvSpPr>
          <p:cNvPr id="126981" name="Rectangle 5">
            <a:extLst>
              <a:ext uri="{FF2B5EF4-FFF2-40B4-BE49-F238E27FC236}">
                <a16:creationId xmlns:a16="http://schemas.microsoft.com/office/drawing/2014/main" id="{5FAF2C86-9209-BD01-1AB4-28296AEA9959}"/>
              </a:ext>
            </a:extLst>
          </p:cNvPr>
          <p:cNvSpPr>
            <a:spLocks noGrp="1" noChangeArrowheads="1"/>
          </p:cNvSpPr>
          <p:nvPr>
            <p:ph type="body" idx="1"/>
          </p:nvPr>
        </p:nvSpPr>
        <p:spPr>
          <a:xfrm>
            <a:off x="533400" y="1371599"/>
            <a:ext cx="7772400" cy="4555067"/>
          </a:xfrm>
        </p:spPr>
        <p:txBody>
          <a:bodyPr>
            <a:normAutofit lnSpcReduction="10000"/>
          </a:bodyPr>
          <a:lstStyle/>
          <a:p>
            <a:pPr>
              <a:lnSpc>
                <a:spcPct val="90000"/>
              </a:lnSpc>
            </a:pPr>
            <a:r>
              <a:rPr lang="en-US" altLang="en-US" sz="3400" dirty="0"/>
              <a:t>Only use function evaluations</a:t>
            </a:r>
          </a:p>
          <a:p>
            <a:pPr lvl="1">
              <a:lnSpc>
                <a:spcPct val="90000"/>
              </a:lnSpc>
            </a:pPr>
            <a:r>
              <a:rPr lang="en-US" altLang="en-US" sz="3000" dirty="0"/>
              <a:t>No requirements of continuity, differentiability, linearity, convexity</a:t>
            </a:r>
          </a:p>
          <a:p>
            <a:pPr lvl="1">
              <a:lnSpc>
                <a:spcPct val="90000"/>
              </a:lnSpc>
            </a:pPr>
            <a:r>
              <a:rPr lang="en-US" altLang="en-US" sz="3000" dirty="0"/>
              <a:t>Do not even need a closed-form expression for constraints or objective function!</a:t>
            </a:r>
          </a:p>
          <a:p>
            <a:pPr>
              <a:lnSpc>
                <a:spcPct val="90000"/>
              </a:lnSpc>
            </a:pPr>
            <a:r>
              <a:rPr lang="en-US" altLang="en-US" sz="3400" dirty="0"/>
              <a:t>Simple to implement</a:t>
            </a:r>
          </a:p>
          <a:p>
            <a:pPr>
              <a:lnSpc>
                <a:spcPct val="90000"/>
              </a:lnSpc>
            </a:pPr>
            <a:r>
              <a:rPr lang="en-US" altLang="en-US" sz="3400" dirty="0"/>
              <a:t>Highly parallelizable</a:t>
            </a:r>
          </a:p>
          <a:p>
            <a:pPr>
              <a:lnSpc>
                <a:spcPct val="90000"/>
              </a:lnSpc>
            </a:pPr>
            <a:r>
              <a:rPr lang="en-US" altLang="en-US" sz="3400" dirty="0"/>
              <a:t>Generate numerous feasible, near-optimal solutions quickly</a:t>
            </a:r>
          </a:p>
          <a:p>
            <a:pPr>
              <a:lnSpc>
                <a:spcPct val="90000"/>
              </a:lnSpc>
            </a:pPr>
            <a:endParaRPr lang="en-US" altLang="en-US" sz="3400" dirty="0"/>
          </a:p>
          <a:p>
            <a:pPr>
              <a:lnSpc>
                <a:spcPct val="90000"/>
              </a:lnSpc>
            </a:pPr>
            <a:endParaRPr lang="en-US" altLang="en-US" sz="3400" dirty="0"/>
          </a:p>
        </p:txBody>
      </p:sp>
      <p:sp>
        <p:nvSpPr>
          <p:cNvPr id="5126" name="Text Box 6">
            <a:extLst>
              <a:ext uri="{FF2B5EF4-FFF2-40B4-BE49-F238E27FC236}">
                <a16:creationId xmlns:a16="http://schemas.microsoft.com/office/drawing/2014/main" id="{B802671A-CC12-5FE2-D713-C18CD5BCFFA8}"/>
              </a:ext>
            </a:extLst>
          </p:cNvPr>
          <p:cNvSpPr txBox="1">
            <a:spLocks noChangeArrowheads="1"/>
          </p:cNvSpPr>
          <p:nvPr/>
        </p:nvSpPr>
        <p:spPr bwMode="auto">
          <a:xfrm>
            <a:off x="525463" y="5410200"/>
            <a:ext cx="80930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6981">
                                            <p:txEl>
                                              <p:pRg st="0" end="0"/>
                                            </p:txEl>
                                          </p:spTgt>
                                        </p:tgtEl>
                                        <p:attrNameLst>
                                          <p:attrName>style.visibility</p:attrName>
                                        </p:attrNameLst>
                                      </p:cBhvr>
                                      <p:to>
                                        <p:strVal val="visible"/>
                                      </p:to>
                                    </p:set>
                                    <p:anim calcmode="lin" valueType="num">
                                      <p:cBhvr additive="base">
                                        <p:cTn id="7" dur="500" fill="hold"/>
                                        <p:tgtEl>
                                          <p:spTgt spid="12698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698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6981">
                                            <p:txEl>
                                              <p:pRg st="1" end="1"/>
                                            </p:txEl>
                                          </p:spTgt>
                                        </p:tgtEl>
                                        <p:attrNameLst>
                                          <p:attrName>style.visibility</p:attrName>
                                        </p:attrNameLst>
                                      </p:cBhvr>
                                      <p:to>
                                        <p:strVal val="visible"/>
                                      </p:to>
                                    </p:set>
                                    <p:anim calcmode="lin" valueType="num">
                                      <p:cBhvr additive="base">
                                        <p:cTn id="13" dur="500" fill="hold"/>
                                        <p:tgtEl>
                                          <p:spTgt spid="12698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698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6981">
                                            <p:txEl>
                                              <p:pRg st="2" end="2"/>
                                            </p:txEl>
                                          </p:spTgt>
                                        </p:tgtEl>
                                        <p:attrNameLst>
                                          <p:attrName>style.visibility</p:attrName>
                                        </p:attrNameLst>
                                      </p:cBhvr>
                                      <p:to>
                                        <p:strVal val="visible"/>
                                      </p:to>
                                    </p:set>
                                    <p:anim calcmode="lin" valueType="num">
                                      <p:cBhvr additive="base">
                                        <p:cTn id="19" dur="500" fill="hold"/>
                                        <p:tgtEl>
                                          <p:spTgt spid="12698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698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6981">
                                            <p:txEl>
                                              <p:pRg st="3" end="3"/>
                                            </p:txEl>
                                          </p:spTgt>
                                        </p:tgtEl>
                                        <p:attrNameLst>
                                          <p:attrName>style.visibility</p:attrName>
                                        </p:attrNameLst>
                                      </p:cBhvr>
                                      <p:to>
                                        <p:strVal val="visible"/>
                                      </p:to>
                                    </p:set>
                                    <p:anim calcmode="lin" valueType="num">
                                      <p:cBhvr additive="base">
                                        <p:cTn id="25" dur="500" fill="hold"/>
                                        <p:tgtEl>
                                          <p:spTgt spid="12698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698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26981">
                                            <p:txEl>
                                              <p:pRg st="4" end="4"/>
                                            </p:txEl>
                                          </p:spTgt>
                                        </p:tgtEl>
                                        <p:attrNameLst>
                                          <p:attrName>style.visibility</p:attrName>
                                        </p:attrNameLst>
                                      </p:cBhvr>
                                      <p:to>
                                        <p:strVal val="visible"/>
                                      </p:to>
                                    </p:set>
                                    <p:anim calcmode="lin" valueType="num">
                                      <p:cBhvr additive="base">
                                        <p:cTn id="31" dur="500" fill="hold"/>
                                        <p:tgtEl>
                                          <p:spTgt spid="12698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2698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26981">
                                            <p:txEl>
                                              <p:pRg st="5" end="5"/>
                                            </p:txEl>
                                          </p:spTgt>
                                        </p:tgtEl>
                                        <p:attrNameLst>
                                          <p:attrName>style.visibility</p:attrName>
                                        </p:attrNameLst>
                                      </p:cBhvr>
                                      <p:to>
                                        <p:strVal val="visible"/>
                                      </p:to>
                                    </p:set>
                                    <p:anim calcmode="lin" valueType="num">
                                      <p:cBhvr additive="base">
                                        <p:cTn id="37" dur="500" fill="hold"/>
                                        <p:tgtEl>
                                          <p:spTgt spid="12698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2698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1" grpId="0" build="p" bldLvl="2"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EBFA025-B304-B67C-2422-619709164AAD}"/>
              </a:ext>
            </a:extLst>
          </p:cNvPr>
          <p:cNvSpPr>
            <a:spLocks noGrp="1" noChangeArrowheads="1"/>
          </p:cNvSpPr>
          <p:nvPr>
            <p:ph type="title"/>
          </p:nvPr>
        </p:nvSpPr>
        <p:spPr>
          <a:xfrm>
            <a:off x="419100" y="0"/>
            <a:ext cx="8305800" cy="1143000"/>
          </a:xfrm>
        </p:spPr>
        <p:txBody>
          <a:bodyPr/>
          <a:lstStyle/>
          <a:p>
            <a:pPr>
              <a:lnSpc>
                <a:spcPct val="80000"/>
              </a:lnSpc>
            </a:pPr>
            <a:r>
              <a:rPr lang="en-US" altLang="en-US"/>
              <a:t>Stochastic Algorithms - Examples</a:t>
            </a:r>
          </a:p>
        </p:txBody>
      </p:sp>
      <p:sp>
        <p:nvSpPr>
          <p:cNvPr id="6147" name="Rectangle 3">
            <a:extLst>
              <a:ext uri="{FF2B5EF4-FFF2-40B4-BE49-F238E27FC236}">
                <a16:creationId xmlns:a16="http://schemas.microsoft.com/office/drawing/2014/main" id="{276D9037-975B-B69A-72B5-E623C5AF5B5C}"/>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48" name="Rectangle 4">
            <a:extLst>
              <a:ext uri="{FF2B5EF4-FFF2-40B4-BE49-F238E27FC236}">
                <a16:creationId xmlns:a16="http://schemas.microsoft.com/office/drawing/2014/main" id="{4169D9F2-07CE-E3D3-1991-178B6D4ED87C}"/>
              </a:ext>
            </a:extLst>
          </p:cNvPr>
          <p:cNvSpPr>
            <a:spLocks noChangeArrowheads="1"/>
          </p:cNvSpPr>
          <p:nvPr/>
        </p:nvSpPr>
        <p:spPr bwMode="auto">
          <a:xfrm>
            <a:off x="6400800" y="6248400"/>
            <a:ext cx="24479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29</a:t>
            </a:r>
          </a:p>
        </p:txBody>
      </p:sp>
      <p:sp>
        <p:nvSpPr>
          <p:cNvPr id="128005" name="Rectangle 5">
            <a:extLst>
              <a:ext uri="{FF2B5EF4-FFF2-40B4-BE49-F238E27FC236}">
                <a16:creationId xmlns:a16="http://schemas.microsoft.com/office/drawing/2014/main" id="{F0206854-DF9A-3046-C47C-7141973DAE20}"/>
              </a:ext>
            </a:extLst>
          </p:cNvPr>
          <p:cNvSpPr>
            <a:spLocks noGrp="1" noChangeArrowheads="1"/>
          </p:cNvSpPr>
          <p:nvPr>
            <p:ph type="body" idx="1"/>
          </p:nvPr>
        </p:nvSpPr>
        <p:spPr>
          <a:xfrm>
            <a:off x="533400" y="990600"/>
            <a:ext cx="7772400" cy="5029200"/>
          </a:xfrm>
        </p:spPr>
        <p:txBody>
          <a:bodyPr>
            <a:normAutofit/>
          </a:bodyPr>
          <a:lstStyle/>
          <a:p>
            <a:pPr>
              <a:lnSpc>
                <a:spcPct val="90000"/>
              </a:lnSpc>
            </a:pPr>
            <a:r>
              <a:rPr lang="en-US" altLang="en-US" sz="3400" dirty="0"/>
              <a:t>Simulated Annealing</a:t>
            </a:r>
          </a:p>
          <a:p>
            <a:pPr lvl="1">
              <a:lnSpc>
                <a:spcPct val="90000"/>
              </a:lnSpc>
            </a:pPr>
            <a:r>
              <a:rPr lang="en-US" altLang="en-US" dirty="0"/>
              <a:t>Based on simulations of materials (Metropolis, 1953)</a:t>
            </a:r>
          </a:p>
          <a:p>
            <a:pPr lvl="1">
              <a:lnSpc>
                <a:spcPct val="90000"/>
              </a:lnSpc>
            </a:pPr>
            <a:r>
              <a:rPr lang="en-US" altLang="en-US" dirty="0"/>
              <a:t>Accept a move to an inferior solution with a decreasing probability</a:t>
            </a:r>
            <a:r>
              <a:rPr lang="en-US" altLang="en-US" sz="3000" dirty="0"/>
              <a:t> </a:t>
            </a:r>
          </a:p>
          <a:p>
            <a:pPr>
              <a:lnSpc>
                <a:spcPct val="90000"/>
              </a:lnSpc>
            </a:pPr>
            <a:r>
              <a:rPr lang="en-US" altLang="en-US" sz="3400" dirty="0"/>
              <a:t>Tabu Search</a:t>
            </a:r>
          </a:p>
          <a:p>
            <a:pPr lvl="1">
              <a:lnSpc>
                <a:spcPct val="90000"/>
              </a:lnSpc>
            </a:pPr>
            <a:r>
              <a:rPr lang="en-US" altLang="en-US" dirty="0"/>
              <a:t>Use a memory list to avoid repeating old solutions, escape local optima</a:t>
            </a:r>
          </a:p>
          <a:p>
            <a:pPr lvl="1">
              <a:lnSpc>
                <a:spcPct val="90000"/>
              </a:lnSpc>
            </a:pPr>
            <a:r>
              <a:rPr lang="en-US" altLang="en-US" dirty="0"/>
              <a:t>Apply local intensification to converge on optimum when a sufficiently good solution is found</a:t>
            </a:r>
          </a:p>
        </p:txBody>
      </p:sp>
      <p:sp>
        <p:nvSpPr>
          <p:cNvPr id="6150" name="Text Box 6">
            <a:extLst>
              <a:ext uri="{FF2B5EF4-FFF2-40B4-BE49-F238E27FC236}">
                <a16:creationId xmlns:a16="http://schemas.microsoft.com/office/drawing/2014/main" id="{733A4085-776D-18D5-D064-8C099F07F2D0}"/>
              </a:ext>
            </a:extLst>
          </p:cNvPr>
          <p:cNvSpPr txBox="1">
            <a:spLocks noChangeArrowheads="1"/>
          </p:cNvSpPr>
          <p:nvPr/>
        </p:nvSpPr>
        <p:spPr bwMode="auto">
          <a:xfrm>
            <a:off x="525463" y="5410200"/>
            <a:ext cx="80930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8005">
                                            <p:txEl>
                                              <p:pRg st="0" end="0"/>
                                            </p:txEl>
                                          </p:spTgt>
                                        </p:tgtEl>
                                        <p:attrNameLst>
                                          <p:attrName>style.visibility</p:attrName>
                                        </p:attrNameLst>
                                      </p:cBhvr>
                                      <p:to>
                                        <p:strVal val="visible"/>
                                      </p:to>
                                    </p:set>
                                    <p:anim calcmode="lin" valueType="num">
                                      <p:cBhvr additive="base">
                                        <p:cTn id="7" dur="500" fill="hold"/>
                                        <p:tgtEl>
                                          <p:spTgt spid="12800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800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8005">
                                            <p:txEl>
                                              <p:pRg st="1" end="1"/>
                                            </p:txEl>
                                          </p:spTgt>
                                        </p:tgtEl>
                                        <p:attrNameLst>
                                          <p:attrName>style.visibility</p:attrName>
                                        </p:attrNameLst>
                                      </p:cBhvr>
                                      <p:to>
                                        <p:strVal val="visible"/>
                                      </p:to>
                                    </p:set>
                                    <p:anim calcmode="lin" valueType="num">
                                      <p:cBhvr additive="base">
                                        <p:cTn id="13" dur="500" fill="hold"/>
                                        <p:tgtEl>
                                          <p:spTgt spid="12800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800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8005">
                                            <p:txEl>
                                              <p:pRg st="2" end="2"/>
                                            </p:txEl>
                                          </p:spTgt>
                                        </p:tgtEl>
                                        <p:attrNameLst>
                                          <p:attrName>style.visibility</p:attrName>
                                        </p:attrNameLst>
                                      </p:cBhvr>
                                      <p:to>
                                        <p:strVal val="visible"/>
                                      </p:to>
                                    </p:set>
                                    <p:anim calcmode="lin" valueType="num">
                                      <p:cBhvr additive="base">
                                        <p:cTn id="19" dur="500" fill="hold"/>
                                        <p:tgtEl>
                                          <p:spTgt spid="12800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800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8005">
                                            <p:txEl>
                                              <p:pRg st="3" end="3"/>
                                            </p:txEl>
                                          </p:spTgt>
                                        </p:tgtEl>
                                        <p:attrNameLst>
                                          <p:attrName>style.visibility</p:attrName>
                                        </p:attrNameLst>
                                      </p:cBhvr>
                                      <p:to>
                                        <p:strVal val="visible"/>
                                      </p:to>
                                    </p:set>
                                    <p:anim calcmode="lin" valueType="num">
                                      <p:cBhvr additive="base">
                                        <p:cTn id="25" dur="500" fill="hold"/>
                                        <p:tgtEl>
                                          <p:spTgt spid="12800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800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28005">
                                            <p:txEl>
                                              <p:pRg st="4" end="4"/>
                                            </p:txEl>
                                          </p:spTgt>
                                        </p:tgtEl>
                                        <p:attrNameLst>
                                          <p:attrName>style.visibility</p:attrName>
                                        </p:attrNameLst>
                                      </p:cBhvr>
                                      <p:to>
                                        <p:strVal val="visible"/>
                                      </p:to>
                                    </p:set>
                                    <p:anim calcmode="lin" valueType="num">
                                      <p:cBhvr additive="base">
                                        <p:cTn id="31" dur="500" fill="hold"/>
                                        <p:tgtEl>
                                          <p:spTgt spid="12800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2800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28005">
                                            <p:txEl>
                                              <p:pRg st="5" end="5"/>
                                            </p:txEl>
                                          </p:spTgt>
                                        </p:tgtEl>
                                        <p:attrNameLst>
                                          <p:attrName>style.visibility</p:attrName>
                                        </p:attrNameLst>
                                      </p:cBhvr>
                                      <p:to>
                                        <p:strVal val="visible"/>
                                      </p:to>
                                    </p:set>
                                    <p:anim calcmode="lin" valueType="num">
                                      <p:cBhvr additive="base">
                                        <p:cTn id="37" dur="500" fill="hold"/>
                                        <p:tgtEl>
                                          <p:spTgt spid="12800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2800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5" grpId="0" build="p" bldLvl="3"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B7D8DD4-2D51-976A-3531-A245F05908B7}"/>
              </a:ext>
            </a:extLst>
          </p:cNvPr>
          <p:cNvSpPr>
            <a:spLocks noGrp="1" noChangeArrowheads="1"/>
          </p:cNvSpPr>
          <p:nvPr>
            <p:ph type="title"/>
          </p:nvPr>
        </p:nvSpPr>
        <p:spPr>
          <a:xfrm>
            <a:off x="419100" y="0"/>
            <a:ext cx="8305800" cy="1143000"/>
          </a:xfrm>
        </p:spPr>
        <p:txBody>
          <a:bodyPr/>
          <a:lstStyle/>
          <a:p>
            <a:pPr>
              <a:lnSpc>
                <a:spcPct val="80000"/>
              </a:lnSpc>
            </a:pPr>
            <a:r>
              <a:rPr lang="en-US" altLang="en-US" dirty="0"/>
              <a:t>Stochastic Algorithms - Examples</a:t>
            </a:r>
          </a:p>
        </p:txBody>
      </p:sp>
      <p:sp>
        <p:nvSpPr>
          <p:cNvPr id="7171" name="Rectangle 3">
            <a:extLst>
              <a:ext uri="{FF2B5EF4-FFF2-40B4-BE49-F238E27FC236}">
                <a16:creationId xmlns:a16="http://schemas.microsoft.com/office/drawing/2014/main" id="{A5D0192E-5A07-33E9-24DF-439414EAF6EC}"/>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7172" name="Rectangle 4">
            <a:extLst>
              <a:ext uri="{FF2B5EF4-FFF2-40B4-BE49-F238E27FC236}">
                <a16:creationId xmlns:a16="http://schemas.microsoft.com/office/drawing/2014/main" id="{406AADE9-5AB6-ACAE-9C4A-8E898E737CBA}"/>
              </a:ext>
            </a:extLst>
          </p:cNvPr>
          <p:cNvSpPr>
            <a:spLocks noChangeArrowheads="1"/>
          </p:cNvSpPr>
          <p:nvPr/>
        </p:nvSpPr>
        <p:spPr bwMode="auto">
          <a:xfrm>
            <a:off x="6400800" y="6248400"/>
            <a:ext cx="24479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29</a:t>
            </a:r>
          </a:p>
        </p:txBody>
      </p:sp>
      <p:sp>
        <p:nvSpPr>
          <p:cNvPr id="137221" name="Rectangle 5">
            <a:extLst>
              <a:ext uri="{FF2B5EF4-FFF2-40B4-BE49-F238E27FC236}">
                <a16:creationId xmlns:a16="http://schemas.microsoft.com/office/drawing/2014/main" id="{39ABD04C-31D6-28D9-E90A-5C3BBB78CC09}"/>
              </a:ext>
            </a:extLst>
          </p:cNvPr>
          <p:cNvSpPr>
            <a:spLocks noGrp="1" noChangeArrowheads="1"/>
          </p:cNvSpPr>
          <p:nvPr>
            <p:ph type="body" idx="1"/>
          </p:nvPr>
        </p:nvSpPr>
        <p:spPr>
          <a:xfrm>
            <a:off x="533400" y="990600"/>
            <a:ext cx="8001000" cy="5029200"/>
          </a:xfrm>
        </p:spPr>
        <p:txBody>
          <a:bodyPr>
            <a:normAutofit/>
          </a:bodyPr>
          <a:lstStyle/>
          <a:p>
            <a:pPr>
              <a:lnSpc>
                <a:spcPct val="90000"/>
              </a:lnSpc>
            </a:pPr>
            <a:r>
              <a:rPr lang="en-US" altLang="en-US" sz="3400" dirty="0"/>
              <a:t>Genetic Algorithms</a:t>
            </a:r>
          </a:p>
          <a:p>
            <a:pPr lvl="1">
              <a:lnSpc>
                <a:spcPct val="90000"/>
              </a:lnSpc>
            </a:pPr>
            <a:r>
              <a:rPr lang="en-US" altLang="en-US" dirty="0"/>
              <a:t>Evolve solutions from a random population, based on Darwinian principles</a:t>
            </a:r>
          </a:p>
          <a:p>
            <a:pPr>
              <a:lnSpc>
                <a:spcPct val="90000"/>
              </a:lnSpc>
            </a:pPr>
            <a:r>
              <a:rPr lang="en-US" altLang="en-US" sz="3400" dirty="0"/>
              <a:t>Ant Colony Optimization</a:t>
            </a:r>
          </a:p>
          <a:p>
            <a:pPr lvl="1">
              <a:lnSpc>
                <a:spcPct val="90000"/>
              </a:lnSpc>
            </a:pPr>
            <a:r>
              <a:rPr lang="en-US" altLang="en-US" dirty="0"/>
              <a:t>Ants derive shortest path from nest to food with almost no communication</a:t>
            </a:r>
          </a:p>
          <a:p>
            <a:pPr lvl="1">
              <a:lnSpc>
                <a:spcPct val="90000"/>
              </a:lnSpc>
            </a:pPr>
            <a:r>
              <a:rPr lang="en-US" altLang="en-US" dirty="0"/>
              <a:t>Good for graph/network problems in which data structures can be designed to emulate natural situation</a:t>
            </a:r>
          </a:p>
        </p:txBody>
      </p:sp>
      <p:sp>
        <p:nvSpPr>
          <p:cNvPr id="7174" name="Text Box 6">
            <a:extLst>
              <a:ext uri="{FF2B5EF4-FFF2-40B4-BE49-F238E27FC236}">
                <a16:creationId xmlns:a16="http://schemas.microsoft.com/office/drawing/2014/main" id="{6E1FD43F-AB23-F550-05E4-D9FED49F0F25}"/>
              </a:ext>
            </a:extLst>
          </p:cNvPr>
          <p:cNvSpPr txBox="1">
            <a:spLocks noChangeArrowheads="1"/>
          </p:cNvSpPr>
          <p:nvPr/>
        </p:nvSpPr>
        <p:spPr bwMode="auto">
          <a:xfrm>
            <a:off x="525463" y="5410200"/>
            <a:ext cx="80930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7221">
                                            <p:txEl>
                                              <p:pRg st="0" end="0"/>
                                            </p:txEl>
                                          </p:spTgt>
                                        </p:tgtEl>
                                        <p:attrNameLst>
                                          <p:attrName>style.visibility</p:attrName>
                                        </p:attrNameLst>
                                      </p:cBhvr>
                                      <p:to>
                                        <p:strVal val="visible"/>
                                      </p:to>
                                    </p:set>
                                    <p:anim calcmode="lin" valueType="num">
                                      <p:cBhvr additive="base">
                                        <p:cTn id="7" dur="500" fill="hold"/>
                                        <p:tgtEl>
                                          <p:spTgt spid="13722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72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7221">
                                            <p:txEl>
                                              <p:pRg st="1" end="1"/>
                                            </p:txEl>
                                          </p:spTgt>
                                        </p:tgtEl>
                                        <p:attrNameLst>
                                          <p:attrName>style.visibility</p:attrName>
                                        </p:attrNameLst>
                                      </p:cBhvr>
                                      <p:to>
                                        <p:strVal val="visible"/>
                                      </p:to>
                                    </p:set>
                                    <p:anim calcmode="lin" valueType="num">
                                      <p:cBhvr additive="base">
                                        <p:cTn id="13" dur="500" fill="hold"/>
                                        <p:tgtEl>
                                          <p:spTgt spid="13722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722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7221">
                                            <p:txEl>
                                              <p:pRg st="2" end="2"/>
                                            </p:txEl>
                                          </p:spTgt>
                                        </p:tgtEl>
                                        <p:attrNameLst>
                                          <p:attrName>style.visibility</p:attrName>
                                        </p:attrNameLst>
                                      </p:cBhvr>
                                      <p:to>
                                        <p:strVal val="visible"/>
                                      </p:to>
                                    </p:set>
                                    <p:anim calcmode="lin" valueType="num">
                                      <p:cBhvr additive="base">
                                        <p:cTn id="19" dur="500" fill="hold"/>
                                        <p:tgtEl>
                                          <p:spTgt spid="13722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722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7221">
                                            <p:txEl>
                                              <p:pRg st="3" end="3"/>
                                            </p:txEl>
                                          </p:spTgt>
                                        </p:tgtEl>
                                        <p:attrNameLst>
                                          <p:attrName>style.visibility</p:attrName>
                                        </p:attrNameLst>
                                      </p:cBhvr>
                                      <p:to>
                                        <p:strVal val="visible"/>
                                      </p:to>
                                    </p:set>
                                    <p:anim calcmode="lin" valueType="num">
                                      <p:cBhvr additive="base">
                                        <p:cTn id="25" dur="500" fill="hold"/>
                                        <p:tgtEl>
                                          <p:spTgt spid="13722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722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37221">
                                            <p:txEl>
                                              <p:pRg st="4" end="4"/>
                                            </p:txEl>
                                          </p:spTgt>
                                        </p:tgtEl>
                                        <p:attrNameLst>
                                          <p:attrName>style.visibility</p:attrName>
                                        </p:attrNameLst>
                                      </p:cBhvr>
                                      <p:to>
                                        <p:strVal val="visible"/>
                                      </p:to>
                                    </p:set>
                                    <p:anim calcmode="lin" valueType="num">
                                      <p:cBhvr additive="base">
                                        <p:cTn id="31" dur="500" fill="hold"/>
                                        <p:tgtEl>
                                          <p:spTgt spid="13722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722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1" grpId="0" build="p" bldLvl="3"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BA836D92-58C1-0053-AFC7-6593EEEB1E90}"/>
              </a:ext>
            </a:extLst>
          </p:cNvPr>
          <p:cNvSpPr>
            <a:spLocks noGrp="1" noChangeArrowheads="1"/>
          </p:cNvSpPr>
          <p:nvPr>
            <p:ph type="title"/>
          </p:nvPr>
        </p:nvSpPr>
        <p:spPr>
          <a:xfrm>
            <a:off x="419100" y="0"/>
            <a:ext cx="8305800" cy="1143000"/>
          </a:xfrm>
        </p:spPr>
        <p:txBody>
          <a:bodyPr/>
          <a:lstStyle/>
          <a:p>
            <a:pPr>
              <a:lnSpc>
                <a:spcPct val="80000"/>
              </a:lnSpc>
            </a:pPr>
            <a:r>
              <a:rPr lang="en-US" altLang="en-US"/>
              <a:t>Example: Monte Carlo</a:t>
            </a:r>
          </a:p>
        </p:txBody>
      </p:sp>
      <p:sp>
        <p:nvSpPr>
          <p:cNvPr id="8195" name="Rectangle 3">
            <a:extLst>
              <a:ext uri="{FF2B5EF4-FFF2-40B4-BE49-F238E27FC236}">
                <a16:creationId xmlns:a16="http://schemas.microsoft.com/office/drawing/2014/main" id="{A6FB8837-C648-0B63-3678-5A7C27107396}"/>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8196" name="Rectangle 4">
            <a:extLst>
              <a:ext uri="{FF2B5EF4-FFF2-40B4-BE49-F238E27FC236}">
                <a16:creationId xmlns:a16="http://schemas.microsoft.com/office/drawing/2014/main" id="{1E9026FC-697C-5500-8FA5-F35F908AF18E}"/>
              </a:ext>
            </a:extLst>
          </p:cNvPr>
          <p:cNvSpPr>
            <a:spLocks noChangeArrowheads="1"/>
          </p:cNvSpPr>
          <p:nvPr/>
        </p:nvSpPr>
        <p:spPr bwMode="auto">
          <a:xfrm>
            <a:off x="6400800" y="6248400"/>
            <a:ext cx="24479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29</a:t>
            </a:r>
          </a:p>
        </p:txBody>
      </p:sp>
      <p:sp>
        <p:nvSpPr>
          <p:cNvPr id="138245" name="Rectangle 5">
            <a:extLst>
              <a:ext uri="{FF2B5EF4-FFF2-40B4-BE49-F238E27FC236}">
                <a16:creationId xmlns:a16="http://schemas.microsoft.com/office/drawing/2014/main" id="{6B283EB7-D3CE-72B5-E4C6-9A5AEB970FA0}"/>
              </a:ext>
            </a:extLst>
          </p:cNvPr>
          <p:cNvSpPr>
            <a:spLocks noGrp="1" noChangeArrowheads="1"/>
          </p:cNvSpPr>
          <p:nvPr>
            <p:ph type="body" idx="1"/>
          </p:nvPr>
        </p:nvSpPr>
        <p:spPr>
          <a:xfrm>
            <a:off x="533400" y="990600"/>
            <a:ext cx="7772400" cy="5156200"/>
          </a:xfrm>
        </p:spPr>
        <p:txBody>
          <a:bodyPr>
            <a:normAutofit/>
          </a:bodyPr>
          <a:lstStyle/>
          <a:p>
            <a:pPr>
              <a:lnSpc>
                <a:spcPct val="90000"/>
              </a:lnSpc>
            </a:pPr>
            <a:r>
              <a:rPr lang="en-US" altLang="en-US" sz="3400" dirty="0"/>
              <a:t>Monte Carlo methods include any algorithm which uses random numbers to derive a solution</a:t>
            </a:r>
          </a:p>
          <a:p>
            <a:pPr>
              <a:lnSpc>
                <a:spcPct val="90000"/>
              </a:lnSpc>
            </a:pPr>
            <a:r>
              <a:rPr lang="en-US" altLang="en-US" sz="3400" dirty="0"/>
              <a:t>Why might it be preferable to use random numbers in a constrained search?</a:t>
            </a:r>
          </a:p>
          <a:p>
            <a:pPr lvl="1">
              <a:lnSpc>
                <a:spcPct val="90000"/>
              </a:lnSpc>
            </a:pPr>
            <a:r>
              <a:rPr lang="en-US" altLang="en-US" sz="3000" dirty="0"/>
              <a:t>No need to compute gradients or other derivative-based information</a:t>
            </a:r>
          </a:p>
          <a:p>
            <a:pPr lvl="1">
              <a:lnSpc>
                <a:spcPct val="90000"/>
              </a:lnSpc>
            </a:pPr>
            <a:r>
              <a:rPr lang="en-US" altLang="en-US" dirty="0"/>
              <a:t>For NLP and MINLP problems, we only have local information even if we analyze each constraint, and this can lead to early termination in a local solution</a:t>
            </a:r>
            <a:endParaRPr lang="en-US" altLang="en-US" sz="3000" dirty="0"/>
          </a:p>
        </p:txBody>
      </p:sp>
      <p:sp>
        <p:nvSpPr>
          <p:cNvPr id="8198" name="Text Box 6">
            <a:extLst>
              <a:ext uri="{FF2B5EF4-FFF2-40B4-BE49-F238E27FC236}">
                <a16:creationId xmlns:a16="http://schemas.microsoft.com/office/drawing/2014/main" id="{32C5CF53-386B-CA34-B0EB-A255BDE88755}"/>
              </a:ext>
            </a:extLst>
          </p:cNvPr>
          <p:cNvSpPr txBox="1">
            <a:spLocks noChangeArrowheads="1"/>
          </p:cNvSpPr>
          <p:nvPr/>
        </p:nvSpPr>
        <p:spPr bwMode="auto">
          <a:xfrm>
            <a:off x="525463" y="5410200"/>
            <a:ext cx="80930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8245">
                                            <p:txEl>
                                              <p:pRg st="0" end="0"/>
                                            </p:txEl>
                                          </p:spTgt>
                                        </p:tgtEl>
                                        <p:attrNameLst>
                                          <p:attrName>style.visibility</p:attrName>
                                        </p:attrNameLst>
                                      </p:cBhvr>
                                      <p:to>
                                        <p:strVal val="visible"/>
                                      </p:to>
                                    </p:set>
                                    <p:anim calcmode="lin" valueType="num">
                                      <p:cBhvr additive="base">
                                        <p:cTn id="7" dur="500" fill="hold"/>
                                        <p:tgtEl>
                                          <p:spTgt spid="13824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824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8245">
                                            <p:txEl>
                                              <p:pRg st="1" end="1"/>
                                            </p:txEl>
                                          </p:spTgt>
                                        </p:tgtEl>
                                        <p:attrNameLst>
                                          <p:attrName>style.visibility</p:attrName>
                                        </p:attrNameLst>
                                      </p:cBhvr>
                                      <p:to>
                                        <p:strVal val="visible"/>
                                      </p:to>
                                    </p:set>
                                    <p:anim calcmode="lin" valueType="num">
                                      <p:cBhvr additive="base">
                                        <p:cTn id="13" dur="500" fill="hold"/>
                                        <p:tgtEl>
                                          <p:spTgt spid="13824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824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8245">
                                            <p:txEl>
                                              <p:pRg st="2" end="2"/>
                                            </p:txEl>
                                          </p:spTgt>
                                        </p:tgtEl>
                                        <p:attrNameLst>
                                          <p:attrName>style.visibility</p:attrName>
                                        </p:attrNameLst>
                                      </p:cBhvr>
                                      <p:to>
                                        <p:strVal val="visible"/>
                                      </p:to>
                                    </p:set>
                                    <p:anim calcmode="lin" valueType="num">
                                      <p:cBhvr additive="base">
                                        <p:cTn id="19" dur="500" fill="hold"/>
                                        <p:tgtEl>
                                          <p:spTgt spid="13824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824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8245">
                                            <p:txEl>
                                              <p:pRg st="3" end="3"/>
                                            </p:txEl>
                                          </p:spTgt>
                                        </p:tgtEl>
                                        <p:attrNameLst>
                                          <p:attrName>style.visibility</p:attrName>
                                        </p:attrNameLst>
                                      </p:cBhvr>
                                      <p:to>
                                        <p:strVal val="visible"/>
                                      </p:to>
                                    </p:set>
                                    <p:anim calcmode="lin" valueType="num">
                                      <p:cBhvr additive="base">
                                        <p:cTn id="25" dur="500" fill="hold"/>
                                        <p:tgtEl>
                                          <p:spTgt spid="13824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824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5" grpId="0" build="p" bldLvl="3"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F6F74772-914C-ADEC-7E6B-E2AF1D17E307}"/>
              </a:ext>
            </a:extLst>
          </p:cNvPr>
          <p:cNvSpPr>
            <a:spLocks noGrp="1" noChangeArrowheads="1"/>
          </p:cNvSpPr>
          <p:nvPr>
            <p:ph type="ctrTitle"/>
          </p:nvPr>
        </p:nvSpPr>
        <p:spPr>
          <a:xfrm>
            <a:off x="457200" y="0"/>
            <a:ext cx="7772400" cy="1143000"/>
          </a:xfrm>
        </p:spPr>
        <p:txBody>
          <a:bodyPr/>
          <a:lstStyle/>
          <a:p>
            <a:r>
              <a:rPr lang="en-US" altLang="en-US" sz="5000"/>
              <a:t>Simulated Annealing</a:t>
            </a:r>
          </a:p>
        </p:txBody>
      </p:sp>
      <p:sp>
        <p:nvSpPr>
          <p:cNvPr id="11267" name="Rectangle 3">
            <a:extLst>
              <a:ext uri="{FF2B5EF4-FFF2-40B4-BE49-F238E27FC236}">
                <a16:creationId xmlns:a16="http://schemas.microsoft.com/office/drawing/2014/main" id="{591FBF12-B2BD-5E95-0DF3-B831DC629A54}"/>
              </a:ext>
            </a:extLst>
          </p:cNvPr>
          <p:cNvSpPr>
            <a:spLocks noGrp="1" noChangeArrowheads="1"/>
          </p:cNvSpPr>
          <p:nvPr>
            <p:ph type="subTitle" idx="1"/>
          </p:nvPr>
        </p:nvSpPr>
        <p:spPr>
          <a:xfrm>
            <a:off x="457200" y="1142999"/>
            <a:ext cx="8229600" cy="5105401"/>
          </a:xfrm>
        </p:spPr>
        <p:txBody>
          <a:bodyPr>
            <a:normAutofit/>
          </a:bodyPr>
          <a:lstStyle/>
          <a:p>
            <a:pPr algn="l">
              <a:lnSpc>
                <a:spcPct val="90000"/>
              </a:lnSpc>
              <a:buFontTx/>
              <a:buChar char="•"/>
            </a:pPr>
            <a:r>
              <a:rPr lang="en-US" altLang="en-US" sz="2800"/>
              <a:t>  Simulated annealing is a stochastic algorithm which is primarily used to solve large NLP and MINLP problems.  The goal is to improve on the basic steepest descent idea of just moving in the direction of greatest decrease of our objective function</a:t>
            </a:r>
          </a:p>
          <a:p>
            <a:pPr algn="l">
              <a:lnSpc>
                <a:spcPct val="90000"/>
              </a:lnSpc>
              <a:buFontTx/>
              <a:buChar char="•"/>
            </a:pPr>
            <a:r>
              <a:rPr lang="en-US" altLang="en-US" sz="2800"/>
              <a:t>  To set up the algorithm, you need to define a </a:t>
            </a:r>
            <a:r>
              <a:rPr lang="en-US" altLang="en-US" sz="2800" u="sng"/>
              <a:t>move</a:t>
            </a:r>
            <a:r>
              <a:rPr lang="en-US" altLang="en-US" sz="2800"/>
              <a:t>, that is, a way to change the variables of the system to get from one feasible solution to the next</a:t>
            </a:r>
          </a:p>
          <a:p>
            <a:pPr algn="l">
              <a:lnSpc>
                <a:spcPct val="90000"/>
              </a:lnSpc>
            </a:pPr>
            <a:r>
              <a:rPr lang="en-US" altLang="en-US" sz="2800" i="1"/>
              <a:t>	</a:t>
            </a:r>
          </a:p>
        </p:txBody>
      </p:sp>
      <p:sp>
        <p:nvSpPr>
          <p:cNvPr id="11268" name="Rectangle 4">
            <a:extLst>
              <a:ext uri="{FF2B5EF4-FFF2-40B4-BE49-F238E27FC236}">
                <a16:creationId xmlns:a16="http://schemas.microsoft.com/office/drawing/2014/main" id="{AAA2E862-6269-22F9-274B-4B0B40DAB6A4}"/>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400"/>
          </a:p>
        </p:txBody>
      </p:sp>
      <p:sp>
        <p:nvSpPr>
          <p:cNvPr id="11269" name="Text Box 5">
            <a:extLst>
              <a:ext uri="{FF2B5EF4-FFF2-40B4-BE49-F238E27FC236}">
                <a16:creationId xmlns:a16="http://schemas.microsoft.com/office/drawing/2014/main" id="{4D94F58A-B44D-4138-2A65-BE33930C5576}"/>
              </a:ext>
            </a:extLst>
          </p:cNvPr>
          <p:cNvSpPr txBox="1">
            <a:spLocks noChangeArrowheads="1"/>
          </p:cNvSpPr>
          <p:nvPr/>
        </p:nvSpPr>
        <p:spPr bwMode="auto">
          <a:xfrm>
            <a:off x="6400800" y="6248400"/>
            <a:ext cx="2562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29</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ADEFDC1-BC14-7001-FFC2-B5B69A3E2BCD}"/>
              </a:ext>
            </a:extLst>
          </p:cNvPr>
          <p:cNvSpPr>
            <a:spLocks noGrp="1" noChangeArrowheads="1"/>
          </p:cNvSpPr>
          <p:nvPr>
            <p:ph type="ctrTitle"/>
          </p:nvPr>
        </p:nvSpPr>
        <p:spPr>
          <a:xfrm>
            <a:off x="457200" y="0"/>
            <a:ext cx="7772400" cy="1143000"/>
          </a:xfrm>
        </p:spPr>
        <p:txBody>
          <a:bodyPr/>
          <a:lstStyle/>
          <a:p>
            <a:r>
              <a:rPr lang="en-US" altLang="en-US" sz="5000"/>
              <a:t>Moves</a:t>
            </a:r>
          </a:p>
        </p:txBody>
      </p:sp>
      <p:sp>
        <p:nvSpPr>
          <p:cNvPr id="250883" name="Rectangle 3">
            <a:extLst>
              <a:ext uri="{FF2B5EF4-FFF2-40B4-BE49-F238E27FC236}">
                <a16:creationId xmlns:a16="http://schemas.microsoft.com/office/drawing/2014/main" id="{88398CA0-54AD-48FC-806F-8D9D92A37E7D}"/>
              </a:ext>
            </a:extLst>
          </p:cNvPr>
          <p:cNvSpPr>
            <a:spLocks noGrp="1" noChangeArrowheads="1"/>
          </p:cNvSpPr>
          <p:nvPr>
            <p:ph type="subTitle" idx="1"/>
          </p:nvPr>
        </p:nvSpPr>
        <p:spPr>
          <a:xfrm>
            <a:off x="457200" y="914400"/>
            <a:ext cx="8229600" cy="1752600"/>
          </a:xfrm>
        </p:spPr>
        <p:txBody>
          <a:bodyPr>
            <a:normAutofit fontScale="77500" lnSpcReduction="20000"/>
          </a:bodyPr>
          <a:lstStyle/>
          <a:p>
            <a:pPr algn="l">
              <a:lnSpc>
                <a:spcPct val="90000"/>
              </a:lnSpc>
              <a:buFontTx/>
              <a:buChar char="•"/>
            </a:pPr>
            <a:r>
              <a:rPr lang="en-US" altLang="en-US"/>
              <a:t>  Let’s define moves for a set of optimization problems:</a:t>
            </a:r>
          </a:p>
          <a:p>
            <a:pPr lvl="1" algn="l">
              <a:lnSpc>
                <a:spcPct val="90000"/>
              </a:lnSpc>
              <a:buFontTx/>
              <a:buChar char="–"/>
            </a:pPr>
            <a:r>
              <a:rPr lang="en-US" altLang="en-US"/>
              <a:t>  </a:t>
            </a:r>
            <a:r>
              <a:rPr lang="en-US" altLang="en-US" sz="3000"/>
              <a:t>Separation sequencing (assume we want each of a set of many components 99% pure)</a:t>
            </a:r>
          </a:p>
          <a:p>
            <a:pPr lvl="2" algn="l">
              <a:buFontTx/>
              <a:buChar char="•"/>
            </a:pPr>
            <a:r>
              <a:rPr lang="en-US" altLang="en-US" i="1"/>
              <a:t>  </a:t>
            </a:r>
            <a:r>
              <a:rPr lang="en-US" altLang="en-US" sz="2800"/>
              <a:t>Start with an order of separation (ABCD </a:t>
            </a:r>
            <a:r>
              <a:rPr lang="en-US" altLang="en-US" sz="2800">
                <a:sym typeface="Symbol" panose="05050102010706020507" pitchFamily="18" charset="2"/>
              </a:rPr>
              <a:t> AB/CDA/B/C/D) and then switch one component in one separation</a:t>
            </a:r>
            <a:endParaRPr lang="en-US" altLang="en-US" sz="2800" i="1">
              <a:sym typeface="Symbol" panose="05050102010706020507" pitchFamily="18" charset="2"/>
            </a:endParaRPr>
          </a:p>
        </p:txBody>
      </p:sp>
      <p:sp>
        <p:nvSpPr>
          <p:cNvPr id="12292" name="Rectangle 4">
            <a:extLst>
              <a:ext uri="{FF2B5EF4-FFF2-40B4-BE49-F238E27FC236}">
                <a16:creationId xmlns:a16="http://schemas.microsoft.com/office/drawing/2014/main" id="{681ACF92-EDDA-871A-B711-D29AA6AA650A}"/>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400"/>
          </a:p>
        </p:txBody>
      </p:sp>
      <p:sp>
        <p:nvSpPr>
          <p:cNvPr id="12293" name="Text Box 5">
            <a:extLst>
              <a:ext uri="{FF2B5EF4-FFF2-40B4-BE49-F238E27FC236}">
                <a16:creationId xmlns:a16="http://schemas.microsoft.com/office/drawing/2014/main" id="{74C13D5A-AF65-F64F-003F-C19C36F86710}"/>
              </a:ext>
            </a:extLst>
          </p:cNvPr>
          <p:cNvSpPr txBox="1">
            <a:spLocks noChangeArrowheads="1"/>
          </p:cNvSpPr>
          <p:nvPr/>
        </p:nvSpPr>
        <p:spPr bwMode="auto">
          <a:xfrm>
            <a:off x="6400800" y="6248400"/>
            <a:ext cx="2562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29</a:t>
            </a:r>
          </a:p>
        </p:txBody>
      </p:sp>
      <p:sp>
        <p:nvSpPr>
          <p:cNvPr id="250889" name="Rectangle 9">
            <a:extLst>
              <a:ext uri="{FF2B5EF4-FFF2-40B4-BE49-F238E27FC236}">
                <a16:creationId xmlns:a16="http://schemas.microsoft.com/office/drawing/2014/main" id="{1563C1EF-367B-C9D2-2DE9-EED66150D3E0}"/>
              </a:ext>
            </a:extLst>
          </p:cNvPr>
          <p:cNvSpPr>
            <a:spLocks noChangeArrowheads="1"/>
          </p:cNvSpPr>
          <p:nvPr/>
        </p:nvSpPr>
        <p:spPr bwMode="auto">
          <a:xfrm>
            <a:off x="428625" y="4087813"/>
            <a:ext cx="8229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r>
              <a:rPr lang="en-US" altLang="en-US"/>
              <a:t>  </a:t>
            </a:r>
            <a:r>
              <a:rPr lang="en-US" altLang="en-US" sz="3000"/>
              <a:t>Molecular simulation</a:t>
            </a:r>
          </a:p>
          <a:p>
            <a:pPr lvl="2"/>
            <a:r>
              <a:rPr lang="en-US" altLang="en-US" sz="2800" i="1">
                <a:sym typeface="Symbol" panose="05050102010706020507" pitchFamily="18" charset="2"/>
              </a:rPr>
              <a:t>  </a:t>
            </a:r>
            <a:r>
              <a:rPr lang="en-US" altLang="en-US" sz="2800">
                <a:sym typeface="Symbol" panose="05050102010706020507" pitchFamily="18" charset="2"/>
              </a:rPr>
              <a:t>Move each atom a small, fixed spatial distance</a:t>
            </a:r>
          </a:p>
          <a:p>
            <a:pPr lvl="1"/>
            <a:r>
              <a:rPr lang="en-US" altLang="en-US" i="1">
                <a:sym typeface="Symbol" panose="05050102010706020507" pitchFamily="18" charset="2"/>
              </a:rPr>
              <a:t>  </a:t>
            </a:r>
            <a:r>
              <a:rPr lang="en-US" altLang="en-US" sz="3000">
                <a:sym typeface="Symbol" panose="05050102010706020507" pitchFamily="18" charset="2"/>
              </a:rPr>
              <a:t>Molecular design</a:t>
            </a:r>
          </a:p>
          <a:p>
            <a:pPr lvl="2"/>
            <a:r>
              <a:rPr lang="en-US" altLang="en-US" i="1">
                <a:sym typeface="Symbol" panose="05050102010706020507" pitchFamily="18" charset="2"/>
              </a:rPr>
              <a:t>  </a:t>
            </a:r>
            <a:r>
              <a:rPr lang="en-US" altLang="en-US" sz="2800">
                <a:sym typeface="Symbol" panose="05050102010706020507" pitchFamily="18" charset="2"/>
              </a:rPr>
              <a:t>Change one functional group, or divert one bond and move hydrogens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50883">
                                            <p:txEl>
                                              <p:pRg st="0" end="0"/>
                                            </p:txEl>
                                          </p:spTgt>
                                        </p:tgtEl>
                                        <p:attrNameLst>
                                          <p:attrName>style.visibility</p:attrName>
                                        </p:attrNameLst>
                                      </p:cBhvr>
                                      <p:to>
                                        <p:strVal val="visible"/>
                                      </p:to>
                                    </p:set>
                                    <p:anim calcmode="lin" valueType="num">
                                      <p:cBhvr additive="base">
                                        <p:cTn id="7" dur="500" fill="hold"/>
                                        <p:tgtEl>
                                          <p:spTgt spid="2508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0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50883">
                                            <p:txEl>
                                              <p:pRg st="1" end="1"/>
                                            </p:txEl>
                                          </p:spTgt>
                                        </p:tgtEl>
                                        <p:attrNameLst>
                                          <p:attrName>style.visibility</p:attrName>
                                        </p:attrNameLst>
                                      </p:cBhvr>
                                      <p:to>
                                        <p:strVal val="visible"/>
                                      </p:to>
                                    </p:set>
                                    <p:anim calcmode="lin" valueType="num">
                                      <p:cBhvr additive="base">
                                        <p:cTn id="13" dur="500" fill="hold"/>
                                        <p:tgtEl>
                                          <p:spTgt spid="2508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0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50883">
                                            <p:txEl>
                                              <p:pRg st="2" end="2"/>
                                            </p:txEl>
                                          </p:spTgt>
                                        </p:tgtEl>
                                        <p:attrNameLst>
                                          <p:attrName>style.visibility</p:attrName>
                                        </p:attrNameLst>
                                      </p:cBhvr>
                                      <p:to>
                                        <p:strVal val="visible"/>
                                      </p:to>
                                    </p:set>
                                    <p:anim calcmode="lin" valueType="num">
                                      <p:cBhvr additive="base">
                                        <p:cTn id="19" dur="500" fill="hold"/>
                                        <p:tgtEl>
                                          <p:spTgt spid="2508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08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50889">
                                            <p:txEl>
                                              <p:pRg st="0" end="0"/>
                                            </p:txEl>
                                          </p:spTgt>
                                        </p:tgtEl>
                                        <p:attrNameLst>
                                          <p:attrName>style.visibility</p:attrName>
                                        </p:attrNameLst>
                                      </p:cBhvr>
                                      <p:to>
                                        <p:strVal val="visible"/>
                                      </p:to>
                                    </p:set>
                                    <p:anim calcmode="lin" valueType="num">
                                      <p:cBhvr additive="base">
                                        <p:cTn id="25" dur="500" fill="hold"/>
                                        <p:tgtEl>
                                          <p:spTgt spid="250889">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088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50889">
                                            <p:txEl>
                                              <p:pRg st="1" end="1"/>
                                            </p:txEl>
                                          </p:spTgt>
                                        </p:tgtEl>
                                        <p:attrNameLst>
                                          <p:attrName>style.visibility</p:attrName>
                                        </p:attrNameLst>
                                      </p:cBhvr>
                                      <p:to>
                                        <p:strVal val="visible"/>
                                      </p:to>
                                    </p:set>
                                    <p:anim calcmode="lin" valueType="num">
                                      <p:cBhvr additive="base">
                                        <p:cTn id="31" dur="500" fill="hold"/>
                                        <p:tgtEl>
                                          <p:spTgt spid="250889">
                                            <p:txEl>
                                              <p:pRg st="1" end="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088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50889">
                                            <p:txEl>
                                              <p:pRg st="2" end="2"/>
                                            </p:txEl>
                                          </p:spTgt>
                                        </p:tgtEl>
                                        <p:attrNameLst>
                                          <p:attrName>style.visibility</p:attrName>
                                        </p:attrNameLst>
                                      </p:cBhvr>
                                      <p:to>
                                        <p:strVal val="visible"/>
                                      </p:to>
                                    </p:set>
                                    <p:anim calcmode="lin" valueType="num">
                                      <p:cBhvr additive="base">
                                        <p:cTn id="37" dur="500" fill="hold"/>
                                        <p:tgtEl>
                                          <p:spTgt spid="250889">
                                            <p:txEl>
                                              <p:pRg st="2" end="2"/>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088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250889">
                                            <p:txEl>
                                              <p:pRg st="3" end="3"/>
                                            </p:txEl>
                                          </p:spTgt>
                                        </p:tgtEl>
                                        <p:attrNameLst>
                                          <p:attrName>style.visibility</p:attrName>
                                        </p:attrNameLst>
                                      </p:cBhvr>
                                      <p:to>
                                        <p:strVal val="visible"/>
                                      </p:to>
                                    </p:set>
                                    <p:anim calcmode="lin" valueType="num">
                                      <p:cBhvr additive="base">
                                        <p:cTn id="43" dur="500" fill="hold"/>
                                        <p:tgtEl>
                                          <p:spTgt spid="250889">
                                            <p:txEl>
                                              <p:pRg st="3" end="3"/>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088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build="p" bldLvl="3" autoUpdateAnimBg="0"/>
      <p:bldP spid="250889" grpId="0" build="p" bldLvl="3"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5D4CF18-F829-EDE4-5399-E839711F92EE}"/>
              </a:ext>
            </a:extLst>
          </p:cNvPr>
          <p:cNvSpPr>
            <a:spLocks noGrp="1" noChangeArrowheads="1"/>
          </p:cNvSpPr>
          <p:nvPr>
            <p:ph type="title"/>
          </p:nvPr>
        </p:nvSpPr>
        <p:spPr>
          <a:xfrm>
            <a:off x="381000" y="76200"/>
            <a:ext cx="8382000" cy="1143000"/>
          </a:xfrm>
        </p:spPr>
        <p:txBody>
          <a:bodyPr/>
          <a:lstStyle/>
          <a:p>
            <a:pPr>
              <a:lnSpc>
                <a:spcPct val="80000"/>
              </a:lnSpc>
            </a:pPr>
            <a:r>
              <a:rPr lang="en-US" altLang="en-US" sz="4600"/>
              <a:t>Beating Steepest Descent</a:t>
            </a:r>
          </a:p>
        </p:txBody>
      </p:sp>
      <p:sp>
        <p:nvSpPr>
          <p:cNvPr id="13315" name="Rectangle 3">
            <a:extLst>
              <a:ext uri="{FF2B5EF4-FFF2-40B4-BE49-F238E27FC236}">
                <a16:creationId xmlns:a16="http://schemas.microsoft.com/office/drawing/2014/main" id="{26361742-ED7A-1F5D-C907-FF6427B81304}"/>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16" name="Rectangle 4">
            <a:extLst>
              <a:ext uri="{FF2B5EF4-FFF2-40B4-BE49-F238E27FC236}">
                <a16:creationId xmlns:a16="http://schemas.microsoft.com/office/drawing/2014/main" id="{DD8245D9-5487-45BA-E81D-A92C7D7EC113}"/>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29</a:t>
            </a:r>
          </a:p>
        </p:txBody>
      </p:sp>
      <p:sp>
        <p:nvSpPr>
          <p:cNvPr id="219141" name="Text Box 5">
            <a:extLst>
              <a:ext uri="{FF2B5EF4-FFF2-40B4-BE49-F238E27FC236}">
                <a16:creationId xmlns:a16="http://schemas.microsoft.com/office/drawing/2014/main" id="{CC7BD8EE-E0AD-B192-F61A-EBAD9156D484}"/>
              </a:ext>
            </a:extLst>
          </p:cNvPr>
          <p:cNvSpPr txBox="1">
            <a:spLocks noChangeArrowheads="1"/>
          </p:cNvSpPr>
          <p:nvPr/>
        </p:nvSpPr>
        <p:spPr bwMode="auto">
          <a:xfrm>
            <a:off x="304800" y="1066800"/>
            <a:ext cx="845820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A naive algorithm to find a local minimum would just make a random move (but only a feasible one), and if that move decreases the objective function, accept it.  This will usually find the nearest local minimum, or saddle point</a:t>
            </a:r>
          </a:p>
        </p:txBody>
      </p:sp>
      <p:sp>
        <p:nvSpPr>
          <p:cNvPr id="219177" name="Text Box 41">
            <a:extLst>
              <a:ext uri="{FF2B5EF4-FFF2-40B4-BE49-F238E27FC236}">
                <a16:creationId xmlns:a16="http://schemas.microsoft.com/office/drawing/2014/main" id="{AEA65C85-A842-DB4A-47B1-0FA16B286297}"/>
              </a:ext>
            </a:extLst>
          </p:cNvPr>
          <p:cNvSpPr txBox="1">
            <a:spLocks noChangeArrowheads="1"/>
          </p:cNvSpPr>
          <p:nvPr/>
        </p:nvSpPr>
        <p:spPr bwMode="auto">
          <a:xfrm>
            <a:off x="327025" y="3414713"/>
            <a:ext cx="8610600"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sz="3000"/>
              <a:t>If we would like to look for the global optimum, we need to do something smarter</a:t>
            </a:r>
          </a:p>
          <a:p>
            <a:pPr>
              <a:lnSpc>
                <a:spcPct val="90000"/>
              </a:lnSpc>
              <a:spcBef>
                <a:spcPct val="0"/>
              </a:spcBef>
            </a:pPr>
            <a:r>
              <a:rPr lang="en-US" altLang="en-US" sz="3000"/>
              <a:t>In the annealing of metals, a mixture of ores is heated very hot and then cooled very slowly, in the hope that is will reach its minimum Gibbs Free Energy conformation.  Let’s apply this to an NLP problem.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9141">
                                            <p:txEl>
                                              <p:pRg st="0" end="0"/>
                                            </p:txEl>
                                          </p:spTgt>
                                        </p:tgtEl>
                                        <p:attrNameLst>
                                          <p:attrName>style.visibility</p:attrName>
                                        </p:attrNameLst>
                                      </p:cBhvr>
                                      <p:to>
                                        <p:strVal val="visible"/>
                                      </p:to>
                                    </p:set>
                                    <p:anim calcmode="lin" valueType="num">
                                      <p:cBhvr additive="base">
                                        <p:cTn id="7" dur="500" fill="hold"/>
                                        <p:tgtEl>
                                          <p:spTgt spid="21914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914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19177">
                                            <p:txEl>
                                              <p:pRg st="0" end="0"/>
                                            </p:txEl>
                                          </p:spTgt>
                                        </p:tgtEl>
                                        <p:attrNameLst>
                                          <p:attrName>style.visibility</p:attrName>
                                        </p:attrNameLst>
                                      </p:cBhvr>
                                      <p:to>
                                        <p:strVal val="visible"/>
                                      </p:to>
                                    </p:set>
                                    <p:anim calcmode="lin" valueType="num">
                                      <p:cBhvr additive="base">
                                        <p:cTn id="13" dur="500" fill="hold"/>
                                        <p:tgtEl>
                                          <p:spTgt spid="21917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917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19177">
                                            <p:txEl>
                                              <p:pRg st="1" end="1"/>
                                            </p:txEl>
                                          </p:spTgt>
                                        </p:tgtEl>
                                        <p:attrNameLst>
                                          <p:attrName>style.visibility</p:attrName>
                                        </p:attrNameLst>
                                      </p:cBhvr>
                                      <p:to>
                                        <p:strVal val="visible"/>
                                      </p:to>
                                    </p:set>
                                    <p:anim calcmode="lin" valueType="num">
                                      <p:cBhvr additive="base">
                                        <p:cTn id="19" dur="500" fill="hold"/>
                                        <p:tgtEl>
                                          <p:spTgt spid="21917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917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1" grpId="0" build="p" autoUpdateAnimBg="0"/>
      <p:bldP spid="219177" grpId="0" build="p"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84930EA-7873-F374-9F3D-804632ACB7EE}"/>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The Metropolis Algorithm </a:t>
            </a:r>
          </a:p>
        </p:txBody>
      </p:sp>
      <p:sp>
        <p:nvSpPr>
          <p:cNvPr id="14339" name="Rectangle 3">
            <a:extLst>
              <a:ext uri="{FF2B5EF4-FFF2-40B4-BE49-F238E27FC236}">
                <a16:creationId xmlns:a16="http://schemas.microsoft.com/office/drawing/2014/main" id="{539F15B6-4E77-8C31-64C5-8D27D18E5149}"/>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4340" name="Rectangle 4">
            <a:extLst>
              <a:ext uri="{FF2B5EF4-FFF2-40B4-BE49-F238E27FC236}">
                <a16:creationId xmlns:a16="http://schemas.microsoft.com/office/drawing/2014/main" id="{1A5D83A1-C46D-9C8B-233E-1E405FA64C50}"/>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CPE 778, Lect. 35</a:t>
            </a:r>
          </a:p>
        </p:txBody>
      </p:sp>
      <p:sp>
        <p:nvSpPr>
          <p:cNvPr id="242693" name="Text Box 5">
            <a:extLst>
              <a:ext uri="{FF2B5EF4-FFF2-40B4-BE49-F238E27FC236}">
                <a16:creationId xmlns:a16="http://schemas.microsoft.com/office/drawing/2014/main" id="{C749463C-3109-2C62-2754-69C89F1027B0}"/>
              </a:ext>
            </a:extLst>
          </p:cNvPr>
          <p:cNvSpPr txBox="1">
            <a:spLocks noChangeArrowheads="1"/>
          </p:cNvSpPr>
          <p:nvPr/>
        </p:nvSpPr>
        <p:spPr bwMode="auto">
          <a:xfrm>
            <a:off x="342900" y="990600"/>
            <a:ext cx="845820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Based on that metals analogy, Metropolis (1953) proposed that moves which make the objective function lower be always accepted, but those which make the objective function worse be accepted with a probability of</a:t>
            </a:r>
          </a:p>
        </p:txBody>
      </p:sp>
      <p:graphicFrame>
        <p:nvGraphicFramePr>
          <p:cNvPr id="242694" name="Object 6">
            <a:extLst>
              <a:ext uri="{FF2B5EF4-FFF2-40B4-BE49-F238E27FC236}">
                <a16:creationId xmlns:a16="http://schemas.microsoft.com/office/drawing/2014/main" id="{545A918F-BCF2-3354-DCEC-5D068CF68D38}"/>
              </a:ext>
            </a:extLst>
          </p:cNvPr>
          <p:cNvGraphicFramePr>
            <a:graphicFrameLocks noChangeAspect="1"/>
          </p:cNvGraphicFramePr>
          <p:nvPr/>
        </p:nvGraphicFramePr>
        <p:xfrm>
          <a:off x="2341563" y="3505200"/>
          <a:ext cx="4408487" cy="1319213"/>
        </p:xfrm>
        <a:graphic>
          <a:graphicData uri="http://schemas.openxmlformats.org/presentationml/2006/ole">
            <mc:AlternateContent xmlns:mc="http://schemas.openxmlformats.org/markup-compatibility/2006">
              <mc:Choice xmlns:v="urn:schemas-microsoft-com:vml" Requires="v">
                <p:oleObj name="Equation" r:id="rId2" imgW="1612900" imgH="482600" progId="Equation.DSMT4">
                  <p:embed/>
                </p:oleObj>
              </mc:Choice>
              <mc:Fallback>
                <p:oleObj name="Equation" r:id="rId2" imgW="1612900" imgH="482600" progId="Equation.DSMT4">
                  <p:embed/>
                  <p:pic>
                    <p:nvPicPr>
                      <p:cNvPr id="242694" name="Object 6">
                        <a:extLst>
                          <a:ext uri="{FF2B5EF4-FFF2-40B4-BE49-F238E27FC236}">
                            <a16:creationId xmlns:a16="http://schemas.microsoft.com/office/drawing/2014/main" id="{545A918F-BCF2-3354-DCEC-5D068CF68D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1563" y="3505200"/>
                        <a:ext cx="4408487" cy="1319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696" name="Text Box 8">
            <a:extLst>
              <a:ext uri="{FF2B5EF4-FFF2-40B4-BE49-F238E27FC236}">
                <a16:creationId xmlns:a16="http://schemas.microsoft.com/office/drawing/2014/main" id="{ED74E419-76F3-7F97-1DA3-79B7C83CEED4}"/>
              </a:ext>
            </a:extLst>
          </p:cNvPr>
          <p:cNvSpPr txBox="1">
            <a:spLocks noChangeArrowheads="1"/>
          </p:cNvSpPr>
          <p:nvPr/>
        </p:nvSpPr>
        <p:spPr bwMode="auto">
          <a:xfrm>
            <a:off x="457200" y="4953000"/>
            <a:ext cx="824547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The </a:t>
            </a:r>
            <a:r>
              <a:rPr lang="en-US" altLang="en-US" sz="3000" i="1"/>
              <a:t>f</a:t>
            </a:r>
            <a:r>
              <a:rPr lang="en-US" altLang="en-US" sz="3000"/>
              <a:t>’s are the objective function values at the current (</a:t>
            </a:r>
            <a:r>
              <a:rPr lang="en-US" altLang="en-US" sz="3000" i="1"/>
              <a:t>i</a:t>
            </a:r>
            <a:r>
              <a:rPr lang="en-US" altLang="en-US" sz="3000"/>
              <a:t>) and proposed new (</a:t>
            </a:r>
            <a:r>
              <a:rPr lang="en-US" altLang="en-US" sz="3000" i="1"/>
              <a:t>j</a:t>
            </a:r>
            <a:r>
              <a:rPr lang="en-US" altLang="en-US" sz="3000"/>
              <a:t>) states.  </a:t>
            </a:r>
            <a:r>
              <a:rPr lang="en-US" altLang="en-US" sz="3000" i="1"/>
              <a:t>k</a:t>
            </a:r>
            <a:r>
              <a:rPr lang="en-US" altLang="en-US" sz="3000" i="1" baseline="-25000"/>
              <a:t>B</a:t>
            </a:r>
            <a:r>
              <a:rPr lang="en-US" altLang="en-US" sz="3000"/>
              <a:t> is Boltzmann’s constant, but what is </a:t>
            </a:r>
            <a:r>
              <a:rPr lang="en-US" altLang="en-US" sz="3000" i="1"/>
              <a:t>T</a:t>
            </a:r>
            <a:r>
              <a:rPr lang="en-US" altLang="en-US" sz="30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42693">
                                            <p:txEl>
                                              <p:pRg st="0" end="0"/>
                                            </p:txEl>
                                          </p:spTgt>
                                        </p:tgtEl>
                                        <p:attrNameLst>
                                          <p:attrName>style.visibility</p:attrName>
                                        </p:attrNameLst>
                                      </p:cBhvr>
                                      <p:to>
                                        <p:strVal val="visible"/>
                                      </p:to>
                                    </p:set>
                                    <p:anim calcmode="lin" valueType="num">
                                      <p:cBhvr additive="base">
                                        <p:cTn id="7" dur="500" fill="hold"/>
                                        <p:tgtEl>
                                          <p:spTgt spid="24269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26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42694"/>
                                        </p:tgtEl>
                                        <p:attrNameLst>
                                          <p:attrName>style.visibility</p:attrName>
                                        </p:attrNameLst>
                                      </p:cBhvr>
                                      <p:to>
                                        <p:strVal val="visible"/>
                                      </p:to>
                                    </p:set>
                                    <p:anim calcmode="lin" valueType="num">
                                      <p:cBhvr additive="base">
                                        <p:cTn id="13" dur="500" fill="hold"/>
                                        <p:tgtEl>
                                          <p:spTgt spid="242694"/>
                                        </p:tgtEl>
                                        <p:attrNameLst>
                                          <p:attrName>ppt_x</p:attrName>
                                        </p:attrNameLst>
                                      </p:cBhvr>
                                      <p:tavLst>
                                        <p:tav tm="0">
                                          <p:val>
                                            <p:strVal val="0-#ppt_w/2"/>
                                          </p:val>
                                        </p:tav>
                                        <p:tav tm="100000">
                                          <p:val>
                                            <p:strVal val="#ppt_x"/>
                                          </p:val>
                                        </p:tav>
                                      </p:tavLst>
                                    </p:anim>
                                    <p:anim calcmode="lin" valueType="num">
                                      <p:cBhvr additive="base">
                                        <p:cTn id="14" dur="500" fill="hold"/>
                                        <p:tgtEl>
                                          <p:spTgt spid="24269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42696">
                                            <p:txEl>
                                              <p:pRg st="0" end="0"/>
                                            </p:txEl>
                                          </p:spTgt>
                                        </p:tgtEl>
                                        <p:attrNameLst>
                                          <p:attrName>style.visibility</p:attrName>
                                        </p:attrNameLst>
                                      </p:cBhvr>
                                      <p:to>
                                        <p:strVal val="visible"/>
                                      </p:to>
                                    </p:set>
                                    <p:anim calcmode="lin" valueType="num">
                                      <p:cBhvr additive="base">
                                        <p:cTn id="19" dur="500" fill="hold"/>
                                        <p:tgtEl>
                                          <p:spTgt spid="242696">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269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3" grpId="0" build="p" autoUpdateAnimBg="0"/>
      <p:bldP spid="242696" grpId="0" build="p"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4DD8D23-9BCA-D046-59E6-71EE6179C232}"/>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Temperature Deprogramming</a:t>
            </a:r>
          </a:p>
        </p:txBody>
      </p:sp>
      <p:sp>
        <p:nvSpPr>
          <p:cNvPr id="15363" name="Rectangle 3">
            <a:extLst>
              <a:ext uri="{FF2B5EF4-FFF2-40B4-BE49-F238E27FC236}">
                <a16:creationId xmlns:a16="http://schemas.microsoft.com/office/drawing/2014/main" id="{3EAFDF91-AE2B-9987-FC84-847C2A61AD4F}"/>
              </a:ext>
            </a:extLst>
          </p:cNvPr>
          <p:cNvSpPr>
            <a:spLocks noChangeArrowheads="1"/>
          </p:cNvSpPr>
          <p:nvPr/>
        </p:nvSpPr>
        <p:spPr bwMode="auto">
          <a:xfrm>
            <a:off x="152400" y="152400"/>
            <a:ext cx="8839200" cy="67056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5364" name="Rectangle 4">
            <a:extLst>
              <a:ext uri="{FF2B5EF4-FFF2-40B4-BE49-F238E27FC236}">
                <a16:creationId xmlns:a16="http://schemas.microsoft.com/office/drawing/2014/main" id="{DE576E6E-9A34-9EF9-13D9-279C35BDB78F}"/>
              </a:ext>
            </a:extLst>
          </p:cNvPr>
          <p:cNvSpPr>
            <a:spLocks noChangeArrowheads="1"/>
          </p:cNvSpPr>
          <p:nvPr/>
        </p:nvSpPr>
        <p:spPr bwMode="auto">
          <a:xfrm>
            <a:off x="6477000" y="64008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29</a:t>
            </a:r>
          </a:p>
        </p:txBody>
      </p:sp>
      <p:sp>
        <p:nvSpPr>
          <p:cNvPr id="225285" name="Text Box 5">
            <a:extLst>
              <a:ext uri="{FF2B5EF4-FFF2-40B4-BE49-F238E27FC236}">
                <a16:creationId xmlns:a16="http://schemas.microsoft.com/office/drawing/2014/main" id="{AEA32E6F-AFA2-27DE-28E3-C84E664B4585}"/>
              </a:ext>
            </a:extLst>
          </p:cNvPr>
          <p:cNvSpPr txBox="1">
            <a:spLocks noChangeArrowheads="1"/>
          </p:cNvSpPr>
          <p:nvPr/>
        </p:nvSpPr>
        <p:spPr bwMode="auto">
          <a:xfrm>
            <a:off x="342900" y="990600"/>
            <a:ext cx="845820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a:t>The </a:t>
            </a:r>
            <a:r>
              <a:rPr lang="en-US" altLang="en-US" i="1"/>
              <a:t>T</a:t>
            </a:r>
            <a:r>
              <a:rPr lang="en-US" altLang="en-US"/>
              <a:t> is called the control parameter, or commonly just the temperature.  It allows the algorithm to slowly decrease that probability, with the hope that the algorithm has settled in the well which includes the global minimum, and then will not be able to escape that well and will reach that global minimum</a:t>
            </a:r>
          </a:p>
        </p:txBody>
      </p:sp>
      <p:sp>
        <p:nvSpPr>
          <p:cNvPr id="225309" name="Text Box 29">
            <a:extLst>
              <a:ext uri="{FF2B5EF4-FFF2-40B4-BE49-F238E27FC236}">
                <a16:creationId xmlns:a16="http://schemas.microsoft.com/office/drawing/2014/main" id="{70A32B42-1778-FBDF-8A85-6580F3360AD2}"/>
              </a:ext>
            </a:extLst>
          </p:cNvPr>
          <p:cNvSpPr txBox="1">
            <a:spLocks noChangeArrowheads="1"/>
          </p:cNvSpPr>
          <p:nvPr/>
        </p:nvSpPr>
        <p:spPr bwMode="auto">
          <a:xfrm>
            <a:off x="360363" y="4468813"/>
            <a:ext cx="83820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a:t>   There are many algorithms to choose how to decrease </a:t>
            </a:r>
            <a:r>
              <a:rPr lang="en-US" altLang="en-US" i="1"/>
              <a:t>T</a:t>
            </a:r>
            <a:r>
              <a:rPr lang="en-US" altLang="en-US"/>
              <a:t>, and the best one to choose depends on the problem.  These functions are called </a:t>
            </a:r>
            <a:r>
              <a:rPr lang="en-US" altLang="en-US" u="sng"/>
              <a:t>temperature deprogramming schedules.</a:t>
            </a:r>
            <a:endParaRPr lang="en-US" altLang="en-US" sz="3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5285"/>
                                        </p:tgtEl>
                                        <p:attrNameLst>
                                          <p:attrName>style.visibility</p:attrName>
                                        </p:attrNameLst>
                                      </p:cBhvr>
                                      <p:to>
                                        <p:strVal val="visible"/>
                                      </p:to>
                                    </p:set>
                                    <p:anim calcmode="lin" valueType="num">
                                      <p:cBhvr additive="base">
                                        <p:cTn id="7" dur="500" fill="hold"/>
                                        <p:tgtEl>
                                          <p:spTgt spid="225285"/>
                                        </p:tgtEl>
                                        <p:attrNameLst>
                                          <p:attrName>ppt_x</p:attrName>
                                        </p:attrNameLst>
                                      </p:cBhvr>
                                      <p:tavLst>
                                        <p:tav tm="0">
                                          <p:val>
                                            <p:strVal val="0-#ppt_w/2"/>
                                          </p:val>
                                        </p:tav>
                                        <p:tav tm="100000">
                                          <p:val>
                                            <p:strVal val="#ppt_x"/>
                                          </p:val>
                                        </p:tav>
                                      </p:tavLst>
                                    </p:anim>
                                    <p:anim calcmode="lin" valueType="num">
                                      <p:cBhvr additive="base">
                                        <p:cTn id="8" dur="500" fill="hold"/>
                                        <p:tgtEl>
                                          <p:spTgt spid="22528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5309"/>
                                        </p:tgtEl>
                                        <p:attrNameLst>
                                          <p:attrName>style.visibility</p:attrName>
                                        </p:attrNameLst>
                                      </p:cBhvr>
                                      <p:to>
                                        <p:strVal val="visible"/>
                                      </p:to>
                                    </p:set>
                                    <p:anim calcmode="lin" valueType="num">
                                      <p:cBhvr additive="base">
                                        <p:cTn id="13" dur="500" fill="hold"/>
                                        <p:tgtEl>
                                          <p:spTgt spid="225309"/>
                                        </p:tgtEl>
                                        <p:attrNameLst>
                                          <p:attrName>ppt_x</p:attrName>
                                        </p:attrNameLst>
                                      </p:cBhvr>
                                      <p:tavLst>
                                        <p:tav tm="0">
                                          <p:val>
                                            <p:strVal val="0-#ppt_w/2"/>
                                          </p:val>
                                        </p:tav>
                                        <p:tav tm="100000">
                                          <p:val>
                                            <p:strVal val="#ppt_x"/>
                                          </p:val>
                                        </p:tav>
                                      </p:tavLst>
                                    </p:anim>
                                    <p:anim calcmode="lin" valueType="num">
                                      <p:cBhvr additive="base">
                                        <p:cTn id="14" dur="500" fill="hold"/>
                                        <p:tgtEl>
                                          <p:spTgt spid="2253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5" grpId="0" autoUpdateAnimBg="0"/>
      <p:bldP spid="225309" grpId="0"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CF86309-296E-8278-2025-80860BF280AC}"/>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Basic Algorithm</a:t>
            </a:r>
          </a:p>
        </p:txBody>
      </p:sp>
      <p:sp>
        <p:nvSpPr>
          <p:cNvPr id="16387" name="Rectangle 3">
            <a:extLst>
              <a:ext uri="{FF2B5EF4-FFF2-40B4-BE49-F238E27FC236}">
                <a16:creationId xmlns:a16="http://schemas.microsoft.com/office/drawing/2014/main" id="{E3F24E2F-1426-A4A6-BA0C-FA742E78D88E}"/>
              </a:ext>
            </a:extLst>
          </p:cNvPr>
          <p:cNvSpPr>
            <a:spLocks noChangeArrowheads="1"/>
          </p:cNvSpPr>
          <p:nvPr/>
        </p:nvSpPr>
        <p:spPr bwMode="auto">
          <a:xfrm>
            <a:off x="152400" y="152400"/>
            <a:ext cx="8839200" cy="67056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6388" name="Rectangle 4">
            <a:extLst>
              <a:ext uri="{FF2B5EF4-FFF2-40B4-BE49-F238E27FC236}">
                <a16:creationId xmlns:a16="http://schemas.microsoft.com/office/drawing/2014/main" id="{F37B8D55-1E93-B616-E5A1-C12F7D960CA7}"/>
              </a:ext>
            </a:extLst>
          </p:cNvPr>
          <p:cNvSpPr>
            <a:spLocks noChangeArrowheads="1"/>
          </p:cNvSpPr>
          <p:nvPr/>
        </p:nvSpPr>
        <p:spPr bwMode="auto">
          <a:xfrm>
            <a:off x="6477000" y="64008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29</a:t>
            </a:r>
          </a:p>
        </p:txBody>
      </p:sp>
      <p:graphicFrame>
        <p:nvGraphicFramePr>
          <p:cNvPr id="16389" name="Object 1024">
            <a:extLst>
              <a:ext uri="{FF2B5EF4-FFF2-40B4-BE49-F238E27FC236}">
                <a16:creationId xmlns:a16="http://schemas.microsoft.com/office/drawing/2014/main" id="{818B9FB1-87B7-ED8A-0C15-83880D9AB550}"/>
              </a:ext>
            </a:extLst>
          </p:cNvPr>
          <p:cNvGraphicFramePr>
            <a:graphicFrameLocks noChangeAspect="1"/>
          </p:cNvGraphicFramePr>
          <p:nvPr/>
        </p:nvGraphicFramePr>
        <p:xfrm>
          <a:off x="519113" y="1066800"/>
          <a:ext cx="4938712" cy="1036638"/>
        </p:xfrm>
        <a:graphic>
          <a:graphicData uri="http://schemas.openxmlformats.org/presentationml/2006/ole">
            <mc:AlternateContent xmlns:mc="http://schemas.openxmlformats.org/markup-compatibility/2006">
              <mc:Choice xmlns:v="urn:schemas-microsoft-com:vml" Requires="v">
                <p:oleObj name="Equation" r:id="rId2" imgW="2057400" imgH="431800" progId="Equation.DSMT4">
                  <p:embed/>
                </p:oleObj>
              </mc:Choice>
              <mc:Fallback>
                <p:oleObj name="Equation" r:id="rId2" imgW="2057400" imgH="431800" progId="Equation.DSMT4">
                  <p:embed/>
                  <p:pic>
                    <p:nvPicPr>
                      <p:cNvPr id="16389" name="Object 1024">
                        <a:extLst>
                          <a:ext uri="{FF2B5EF4-FFF2-40B4-BE49-F238E27FC236}">
                            <a16:creationId xmlns:a16="http://schemas.microsoft.com/office/drawing/2014/main" id="{818B9FB1-87B7-ED8A-0C15-83880D9AB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113" y="1066800"/>
                        <a:ext cx="4938712" cy="1036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0" name="Object 1025">
            <a:extLst>
              <a:ext uri="{FF2B5EF4-FFF2-40B4-BE49-F238E27FC236}">
                <a16:creationId xmlns:a16="http://schemas.microsoft.com/office/drawing/2014/main" id="{5CEA537F-402F-ADF7-17DF-2B07503689FF}"/>
              </a:ext>
            </a:extLst>
          </p:cNvPr>
          <p:cNvGraphicFramePr>
            <a:graphicFrameLocks noChangeAspect="1"/>
          </p:cNvGraphicFramePr>
          <p:nvPr/>
        </p:nvGraphicFramePr>
        <p:xfrm>
          <a:off x="533400" y="2286000"/>
          <a:ext cx="7710488" cy="487363"/>
        </p:xfrm>
        <a:graphic>
          <a:graphicData uri="http://schemas.openxmlformats.org/presentationml/2006/ole">
            <mc:AlternateContent xmlns:mc="http://schemas.openxmlformats.org/markup-compatibility/2006">
              <mc:Choice xmlns:v="urn:schemas-microsoft-com:vml" Requires="v">
                <p:oleObj name="Equation" r:id="rId4" imgW="3213100" imgH="203200" progId="Equation.DSMT4">
                  <p:embed/>
                </p:oleObj>
              </mc:Choice>
              <mc:Fallback>
                <p:oleObj name="Equation" r:id="rId4" imgW="3213100" imgH="203200" progId="Equation.DSMT4">
                  <p:embed/>
                  <p:pic>
                    <p:nvPicPr>
                      <p:cNvPr id="16390" name="Object 1025">
                        <a:extLst>
                          <a:ext uri="{FF2B5EF4-FFF2-40B4-BE49-F238E27FC236}">
                            <a16:creationId xmlns:a16="http://schemas.microsoft.com/office/drawing/2014/main" id="{5CEA537F-402F-ADF7-17DF-2B07503689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2286000"/>
                        <a:ext cx="7710488"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1" name="Object 1026">
            <a:extLst>
              <a:ext uri="{FF2B5EF4-FFF2-40B4-BE49-F238E27FC236}">
                <a16:creationId xmlns:a16="http://schemas.microsoft.com/office/drawing/2014/main" id="{12083C63-A1AE-05AF-E9FC-7FF4FCA7C2D2}"/>
              </a:ext>
            </a:extLst>
          </p:cNvPr>
          <p:cNvGraphicFramePr>
            <a:graphicFrameLocks noChangeAspect="1"/>
          </p:cNvGraphicFramePr>
          <p:nvPr/>
        </p:nvGraphicFramePr>
        <p:xfrm>
          <a:off x="914400" y="2819400"/>
          <a:ext cx="2622550" cy="488950"/>
        </p:xfrm>
        <a:graphic>
          <a:graphicData uri="http://schemas.openxmlformats.org/presentationml/2006/ole">
            <mc:AlternateContent xmlns:mc="http://schemas.openxmlformats.org/markup-compatibility/2006">
              <mc:Choice xmlns:v="urn:schemas-microsoft-com:vml" Requires="v">
                <p:oleObj name="Equation" r:id="rId6" imgW="1091726" imgH="203112" progId="Equation.DSMT4">
                  <p:embed/>
                </p:oleObj>
              </mc:Choice>
              <mc:Fallback>
                <p:oleObj name="Equation" r:id="rId6" imgW="1091726" imgH="203112" progId="Equation.DSMT4">
                  <p:embed/>
                  <p:pic>
                    <p:nvPicPr>
                      <p:cNvPr id="16391" name="Object 1026">
                        <a:extLst>
                          <a:ext uri="{FF2B5EF4-FFF2-40B4-BE49-F238E27FC236}">
                            <a16:creationId xmlns:a16="http://schemas.microsoft.com/office/drawing/2014/main" id="{12083C63-A1AE-05AF-E9FC-7FF4FCA7C2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2819400"/>
                        <a:ext cx="262255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2" name="Object 1027">
            <a:extLst>
              <a:ext uri="{FF2B5EF4-FFF2-40B4-BE49-F238E27FC236}">
                <a16:creationId xmlns:a16="http://schemas.microsoft.com/office/drawing/2014/main" id="{F3B842EB-DFEC-BC84-4C63-253AA34F004D}"/>
              </a:ext>
            </a:extLst>
          </p:cNvPr>
          <p:cNvGraphicFramePr>
            <a:graphicFrameLocks noChangeAspect="1"/>
          </p:cNvGraphicFramePr>
          <p:nvPr/>
        </p:nvGraphicFramePr>
        <p:xfrm>
          <a:off x="1447800" y="3276600"/>
          <a:ext cx="7011988" cy="487363"/>
        </p:xfrm>
        <a:graphic>
          <a:graphicData uri="http://schemas.openxmlformats.org/presentationml/2006/ole">
            <mc:AlternateContent xmlns:mc="http://schemas.openxmlformats.org/markup-compatibility/2006">
              <mc:Choice xmlns:v="urn:schemas-microsoft-com:vml" Requires="v">
                <p:oleObj name="Equation" r:id="rId8" imgW="2921000" imgH="203200" progId="Equation.DSMT4">
                  <p:embed/>
                </p:oleObj>
              </mc:Choice>
              <mc:Fallback>
                <p:oleObj name="Equation" r:id="rId8" imgW="2921000" imgH="203200" progId="Equation.DSMT4">
                  <p:embed/>
                  <p:pic>
                    <p:nvPicPr>
                      <p:cNvPr id="16392" name="Object 1027">
                        <a:extLst>
                          <a:ext uri="{FF2B5EF4-FFF2-40B4-BE49-F238E27FC236}">
                            <a16:creationId xmlns:a16="http://schemas.microsoft.com/office/drawing/2014/main" id="{F3B842EB-DFEC-BC84-4C63-253AA34F004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7800" y="3276600"/>
                        <a:ext cx="7011988"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3" name="Object 1028">
            <a:extLst>
              <a:ext uri="{FF2B5EF4-FFF2-40B4-BE49-F238E27FC236}">
                <a16:creationId xmlns:a16="http://schemas.microsoft.com/office/drawing/2014/main" id="{C3BAB271-5526-04AC-BBA3-A9287BD9A988}"/>
              </a:ext>
            </a:extLst>
          </p:cNvPr>
          <p:cNvGraphicFramePr>
            <a:graphicFrameLocks noChangeAspect="1"/>
          </p:cNvGraphicFramePr>
          <p:nvPr/>
        </p:nvGraphicFramePr>
        <p:xfrm>
          <a:off x="1447800" y="3886200"/>
          <a:ext cx="7239000" cy="1300163"/>
        </p:xfrm>
        <a:graphic>
          <a:graphicData uri="http://schemas.openxmlformats.org/presentationml/2006/ole">
            <mc:AlternateContent xmlns:mc="http://schemas.openxmlformats.org/markup-compatibility/2006">
              <mc:Choice xmlns:v="urn:schemas-microsoft-com:vml" Requires="v">
                <p:oleObj name="Equation" r:id="rId10" imgW="3797300" imgH="609600" progId="Equation.DSMT4">
                  <p:embed/>
                </p:oleObj>
              </mc:Choice>
              <mc:Fallback>
                <p:oleObj name="Equation" r:id="rId10" imgW="3797300" imgH="609600" progId="Equation.DSMT4">
                  <p:embed/>
                  <p:pic>
                    <p:nvPicPr>
                      <p:cNvPr id="16393" name="Object 1028">
                        <a:extLst>
                          <a:ext uri="{FF2B5EF4-FFF2-40B4-BE49-F238E27FC236}">
                            <a16:creationId xmlns:a16="http://schemas.microsoft.com/office/drawing/2014/main" id="{C3BAB271-5526-04AC-BBA3-A9287BD9A98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7800" y="3886200"/>
                        <a:ext cx="7239000" cy="1300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4" name="Object 1029">
            <a:extLst>
              <a:ext uri="{FF2B5EF4-FFF2-40B4-BE49-F238E27FC236}">
                <a16:creationId xmlns:a16="http://schemas.microsoft.com/office/drawing/2014/main" id="{641C741B-76D4-8CDC-A955-075C6E3FCE3D}"/>
              </a:ext>
            </a:extLst>
          </p:cNvPr>
          <p:cNvGraphicFramePr>
            <a:graphicFrameLocks noChangeAspect="1"/>
          </p:cNvGraphicFramePr>
          <p:nvPr/>
        </p:nvGraphicFramePr>
        <p:xfrm>
          <a:off x="949325" y="5091113"/>
          <a:ext cx="5891213" cy="1643062"/>
        </p:xfrm>
        <a:graphic>
          <a:graphicData uri="http://schemas.openxmlformats.org/presentationml/2006/ole">
            <mc:AlternateContent xmlns:mc="http://schemas.openxmlformats.org/markup-compatibility/2006">
              <mc:Choice xmlns:v="urn:schemas-microsoft-com:vml" Requires="v">
                <p:oleObj name="Equation" r:id="rId12" imgW="2413000" imgH="673100" progId="Equation.DSMT4">
                  <p:embed/>
                </p:oleObj>
              </mc:Choice>
              <mc:Fallback>
                <p:oleObj name="Equation" r:id="rId12" imgW="2413000" imgH="673100" progId="Equation.DSMT4">
                  <p:embed/>
                  <p:pic>
                    <p:nvPicPr>
                      <p:cNvPr id="16394" name="Object 1029">
                        <a:extLst>
                          <a:ext uri="{FF2B5EF4-FFF2-40B4-BE49-F238E27FC236}">
                            <a16:creationId xmlns:a16="http://schemas.microsoft.com/office/drawing/2014/main" id="{641C741B-76D4-8CDC-A955-075C6E3FCE3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9325" y="5091113"/>
                        <a:ext cx="5891213" cy="164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F6B6558F-67F0-3B55-7258-D47560E5816F}"/>
              </a:ext>
            </a:extLst>
          </p:cNvPr>
          <p:cNvSpPr>
            <a:spLocks noGrp="1" noChangeArrowheads="1"/>
          </p:cNvSpPr>
          <p:nvPr>
            <p:ph type="title"/>
          </p:nvPr>
        </p:nvSpPr>
        <p:spPr>
          <a:xfrm>
            <a:off x="419100" y="0"/>
            <a:ext cx="8305800" cy="1143000"/>
          </a:xfrm>
        </p:spPr>
        <p:txBody>
          <a:bodyPr/>
          <a:lstStyle/>
          <a:p>
            <a:pPr>
              <a:lnSpc>
                <a:spcPct val="80000"/>
              </a:lnSpc>
            </a:pPr>
            <a:r>
              <a:rPr lang="en-US" altLang="en-US"/>
              <a:t>Genetic Algorithms </a:t>
            </a:r>
          </a:p>
        </p:txBody>
      </p:sp>
      <p:sp>
        <p:nvSpPr>
          <p:cNvPr id="10243" name="Rectangle 3">
            <a:extLst>
              <a:ext uri="{FF2B5EF4-FFF2-40B4-BE49-F238E27FC236}">
                <a16:creationId xmlns:a16="http://schemas.microsoft.com/office/drawing/2014/main" id="{27884496-78B0-B6F8-1284-D2933B73B688}"/>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0244" name="Rectangle 4">
            <a:extLst>
              <a:ext uri="{FF2B5EF4-FFF2-40B4-BE49-F238E27FC236}">
                <a16:creationId xmlns:a16="http://schemas.microsoft.com/office/drawing/2014/main" id="{B3BCD207-D14A-2D09-8051-1F3357EAFF73}"/>
              </a:ext>
            </a:extLst>
          </p:cNvPr>
          <p:cNvSpPr>
            <a:spLocks noChangeArrowheads="1"/>
          </p:cNvSpPr>
          <p:nvPr/>
        </p:nvSpPr>
        <p:spPr bwMode="auto">
          <a:xfrm>
            <a:off x="64008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30</a:t>
            </a:r>
          </a:p>
        </p:txBody>
      </p:sp>
      <p:sp>
        <p:nvSpPr>
          <p:cNvPr id="129029" name="Rectangle 5">
            <a:extLst>
              <a:ext uri="{FF2B5EF4-FFF2-40B4-BE49-F238E27FC236}">
                <a16:creationId xmlns:a16="http://schemas.microsoft.com/office/drawing/2014/main" id="{A046FF73-712A-A506-BD38-24BD3291863F}"/>
              </a:ext>
            </a:extLst>
          </p:cNvPr>
          <p:cNvSpPr>
            <a:spLocks noGrp="1" noChangeArrowheads="1"/>
          </p:cNvSpPr>
          <p:nvPr>
            <p:ph type="body" idx="1"/>
          </p:nvPr>
        </p:nvSpPr>
        <p:spPr>
          <a:xfrm>
            <a:off x="533400" y="990600"/>
            <a:ext cx="7772400" cy="762000"/>
          </a:xfrm>
        </p:spPr>
        <p:txBody>
          <a:bodyPr>
            <a:noAutofit/>
          </a:bodyPr>
          <a:lstStyle/>
          <a:p>
            <a:pPr marL="533400" indent="-533400">
              <a:lnSpc>
                <a:spcPct val="90000"/>
              </a:lnSpc>
            </a:pPr>
            <a:r>
              <a:rPr lang="en-US" altLang="en-US" sz="3200" dirty="0"/>
              <a:t>Basic idea: simulate evolution to create improved solutions</a:t>
            </a:r>
          </a:p>
          <a:p>
            <a:pPr marL="914400" lvl="1" indent="-457200">
              <a:lnSpc>
                <a:spcPct val="90000"/>
              </a:lnSpc>
              <a:buFontTx/>
              <a:buAutoNum type="arabicPeriod"/>
            </a:pPr>
            <a:r>
              <a:rPr lang="en-US" altLang="en-US" sz="2000" dirty="0"/>
              <a:t>Start with an initial population of solutions (initial guesses)</a:t>
            </a:r>
          </a:p>
          <a:p>
            <a:pPr marL="914400" lvl="1" indent="-457200">
              <a:lnSpc>
                <a:spcPct val="90000"/>
              </a:lnSpc>
              <a:buFontTx/>
              <a:buAutoNum type="arabicPeriod"/>
            </a:pPr>
            <a:r>
              <a:rPr lang="en-US" altLang="en-US" sz="2000" dirty="0"/>
              <a:t>Alter them in some way (stochastically)</a:t>
            </a:r>
          </a:p>
          <a:p>
            <a:pPr marL="914400" lvl="1" indent="-457200">
              <a:lnSpc>
                <a:spcPct val="90000"/>
              </a:lnSpc>
              <a:buFontTx/>
              <a:buAutoNum type="arabicPeriod"/>
            </a:pPr>
            <a:r>
              <a:rPr lang="en-US" altLang="en-US" sz="2000" dirty="0"/>
              <a:t>Copy each of them with a given probability based on their “fitness” (objective value)</a:t>
            </a:r>
          </a:p>
          <a:p>
            <a:pPr marL="914400" lvl="1" indent="-457200">
              <a:lnSpc>
                <a:spcPct val="90000"/>
              </a:lnSpc>
              <a:buFontTx/>
              <a:buAutoNum type="arabicPeriod"/>
            </a:pPr>
            <a:r>
              <a:rPr lang="en-US" altLang="en-US" sz="2000" dirty="0"/>
              <a:t>Repeat steps 2-3, storing the best solutions</a:t>
            </a:r>
            <a:endParaRPr lang="en-US" altLang="en-US" sz="2800" dirty="0"/>
          </a:p>
          <a:p>
            <a:pPr marL="533400" indent="-533400">
              <a:lnSpc>
                <a:spcPct val="90000"/>
              </a:lnSpc>
            </a:pPr>
            <a:r>
              <a:rPr lang="en-US" altLang="en-US" sz="3200" dirty="0"/>
              <a:t>Challenges</a:t>
            </a:r>
          </a:p>
          <a:p>
            <a:pPr marL="914400" lvl="1" indent="-457200">
              <a:lnSpc>
                <a:spcPct val="80000"/>
              </a:lnSpc>
            </a:pPr>
            <a:r>
              <a:rPr lang="en-US" altLang="en-US" sz="2000" dirty="0"/>
              <a:t>Parameters: population size, mutation/crossover probabilities, reproduction/death limits and probabilities</a:t>
            </a:r>
            <a:endParaRPr lang="en-US" altLang="en-US" sz="2800" dirty="0"/>
          </a:p>
        </p:txBody>
      </p:sp>
      <p:sp>
        <p:nvSpPr>
          <p:cNvPr id="10246" name="Text Box 6">
            <a:extLst>
              <a:ext uri="{FF2B5EF4-FFF2-40B4-BE49-F238E27FC236}">
                <a16:creationId xmlns:a16="http://schemas.microsoft.com/office/drawing/2014/main" id="{4C805B07-7712-5CA5-68D6-A12370BD3F05}"/>
              </a:ext>
            </a:extLst>
          </p:cNvPr>
          <p:cNvSpPr txBox="1">
            <a:spLocks noChangeArrowheads="1"/>
          </p:cNvSpPr>
          <p:nvPr/>
        </p:nvSpPr>
        <p:spPr bwMode="auto">
          <a:xfrm>
            <a:off x="525463" y="5410200"/>
            <a:ext cx="80930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9029">
                                            <p:txEl>
                                              <p:pRg st="0" end="0"/>
                                            </p:txEl>
                                          </p:spTgt>
                                        </p:tgtEl>
                                        <p:attrNameLst>
                                          <p:attrName>style.visibility</p:attrName>
                                        </p:attrNameLst>
                                      </p:cBhvr>
                                      <p:to>
                                        <p:strVal val="visible"/>
                                      </p:to>
                                    </p:set>
                                    <p:anim calcmode="lin" valueType="num">
                                      <p:cBhvr additive="base">
                                        <p:cTn id="7" dur="500" fill="hold"/>
                                        <p:tgtEl>
                                          <p:spTgt spid="12902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902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9029">
                                            <p:txEl>
                                              <p:pRg st="1" end="1"/>
                                            </p:txEl>
                                          </p:spTgt>
                                        </p:tgtEl>
                                        <p:attrNameLst>
                                          <p:attrName>style.visibility</p:attrName>
                                        </p:attrNameLst>
                                      </p:cBhvr>
                                      <p:to>
                                        <p:strVal val="visible"/>
                                      </p:to>
                                    </p:set>
                                    <p:anim calcmode="lin" valueType="num">
                                      <p:cBhvr additive="base">
                                        <p:cTn id="13" dur="500" fill="hold"/>
                                        <p:tgtEl>
                                          <p:spTgt spid="12902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902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9029">
                                            <p:txEl>
                                              <p:pRg st="2" end="2"/>
                                            </p:txEl>
                                          </p:spTgt>
                                        </p:tgtEl>
                                        <p:attrNameLst>
                                          <p:attrName>style.visibility</p:attrName>
                                        </p:attrNameLst>
                                      </p:cBhvr>
                                      <p:to>
                                        <p:strVal val="visible"/>
                                      </p:to>
                                    </p:set>
                                    <p:anim calcmode="lin" valueType="num">
                                      <p:cBhvr additive="base">
                                        <p:cTn id="19" dur="500" fill="hold"/>
                                        <p:tgtEl>
                                          <p:spTgt spid="12902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902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9029">
                                            <p:txEl>
                                              <p:pRg st="3" end="3"/>
                                            </p:txEl>
                                          </p:spTgt>
                                        </p:tgtEl>
                                        <p:attrNameLst>
                                          <p:attrName>style.visibility</p:attrName>
                                        </p:attrNameLst>
                                      </p:cBhvr>
                                      <p:to>
                                        <p:strVal val="visible"/>
                                      </p:to>
                                    </p:set>
                                    <p:anim calcmode="lin" valueType="num">
                                      <p:cBhvr additive="base">
                                        <p:cTn id="25" dur="500" fill="hold"/>
                                        <p:tgtEl>
                                          <p:spTgt spid="12902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902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29029">
                                            <p:txEl>
                                              <p:pRg st="4" end="4"/>
                                            </p:txEl>
                                          </p:spTgt>
                                        </p:tgtEl>
                                        <p:attrNameLst>
                                          <p:attrName>style.visibility</p:attrName>
                                        </p:attrNameLst>
                                      </p:cBhvr>
                                      <p:to>
                                        <p:strVal val="visible"/>
                                      </p:to>
                                    </p:set>
                                    <p:anim calcmode="lin" valueType="num">
                                      <p:cBhvr additive="base">
                                        <p:cTn id="31" dur="500" fill="hold"/>
                                        <p:tgtEl>
                                          <p:spTgt spid="12902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2902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29029">
                                            <p:txEl>
                                              <p:pRg st="5" end="5"/>
                                            </p:txEl>
                                          </p:spTgt>
                                        </p:tgtEl>
                                        <p:attrNameLst>
                                          <p:attrName>style.visibility</p:attrName>
                                        </p:attrNameLst>
                                      </p:cBhvr>
                                      <p:to>
                                        <p:strVal val="visible"/>
                                      </p:to>
                                    </p:set>
                                    <p:anim calcmode="lin" valueType="num">
                                      <p:cBhvr additive="base">
                                        <p:cTn id="37" dur="500" fill="hold"/>
                                        <p:tgtEl>
                                          <p:spTgt spid="12902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2902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29029">
                                            <p:txEl>
                                              <p:pRg st="6" end="6"/>
                                            </p:txEl>
                                          </p:spTgt>
                                        </p:tgtEl>
                                        <p:attrNameLst>
                                          <p:attrName>style.visibility</p:attrName>
                                        </p:attrNameLst>
                                      </p:cBhvr>
                                      <p:to>
                                        <p:strVal val="visible"/>
                                      </p:to>
                                    </p:set>
                                    <p:anim calcmode="lin" valueType="num">
                                      <p:cBhvr additive="base">
                                        <p:cTn id="43" dur="500" fill="hold"/>
                                        <p:tgtEl>
                                          <p:spTgt spid="12902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2902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9" grpId="0" build="p" bldLvl="3"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39F1D0C-CB92-6F42-6701-C1DB09C8B3B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9C4283A-D2F6-B253-2B51-6C9537F8AB7A}"/>
              </a:ext>
            </a:extLst>
          </p:cNvPr>
          <p:cNvSpPr>
            <a:spLocks noGrp="1" noChangeArrowheads="1"/>
          </p:cNvSpPr>
          <p:nvPr>
            <p:ph type="title"/>
          </p:nvPr>
        </p:nvSpPr>
        <p:spPr>
          <a:xfrm>
            <a:off x="419100" y="0"/>
            <a:ext cx="8305800" cy="1143000"/>
          </a:xfrm>
        </p:spPr>
        <p:txBody>
          <a:bodyPr/>
          <a:lstStyle/>
          <a:p>
            <a:pPr>
              <a:lnSpc>
                <a:spcPct val="80000"/>
              </a:lnSpc>
            </a:pPr>
            <a:r>
              <a:rPr lang="en-US" altLang="en-US"/>
              <a:t>Genetic Algorithms </a:t>
            </a:r>
          </a:p>
        </p:txBody>
      </p:sp>
      <p:sp>
        <p:nvSpPr>
          <p:cNvPr id="10243" name="Rectangle 3">
            <a:extLst>
              <a:ext uri="{FF2B5EF4-FFF2-40B4-BE49-F238E27FC236}">
                <a16:creationId xmlns:a16="http://schemas.microsoft.com/office/drawing/2014/main" id="{3C3FDCD0-4378-2D1A-3BF9-58C336C13498}"/>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0244" name="Rectangle 4">
            <a:extLst>
              <a:ext uri="{FF2B5EF4-FFF2-40B4-BE49-F238E27FC236}">
                <a16:creationId xmlns:a16="http://schemas.microsoft.com/office/drawing/2014/main" id="{652ABA5C-5672-E7FD-13EA-125B238D8134}"/>
              </a:ext>
            </a:extLst>
          </p:cNvPr>
          <p:cNvSpPr>
            <a:spLocks noChangeArrowheads="1"/>
          </p:cNvSpPr>
          <p:nvPr/>
        </p:nvSpPr>
        <p:spPr bwMode="auto">
          <a:xfrm>
            <a:off x="64008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30</a:t>
            </a:r>
          </a:p>
        </p:txBody>
      </p:sp>
      <p:sp>
        <p:nvSpPr>
          <p:cNvPr id="129029" name="Rectangle 5">
            <a:extLst>
              <a:ext uri="{FF2B5EF4-FFF2-40B4-BE49-F238E27FC236}">
                <a16:creationId xmlns:a16="http://schemas.microsoft.com/office/drawing/2014/main" id="{D709BFF0-A56D-5265-D84C-105BD2C98291}"/>
              </a:ext>
            </a:extLst>
          </p:cNvPr>
          <p:cNvSpPr>
            <a:spLocks noGrp="1" noChangeArrowheads="1"/>
          </p:cNvSpPr>
          <p:nvPr>
            <p:ph type="body" idx="1"/>
          </p:nvPr>
        </p:nvSpPr>
        <p:spPr>
          <a:xfrm>
            <a:off x="609600" y="1752600"/>
            <a:ext cx="7772400" cy="762000"/>
          </a:xfrm>
        </p:spPr>
        <p:txBody>
          <a:bodyPr>
            <a:noAutofit/>
          </a:bodyPr>
          <a:lstStyle/>
          <a:p>
            <a:pPr marL="533400" indent="-533400">
              <a:lnSpc>
                <a:spcPct val="90000"/>
              </a:lnSpc>
            </a:pPr>
            <a:r>
              <a:rPr lang="en-US" altLang="en-US" sz="3200" dirty="0"/>
              <a:t>Applications:</a:t>
            </a:r>
            <a:endParaRPr lang="en-US" altLang="en-US" dirty="0"/>
          </a:p>
          <a:p>
            <a:pPr marL="933450" lvl="1" indent="-533400">
              <a:lnSpc>
                <a:spcPct val="90000"/>
              </a:lnSpc>
            </a:pPr>
            <a:r>
              <a:rPr lang="en-US" altLang="en-US" sz="2800" dirty="0"/>
              <a:t>MINLPs with many binary variables</a:t>
            </a:r>
          </a:p>
          <a:p>
            <a:pPr marL="933450" lvl="1" indent="-533400">
              <a:lnSpc>
                <a:spcPct val="90000"/>
              </a:lnSpc>
            </a:pPr>
            <a:r>
              <a:rPr lang="en-US" altLang="en-US" sz="2800" dirty="0"/>
              <a:t>Multi-objective NLPs, MINLPs</a:t>
            </a:r>
          </a:p>
          <a:p>
            <a:pPr marL="933450" lvl="1" indent="-533400">
              <a:lnSpc>
                <a:spcPct val="90000"/>
              </a:lnSpc>
            </a:pPr>
            <a:r>
              <a:rPr lang="en-US" altLang="en-US" sz="2800" dirty="0"/>
              <a:t>Black-box NLPs</a:t>
            </a:r>
          </a:p>
          <a:p>
            <a:pPr marL="933450" lvl="1" indent="-533400">
              <a:lnSpc>
                <a:spcPct val="90000"/>
              </a:lnSpc>
            </a:pPr>
            <a:r>
              <a:rPr lang="en-US" altLang="en-US" sz="2800" dirty="0"/>
              <a:t>Multi-stage scheduling with adaptive objectives and/or constraints</a:t>
            </a:r>
          </a:p>
          <a:p>
            <a:pPr marL="933450" lvl="1" indent="-533400">
              <a:lnSpc>
                <a:spcPct val="90000"/>
              </a:lnSpc>
            </a:pPr>
            <a:r>
              <a:rPr lang="en-US" altLang="en-US" sz="2800" dirty="0"/>
              <a:t>“Fuzzy” objectives or constraints</a:t>
            </a:r>
          </a:p>
          <a:p>
            <a:pPr marL="933450" lvl="1" indent="-533400">
              <a:lnSpc>
                <a:spcPct val="90000"/>
              </a:lnSpc>
            </a:pPr>
            <a:endParaRPr lang="en-US" altLang="en-US" sz="2800" dirty="0"/>
          </a:p>
        </p:txBody>
      </p:sp>
    </p:spTree>
    <p:extLst>
      <p:ext uri="{BB962C8B-B14F-4D97-AF65-F5344CB8AC3E}">
        <p14:creationId xmlns:p14="http://schemas.microsoft.com/office/powerpoint/2010/main" val="403920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9029">
                                            <p:txEl>
                                              <p:pRg st="0" end="0"/>
                                            </p:txEl>
                                          </p:spTgt>
                                        </p:tgtEl>
                                        <p:attrNameLst>
                                          <p:attrName>style.visibility</p:attrName>
                                        </p:attrNameLst>
                                      </p:cBhvr>
                                      <p:to>
                                        <p:strVal val="visible"/>
                                      </p:to>
                                    </p:set>
                                    <p:anim calcmode="lin" valueType="num">
                                      <p:cBhvr additive="base">
                                        <p:cTn id="7" dur="500" fill="hold"/>
                                        <p:tgtEl>
                                          <p:spTgt spid="12902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902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29029">
                                            <p:txEl>
                                              <p:pRg st="1" end="1"/>
                                            </p:txEl>
                                          </p:spTgt>
                                        </p:tgtEl>
                                        <p:attrNameLst>
                                          <p:attrName>style.visibility</p:attrName>
                                        </p:attrNameLst>
                                      </p:cBhvr>
                                      <p:to>
                                        <p:strVal val="visible"/>
                                      </p:to>
                                    </p:set>
                                    <p:anim calcmode="lin" valueType="num">
                                      <p:cBhvr additive="base">
                                        <p:cTn id="13" dur="500" fill="hold"/>
                                        <p:tgtEl>
                                          <p:spTgt spid="12902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902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29029">
                                            <p:txEl>
                                              <p:pRg st="2" end="2"/>
                                            </p:txEl>
                                          </p:spTgt>
                                        </p:tgtEl>
                                        <p:attrNameLst>
                                          <p:attrName>style.visibility</p:attrName>
                                        </p:attrNameLst>
                                      </p:cBhvr>
                                      <p:to>
                                        <p:strVal val="visible"/>
                                      </p:to>
                                    </p:set>
                                    <p:anim calcmode="lin" valueType="num">
                                      <p:cBhvr additive="base">
                                        <p:cTn id="19" dur="500" fill="hold"/>
                                        <p:tgtEl>
                                          <p:spTgt spid="12902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902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29029">
                                            <p:txEl>
                                              <p:pRg st="3" end="3"/>
                                            </p:txEl>
                                          </p:spTgt>
                                        </p:tgtEl>
                                        <p:attrNameLst>
                                          <p:attrName>style.visibility</p:attrName>
                                        </p:attrNameLst>
                                      </p:cBhvr>
                                      <p:to>
                                        <p:strVal val="visible"/>
                                      </p:to>
                                    </p:set>
                                    <p:anim calcmode="lin" valueType="num">
                                      <p:cBhvr additive="base">
                                        <p:cTn id="25" dur="500" fill="hold"/>
                                        <p:tgtEl>
                                          <p:spTgt spid="12902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902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29029">
                                            <p:txEl>
                                              <p:pRg st="4" end="4"/>
                                            </p:txEl>
                                          </p:spTgt>
                                        </p:tgtEl>
                                        <p:attrNameLst>
                                          <p:attrName>style.visibility</p:attrName>
                                        </p:attrNameLst>
                                      </p:cBhvr>
                                      <p:to>
                                        <p:strVal val="visible"/>
                                      </p:to>
                                    </p:set>
                                    <p:anim calcmode="lin" valueType="num">
                                      <p:cBhvr additive="base">
                                        <p:cTn id="31" dur="500" fill="hold"/>
                                        <p:tgtEl>
                                          <p:spTgt spid="12902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2902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29029">
                                            <p:txEl>
                                              <p:pRg st="5" end="5"/>
                                            </p:txEl>
                                          </p:spTgt>
                                        </p:tgtEl>
                                        <p:attrNameLst>
                                          <p:attrName>style.visibility</p:attrName>
                                        </p:attrNameLst>
                                      </p:cBhvr>
                                      <p:to>
                                        <p:strVal val="visible"/>
                                      </p:to>
                                    </p:set>
                                    <p:anim calcmode="lin" valueType="num">
                                      <p:cBhvr additive="base">
                                        <p:cTn id="37" dur="500" fill="hold"/>
                                        <p:tgtEl>
                                          <p:spTgt spid="12902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2902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9" grpId="0" build="p" bldLvl="3"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76AA843-9186-85A4-8845-1A6082F99C92}"/>
              </a:ext>
            </a:extLst>
          </p:cNvPr>
          <p:cNvSpPr>
            <a:spLocks noGrp="1" noChangeArrowheads="1"/>
          </p:cNvSpPr>
          <p:nvPr>
            <p:ph type="title"/>
          </p:nvPr>
        </p:nvSpPr>
        <p:spPr>
          <a:xfrm>
            <a:off x="419100" y="0"/>
            <a:ext cx="8305800" cy="1143000"/>
          </a:xfrm>
        </p:spPr>
        <p:txBody>
          <a:bodyPr/>
          <a:lstStyle/>
          <a:p>
            <a:pPr>
              <a:lnSpc>
                <a:spcPct val="80000"/>
              </a:lnSpc>
            </a:pPr>
            <a:r>
              <a:rPr lang="en-US" altLang="en-US"/>
              <a:t>Genetic Algorithms - Example</a:t>
            </a:r>
          </a:p>
        </p:txBody>
      </p:sp>
      <p:sp>
        <p:nvSpPr>
          <p:cNvPr id="11267" name="Rectangle 3">
            <a:extLst>
              <a:ext uri="{FF2B5EF4-FFF2-40B4-BE49-F238E27FC236}">
                <a16:creationId xmlns:a16="http://schemas.microsoft.com/office/drawing/2014/main" id="{B1555F13-F106-86DF-B7EB-360E3DAEDA75}"/>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68" name="Rectangle 4">
            <a:extLst>
              <a:ext uri="{FF2B5EF4-FFF2-40B4-BE49-F238E27FC236}">
                <a16:creationId xmlns:a16="http://schemas.microsoft.com/office/drawing/2014/main" id="{8A8C4D82-53B6-0B31-1EF7-BB909095A995}"/>
              </a:ext>
            </a:extLst>
          </p:cNvPr>
          <p:cNvSpPr>
            <a:spLocks noChangeArrowheads="1"/>
          </p:cNvSpPr>
          <p:nvPr/>
        </p:nvSpPr>
        <p:spPr bwMode="auto">
          <a:xfrm>
            <a:off x="64008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30</a:t>
            </a:r>
          </a:p>
        </p:txBody>
      </p:sp>
      <p:sp>
        <p:nvSpPr>
          <p:cNvPr id="130053" name="Rectangle 5">
            <a:extLst>
              <a:ext uri="{FF2B5EF4-FFF2-40B4-BE49-F238E27FC236}">
                <a16:creationId xmlns:a16="http://schemas.microsoft.com/office/drawing/2014/main" id="{72D82FFD-F0B9-D1D0-5F81-DDD3393FDA8E}"/>
              </a:ext>
            </a:extLst>
          </p:cNvPr>
          <p:cNvSpPr>
            <a:spLocks noGrp="1" noChangeArrowheads="1"/>
          </p:cNvSpPr>
          <p:nvPr>
            <p:ph type="body" idx="1"/>
          </p:nvPr>
        </p:nvSpPr>
        <p:spPr>
          <a:xfrm>
            <a:off x="533400" y="990600"/>
            <a:ext cx="7772400" cy="762000"/>
          </a:xfrm>
        </p:spPr>
        <p:txBody>
          <a:bodyPr/>
          <a:lstStyle/>
          <a:p>
            <a:pPr marL="533400" indent="-533400"/>
            <a:r>
              <a:rPr lang="en-US" altLang="en-US" sz="3600"/>
              <a:t>Start with a binary program:</a:t>
            </a:r>
          </a:p>
        </p:txBody>
      </p:sp>
      <p:sp>
        <p:nvSpPr>
          <p:cNvPr id="11270" name="Text Box 6">
            <a:extLst>
              <a:ext uri="{FF2B5EF4-FFF2-40B4-BE49-F238E27FC236}">
                <a16:creationId xmlns:a16="http://schemas.microsoft.com/office/drawing/2014/main" id="{558AE7AC-826A-45CB-C91C-7E7A8166832A}"/>
              </a:ext>
            </a:extLst>
          </p:cNvPr>
          <p:cNvSpPr txBox="1">
            <a:spLocks noChangeArrowheads="1"/>
          </p:cNvSpPr>
          <p:nvPr/>
        </p:nvSpPr>
        <p:spPr bwMode="auto">
          <a:xfrm>
            <a:off x="525463" y="5410200"/>
            <a:ext cx="80930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400"/>
          </a:p>
        </p:txBody>
      </p:sp>
      <p:graphicFrame>
        <p:nvGraphicFramePr>
          <p:cNvPr id="130055" name="Object 7">
            <a:extLst>
              <a:ext uri="{FF2B5EF4-FFF2-40B4-BE49-F238E27FC236}">
                <a16:creationId xmlns:a16="http://schemas.microsoft.com/office/drawing/2014/main" id="{4BFD5A3F-ABD7-3C74-D0DB-76D79A3B6126}"/>
              </a:ext>
            </a:extLst>
          </p:cNvPr>
          <p:cNvGraphicFramePr>
            <a:graphicFrameLocks noChangeAspect="1"/>
          </p:cNvGraphicFramePr>
          <p:nvPr/>
        </p:nvGraphicFramePr>
        <p:xfrm>
          <a:off x="1104900" y="1905000"/>
          <a:ext cx="6934200" cy="1855788"/>
        </p:xfrm>
        <a:graphic>
          <a:graphicData uri="http://schemas.openxmlformats.org/presentationml/2006/ole">
            <mc:AlternateContent xmlns:mc="http://schemas.openxmlformats.org/markup-compatibility/2006">
              <mc:Choice xmlns:v="urn:schemas-microsoft-com:vml" Requires="v">
                <p:oleObj name="Equation" r:id="rId2" imgW="2514600" imgH="673100" progId="Equation.3">
                  <p:embed/>
                </p:oleObj>
              </mc:Choice>
              <mc:Fallback>
                <p:oleObj name="Equation" r:id="rId2" imgW="2514600" imgH="673100" progId="Equation.3">
                  <p:embed/>
                  <p:pic>
                    <p:nvPicPr>
                      <p:cNvPr id="130055" name="Object 7">
                        <a:extLst>
                          <a:ext uri="{FF2B5EF4-FFF2-40B4-BE49-F238E27FC236}">
                            <a16:creationId xmlns:a16="http://schemas.microsoft.com/office/drawing/2014/main" id="{4BFD5A3F-ABD7-3C74-D0DB-76D79A3B61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1905000"/>
                        <a:ext cx="6934200" cy="185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56" name="Text Box 8">
            <a:extLst>
              <a:ext uri="{FF2B5EF4-FFF2-40B4-BE49-F238E27FC236}">
                <a16:creationId xmlns:a16="http://schemas.microsoft.com/office/drawing/2014/main" id="{D93300CF-55D0-2AEE-8835-C800B6B98C1D}"/>
              </a:ext>
            </a:extLst>
          </p:cNvPr>
          <p:cNvSpPr txBox="1">
            <a:spLocks noChangeArrowheads="1"/>
          </p:cNvSpPr>
          <p:nvPr/>
        </p:nvSpPr>
        <p:spPr bwMode="auto">
          <a:xfrm>
            <a:off x="593725" y="3778250"/>
            <a:ext cx="65801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600"/>
              <a:t>  Now set up an initial population:</a:t>
            </a:r>
          </a:p>
        </p:txBody>
      </p:sp>
      <p:graphicFrame>
        <p:nvGraphicFramePr>
          <p:cNvPr id="130057" name="Object 9">
            <a:extLst>
              <a:ext uri="{FF2B5EF4-FFF2-40B4-BE49-F238E27FC236}">
                <a16:creationId xmlns:a16="http://schemas.microsoft.com/office/drawing/2014/main" id="{026EEB08-E9E4-E5FE-6A0B-509AC525C3B0}"/>
              </a:ext>
            </a:extLst>
          </p:cNvPr>
          <p:cNvGraphicFramePr>
            <a:graphicFrameLocks noChangeAspect="1"/>
          </p:cNvGraphicFramePr>
          <p:nvPr/>
        </p:nvGraphicFramePr>
        <p:xfrm>
          <a:off x="1752600" y="4648200"/>
          <a:ext cx="1162050" cy="1549400"/>
        </p:xfrm>
        <a:graphic>
          <a:graphicData uri="http://schemas.openxmlformats.org/presentationml/2006/ole">
            <mc:AlternateContent xmlns:mc="http://schemas.openxmlformats.org/markup-compatibility/2006">
              <mc:Choice xmlns:v="urn:schemas-microsoft-com:vml" Requires="v">
                <p:oleObj name="Equation" r:id="rId4" imgW="533169" imgH="710891" progId="Equation.3">
                  <p:embed/>
                </p:oleObj>
              </mc:Choice>
              <mc:Fallback>
                <p:oleObj name="Equation" r:id="rId4" imgW="533169" imgH="710891" progId="Equation.3">
                  <p:embed/>
                  <p:pic>
                    <p:nvPicPr>
                      <p:cNvPr id="130057" name="Object 9">
                        <a:extLst>
                          <a:ext uri="{FF2B5EF4-FFF2-40B4-BE49-F238E27FC236}">
                            <a16:creationId xmlns:a16="http://schemas.microsoft.com/office/drawing/2014/main" id="{026EEB08-E9E4-E5FE-6A0B-509AC525C3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4648200"/>
                        <a:ext cx="1162050" cy="154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58" name="Text Box 10">
            <a:extLst>
              <a:ext uri="{FF2B5EF4-FFF2-40B4-BE49-F238E27FC236}">
                <a16:creationId xmlns:a16="http://schemas.microsoft.com/office/drawing/2014/main" id="{D88290F8-48F8-8635-170C-D72E2175F1EB}"/>
              </a:ext>
            </a:extLst>
          </p:cNvPr>
          <p:cNvSpPr txBox="1">
            <a:spLocks noChangeArrowheads="1"/>
          </p:cNvSpPr>
          <p:nvPr/>
        </p:nvSpPr>
        <p:spPr bwMode="auto">
          <a:xfrm>
            <a:off x="3352800" y="4495800"/>
            <a:ext cx="54102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Evaluate the “fitness” of these solutions.  If infeasible, fitness=0.  If feasible, fitness=</a:t>
            </a:r>
            <a:r>
              <a:rPr lang="en-US" altLang="en-US" sz="3000" i="1"/>
              <a:t>z </a:t>
            </a:r>
            <a:endParaRPr lang="en-US" altLang="en-US" sz="3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0053">
                                            <p:txEl>
                                              <p:pRg st="0" end="0"/>
                                            </p:txEl>
                                          </p:spTgt>
                                        </p:tgtEl>
                                        <p:attrNameLst>
                                          <p:attrName>style.visibility</p:attrName>
                                        </p:attrNameLst>
                                      </p:cBhvr>
                                      <p:to>
                                        <p:strVal val="visible"/>
                                      </p:to>
                                    </p:set>
                                    <p:anim calcmode="lin" valueType="num">
                                      <p:cBhvr additive="base">
                                        <p:cTn id="7" dur="500" fill="hold"/>
                                        <p:tgtEl>
                                          <p:spTgt spid="13005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005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0055"/>
                                        </p:tgtEl>
                                        <p:attrNameLst>
                                          <p:attrName>style.visibility</p:attrName>
                                        </p:attrNameLst>
                                      </p:cBhvr>
                                      <p:to>
                                        <p:strVal val="visible"/>
                                      </p:to>
                                    </p:set>
                                    <p:anim calcmode="lin" valueType="num">
                                      <p:cBhvr additive="base">
                                        <p:cTn id="13" dur="500" fill="hold"/>
                                        <p:tgtEl>
                                          <p:spTgt spid="130055"/>
                                        </p:tgtEl>
                                        <p:attrNameLst>
                                          <p:attrName>ppt_x</p:attrName>
                                        </p:attrNameLst>
                                      </p:cBhvr>
                                      <p:tavLst>
                                        <p:tav tm="0">
                                          <p:val>
                                            <p:strVal val="0-#ppt_w/2"/>
                                          </p:val>
                                        </p:tav>
                                        <p:tav tm="100000">
                                          <p:val>
                                            <p:strVal val="#ppt_x"/>
                                          </p:val>
                                        </p:tav>
                                      </p:tavLst>
                                    </p:anim>
                                    <p:anim calcmode="lin" valueType="num">
                                      <p:cBhvr additive="base">
                                        <p:cTn id="14" dur="500" fill="hold"/>
                                        <p:tgtEl>
                                          <p:spTgt spid="13005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0056"/>
                                        </p:tgtEl>
                                        <p:attrNameLst>
                                          <p:attrName>style.visibility</p:attrName>
                                        </p:attrNameLst>
                                      </p:cBhvr>
                                      <p:to>
                                        <p:strVal val="visible"/>
                                      </p:to>
                                    </p:set>
                                    <p:anim calcmode="lin" valueType="num">
                                      <p:cBhvr additive="base">
                                        <p:cTn id="19" dur="500" fill="hold"/>
                                        <p:tgtEl>
                                          <p:spTgt spid="130056"/>
                                        </p:tgtEl>
                                        <p:attrNameLst>
                                          <p:attrName>ppt_x</p:attrName>
                                        </p:attrNameLst>
                                      </p:cBhvr>
                                      <p:tavLst>
                                        <p:tav tm="0">
                                          <p:val>
                                            <p:strVal val="0-#ppt_w/2"/>
                                          </p:val>
                                        </p:tav>
                                        <p:tav tm="100000">
                                          <p:val>
                                            <p:strVal val="#ppt_x"/>
                                          </p:val>
                                        </p:tav>
                                      </p:tavLst>
                                    </p:anim>
                                    <p:anim calcmode="lin" valueType="num">
                                      <p:cBhvr additive="base">
                                        <p:cTn id="20" dur="500" fill="hold"/>
                                        <p:tgtEl>
                                          <p:spTgt spid="13005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0057"/>
                                        </p:tgtEl>
                                        <p:attrNameLst>
                                          <p:attrName>style.visibility</p:attrName>
                                        </p:attrNameLst>
                                      </p:cBhvr>
                                      <p:to>
                                        <p:strVal val="visible"/>
                                      </p:to>
                                    </p:set>
                                    <p:anim calcmode="lin" valueType="num">
                                      <p:cBhvr additive="base">
                                        <p:cTn id="25" dur="500" fill="hold"/>
                                        <p:tgtEl>
                                          <p:spTgt spid="130057"/>
                                        </p:tgtEl>
                                        <p:attrNameLst>
                                          <p:attrName>ppt_x</p:attrName>
                                        </p:attrNameLst>
                                      </p:cBhvr>
                                      <p:tavLst>
                                        <p:tav tm="0">
                                          <p:val>
                                            <p:strVal val="0-#ppt_w/2"/>
                                          </p:val>
                                        </p:tav>
                                        <p:tav tm="100000">
                                          <p:val>
                                            <p:strVal val="#ppt_x"/>
                                          </p:val>
                                        </p:tav>
                                      </p:tavLst>
                                    </p:anim>
                                    <p:anim calcmode="lin" valueType="num">
                                      <p:cBhvr additive="base">
                                        <p:cTn id="26" dur="500" fill="hold"/>
                                        <p:tgtEl>
                                          <p:spTgt spid="13005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30058"/>
                                        </p:tgtEl>
                                        <p:attrNameLst>
                                          <p:attrName>style.visibility</p:attrName>
                                        </p:attrNameLst>
                                      </p:cBhvr>
                                      <p:to>
                                        <p:strVal val="visible"/>
                                      </p:to>
                                    </p:set>
                                    <p:anim calcmode="lin" valueType="num">
                                      <p:cBhvr additive="base">
                                        <p:cTn id="31" dur="500" fill="hold"/>
                                        <p:tgtEl>
                                          <p:spTgt spid="130058"/>
                                        </p:tgtEl>
                                        <p:attrNameLst>
                                          <p:attrName>ppt_x</p:attrName>
                                        </p:attrNameLst>
                                      </p:cBhvr>
                                      <p:tavLst>
                                        <p:tav tm="0">
                                          <p:val>
                                            <p:strVal val="0-#ppt_w/2"/>
                                          </p:val>
                                        </p:tav>
                                        <p:tav tm="100000">
                                          <p:val>
                                            <p:strVal val="#ppt_x"/>
                                          </p:val>
                                        </p:tav>
                                      </p:tavLst>
                                    </p:anim>
                                    <p:anim calcmode="lin" valueType="num">
                                      <p:cBhvr additive="base">
                                        <p:cTn id="32" dur="500" fill="hold"/>
                                        <p:tgtEl>
                                          <p:spTgt spid="1300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3" grpId="0" build="p" autoUpdateAnimBg="0"/>
      <p:bldP spid="130056" grpId="0" autoUpdateAnimBg="0"/>
      <p:bldP spid="130058" grpId="0"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6577DCE-2379-4A8C-B54D-682952C62039}"/>
              </a:ext>
            </a:extLst>
          </p:cNvPr>
          <p:cNvSpPr>
            <a:spLocks noGrp="1" noChangeArrowheads="1"/>
          </p:cNvSpPr>
          <p:nvPr>
            <p:ph type="title"/>
          </p:nvPr>
        </p:nvSpPr>
        <p:spPr>
          <a:xfrm>
            <a:off x="419100" y="228600"/>
            <a:ext cx="8305800" cy="1143000"/>
          </a:xfrm>
        </p:spPr>
        <p:txBody>
          <a:bodyPr>
            <a:normAutofit fontScale="90000"/>
          </a:bodyPr>
          <a:lstStyle/>
          <a:p>
            <a:pPr>
              <a:lnSpc>
                <a:spcPct val="80000"/>
              </a:lnSpc>
            </a:pPr>
            <a:r>
              <a:rPr lang="en-US" altLang="en-US"/>
              <a:t>Genetic Algorithms: </a:t>
            </a:r>
            <a:br>
              <a:rPr lang="en-US" altLang="en-US"/>
            </a:br>
            <a:r>
              <a:rPr lang="en-US" altLang="en-US"/>
              <a:t>Crossover &amp; Mutation</a:t>
            </a:r>
          </a:p>
        </p:txBody>
      </p:sp>
      <p:sp>
        <p:nvSpPr>
          <p:cNvPr id="12291" name="Rectangle 3">
            <a:extLst>
              <a:ext uri="{FF2B5EF4-FFF2-40B4-BE49-F238E27FC236}">
                <a16:creationId xmlns:a16="http://schemas.microsoft.com/office/drawing/2014/main" id="{5E86B57E-0BD0-89AC-27A4-C57BB23B8EC4}"/>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2292" name="Rectangle 4">
            <a:extLst>
              <a:ext uri="{FF2B5EF4-FFF2-40B4-BE49-F238E27FC236}">
                <a16:creationId xmlns:a16="http://schemas.microsoft.com/office/drawing/2014/main" id="{72A7CF8A-13A6-E538-1350-25EF86A3518A}"/>
              </a:ext>
            </a:extLst>
          </p:cNvPr>
          <p:cNvSpPr>
            <a:spLocks noChangeArrowheads="1"/>
          </p:cNvSpPr>
          <p:nvPr/>
        </p:nvSpPr>
        <p:spPr bwMode="auto">
          <a:xfrm>
            <a:off x="64008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30</a:t>
            </a:r>
          </a:p>
        </p:txBody>
      </p:sp>
      <p:sp>
        <p:nvSpPr>
          <p:cNvPr id="131077" name="Rectangle 5">
            <a:extLst>
              <a:ext uri="{FF2B5EF4-FFF2-40B4-BE49-F238E27FC236}">
                <a16:creationId xmlns:a16="http://schemas.microsoft.com/office/drawing/2014/main" id="{192BEE97-E25F-1B7D-709D-F02F78DDC1BD}"/>
              </a:ext>
            </a:extLst>
          </p:cNvPr>
          <p:cNvSpPr>
            <a:spLocks noGrp="1" noChangeArrowheads="1"/>
          </p:cNvSpPr>
          <p:nvPr>
            <p:ph type="body" idx="1"/>
          </p:nvPr>
        </p:nvSpPr>
        <p:spPr>
          <a:xfrm>
            <a:off x="304800" y="1447800"/>
            <a:ext cx="4876800" cy="2438400"/>
          </a:xfrm>
        </p:spPr>
        <p:txBody>
          <a:bodyPr/>
          <a:lstStyle/>
          <a:p>
            <a:pPr marL="533400" indent="-533400"/>
            <a:r>
              <a:rPr lang="en-US" altLang="en-US" sz="3600"/>
              <a:t>Now alter the “genes” in some way:</a:t>
            </a:r>
          </a:p>
          <a:p>
            <a:pPr marL="914400" lvl="1" indent="-457200"/>
            <a:r>
              <a:rPr lang="en-US" altLang="en-US" sz="3200"/>
              <a:t>Mutation: flip a binary, randomly</a:t>
            </a:r>
          </a:p>
        </p:txBody>
      </p:sp>
      <p:sp>
        <p:nvSpPr>
          <p:cNvPr id="12294" name="Text Box 6">
            <a:extLst>
              <a:ext uri="{FF2B5EF4-FFF2-40B4-BE49-F238E27FC236}">
                <a16:creationId xmlns:a16="http://schemas.microsoft.com/office/drawing/2014/main" id="{065BB423-FDB6-6885-5653-2494562A2672}"/>
              </a:ext>
            </a:extLst>
          </p:cNvPr>
          <p:cNvSpPr txBox="1">
            <a:spLocks noChangeArrowheads="1"/>
          </p:cNvSpPr>
          <p:nvPr/>
        </p:nvSpPr>
        <p:spPr bwMode="auto">
          <a:xfrm>
            <a:off x="525463" y="5410200"/>
            <a:ext cx="80930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400"/>
          </a:p>
        </p:txBody>
      </p:sp>
      <p:graphicFrame>
        <p:nvGraphicFramePr>
          <p:cNvPr id="131081" name="Object 9">
            <a:extLst>
              <a:ext uri="{FF2B5EF4-FFF2-40B4-BE49-F238E27FC236}">
                <a16:creationId xmlns:a16="http://schemas.microsoft.com/office/drawing/2014/main" id="{A1B42979-E4CF-712E-1A80-C863412C8B50}"/>
              </a:ext>
            </a:extLst>
          </p:cNvPr>
          <p:cNvGraphicFramePr>
            <a:graphicFrameLocks noChangeAspect="1"/>
          </p:cNvGraphicFramePr>
          <p:nvPr/>
        </p:nvGraphicFramePr>
        <p:xfrm>
          <a:off x="5105400" y="2514600"/>
          <a:ext cx="1360488" cy="1384300"/>
        </p:xfrm>
        <a:graphic>
          <a:graphicData uri="http://schemas.openxmlformats.org/presentationml/2006/ole">
            <mc:AlternateContent xmlns:mc="http://schemas.openxmlformats.org/markup-compatibility/2006">
              <mc:Choice xmlns:v="urn:schemas-microsoft-com:vml" Requires="v">
                <p:oleObj name="Equation" r:id="rId2" imgW="698500" imgH="711200" progId="Equation.3">
                  <p:embed/>
                </p:oleObj>
              </mc:Choice>
              <mc:Fallback>
                <p:oleObj name="Equation" r:id="rId2" imgW="698500" imgH="711200" progId="Equation.3">
                  <p:embed/>
                  <p:pic>
                    <p:nvPicPr>
                      <p:cNvPr id="131081" name="Object 9">
                        <a:extLst>
                          <a:ext uri="{FF2B5EF4-FFF2-40B4-BE49-F238E27FC236}">
                            <a16:creationId xmlns:a16="http://schemas.microsoft.com/office/drawing/2014/main" id="{A1B42979-E4CF-712E-1A80-C863412C8B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2514600"/>
                        <a:ext cx="1360488" cy="138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83" name="Object 11">
            <a:extLst>
              <a:ext uri="{FF2B5EF4-FFF2-40B4-BE49-F238E27FC236}">
                <a16:creationId xmlns:a16="http://schemas.microsoft.com/office/drawing/2014/main" id="{D165879A-4D38-F6E0-68F0-6C3702A8F0A4}"/>
              </a:ext>
            </a:extLst>
          </p:cNvPr>
          <p:cNvGraphicFramePr>
            <a:graphicFrameLocks noChangeAspect="1"/>
          </p:cNvGraphicFramePr>
          <p:nvPr/>
        </p:nvGraphicFramePr>
        <p:xfrm>
          <a:off x="5334000" y="4495800"/>
          <a:ext cx="2820988" cy="1384300"/>
        </p:xfrm>
        <a:graphic>
          <a:graphicData uri="http://schemas.openxmlformats.org/presentationml/2006/ole">
            <mc:AlternateContent xmlns:mc="http://schemas.openxmlformats.org/markup-compatibility/2006">
              <mc:Choice xmlns:v="urn:schemas-microsoft-com:vml" Requires="v">
                <p:oleObj name="Equation" r:id="rId4" imgW="1447800" imgH="711200" progId="Equation.3">
                  <p:embed/>
                </p:oleObj>
              </mc:Choice>
              <mc:Fallback>
                <p:oleObj name="Equation" r:id="rId4" imgW="1447800" imgH="711200" progId="Equation.3">
                  <p:embed/>
                  <p:pic>
                    <p:nvPicPr>
                      <p:cNvPr id="131083" name="Object 11">
                        <a:extLst>
                          <a:ext uri="{FF2B5EF4-FFF2-40B4-BE49-F238E27FC236}">
                            <a16:creationId xmlns:a16="http://schemas.microsoft.com/office/drawing/2014/main" id="{D165879A-4D38-F6E0-68F0-6C3702A8F0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4495800"/>
                        <a:ext cx="2820988" cy="138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084" name="Text Box 12">
            <a:extLst>
              <a:ext uri="{FF2B5EF4-FFF2-40B4-BE49-F238E27FC236}">
                <a16:creationId xmlns:a16="http://schemas.microsoft.com/office/drawing/2014/main" id="{74EE7A06-EB2D-6959-C4C4-6750A0FDC946}"/>
              </a:ext>
            </a:extLst>
          </p:cNvPr>
          <p:cNvSpPr txBox="1">
            <a:spLocks noChangeArrowheads="1"/>
          </p:cNvSpPr>
          <p:nvPr/>
        </p:nvSpPr>
        <p:spPr bwMode="auto">
          <a:xfrm>
            <a:off x="381000" y="3733800"/>
            <a:ext cx="4191000" cy="307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r>
              <a:rPr lang="en-US" altLang="en-US" sz="3200"/>
              <a:t>  Crossover: swap the top halves of two solutions (choose parents, break point randomly) </a:t>
            </a:r>
          </a:p>
          <a:p>
            <a:pPr>
              <a:spcBef>
                <a:spcPct val="0"/>
              </a:spcBef>
              <a:buFontTx/>
              <a:buNone/>
            </a:pPr>
            <a:endParaRPr lang="en-US" altLang="en-US" sz="3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1077">
                                            <p:txEl>
                                              <p:pRg st="0" end="0"/>
                                            </p:txEl>
                                          </p:spTgt>
                                        </p:tgtEl>
                                        <p:attrNameLst>
                                          <p:attrName>style.visibility</p:attrName>
                                        </p:attrNameLst>
                                      </p:cBhvr>
                                      <p:to>
                                        <p:strVal val="visible"/>
                                      </p:to>
                                    </p:set>
                                    <p:anim calcmode="lin" valueType="num">
                                      <p:cBhvr additive="base">
                                        <p:cTn id="7" dur="500" fill="hold"/>
                                        <p:tgtEl>
                                          <p:spTgt spid="13107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107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1077">
                                            <p:txEl>
                                              <p:pRg st="1" end="1"/>
                                            </p:txEl>
                                          </p:spTgt>
                                        </p:tgtEl>
                                        <p:attrNameLst>
                                          <p:attrName>style.visibility</p:attrName>
                                        </p:attrNameLst>
                                      </p:cBhvr>
                                      <p:to>
                                        <p:strVal val="visible"/>
                                      </p:to>
                                    </p:set>
                                    <p:anim calcmode="lin" valueType="num">
                                      <p:cBhvr additive="base">
                                        <p:cTn id="13" dur="500" fill="hold"/>
                                        <p:tgtEl>
                                          <p:spTgt spid="13107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107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1081"/>
                                        </p:tgtEl>
                                        <p:attrNameLst>
                                          <p:attrName>style.visibility</p:attrName>
                                        </p:attrNameLst>
                                      </p:cBhvr>
                                      <p:to>
                                        <p:strVal val="visible"/>
                                      </p:to>
                                    </p:set>
                                    <p:anim calcmode="lin" valueType="num">
                                      <p:cBhvr additive="base">
                                        <p:cTn id="19" dur="500" fill="hold"/>
                                        <p:tgtEl>
                                          <p:spTgt spid="131081"/>
                                        </p:tgtEl>
                                        <p:attrNameLst>
                                          <p:attrName>ppt_x</p:attrName>
                                        </p:attrNameLst>
                                      </p:cBhvr>
                                      <p:tavLst>
                                        <p:tav tm="0">
                                          <p:val>
                                            <p:strVal val="0-#ppt_w/2"/>
                                          </p:val>
                                        </p:tav>
                                        <p:tav tm="100000">
                                          <p:val>
                                            <p:strVal val="#ppt_x"/>
                                          </p:val>
                                        </p:tav>
                                      </p:tavLst>
                                    </p:anim>
                                    <p:anim calcmode="lin" valueType="num">
                                      <p:cBhvr additive="base">
                                        <p:cTn id="20" dur="500" fill="hold"/>
                                        <p:tgtEl>
                                          <p:spTgt spid="13108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1084"/>
                                        </p:tgtEl>
                                        <p:attrNameLst>
                                          <p:attrName>style.visibility</p:attrName>
                                        </p:attrNameLst>
                                      </p:cBhvr>
                                      <p:to>
                                        <p:strVal val="visible"/>
                                      </p:to>
                                    </p:set>
                                    <p:anim calcmode="lin" valueType="num">
                                      <p:cBhvr additive="base">
                                        <p:cTn id="25" dur="500" fill="hold"/>
                                        <p:tgtEl>
                                          <p:spTgt spid="131084"/>
                                        </p:tgtEl>
                                        <p:attrNameLst>
                                          <p:attrName>ppt_x</p:attrName>
                                        </p:attrNameLst>
                                      </p:cBhvr>
                                      <p:tavLst>
                                        <p:tav tm="0">
                                          <p:val>
                                            <p:strVal val="0-#ppt_w/2"/>
                                          </p:val>
                                        </p:tav>
                                        <p:tav tm="100000">
                                          <p:val>
                                            <p:strVal val="#ppt_x"/>
                                          </p:val>
                                        </p:tav>
                                      </p:tavLst>
                                    </p:anim>
                                    <p:anim calcmode="lin" valueType="num">
                                      <p:cBhvr additive="base">
                                        <p:cTn id="26" dur="500" fill="hold"/>
                                        <p:tgtEl>
                                          <p:spTgt spid="13108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31083"/>
                                        </p:tgtEl>
                                        <p:attrNameLst>
                                          <p:attrName>style.visibility</p:attrName>
                                        </p:attrNameLst>
                                      </p:cBhvr>
                                      <p:to>
                                        <p:strVal val="visible"/>
                                      </p:to>
                                    </p:set>
                                    <p:anim calcmode="lin" valueType="num">
                                      <p:cBhvr additive="base">
                                        <p:cTn id="31" dur="500" fill="hold"/>
                                        <p:tgtEl>
                                          <p:spTgt spid="131083"/>
                                        </p:tgtEl>
                                        <p:attrNameLst>
                                          <p:attrName>ppt_x</p:attrName>
                                        </p:attrNameLst>
                                      </p:cBhvr>
                                      <p:tavLst>
                                        <p:tav tm="0">
                                          <p:val>
                                            <p:strVal val="0-#ppt_w/2"/>
                                          </p:val>
                                        </p:tav>
                                        <p:tav tm="100000">
                                          <p:val>
                                            <p:strVal val="#ppt_x"/>
                                          </p:val>
                                        </p:tav>
                                      </p:tavLst>
                                    </p:anim>
                                    <p:anim calcmode="lin" valueType="num">
                                      <p:cBhvr additive="base">
                                        <p:cTn id="32" dur="500" fill="hold"/>
                                        <p:tgtEl>
                                          <p:spTgt spid="1310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7" grpId="0" build="p" bldLvl="3" autoUpdateAnimBg="0"/>
      <p:bldP spid="131084" grpId="0"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492E9BC-213D-4F2E-1F21-186BBF6CD451}"/>
              </a:ext>
            </a:extLst>
          </p:cNvPr>
          <p:cNvSpPr>
            <a:spLocks noGrp="1" noChangeArrowheads="1"/>
          </p:cNvSpPr>
          <p:nvPr>
            <p:ph type="title"/>
          </p:nvPr>
        </p:nvSpPr>
        <p:spPr>
          <a:xfrm>
            <a:off x="419100" y="0"/>
            <a:ext cx="8305800" cy="1143000"/>
          </a:xfrm>
        </p:spPr>
        <p:txBody>
          <a:bodyPr/>
          <a:lstStyle/>
          <a:p>
            <a:pPr>
              <a:lnSpc>
                <a:spcPct val="80000"/>
              </a:lnSpc>
            </a:pPr>
            <a:r>
              <a:rPr lang="en-US" altLang="en-US" sz="4200"/>
              <a:t>Genetic Algorithms: Recombination</a:t>
            </a:r>
            <a:r>
              <a:rPr lang="en-US" altLang="en-US"/>
              <a:t> </a:t>
            </a:r>
          </a:p>
        </p:txBody>
      </p:sp>
      <p:sp>
        <p:nvSpPr>
          <p:cNvPr id="13315" name="Rectangle 3">
            <a:extLst>
              <a:ext uri="{FF2B5EF4-FFF2-40B4-BE49-F238E27FC236}">
                <a16:creationId xmlns:a16="http://schemas.microsoft.com/office/drawing/2014/main" id="{9260B41B-0443-CDC9-5E93-7542C5E75829}"/>
              </a:ext>
            </a:extLst>
          </p:cNvPr>
          <p:cNvSpPr>
            <a:spLocks noChangeArrowheads="1"/>
          </p:cNvSpPr>
          <p:nvPr/>
        </p:nvSpPr>
        <p:spPr bwMode="auto">
          <a:xfrm>
            <a:off x="228600" y="152400"/>
            <a:ext cx="86868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3316" name="Rectangle 4">
            <a:extLst>
              <a:ext uri="{FF2B5EF4-FFF2-40B4-BE49-F238E27FC236}">
                <a16:creationId xmlns:a16="http://schemas.microsoft.com/office/drawing/2014/main" id="{11838077-011D-C650-8548-3FB99147CDFA}"/>
              </a:ext>
            </a:extLst>
          </p:cNvPr>
          <p:cNvSpPr>
            <a:spLocks noChangeArrowheads="1"/>
          </p:cNvSpPr>
          <p:nvPr/>
        </p:nvSpPr>
        <p:spPr bwMode="auto">
          <a:xfrm>
            <a:off x="64008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30</a:t>
            </a:r>
          </a:p>
        </p:txBody>
      </p:sp>
      <p:sp>
        <p:nvSpPr>
          <p:cNvPr id="132101" name="Rectangle 5">
            <a:extLst>
              <a:ext uri="{FF2B5EF4-FFF2-40B4-BE49-F238E27FC236}">
                <a16:creationId xmlns:a16="http://schemas.microsoft.com/office/drawing/2014/main" id="{1E57DFE6-6631-7597-AD9E-907E49327894}"/>
              </a:ext>
            </a:extLst>
          </p:cNvPr>
          <p:cNvSpPr>
            <a:spLocks noGrp="1" noChangeArrowheads="1"/>
          </p:cNvSpPr>
          <p:nvPr>
            <p:ph type="body" idx="1"/>
          </p:nvPr>
        </p:nvSpPr>
        <p:spPr>
          <a:xfrm>
            <a:off x="533400" y="1295400"/>
            <a:ext cx="7772400" cy="762000"/>
          </a:xfrm>
        </p:spPr>
        <p:txBody>
          <a:bodyPr>
            <a:noAutofit/>
          </a:bodyPr>
          <a:lstStyle/>
          <a:p>
            <a:pPr marL="533400" indent="-533400">
              <a:lnSpc>
                <a:spcPct val="90000"/>
              </a:lnSpc>
            </a:pPr>
            <a:r>
              <a:rPr lang="en-US" altLang="en-US" dirty="0"/>
              <a:t>Crossover and mutation are called </a:t>
            </a:r>
            <a:r>
              <a:rPr lang="en-US" altLang="en-US" u="sng" dirty="0"/>
              <a:t>recombination operators</a:t>
            </a:r>
          </a:p>
          <a:p>
            <a:pPr marL="533400" indent="-533400">
              <a:lnSpc>
                <a:spcPct val="90000"/>
              </a:lnSpc>
            </a:pPr>
            <a:r>
              <a:rPr lang="en-US" altLang="en-US" dirty="0"/>
              <a:t>Many other recombination operations are possible</a:t>
            </a:r>
          </a:p>
          <a:p>
            <a:pPr marL="533400" indent="-533400">
              <a:lnSpc>
                <a:spcPct val="90000"/>
              </a:lnSpc>
            </a:pPr>
            <a:r>
              <a:rPr lang="en-US" altLang="en-US" dirty="0"/>
              <a:t>The key to a successful GA is to use recombination operators which:</a:t>
            </a:r>
          </a:p>
          <a:p>
            <a:pPr marL="914400" lvl="1" indent="-457200">
              <a:lnSpc>
                <a:spcPct val="90000"/>
              </a:lnSpc>
            </a:pPr>
            <a:r>
              <a:rPr lang="en-US" altLang="en-US" dirty="0"/>
              <a:t>Move quickly across the search space</a:t>
            </a:r>
          </a:p>
          <a:p>
            <a:pPr marL="914400" lvl="1" indent="-457200">
              <a:lnSpc>
                <a:spcPct val="90000"/>
              </a:lnSpc>
            </a:pPr>
            <a:r>
              <a:rPr lang="en-US" altLang="en-US" dirty="0"/>
              <a:t>Produce new but still feasible offspring </a:t>
            </a:r>
          </a:p>
          <a:p>
            <a:pPr marL="914400" lvl="1" indent="-457200">
              <a:lnSpc>
                <a:spcPct val="90000"/>
              </a:lnSpc>
            </a:pPr>
            <a:r>
              <a:rPr lang="en-US" altLang="en-US" dirty="0"/>
              <a:t>Generate steady improvement in the average fitness of the population</a:t>
            </a:r>
          </a:p>
        </p:txBody>
      </p:sp>
      <p:sp>
        <p:nvSpPr>
          <p:cNvPr id="13318" name="Text Box 6">
            <a:extLst>
              <a:ext uri="{FF2B5EF4-FFF2-40B4-BE49-F238E27FC236}">
                <a16:creationId xmlns:a16="http://schemas.microsoft.com/office/drawing/2014/main" id="{8DFC96C2-71D3-1BC0-B1FF-F06D4980C18C}"/>
              </a:ext>
            </a:extLst>
          </p:cNvPr>
          <p:cNvSpPr txBox="1">
            <a:spLocks noChangeArrowheads="1"/>
          </p:cNvSpPr>
          <p:nvPr/>
        </p:nvSpPr>
        <p:spPr bwMode="auto">
          <a:xfrm>
            <a:off x="525463" y="5410200"/>
            <a:ext cx="80930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2101">
                                            <p:txEl>
                                              <p:pRg st="0" end="0"/>
                                            </p:txEl>
                                          </p:spTgt>
                                        </p:tgtEl>
                                        <p:attrNameLst>
                                          <p:attrName>style.visibility</p:attrName>
                                        </p:attrNameLst>
                                      </p:cBhvr>
                                      <p:to>
                                        <p:strVal val="visible"/>
                                      </p:to>
                                    </p:set>
                                    <p:anim calcmode="lin" valueType="num">
                                      <p:cBhvr additive="base">
                                        <p:cTn id="7" dur="500" fill="hold"/>
                                        <p:tgtEl>
                                          <p:spTgt spid="13210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210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2101">
                                            <p:txEl>
                                              <p:pRg st="1" end="1"/>
                                            </p:txEl>
                                          </p:spTgt>
                                        </p:tgtEl>
                                        <p:attrNameLst>
                                          <p:attrName>style.visibility</p:attrName>
                                        </p:attrNameLst>
                                      </p:cBhvr>
                                      <p:to>
                                        <p:strVal val="visible"/>
                                      </p:to>
                                    </p:set>
                                    <p:anim calcmode="lin" valueType="num">
                                      <p:cBhvr additive="base">
                                        <p:cTn id="13" dur="500" fill="hold"/>
                                        <p:tgtEl>
                                          <p:spTgt spid="13210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210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2101">
                                            <p:txEl>
                                              <p:pRg st="2" end="2"/>
                                            </p:txEl>
                                          </p:spTgt>
                                        </p:tgtEl>
                                        <p:attrNameLst>
                                          <p:attrName>style.visibility</p:attrName>
                                        </p:attrNameLst>
                                      </p:cBhvr>
                                      <p:to>
                                        <p:strVal val="visible"/>
                                      </p:to>
                                    </p:set>
                                    <p:anim calcmode="lin" valueType="num">
                                      <p:cBhvr additive="base">
                                        <p:cTn id="19" dur="500" fill="hold"/>
                                        <p:tgtEl>
                                          <p:spTgt spid="13210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210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2101">
                                            <p:txEl>
                                              <p:pRg st="3" end="3"/>
                                            </p:txEl>
                                          </p:spTgt>
                                        </p:tgtEl>
                                        <p:attrNameLst>
                                          <p:attrName>style.visibility</p:attrName>
                                        </p:attrNameLst>
                                      </p:cBhvr>
                                      <p:to>
                                        <p:strVal val="visible"/>
                                      </p:to>
                                    </p:set>
                                    <p:anim calcmode="lin" valueType="num">
                                      <p:cBhvr additive="base">
                                        <p:cTn id="25" dur="500" fill="hold"/>
                                        <p:tgtEl>
                                          <p:spTgt spid="13210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210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32101">
                                            <p:txEl>
                                              <p:pRg st="4" end="4"/>
                                            </p:txEl>
                                          </p:spTgt>
                                        </p:tgtEl>
                                        <p:attrNameLst>
                                          <p:attrName>style.visibility</p:attrName>
                                        </p:attrNameLst>
                                      </p:cBhvr>
                                      <p:to>
                                        <p:strVal val="visible"/>
                                      </p:to>
                                    </p:set>
                                    <p:anim calcmode="lin" valueType="num">
                                      <p:cBhvr additive="base">
                                        <p:cTn id="31" dur="500" fill="hold"/>
                                        <p:tgtEl>
                                          <p:spTgt spid="13210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210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32101">
                                            <p:txEl>
                                              <p:pRg st="5" end="5"/>
                                            </p:txEl>
                                          </p:spTgt>
                                        </p:tgtEl>
                                        <p:attrNameLst>
                                          <p:attrName>style.visibility</p:attrName>
                                        </p:attrNameLst>
                                      </p:cBhvr>
                                      <p:to>
                                        <p:strVal val="visible"/>
                                      </p:to>
                                    </p:set>
                                    <p:anim calcmode="lin" valueType="num">
                                      <p:cBhvr additive="base">
                                        <p:cTn id="37" dur="500" fill="hold"/>
                                        <p:tgtEl>
                                          <p:spTgt spid="13210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3210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build="p" bldLvl="3"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DDF56E4-1D8D-3446-E9B0-6AEFC8A86810}"/>
              </a:ext>
            </a:extLst>
          </p:cNvPr>
          <p:cNvSpPr>
            <a:spLocks noGrp="1" noChangeArrowheads="1"/>
          </p:cNvSpPr>
          <p:nvPr>
            <p:ph type="title"/>
          </p:nvPr>
        </p:nvSpPr>
        <p:spPr>
          <a:xfrm>
            <a:off x="381000" y="228600"/>
            <a:ext cx="8382000" cy="1143000"/>
          </a:xfrm>
        </p:spPr>
        <p:txBody>
          <a:bodyPr>
            <a:normAutofit fontScale="90000"/>
          </a:bodyPr>
          <a:lstStyle/>
          <a:p>
            <a:pPr>
              <a:lnSpc>
                <a:spcPct val="80000"/>
              </a:lnSpc>
            </a:pPr>
            <a:r>
              <a:rPr lang="en-US" altLang="en-US" sz="4600"/>
              <a:t>Graphs and Networks – Basic Concepts</a:t>
            </a:r>
          </a:p>
        </p:txBody>
      </p:sp>
      <p:sp>
        <p:nvSpPr>
          <p:cNvPr id="6147" name="Rectangle 3">
            <a:extLst>
              <a:ext uri="{FF2B5EF4-FFF2-40B4-BE49-F238E27FC236}">
                <a16:creationId xmlns:a16="http://schemas.microsoft.com/office/drawing/2014/main" id="{D013AADE-C60D-C3D2-4C2D-F9E5C3888945}"/>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6148" name="Rectangle 4">
            <a:extLst>
              <a:ext uri="{FF2B5EF4-FFF2-40B4-BE49-F238E27FC236}">
                <a16:creationId xmlns:a16="http://schemas.microsoft.com/office/drawing/2014/main" id="{CB761747-8399-C258-8918-8605C675A5B6}"/>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400" dirty="0"/>
              <a:t>CPE 778, Lect. 31</a:t>
            </a:r>
          </a:p>
        </p:txBody>
      </p:sp>
      <p:sp>
        <p:nvSpPr>
          <p:cNvPr id="200709" name="Text Box 5">
            <a:extLst>
              <a:ext uri="{FF2B5EF4-FFF2-40B4-BE49-F238E27FC236}">
                <a16:creationId xmlns:a16="http://schemas.microsoft.com/office/drawing/2014/main" id="{3F232FE4-33B0-C609-C3A9-3BB071B351BA}"/>
              </a:ext>
            </a:extLst>
          </p:cNvPr>
          <p:cNvSpPr txBox="1">
            <a:spLocks noChangeArrowheads="1"/>
          </p:cNvSpPr>
          <p:nvPr/>
        </p:nvSpPr>
        <p:spPr bwMode="auto">
          <a:xfrm>
            <a:off x="495300" y="1524000"/>
            <a:ext cx="8153400" cy="148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lnSpc>
                <a:spcPct val="90000"/>
              </a:lnSpc>
              <a:buFontTx/>
              <a:buChar char="•"/>
            </a:pPr>
            <a:r>
              <a:rPr lang="en-US" altLang="en-US" sz="3400"/>
              <a:t>A graph is a set of points, called </a:t>
            </a:r>
            <a:r>
              <a:rPr lang="en-US" altLang="en-US" sz="3400" u="sng"/>
              <a:t>nodes</a:t>
            </a:r>
            <a:r>
              <a:rPr lang="en-US" altLang="en-US" sz="3400"/>
              <a:t> or </a:t>
            </a:r>
            <a:r>
              <a:rPr lang="en-US" altLang="en-US" sz="3400" u="sng"/>
              <a:t>vertices</a:t>
            </a:r>
            <a:r>
              <a:rPr lang="en-US" altLang="en-US" sz="3400"/>
              <a:t>, which may be connected via lines called </a:t>
            </a:r>
            <a:r>
              <a:rPr lang="en-US" altLang="en-US" sz="3400" u="sng"/>
              <a:t>edges</a:t>
            </a:r>
            <a:r>
              <a:rPr lang="en-US" altLang="en-US" sz="3400"/>
              <a:t>, </a:t>
            </a:r>
            <a:r>
              <a:rPr lang="en-US" altLang="en-US" sz="3400" u="sng"/>
              <a:t>arcs</a:t>
            </a:r>
            <a:r>
              <a:rPr lang="en-US" altLang="en-US" sz="3400"/>
              <a:t>, or </a:t>
            </a:r>
            <a:r>
              <a:rPr lang="en-US" altLang="en-US" sz="3400" u="sng"/>
              <a:t>branches</a:t>
            </a:r>
          </a:p>
        </p:txBody>
      </p:sp>
      <p:grpSp>
        <p:nvGrpSpPr>
          <p:cNvPr id="2" name="Group 17">
            <a:extLst>
              <a:ext uri="{FF2B5EF4-FFF2-40B4-BE49-F238E27FC236}">
                <a16:creationId xmlns:a16="http://schemas.microsoft.com/office/drawing/2014/main" id="{84867687-EFCE-9DAA-C5BA-90C5DE89005B}"/>
              </a:ext>
            </a:extLst>
          </p:cNvPr>
          <p:cNvGrpSpPr>
            <a:grpSpLocks/>
          </p:cNvGrpSpPr>
          <p:nvPr/>
        </p:nvGrpSpPr>
        <p:grpSpPr bwMode="auto">
          <a:xfrm>
            <a:off x="2743200" y="3429000"/>
            <a:ext cx="2660650" cy="1281113"/>
            <a:chOff x="1392" y="2304"/>
            <a:chExt cx="1676" cy="807"/>
          </a:xfrm>
        </p:grpSpPr>
        <p:sp>
          <p:nvSpPr>
            <p:cNvPr id="6157" name="Oval 7">
              <a:extLst>
                <a:ext uri="{FF2B5EF4-FFF2-40B4-BE49-F238E27FC236}">
                  <a16:creationId xmlns:a16="http://schemas.microsoft.com/office/drawing/2014/main" id="{6FFB1CC4-9011-D518-AFE0-54852AE13F0C}"/>
                </a:ext>
              </a:extLst>
            </p:cNvPr>
            <p:cNvSpPr>
              <a:spLocks noChangeArrowheads="1"/>
            </p:cNvSpPr>
            <p:nvPr/>
          </p:nvSpPr>
          <p:spPr bwMode="auto">
            <a:xfrm>
              <a:off x="1392" y="2352"/>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6158" name="Oval 8">
              <a:extLst>
                <a:ext uri="{FF2B5EF4-FFF2-40B4-BE49-F238E27FC236}">
                  <a16:creationId xmlns:a16="http://schemas.microsoft.com/office/drawing/2014/main" id="{F09A2AA5-76CE-A207-E0AD-AA4A32143650}"/>
                </a:ext>
              </a:extLst>
            </p:cNvPr>
            <p:cNvSpPr>
              <a:spLocks noChangeArrowheads="1"/>
            </p:cNvSpPr>
            <p:nvPr/>
          </p:nvSpPr>
          <p:spPr bwMode="auto">
            <a:xfrm>
              <a:off x="1872" y="2400"/>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6159" name="Oval 9">
              <a:extLst>
                <a:ext uri="{FF2B5EF4-FFF2-40B4-BE49-F238E27FC236}">
                  <a16:creationId xmlns:a16="http://schemas.microsoft.com/office/drawing/2014/main" id="{37AED115-4B68-6C8C-6D45-B94ABAF23450}"/>
                </a:ext>
              </a:extLst>
            </p:cNvPr>
            <p:cNvSpPr>
              <a:spLocks noChangeArrowheads="1"/>
            </p:cNvSpPr>
            <p:nvPr/>
          </p:nvSpPr>
          <p:spPr bwMode="auto">
            <a:xfrm>
              <a:off x="2208" y="2736"/>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6160" name="Oval 10">
              <a:extLst>
                <a:ext uri="{FF2B5EF4-FFF2-40B4-BE49-F238E27FC236}">
                  <a16:creationId xmlns:a16="http://schemas.microsoft.com/office/drawing/2014/main" id="{0CD2227E-0489-BC3E-538B-04EB1C03745B}"/>
                </a:ext>
              </a:extLst>
            </p:cNvPr>
            <p:cNvSpPr>
              <a:spLocks noChangeArrowheads="1"/>
            </p:cNvSpPr>
            <p:nvPr/>
          </p:nvSpPr>
          <p:spPr bwMode="auto">
            <a:xfrm>
              <a:off x="2880" y="2544"/>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6161" name="Oval 11">
              <a:extLst>
                <a:ext uri="{FF2B5EF4-FFF2-40B4-BE49-F238E27FC236}">
                  <a16:creationId xmlns:a16="http://schemas.microsoft.com/office/drawing/2014/main" id="{505FF718-23CE-91D6-4AB7-619604A00B83}"/>
                </a:ext>
              </a:extLst>
            </p:cNvPr>
            <p:cNvSpPr>
              <a:spLocks noChangeArrowheads="1"/>
            </p:cNvSpPr>
            <p:nvPr/>
          </p:nvSpPr>
          <p:spPr bwMode="auto">
            <a:xfrm>
              <a:off x="1392" y="2928"/>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6162" name="Text Box 12">
              <a:extLst>
                <a:ext uri="{FF2B5EF4-FFF2-40B4-BE49-F238E27FC236}">
                  <a16:creationId xmlns:a16="http://schemas.microsoft.com/office/drawing/2014/main" id="{AE41C42F-BC11-E05A-5F3F-F02DCF6CA822}"/>
                </a:ext>
              </a:extLst>
            </p:cNvPr>
            <p:cNvSpPr txBox="1">
              <a:spLocks noChangeArrowheads="1"/>
            </p:cNvSpPr>
            <p:nvPr/>
          </p:nvSpPr>
          <p:spPr bwMode="auto">
            <a:xfrm>
              <a:off x="1392" y="230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1</a:t>
              </a:r>
            </a:p>
          </p:txBody>
        </p:sp>
        <p:sp>
          <p:nvSpPr>
            <p:cNvPr id="6163" name="Text Box 13">
              <a:extLst>
                <a:ext uri="{FF2B5EF4-FFF2-40B4-BE49-F238E27FC236}">
                  <a16:creationId xmlns:a16="http://schemas.microsoft.com/office/drawing/2014/main" id="{7C44EBD2-6627-6590-1605-73DC99E2852A}"/>
                </a:ext>
              </a:extLst>
            </p:cNvPr>
            <p:cNvSpPr txBox="1">
              <a:spLocks noChangeArrowheads="1"/>
            </p:cNvSpPr>
            <p:nvPr/>
          </p:nvSpPr>
          <p:spPr bwMode="auto">
            <a:xfrm>
              <a:off x="1872" y="235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2</a:t>
              </a:r>
            </a:p>
          </p:txBody>
        </p:sp>
        <p:sp>
          <p:nvSpPr>
            <p:cNvPr id="6164" name="Text Box 14">
              <a:extLst>
                <a:ext uri="{FF2B5EF4-FFF2-40B4-BE49-F238E27FC236}">
                  <a16:creationId xmlns:a16="http://schemas.microsoft.com/office/drawing/2014/main" id="{F2A274EE-C87C-6C27-A11B-B8E7C16BCA13}"/>
                </a:ext>
              </a:extLst>
            </p:cNvPr>
            <p:cNvSpPr txBox="1">
              <a:spLocks noChangeArrowheads="1"/>
            </p:cNvSpPr>
            <p:nvPr/>
          </p:nvSpPr>
          <p:spPr bwMode="auto">
            <a:xfrm>
              <a:off x="2208" y="268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3</a:t>
              </a:r>
            </a:p>
          </p:txBody>
        </p:sp>
        <p:sp>
          <p:nvSpPr>
            <p:cNvPr id="6165" name="Text Box 15">
              <a:extLst>
                <a:ext uri="{FF2B5EF4-FFF2-40B4-BE49-F238E27FC236}">
                  <a16:creationId xmlns:a16="http://schemas.microsoft.com/office/drawing/2014/main" id="{D6A57D19-849A-216F-4208-CD7DCBC41C43}"/>
                </a:ext>
              </a:extLst>
            </p:cNvPr>
            <p:cNvSpPr txBox="1">
              <a:spLocks noChangeArrowheads="1"/>
            </p:cNvSpPr>
            <p:nvPr/>
          </p:nvSpPr>
          <p:spPr bwMode="auto">
            <a:xfrm>
              <a:off x="2880" y="249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4</a:t>
              </a:r>
            </a:p>
          </p:txBody>
        </p:sp>
        <p:sp>
          <p:nvSpPr>
            <p:cNvPr id="6166" name="Text Box 16">
              <a:extLst>
                <a:ext uri="{FF2B5EF4-FFF2-40B4-BE49-F238E27FC236}">
                  <a16:creationId xmlns:a16="http://schemas.microsoft.com/office/drawing/2014/main" id="{D73F31DE-F19C-BCFA-2A17-35470198BDDE}"/>
                </a:ext>
              </a:extLst>
            </p:cNvPr>
            <p:cNvSpPr txBox="1">
              <a:spLocks noChangeArrowheads="1"/>
            </p:cNvSpPr>
            <p:nvPr/>
          </p:nvSpPr>
          <p:spPr bwMode="auto">
            <a:xfrm>
              <a:off x="1392"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5</a:t>
              </a:r>
            </a:p>
          </p:txBody>
        </p:sp>
      </p:grpSp>
      <p:grpSp>
        <p:nvGrpSpPr>
          <p:cNvPr id="3" name="Group 24">
            <a:extLst>
              <a:ext uri="{FF2B5EF4-FFF2-40B4-BE49-F238E27FC236}">
                <a16:creationId xmlns:a16="http://schemas.microsoft.com/office/drawing/2014/main" id="{61FB1BAE-D2F0-1A21-2BFC-C6C655C20C80}"/>
              </a:ext>
            </a:extLst>
          </p:cNvPr>
          <p:cNvGrpSpPr>
            <a:grpSpLocks/>
          </p:cNvGrpSpPr>
          <p:nvPr/>
        </p:nvGrpSpPr>
        <p:grpSpPr bwMode="auto">
          <a:xfrm>
            <a:off x="2971800" y="3657600"/>
            <a:ext cx="2133600" cy="533400"/>
            <a:chOff x="1536" y="2448"/>
            <a:chExt cx="1344" cy="336"/>
          </a:xfrm>
        </p:grpSpPr>
        <p:sp>
          <p:nvSpPr>
            <p:cNvPr id="6153" name="Line 18">
              <a:extLst>
                <a:ext uri="{FF2B5EF4-FFF2-40B4-BE49-F238E27FC236}">
                  <a16:creationId xmlns:a16="http://schemas.microsoft.com/office/drawing/2014/main" id="{88017AD4-F10E-CB7D-E2C9-99483FD3A159}"/>
                </a:ext>
              </a:extLst>
            </p:cNvPr>
            <p:cNvSpPr>
              <a:spLocks noChangeShapeType="1"/>
            </p:cNvSpPr>
            <p:nvPr/>
          </p:nvSpPr>
          <p:spPr bwMode="auto">
            <a:xfrm>
              <a:off x="1536" y="2448"/>
              <a:ext cx="3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4" name="Line 21">
              <a:extLst>
                <a:ext uri="{FF2B5EF4-FFF2-40B4-BE49-F238E27FC236}">
                  <a16:creationId xmlns:a16="http://schemas.microsoft.com/office/drawing/2014/main" id="{7ED8683D-D0A5-7251-BB86-804126AEDCF3}"/>
                </a:ext>
              </a:extLst>
            </p:cNvPr>
            <p:cNvSpPr>
              <a:spLocks noChangeShapeType="1"/>
            </p:cNvSpPr>
            <p:nvPr/>
          </p:nvSpPr>
          <p:spPr bwMode="auto">
            <a:xfrm>
              <a:off x="1536" y="2448"/>
              <a:ext cx="672"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5" name="Line 22">
              <a:extLst>
                <a:ext uri="{FF2B5EF4-FFF2-40B4-BE49-F238E27FC236}">
                  <a16:creationId xmlns:a16="http://schemas.microsoft.com/office/drawing/2014/main" id="{8B19DE8C-B4B5-DC0A-BF90-D9929524E02B}"/>
                </a:ext>
              </a:extLst>
            </p:cNvPr>
            <p:cNvSpPr>
              <a:spLocks noChangeShapeType="1"/>
            </p:cNvSpPr>
            <p:nvPr/>
          </p:nvSpPr>
          <p:spPr bwMode="auto">
            <a:xfrm>
              <a:off x="2016" y="2448"/>
              <a:ext cx="192"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6" name="Line 23">
              <a:extLst>
                <a:ext uri="{FF2B5EF4-FFF2-40B4-BE49-F238E27FC236}">
                  <a16:creationId xmlns:a16="http://schemas.microsoft.com/office/drawing/2014/main" id="{E3BCB0D6-05C6-08A1-4CE6-07D3C431E9AE}"/>
                </a:ext>
              </a:extLst>
            </p:cNvPr>
            <p:cNvSpPr>
              <a:spLocks noChangeShapeType="1"/>
            </p:cNvSpPr>
            <p:nvPr/>
          </p:nvSpPr>
          <p:spPr bwMode="auto">
            <a:xfrm>
              <a:off x="2016" y="2448"/>
              <a:ext cx="864"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00729" name="Text Box 25">
            <a:extLst>
              <a:ext uri="{FF2B5EF4-FFF2-40B4-BE49-F238E27FC236}">
                <a16:creationId xmlns:a16="http://schemas.microsoft.com/office/drawing/2014/main" id="{8C9C2DC6-F2FF-326F-0CF4-533D815657F1}"/>
              </a:ext>
            </a:extLst>
          </p:cNvPr>
          <p:cNvSpPr txBox="1">
            <a:spLocks noChangeArrowheads="1"/>
          </p:cNvSpPr>
          <p:nvPr/>
        </p:nvSpPr>
        <p:spPr bwMode="auto">
          <a:xfrm>
            <a:off x="457200" y="4495800"/>
            <a:ext cx="7940675"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buFontTx/>
              <a:buChar char="•"/>
            </a:pPr>
            <a:r>
              <a:rPr lang="en-US" altLang="en-US" sz="3400"/>
              <a:t>  </a:t>
            </a:r>
            <a:r>
              <a:rPr lang="en-US" altLang="en-US" sz="3200"/>
              <a:t>A </a:t>
            </a:r>
            <a:r>
              <a:rPr lang="en-US" altLang="en-US" sz="3200" u="sng"/>
              <a:t>path</a:t>
            </a:r>
            <a:r>
              <a:rPr lang="en-US" altLang="en-US" sz="3200"/>
              <a:t> is a set of edges which connect two vertices (often through other vertices)  </a:t>
            </a:r>
          </a:p>
          <a:p>
            <a:pPr>
              <a:buFontTx/>
              <a:buChar char="•"/>
            </a:pPr>
            <a:r>
              <a:rPr lang="en-US" altLang="en-US" sz="3200"/>
              <a:t>  A </a:t>
            </a:r>
            <a:r>
              <a:rPr lang="en-US" altLang="en-US" sz="3200" u="sng"/>
              <a:t>connected</a:t>
            </a:r>
            <a:r>
              <a:rPr lang="en-US" altLang="en-US" sz="3200"/>
              <a:t> graph contains a path between all vertices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0709">
                                            <p:txEl>
                                              <p:pRg st="0" end="0"/>
                                            </p:txEl>
                                          </p:spTgt>
                                        </p:tgtEl>
                                        <p:attrNameLst>
                                          <p:attrName>style.visibility</p:attrName>
                                        </p:attrNameLst>
                                      </p:cBhvr>
                                      <p:to>
                                        <p:strVal val="visible"/>
                                      </p:to>
                                    </p:set>
                                    <p:anim calcmode="lin" valueType="num">
                                      <p:cBhvr additive="base">
                                        <p:cTn id="7" dur="500" fill="hold"/>
                                        <p:tgtEl>
                                          <p:spTgt spid="20070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07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00729">
                                            <p:txEl>
                                              <p:pRg st="0" end="0"/>
                                            </p:txEl>
                                          </p:spTgt>
                                        </p:tgtEl>
                                        <p:attrNameLst>
                                          <p:attrName>style.visibility</p:attrName>
                                        </p:attrNameLst>
                                      </p:cBhvr>
                                      <p:to>
                                        <p:strVal val="visible"/>
                                      </p:to>
                                    </p:set>
                                    <p:anim calcmode="lin" valueType="num">
                                      <p:cBhvr additive="base">
                                        <p:cTn id="25" dur="500" fill="hold"/>
                                        <p:tgtEl>
                                          <p:spTgt spid="200729">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072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00729">
                                            <p:txEl>
                                              <p:pRg st="1" end="1"/>
                                            </p:txEl>
                                          </p:spTgt>
                                        </p:tgtEl>
                                        <p:attrNameLst>
                                          <p:attrName>style.visibility</p:attrName>
                                        </p:attrNameLst>
                                      </p:cBhvr>
                                      <p:to>
                                        <p:strVal val="visible"/>
                                      </p:to>
                                    </p:set>
                                    <p:anim calcmode="lin" valueType="num">
                                      <p:cBhvr additive="base">
                                        <p:cTn id="31" dur="500" fill="hold"/>
                                        <p:tgtEl>
                                          <p:spTgt spid="200729">
                                            <p:txEl>
                                              <p:pRg st="1" end="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072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9" grpId="0" build="p" bldLvl="2" autoUpdateAnimBg="0"/>
      <p:bldP spid="200729" grpId="0" build="p"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5405A70-99F7-A28E-D887-65ADAFC7695E}"/>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Adjacency</a:t>
            </a:r>
          </a:p>
        </p:txBody>
      </p:sp>
      <p:sp>
        <p:nvSpPr>
          <p:cNvPr id="7171" name="Rectangle 3">
            <a:extLst>
              <a:ext uri="{FF2B5EF4-FFF2-40B4-BE49-F238E27FC236}">
                <a16:creationId xmlns:a16="http://schemas.microsoft.com/office/drawing/2014/main" id="{FE124D01-BB69-CE79-7B47-65DD75274678}"/>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7172" name="Rectangle 4">
            <a:extLst>
              <a:ext uri="{FF2B5EF4-FFF2-40B4-BE49-F238E27FC236}">
                <a16:creationId xmlns:a16="http://schemas.microsoft.com/office/drawing/2014/main" id="{53310AEB-7DAD-E733-462F-D11C4D81C57B}"/>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400" dirty="0"/>
              <a:t>CPE 778, Lect. 31</a:t>
            </a:r>
          </a:p>
        </p:txBody>
      </p:sp>
      <p:sp>
        <p:nvSpPr>
          <p:cNvPr id="209925" name="Text Box 5">
            <a:extLst>
              <a:ext uri="{FF2B5EF4-FFF2-40B4-BE49-F238E27FC236}">
                <a16:creationId xmlns:a16="http://schemas.microsoft.com/office/drawing/2014/main" id="{E7B3C270-2630-0BDC-2C28-D15A1366648B}"/>
              </a:ext>
            </a:extLst>
          </p:cNvPr>
          <p:cNvSpPr txBox="1">
            <a:spLocks noChangeArrowheads="1"/>
          </p:cNvSpPr>
          <p:nvPr/>
        </p:nvSpPr>
        <p:spPr bwMode="auto">
          <a:xfrm>
            <a:off x="495300" y="1143000"/>
            <a:ext cx="8153400"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lnSpc>
                <a:spcPct val="90000"/>
              </a:lnSpc>
              <a:buFontTx/>
              <a:buChar char="•"/>
            </a:pPr>
            <a:r>
              <a:rPr lang="en-US" altLang="en-US" sz="3200"/>
              <a:t>Two vertices are said to be </a:t>
            </a:r>
            <a:r>
              <a:rPr lang="en-US" altLang="en-US" sz="3200" u="sng"/>
              <a:t>adjacent</a:t>
            </a:r>
            <a:r>
              <a:rPr lang="en-US" altLang="en-US" sz="3200"/>
              <a:t> or </a:t>
            </a:r>
            <a:r>
              <a:rPr lang="en-US" altLang="en-US" sz="3200" u="sng"/>
              <a:t>incident</a:t>
            </a:r>
            <a:r>
              <a:rPr lang="en-US" altLang="en-US" sz="3200"/>
              <a:t> if they are directly connected by an edge</a:t>
            </a:r>
            <a:endParaRPr lang="en-US" altLang="en-US" sz="3200" u="sng"/>
          </a:p>
        </p:txBody>
      </p:sp>
      <p:grpSp>
        <p:nvGrpSpPr>
          <p:cNvPr id="2" name="Group 23">
            <a:extLst>
              <a:ext uri="{FF2B5EF4-FFF2-40B4-BE49-F238E27FC236}">
                <a16:creationId xmlns:a16="http://schemas.microsoft.com/office/drawing/2014/main" id="{A79B0587-B886-E64E-C7D2-A1B6BE5E3B23}"/>
              </a:ext>
            </a:extLst>
          </p:cNvPr>
          <p:cNvGrpSpPr>
            <a:grpSpLocks/>
          </p:cNvGrpSpPr>
          <p:nvPr/>
        </p:nvGrpSpPr>
        <p:grpSpPr bwMode="auto">
          <a:xfrm>
            <a:off x="4419600" y="3962400"/>
            <a:ext cx="2660650" cy="1281113"/>
            <a:chOff x="1728" y="2160"/>
            <a:chExt cx="1676" cy="807"/>
          </a:xfrm>
        </p:grpSpPr>
        <p:grpSp>
          <p:nvGrpSpPr>
            <p:cNvPr id="7177" name="Group 6">
              <a:extLst>
                <a:ext uri="{FF2B5EF4-FFF2-40B4-BE49-F238E27FC236}">
                  <a16:creationId xmlns:a16="http://schemas.microsoft.com/office/drawing/2014/main" id="{C6E0A116-28DD-F5AC-4828-97A225FF615C}"/>
                </a:ext>
              </a:extLst>
            </p:cNvPr>
            <p:cNvGrpSpPr>
              <a:grpSpLocks/>
            </p:cNvGrpSpPr>
            <p:nvPr/>
          </p:nvGrpSpPr>
          <p:grpSpPr bwMode="auto">
            <a:xfrm>
              <a:off x="1728" y="2160"/>
              <a:ext cx="1676" cy="807"/>
              <a:chOff x="1392" y="2304"/>
              <a:chExt cx="1676" cy="807"/>
            </a:xfrm>
          </p:grpSpPr>
          <p:sp>
            <p:nvSpPr>
              <p:cNvPr id="7183" name="Oval 7">
                <a:extLst>
                  <a:ext uri="{FF2B5EF4-FFF2-40B4-BE49-F238E27FC236}">
                    <a16:creationId xmlns:a16="http://schemas.microsoft.com/office/drawing/2014/main" id="{A57708CD-9D3F-4594-1755-5ABE566DB58E}"/>
                  </a:ext>
                </a:extLst>
              </p:cNvPr>
              <p:cNvSpPr>
                <a:spLocks noChangeArrowheads="1"/>
              </p:cNvSpPr>
              <p:nvPr/>
            </p:nvSpPr>
            <p:spPr bwMode="auto">
              <a:xfrm>
                <a:off x="1392" y="2352"/>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7184" name="Oval 8">
                <a:extLst>
                  <a:ext uri="{FF2B5EF4-FFF2-40B4-BE49-F238E27FC236}">
                    <a16:creationId xmlns:a16="http://schemas.microsoft.com/office/drawing/2014/main" id="{938E181A-FBDF-5A9D-690A-43CC06AB5F50}"/>
                  </a:ext>
                </a:extLst>
              </p:cNvPr>
              <p:cNvSpPr>
                <a:spLocks noChangeArrowheads="1"/>
              </p:cNvSpPr>
              <p:nvPr/>
            </p:nvSpPr>
            <p:spPr bwMode="auto">
              <a:xfrm>
                <a:off x="1872" y="2400"/>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7185" name="Oval 9">
                <a:extLst>
                  <a:ext uri="{FF2B5EF4-FFF2-40B4-BE49-F238E27FC236}">
                    <a16:creationId xmlns:a16="http://schemas.microsoft.com/office/drawing/2014/main" id="{562FE01C-7878-EDB6-F5E8-34717AA7A2AC}"/>
                  </a:ext>
                </a:extLst>
              </p:cNvPr>
              <p:cNvSpPr>
                <a:spLocks noChangeArrowheads="1"/>
              </p:cNvSpPr>
              <p:nvPr/>
            </p:nvSpPr>
            <p:spPr bwMode="auto">
              <a:xfrm>
                <a:off x="2208" y="2736"/>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7186" name="Oval 10">
                <a:extLst>
                  <a:ext uri="{FF2B5EF4-FFF2-40B4-BE49-F238E27FC236}">
                    <a16:creationId xmlns:a16="http://schemas.microsoft.com/office/drawing/2014/main" id="{15F6BB6C-1E06-A472-25DA-60D8BFD1118C}"/>
                  </a:ext>
                </a:extLst>
              </p:cNvPr>
              <p:cNvSpPr>
                <a:spLocks noChangeArrowheads="1"/>
              </p:cNvSpPr>
              <p:nvPr/>
            </p:nvSpPr>
            <p:spPr bwMode="auto">
              <a:xfrm>
                <a:off x="2880" y="2544"/>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7187" name="Oval 11">
                <a:extLst>
                  <a:ext uri="{FF2B5EF4-FFF2-40B4-BE49-F238E27FC236}">
                    <a16:creationId xmlns:a16="http://schemas.microsoft.com/office/drawing/2014/main" id="{3F3F31AE-6A31-F8AA-9550-D720D5ECF8DD}"/>
                  </a:ext>
                </a:extLst>
              </p:cNvPr>
              <p:cNvSpPr>
                <a:spLocks noChangeArrowheads="1"/>
              </p:cNvSpPr>
              <p:nvPr/>
            </p:nvSpPr>
            <p:spPr bwMode="auto">
              <a:xfrm>
                <a:off x="1392" y="2928"/>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7188" name="Text Box 12">
                <a:extLst>
                  <a:ext uri="{FF2B5EF4-FFF2-40B4-BE49-F238E27FC236}">
                    <a16:creationId xmlns:a16="http://schemas.microsoft.com/office/drawing/2014/main" id="{5D70F02E-FB9C-B06A-2FEB-18B873B713F3}"/>
                  </a:ext>
                </a:extLst>
              </p:cNvPr>
              <p:cNvSpPr txBox="1">
                <a:spLocks noChangeArrowheads="1"/>
              </p:cNvSpPr>
              <p:nvPr/>
            </p:nvSpPr>
            <p:spPr bwMode="auto">
              <a:xfrm>
                <a:off x="1392" y="230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1</a:t>
                </a:r>
              </a:p>
            </p:txBody>
          </p:sp>
          <p:sp>
            <p:nvSpPr>
              <p:cNvPr id="7189" name="Text Box 13">
                <a:extLst>
                  <a:ext uri="{FF2B5EF4-FFF2-40B4-BE49-F238E27FC236}">
                    <a16:creationId xmlns:a16="http://schemas.microsoft.com/office/drawing/2014/main" id="{C5A5DE3C-1440-963D-150B-934ECDEAA8B6}"/>
                  </a:ext>
                </a:extLst>
              </p:cNvPr>
              <p:cNvSpPr txBox="1">
                <a:spLocks noChangeArrowheads="1"/>
              </p:cNvSpPr>
              <p:nvPr/>
            </p:nvSpPr>
            <p:spPr bwMode="auto">
              <a:xfrm>
                <a:off x="1872" y="235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2</a:t>
                </a:r>
              </a:p>
            </p:txBody>
          </p:sp>
          <p:sp>
            <p:nvSpPr>
              <p:cNvPr id="7190" name="Text Box 14">
                <a:extLst>
                  <a:ext uri="{FF2B5EF4-FFF2-40B4-BE49-F238E27FC236}">
                    <a16:creationId xmlns:a16="http://schemas.microsoft.com/office/drawing/2014/main" id="{1C0248C1-76BB-3C0C-A97A-36ABD1A30E63}"/>
                  </a:ext>
                </a:extLst>
              </p:cNvPr>
              <p:cNvSpPr txBox="1">
                <a:spLocks noChangeArrowheads="1"/>
              </p:cNvSpPr>
              <p:nvPr/>
            </p:nvSpPr>
            <p:spPr bwMode="auto">
              <a:xfrm>
                <a:off x="2208" y="268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3</a:t>
                </a:r>
              </a:p>
            </p:txBody>
          </p:sp>
          <p:sp>
            <p:nvSpPr>
              <p:cNvPr id="7191" name="Text Box 15">
                <a:extLst>
                  <a:ext uri="{FF2B5EF4-FFF2-40B4-BE49-F238E27FC236}">
                    <a16:creationId xmlns:a16="http://schemas.microsoft.com/office/drawing/2014/main" id="{2E1B8206-2C32-D210-7CC3-C3163762521C}"/>
                  </a:ext>
                </a:extLst>
              </p:cNvPr>
              <p:cNvSpPr txBox="1">
                <a:spLocks noChangeArrowheads="1"/>
              </p:cNvSpPr>
              <p:nvPr/>
            </p:nvSpPr>
            <p:spPr bwMode="auto">
              <a:xfrm>
                <a:off x="2880" y="249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4</a:t>
                </a:r>
              </a:p>
            </p:txBody>
          </p:sp>
          <p:sp>
            <p:nvSpPr>
              <p:cNvPr id="7192" name="Text Box 16">
                <a:extLst>
                  <a:ext uri="{FF2B5EF4-FFF2-40B4-BE49-F238E27FC236}">
                    <a16:creationId xmlns:a16="http://schemas.microsoft.com/office/drawing/2014/main" id="{3A5608F5-231A-1D6A-5EBC-B543833FBDB5}"/>
                  </a:ext>
                </a:extLst>
              </p:cNvPr>
              <p:cNvSpPr txBox="1">
                <a:spLocks noChangeArrowheads="1"/>
              </p:cNvSpPr>
              <p:nvPr/>
            </p:nvSpPr>
            <p:spPr bwMode="auto">
              <a:xfrm>
                <a:off x="1392"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5</a:t>
                </a:r>
              </a:p>
            </p:txBody>
          </p:sp>
        </p:grpSp>
        <p:grpSp>
          <p:nvGrpSpPr>
            <p:cNvPr id="7178" name="Group 17">
              <a:extLst>
                <a:ext uri="{FF2B5EF4-FFF2-40B4-BE49-F238E27FC236}">
                  <a16:creationId xmlns:a16="http://schemas.microsoft.com/office/drawing/2014/main" id="{8B2B4DBE-3EBA-4B1E-67DC-4762CE28D267}"/>
                </a:ext>
              </a:extLst>
            </p:cNvPr>
            <p:cNvGrpSpPr>
              <a:grpSpLocks/>
            </p:cNvGrpSpPr>
            <p:nvPr/>
          </p:nvGrpSpPr>
          <p:grpSpPr bwMode="auto">
            <a:xfrm>
              <a:off x="1872" y="2304"/>
              <a:ext cx="1344" cy="336"/>
              <a:chOff x="1536" y="2448"/>
              <a:chExt cx="1344" cy="336"/>
            </a:xfrm>
          </p:grpSpPr>
          <p:sp>
            <p:nvSpPr>
              <p:cNvPr id="7179" name="Line 18">
                <a:extLst>
                  <a:ext uri="{FF2B5EF4-FFF2-40B4-BE49-F238E27FC236}">
                    <a16:creationId xmlns:a16="http://schemas.microsoft.com/office/drawing/2014/main" id="{6806205F-39D6-FCA7-89BD-42F5ABA67ACB}"/>
                  </a:ext>
                </a:extLst>
              </p:cNvPr>
              <p:cNvSpPr>
                <a:spLocks noChangeShapeType="1"/>
              </p:cNvSpPr>
              <p:nvPr/>
            </p:nvSpPr>
            <p:spPr bwMode="auto">
              <a:xfrm>
                <a:off x="1536" y="2448"/>
                <a:ext cx="3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80" name="Line 19">
                <a:extLst>
                  <a:ext uri="{FF2B5EF4-FFF2-40B4-BE49-F238E27FC236}">
                    <a16:creationId xmlns:a16="http://schemas.microsoft.com/office/drawing/2014/main" id="{8AAB4D4D-76DC-0420-B1B3-83C79D15A409}"/>
                  </a:ext>
                </a:extLst>
              </p:cNvPr>
              <p:cNvSpPr>
                <a:spLocks noChangeShapeType="1"/>
              </p:cNvSpPr>
              <p:nvPr/>
            </p:nvSpPr>
            <p:spPr bwMode="auto">
              <a:xfrm>
                <a:off x="1536" y="2448"/>
                <a:ext cx="672"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81" name="Line 20">
                <a:extLst>
                  <a:ext uri="{FF2B5EF4-FFF2-40B4-BE49-F238E27FC236}">
                    <a16:creationId xmlns:a16="http://schemas.microsoft.com/office/drawing/2014/main" id="{82C59ADE-86BB-5FD7-9FD2-874EEEC5D905}"/>
                  </a:ext>
                </a:extLst>
              </p:cNvPr>
              <p:cNvSpPr>
                <a:spLocks noChangeShapeType="1"/>
              </p:cNvSpPr>
              <p:nvPr/>
            </p:nvSpPr>
            <p:spPr bwMode="auto">
              <a:xfrm>
                <a:off x="2016" y="2448"/>
                <a:ext cx="192"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82" name="Line 21">
                <a:extLst>
                  <a:ext uri="{FF2B5EF4-FFF2-40B4-BE49-F238E27FC236}">
                    <a16:creationId xmlns:a16="http://schemas.microsoft.com/office/drawing/2014/main" id="{89EA7989-B983-100B-197A-EFF1C16B9A1F}"/>
                  </a:ext>
                </a:extLst>
              </p:cNvPr>
              <p:cNvSpPr>
                <a:spLocks noChangeShapeType="1"/>
              </p:cNvSpPr>
              <p:nvPr/>
            </p:nvSpPr>
            <p:spPr bwMode="auto">
              <a:xfrm>
                <a:off x="2016" y="2448"/>
                <a:ext cx="864"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09942" name="Text Box 22">
            <a:extLst>
              <a:ext uri="{FF2B5EF4-FFF2-40B4-BE49-F238E27FC236}">
                <a16:creationId xmlns:a16="http://schemas.microsoft.com/office/drawing/2014/main" id="{6367BCC2-1FD7-F2AD-241A-08D3E9ADF24C}"/>
              </a:ext>
            </a:extLst>
          </p:cNvPr>
          <p:cNvSpPr txBox="1">
            <a:spLocks noChangeArrowheads="1"/>
          </p:cNvSpPr>
          <p:nvPr/>
        </p:nvSpPr>
        <p:spPr bwMode="auto">
          <a:xfrm>
            <a:off x="457200" y="2514600"/>
            <a:ext cx="7940675"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lnSpc>
                <a:spcPct val="90000"/>
              </a:lnSpc>
              <a:buFontTx/>
              <a:buChar char="•"/>
            </a:pPr>
            <a:r>
              <a:rPr lang="en-US" altLang="en-US" sz="3400"/>
              <a:t>   </a:t>
            </a:r>
            <a:r>
              <a:rPr lang="en-US" altLang="en-US" sz="3200"/>
              <a:t>To represent a graph algebraically, we can use a binary variable:  </a:t>
            </a:r>
            <a:r>
              <a:rPr lang="en-US" altLang="en-US" sz="3200" i="1"/>
              <a:t>a</a:t>
            </a:r>
            <a:r>
              <a:rPr lang="en-US" altLang="en-US" sz="3200"/>
              <a:t>(</a:t>
            </a:r>
            <a:r>
              <a:rPr lang="en-US" altLang="en-US" sz="3200" i="1"/>
              <a:t>i,j</a:t>
            </a:r>
            <a:r>
              <a:rPr lang="en-US" altLang="en-US" sz="3200"/>
              <a:t>)=1 if vertices </a:t>
            </a:r>
            <a:r>
              <a:rPr lang="en-US" altLang="en-US" sz="3200" i="1"/>
              <a:t>i</a:t>
            </a:r>
            <a:r>
              <a:rPr lang="en-US" altLang="en-US" sz="3200"/>
              <a:t> and</a:t>
            </a:r>
            <a:r>
              <a:rPr lang="en-US" altLang="en-US" sz="3200" i="1"/>
              <a:t> j</a:t>
            </a:r>
            <a:r>
              <a:rPr lang="en-US" altLang="en-US" sz="3200"/>
              <a:t> are adjacent, 0 otherwise</a:t>
            </a:r>
          </a:p>
        </p:txBody>
      </p:sp>
      <p:sp>
        <p:nvSpPr>
          <p:cNvPr id="209944" name="Text Box 24">
            <a:extLst>
              <a:ext uri="{FF2B5EF4-FFF2-40B4-BE49-F238E27FC236}">
                <a16:creationId xmlns:a16="http://schemas.microsoft.com/office/drawing/2014/main" id="{B55A90A8-099C-D474-025A-406D84C3CBA2}"/>
              </a:ext>
            </a:extLst>
          </p:cNvPr>
          <p:cNvSpPr txBox="1">
            <a:spLocks noChangeArrowheads="1"/>
          </p:cNvSpPr>
          <p:nvPr/>
        </p:nvSpPr>
        <p:spPr bwMode="auto">
          <a:xfrm>
            <a:off x="457200" y="5181600"/>
            <a:ext cx="62198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buFontTx/>
              <a:buChar char="•"/>
            </a:pPr>
            <a:r>
              <a:rPr lang="en-US" altLang="en-US" sz="3200"/>
              <a:t>  Thus for this graph, we have</a:t>
            </a:r>
          </a:p>
          <a:p>
            <a:r>
              <a:rPr lang="en-US" altLang="en-US" sz="3200"/>
              <a:t>	</a:t>
            </a:r>
            <a:r>
              <a:rPr lang="en-US" altLang="en-US" sz="3200" i="1"/>
              <a:t>a</a:t>
            </a:r>
            <a:r>
              <a:rPr lang="en-US" altLang="en-US" sz="3200"/>
              <a:t>(1,2)=</a:t>
            </a:r>
            <a:r>
              <a:rPr lang="en-US" altLang="en-US" sz="3200" i="1"/>
              <a:t>a</a:t>
            </a:r>
            <a:r>
              <a:rPr lang="en-US" altLang="en-US" sz="3200"/>
              <a:t>(2,4)=</a:t>
            </a:r>
            <a:r>
              <a:rPr lang="en-US" altLang="en-US" sz="3200" i="1"/>
              <a:t>a</a:t>
            </a:r>
            <a:r>
              <a:rPr lang="en-US" altLang="en-US" sz="3200"/>
              <a:t>(2,3)=a(1,3)=1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9925">
                                            <p:txEl>
                                              <p:pRg st="0" end="0"/>
                                            </p:txEl>
                                          </p:spTgt>
                                        </p:tgtEl>
                                        <p:attrNameLst>
                                          <p:attrName>style.visibility</p:attrName>
                                        </p:attrNameLst>
                                      </p:cBhvr>
                                      <p:to>
                                        <p:strVal val="visible"/>
                                      </p:to>
                                    </p:set>
                                    <p:anim calcmode="lin" valueType="num">
                                      <p:cBhvr additive="base">
                                        <p:cTn id="7" dur="500" fill="hold"/>
                                        <p:tgtEl>
                                          <p:spTgt spid="20992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992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9942"/>
                                        </p:tgtEl>
                                        <p:attrNameLst>
                                          <p:attrName>style.visibility</p:attrName>
                                        </p:attrNameLst>
                                      </p:cBhvr>
                                      <p:to>
                                        <p:strVal val="visible"/>
                                      </p:to>
                                    </p:set>
                                    <p:anim calcmode="lin" valueType="num">
                                      <p:cBhvr additive="base">
                                        <p:cTn id="13" dur="500" fill="hold"/>
                                        <p:tgtEl>
                                          <p:spTgt spid="209942"/>
                                        </p:tgtEl>
                                        <p:attrNameLst>
                                          <p:attrName>ppt_x</p:attrName>
                                        </p:attrNameLst>
                                      </p:cBhvr>
                                      <p:tavLst>
                                        <p:tav tm="0">
                                          <p:val>
                                            <p:strVal val="0-#ppt_w/2"/>
                                          </p:val>
                                        </p:tav>
                                        <p:tav tm="100000">
                                          <p:val>
                                            <p:strVal val="#ppt_x"/>
                                          </p:val>
                                        </p:tav>
                                      </p:tavLst>
                                    </p:anim>
                                    <p:anim calcmode="lin" valueType="num">
                                      <p:cBhvr additive="base">
                                        <p:cTn id="14" dur="500" fill="hold"/>
                                        <p:tgtEl>
                                          <p:spTgt spid="20994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09944">
                                            <p:txEl>
                                              <p:pRg st="0" end="0"/>
                                            </p:txEl>
                                          </p:spTgt>
                                        </p:tgtEl>
                                        <p:attrNameLst>
                                          <p:attrName>style.visibility</p:attrName>
                                        </p:attrNameLst>
                                      </p:cBhvr>
                                      <p:to>
                                        <p:strVal val="visible"/>
                                      </p:to>
                                    </p:set>
                                    <p:anim calcmode="lin" valueType="num">
                                      <p:cBhvr additive="base">
                                        <p:cTn id="25" dur="500" fill="hold"/>
                                        <p:tgtEl>
                                          <p:spTgt spid="209944">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994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09944">
                                            <p:txEl>
                                              <p:pRg st="1" end="1"/>
                                            </p:txEl>
                                          </p:spTgt>
                                        </p:tgtEl>
                                        <p:attrNameLst>
                                          <p:attrName>style.visibility</p:attrName>
                                        </p:attrNameLst>
                                      </p:cBhvr>
                                      <p:to>
                                        <p:strVal val="visible"/>
                                      </p:to>
                                    </p:set>
                                    <p:anim calcmode="lin" valueType="num">
                                      <p:cBhvr additive="base">
                                        <p:cTn id="31" dur="500" fill="hold"/>
                                        <p:tgtEl>
                                          <p:spTgt spid="209944">
                                            <p:txEl>
                                              <p:pRg st="1" end="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994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5" grpId="0" build="p" bldLvl="2" autoUpdateAnimBg="0"/>
      <p:bldP spid="209942" grpId="0" autoUpdateAnimBg="0"/>
      <p:bldP spid="209944" grpId="0" build="p"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623E5AB-2DEC-3EE6-3313-950B21785D9E}"/>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Adjacency Matrix</a:t>
            </a:r>
          </a:p>
        </p:txBody>
      </p:sp>
      <p:sp>
        <p:nvSpPr>
          <p:cNvPr id="8195" name="Rectangle 3">
            <a:extLst>
              <a:ext uri="{FF2B5EF4-FFF2-40B4-BE49-F238E27FC236}">
                <a16:creationId xmlns:a16="http://schemas.microsoft.com/office/drawing/2014/main" id="{BD3A2E64-CD73-9D06-8FF0-77876691C01E}"/>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8196" name="Rectangle 4">
            <a:extLst>
              <a:ext uri="{FF2B5EF4-FFF2-40B4-BE49-F238E27FC236}">
                <a16:creationId xmlns:a16="http://schemas.microsoft.com/office/drawing/2014/main" id="{D19AE6DA-406D-FC88-3E11-CC7E18005D15}"/>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400" dirty="0"/>
              <a:t>CPE 778, Lect. 31</a:t>
            </a:r>
          </a:p>
        </p:txBody>
      </p:sp>
      <p:sp>
        <p:nvSpPr>
          <p:cNvPr id="202757" name="Text Box 5">
            <a:extLst>
              <a:ext uri="{FF2B5EF4-FFF2-40B4-BE49-F238E27FC236}">
                <a16:creationId xmlns:a16="http://schemas.microsoft.com/office/drawing/2014/main" id="{594759BF-C92B-B6E8-A2C8-48D756336B3F}"/>
              </a:ext>
            </a:extLst>
          </p:cNvPr>
          <p:cNvSpPr txBox="1">
            <a:spLocks noChangeArrowheads="1"/>
          </p:cNvSpPr>
          <p:nvPr/>
        </p:nvSpPr>
        <p:spPr bwMode="auto">
          <a:xfrm>
            <a:off x="381000" y="1295400"/>
            <a:ext cx="83820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lnSpc>
                <a:spcPct val="90000"/>
              </a:lnSpc>
              <a:buFontTx/>
              <a:buChar char="•"/>
            </a:pPr>
            <a:r>
              <a:rPr lang="en-US" altLang="en-US" sz="3200"/>
              <a:t>If we put all these binary variables together, we get an adjacency matrix:</a:t>
            </a:r>
          </a:p>
        </p:txBody>
      </p:sp>
      <p:grpSp>
        <p:nvGrpSpPr>
          <p:cNvPr id="2" name="Group 43">
            <a:extLst>
              <a:ext uri="{FF2B5EF4-FFF2-40B4-BE49-F238E27FC236}">
                <a16:creationId xmlns:a16="http://schemas.microsoft.com/office/drawing/2014/main" id="{73592AF1-2CEB-A31A-69EB-AC528D4FD91C}"/>
              </a:ext>
            </a:extLst>
          </p:cNvPr>
          <p:cNvGrpSpPr>
            <a:grpSpLocks/>
          </p:cNvGrpSpPr>
          <p:nvPr/>
        </p:nvGrpSpPr>
        <p:grpSpPr bwMode="auto">
          <a:xfrm>
            <a:off x="609600" y="3124200"/>
            <a:ext cx="2660650" cy="1281113"/>
            <a:chOff x="1728" y="2160"/>
            <a:chExt cx="1676" cy="807"/>
          </a:xfrm>
        </p:grpSpPr>
        <p:grpSp>
          <p:nvGrpSpPr>
            <p:cNvPr id="8201" name="Group 44">
              <a:extLst>
                <a:ext uri="{FF2B5EF4-FFF2-40B4-BE49-F238E27FC236}">
                  <a16:creationId xmlns:a16="http://schemas.microsoft.com/office/drawing/2014/main" id="{2AC23C4A-55EE-6652-312B-1C7CE7FD6497}"/>
                </a:ext>
              </a:extLst>
            </p:cNvPr>
            <p:cNvGrpSpPr>
              <a:grpSpLocks/>
            </p:cNvGrpSpPr>
            <p:nvPr/>
          </p:nvGrpSpPr>
          <p:grpSpPr bwMode="auto">
            <a:xfrm>
              <a:off x="1728" y="2160"/>
              <a:ext cx="1676" cy="807"/>
              <a:chOff x="1392" y="2304"/>
              <a:chExt cx="1676" cy="807"/>
            </a:xfrm>
          </p:grpSpPr>
          <p:sp>
            <p:nvSpPr>
              <p:cNvPr id="8207" name="Oval 45">
                <a:extLst>
                  <a:ext uri="{FF2B5EF4-FFF2-40B4-BE49-F238E27FC236}">
                    <a16:creationId xmlns:a16="http://schemas.microsoft.com/office/drawing/2014/main" id="{F5821640-16EB-010A-AC58-AF0CBE29F92F}"/>
                  </a:ext>
                </a:extLst>
              </p:cNvPr>
              <p:cNvSpPr>
                <a:spLocks noChangeArrowheads="1"/>
              </p:cNvSpPr>
              <p:nvPr/>
            </p:nvSpPr>
            <p:spPr bwMode="auto">
              <a:xfrm>
                <a:off x="1392" y="2352"/>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8208" name="Oval 46">
                <a:extLst>
                  <a:ext uri="{FF2B5EF4-FFF2-40B4-BE49-F238E27FC236}">
                    <a16:creationId xmlns:a16="http://schemas.microsoft.com/office/drawing/2014/main" id="{A9B09F15-D4E8-1C90-D367-A35C297541B5}"/>
                  </a:ext>
                </a:extLst>
              </p:cNvPr>
              <p:cNvSpPr>
                <a:spLocks noChangeArrowheads="1"/>
              </p:cNvSpPr>
              <p:nvPr/>
            </p:nvSpPr>
            <p:spPr bwMode="auto">
              <a:xfrm>
                <a:off x="1872" y="2400"/>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8209" name="Oval 47">
                <a:extLst>
                  <a:ext uri="{FF2B5EF4-FFF2-40B4-BE49-F238E27FC236}">
                    <a16:creationId xmlns:a16="http://schemas.microsoft.com/office/drawing/2014/main" id="{C1C1C83E-78BB-8556-45A8-79D8C34B4F05}"/>
                  </a:ext>
                </a:extLst>
              </p:cNvPr>
              <p:cNvSpPr>
                <a:spLocks noChangeArrowheads="1"/>
              </p:cNvSpPr>
              <p:nvPr/>
            </p:nvSpPr>
            <p:spPr bwMode="auto">
              <a:xfrm>
                <a:off x="2208" y="2736"/>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8210" name="Oval 48">
                <a:extLst>
                  <a:ext uri="{FF2B5EF4-FFF2-40B4-BE49-F238E27FC236}">
                    <a16:creationId xmlns:a16="http://schemas.microsoft.com/office/drawing/2014/main" id="{289EC707-A224-34D3-20D6-FF0E0ECC3434}"/>
                  </a:ext>
                </a:extLst>
              </p:cNvPr>
              <p:cNvSpPr>
                <a:spLocks noChangeArrowheads="1"/>
              </p:cNvSpPr>
              <p:nvPr/>
            </p:nvSpPr>
            <p:spPr bwMode="auto">
              <a:xfrm>
                <a:off x="2880" y="2544"/>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8211" name="Oval 49">
                <a:extLst>
                  <a:ext uri="{FF2B5EF4-FFF2-40B4-BE49-F238E27FC236}">
                    <a16:creationId xmlns:a16="http://schemas.microsoft.com/office/drawing/2014/main" id="{D5C5EE91-AE15-EA98-CA34-36027FFA7F7A}"/>
                  </a:ext>
                </a:extLst>
              </p:cNvPr>
              <p:cNvSpPr>
                <a:spLocks noChangeArrowheads="1"/>
              </p:cNvSpPr>
              <p:nvPr/>
            </p:nvSpPr>
            <p:spPr bwMode="auto">
              <a:xfrm>
                <a:off x="1392" y="2928"/>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8212" name="Text Box 50">
                <a:extLst>
                  <a:ext uri="{FF2B5EF4-FFF2-40B4-BE49-F238E27FC236}">
                    <a16:creationId xmlns:a16="http://schemas.microsoft.com/office/drawing/2014/main" id="{A3A9B738-4122-6568-C658-C13424F7E51E}"/>
                  </a:ext>
                </a:extLst>
              </p:cNvPr>
              <p:cNvSpPr txBox="1">
                <a:spLocks noChangeArrowheads="1"/>
              </p:cNvSpPr>
              <p:nvPr/>
            </p:nvSpPr>
            <p:spPr bwMode="auto">
              <a:xfrm>
                <a:off x="1392" y="230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1</a:t>
                </a:r>
              </a:p>
            </p:txBody>
          </p:sp>
          <p:sp>
            <p:nvSpPr>
              <p:cNvPr id="8213" name="Text Box 51">
                <a:extLst>
                  <a:ext uri="{FF2B5EF4-FFF2-40B4-BE49-F238E27FC236}">
                    <a16:creationId xmlns:a16="http://schemas.microsoft.com/office/drawing/2014/main" id="{3696FD50-D634-2BC5-2C17-140C10F47F0D}"/>
                  </a:ext>
                </a:extLst>
              </p:cNvPr>
              <p:cNvSpPr txBox="1">
                <a:spLocks noChangeArrowheads="1"/>
              </p:cNvSpPr>
              <p:nvPr/>
            </p:nvSpPr>
            <p:spPr bwMode="auto">
              <a:xfrm>
                <a:off x="1872" y="235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2</a:t>
                </a:r>
              </a:p>
            </p:txBody>
          </p:sp>
          <p:sp>
            <p:nvSpPr>
              <p:cNvPr id="8214" name="Text Box 52">
                <a:extLst>
                  <a:ext uri="{FF2B5EF4-FFF2-40B4-BE49-F238E27FC236}">
                    <a16:creationId xmlns:a16="http://schemas.microsoft.com/office/drawing/2014/main" id="{08F0BC28-F15A-8E31-2B0C-B68996CAC0E3}"/>
                  </a:ext>
                </a:extLst>
              </p:cNvPr>
              <p:cNvSpPr txBox="1">
                <a:spLocks noChangeArrowheads="1"/>
              </p:cNvSpPr>
              <p:nvPr/>
            </p:nvSpPr>
            <p:spPr bwMode="auto">
              <a:xfrm>
                <a:off x="2208" y="268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3</a:t>
                </a:r>
              </a:p>
            </p:txBody>
          </p:sp>
          <p:sp>
            <p:nvSpPr>
              <p:cNvPr id="8215" name="Text Box 53">
                <a:extLst>
                  <a:ext uri="{FF2B5EF4-FFF2-40B4-BE49-F238E27FC236}">
                    <a16:creationId xmlns:a16="http://schemas.microsoft.com/office/drawing/2014/main" id="{810C6B88-4219-C065-8805-76BBE7982AB4}"/>
                  </a:ext>
                </a:extLst>
              </p:cNvPr>
              <p:cNvSpPr txBox="1">
                <a:spLocks noChangeArrowheads="1"/>
              </p:cNvSpPr>
              <p:nvPr/>
            </p:nvSpPr>
            <p:spPr bwMode="auto">
              <a:xfrm>
                <a:off x="2880" y="249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4</a:t>
                </a:r>
              </a:p>
            </p:txBody>
          </p:sp>
          <p:sp>
            <p:nvSpPr>
              <p:cNvPr id="8216" name="Text Box 54">
                <a:extLst>
                  <a:ext uri="{FF2B5EF4-FFF2-40B4-BE49-F238E27FC236}">
                    <a16:creationId xmlns:a16="http://schemas.microsoft.com/office/drawing/2014/main" id="{2354CECE-70E2-1BB0-7152-278377BC0C56}"/>
                  </a:ext>
                </a:extLst>
              </p:cNvPr>
              <p:cNvSpPr txBox="1">
                <a:spLocks noChangeArrowheads="1"/>
              </p:cNvSpPr>
              <p:nvPr/>
            </p:nvSpPr>
            <p:spPr bwMode="auto">
              <a:xfrm>
                <a:off x="1392" y="288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5</a:t>
                </a:r>
              </a:p>
            </p:txBody>
          </p:sp>
        </p:grpSp>
        <p:grpSp>
          <p:nvGrpSpPr>
            <p:cNvPr id="8202" name="Group 55">
              <a:extLst>
                <a:ext uri="{FF2B5EF4-FFF2-40B4-BE49-F238E27FC236}">
                  <a16:creationId xmlns:a16="http://schemas.microsoft.com/office/drawing/2014/main" id="{A9057AD5-7E34-8A3A-9779-020600E4F719}"/>
                </a:ext>
              </a:extLst>
            </p:cNvPr>
            <p:cNvGrpSpPr>
              <a:grpSpLocks/>
            </p:cNvGrpSpPr>
            <p:nvPr/>
          </p:nvGrpSpPr>
          <p:grpSpPr bwMode="auto">
            <a:xfrm>
              <a:off x="1872" y="2304"/>
              <a:ext cx="1344" cy="336"/>
              <a:chOff x="1536" y="2448"/>
              <a:chExt cx="1344" cy="336"/>
            </a:xfrm>
          </p:grpSpPr>
          <p:sp>
            <p:nvSpPr>
              <p:cNvPr id="8203" name="Line 56">
                <a:extLst>
                  <a:ext uri="{FF2B5EF4-FFF2-40B4-BE49-F238E27FC236}">
                    <a16:creationId xmlns:a16="http://schemas.microsoft.com/office/drawing/2014/main" id="{B5043EBF-8A18-997D-72F9-9E695A33E0D9}"/>
                  </a:ext>
                </a:extLst>
              </p:cNvPr>
              <p:cNvSpPr>
                <a:spLocks noChangeShapeType="1"/>
              </p:cNvSpPr>
              <p:nvPr/>
            </p:nvSpPr>
            <p:spPr bwMode="auto">
              <a:xfrm>
                <a:off x="1536" y="2448"/>
                <a:ext cx="3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 name="Line 57">
                <a:extLst>
                  <a:ext uri="{FF2B5EF4-FFF2-40B4-BE49-F238E27FC236}">
                    <a16:creationId xmlns:a16="http://schemas.microsoft.com/office/drawing/2014/main" id="{5D49B993-9688-A16E-747C-CA469C901587}"/>
                  </a:ext>
                </a:extLst>
              </p:cNvPr>
              <p:cNvSpPr>
                <a:spLocks noChangeShapeType="1"/>
              </p:cNvSpPr>
              <p:nvPr/>
            </p:nvSpPr>
            <p:spPr bwMode="auto">
              <a:xfrm>
                <a:off x="1536" y="2448"/>
                <a:ext cx="672"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5" name="Line 58">
                <a:extLst>
                  <a:ext uri="{FF2B5EF4-FFF2-40B4-BE49-F238E27FC236}">
                    <a16:creationId xmlns:a16="http://schemas.microsoft.com/office/drawing/2014/main" id="{C856A132-9EBD-F8DB-BDC6-DA4ED5FE1F72}"/>
                  </a:ext>
                </a:extLst>
              </p:cNvPr>
              <p:cNvSpPr>
                <a:spLocks noChangeShapeType="1"/>
              </p:cNvSpPr>
              <p:nvPr/>
            </p:nvSpPr>
            <p:spPr bwMode="auto">
              <a:xfrm>
                <a:off x="2016" y="2448"/>
                <a:ext cx="192"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6" name="Line 59">
                <a:extLst>
                  <a:ext uri="{FF2B5EF4-FFF2-40B4-BE49-F238E27FC236}">
                    <a16:creationId xmlns:a16="http://schemas.microsoft.com/office/drawing/2014/main" id="{4F6FB05F-969A-55EA-63E3-1FA571F077F5}"/>
                  </a:ext>
                </a:extLst>
              </p:cNvPr>
              <p:cNvSpPr>
                <a:spLocks noChangeShapeType="1"/>
              </p:cNvSpPr>
              <p:nvPr/>
            </p:nvSpPr>
            <p:spPr bwMode="auto">
              <a:xfrm>
                <a:off x="2016" y="2448"/>
                <a:ext cx="864"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aphicFrame>
        <p:nvGraphicFramePr>
          <p:cNvPr id="202812" name="Object 60">
            <a:extLst>
              <a:ext uri="{FF2B5EF4-FFF2-40B4-BE49-F238E27FC236}">
                <a16:creationId xmlns:a16="http://schemas.microsoft.com/office/drawing/2014/main" id="{FFF4DAF6-A33C-ABBD-D158-D63710082C36}"/>
              </a:ext>
            </a:extLst>
          </p:cNvPr>
          <p:cNvGraphicFramePr>
            <a:graphicFrameLocks noChangeAspect="1"/>
          </p:cNvGraphicFramePr>
          <p:nvPr/>
        </p:nvGraphicFramePr>
        <p:xfrm>
          <a:off x="3352800" y="2514600"/>
          <a:ext cx="5486400" cy="2506663"/>
        </p:xfrm>
        <a:graphic>
          <a:graphicData uri="http://schemas.openxmlformats.org/presentationml/2006/ole">
            <mc:AlternateContent xmlns:mc="http://schemas.openxmlformats.org/markup-compatibility/2006">
              <mc:Choice xmlns:v="urn:schemas-microsoft-com:vml" Requires="v">
                <p:oleObj name="Equation" r:id="rId2" imgW="2946400" imgH="1346200" progId="Equation.3">
                  <p:embed/>
                </p:oleObj>
              </mc:Choice>
              <mc:Fallback>
                <p:oleObj name="Equation" r:id="rId2" imgW="2946400" imgH="1346200" progId="Equation.3">
                  <p:embed/>
                  <p:pic>
                    <p:nvPicPr>
                      <p:cNvPr id="202812" name="Object 60">
                        <a:extLst>
                          <a:ext uri="{FF2B5EF4-FFF2-40B4-BE49-F238E27FC236}">
                            <a16:creationId xmlns:a16="http://schemas.microsoft.com/office/drawing/2014/main" id="{FFF4DAF6-A33C-ABBD-D158-D63710082C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514600"/>
                        <a:ext cx="5486400" cy="2506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813" name="Text Box 61">
            <a:extLst>
              <a:ext uri="{FF2B5EF4-FFF2-40B4-BE49-F238E27FC236}">
                <a16:creationId xmlns:a16="http://schemas.microsoft.com/office/drawing/2014/main" id="{349C3CD3-526D-24D9-7170-71A430309A38}"/>
              </a:ext>
            </a:extLst>
          </p:cNvPr>
          <p:cNvSpPr txBox="1">
            <a:spLocks noChangeArrowheads="1"/>
          </p:cNvSpPr>
          <p:nvPr/>
        </p:nvSpPr>
        <p:spPr bwMode="auto">
          <a:xfrm>
            <a:off x="381000" y="5257800"/>
            <a:ext cx="83820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lnSpc>
                <a:spcPct val="90000"/>
              </a:lnSpc>
              <a:buFontTx/>
              <a:buChar char="•"/>
            </a:pPr>
            <a:r>
              <a:rPr lang="en-US" altLang="en-US" sz="3200"/>
              <a:t>Note an adjacency matrix of this type is symmetric, with all zeroes on the diagonal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2757">
                                            <p:txEl>
                                              <p:pRg st="0" end="0"/>
                                            </p:txEl>
                                          </p:spTgt>
                                        </p:tgtEl>
                                        <p:attrNameLst>
                                          <p:attrName>style.visibility</p:attrName>
                                        </p:attrNameLst>
                                      </p:cBhvr>
                                      <p:to>
                                        <p:strVal val="visible"/>
                                      </p:to>
                                    </p:set>
                                    <p:anim calcmode="lin" valueType="num">
                                      <p:cBhvr additive="base">
                                        <p:cTn id="7" dur="500" fill="hold"/>
                                        <p:tgtEl>
                                          <p:spTgt spid="2027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27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02812"/>
                                        </p:tgtEl>
                                        <p:attrNameLst>
                                          <p:attrName>style.visibility</p:attrName>
                                        </p:attrNameLst>
                                      </p:cBhvr>
                                      <p:to>
                                        <p:strVal val="visible"/>
                                      </p:to>
                                    </p:set>
                                    <p:anim calcmode="lin" valueType="num">
                                      <p:cBhvr additive="base">
                                        <p:cTn id="19" dur="500" fill="hold"/>
                                        <p:tgtEl>
                                          <p:spTgt spid="202812"/>
                                        </p:tgtEl>
                                        <p:attrNameLst>
                                          <p:attrName>ppt_x</p:attrName>
                                        </p:attrNameLst>
                                      </p:cBhvr>
                                      <p:tavLst>
                                        <p:tav tm="0">
                                          <p:val>
                                            <p:strVal val="0-#ppt_w/2"/>
                                          </p:val>
                                        </p:tav>
                                        <p:tav tm="100000">
                                          <p:val>
                                            <p:strVal val="#ppt_x"/>
                                          </p:val>
                                        </p:tav>
                                      </p:tavLst>
                                    </p:anim>
                                    <p:anim calcmode="lin" valueType="num">
                                      <p:cBhvr additive="base">
                                        <p:cTn id="20" dur="500" fill="hold"/>
                                        <p:tgtEl>
                                          <p:spTgt spid="20281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02813">
                                            <p:txEl>
                                              <p:pRg st="0" end="0"/>
                                            </p:txEl>
                                          </p:spTgt>
                                        </p:tgtEl>
                                        <p:attrNameLst>
                                          <p:attrName>style.visibility</p:attrName>
                                        </p:attrNameLst>
                                      </p:cBhvr>
                                      <p:to>
                                        <p:strVal val="visible"/>
                                      </p:to>
                                    </p:set>
                                    <p:anim calcmode="lin" valueType="num">
                                      <p:cBhvr additive="base">
                                        <p:cTn id="25" dur="500" fill="hold"/>
                                        <p:tgtEl>
                                          <p:spTgt spid="202813">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281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7" grpId="0" build="p" autoUpdateAnimBg="0"/>
      <p:bldP spid="202813" grpId="0" build="p"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F129AED-7E8D-539D-6414-7B8341DACC30}"/>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More Details about Edges</a:t>
            </a:r>
          </a:p>
        </p:txBody>
      </p:sp>
      <p:sp>
        <p:nvSpPr>
          <p:cNvPr id="9219" name="Rectangle 3">
            <a:extLst>
              <a:ext uri="{FF2B5EF4-FFF2-40B4-BE49-F238E27FC236}">
                <a16:creationId xmlns:a16="http://schemas.microsoft.com/office/drawing/2014/main" id="{83D425C0-B9E5-0EE5-D5F2-CFF09491797A}"/>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9220" name="Rectangle 4">
            <a:extLst>
              <a:ext uri="{FF2B5EF4-FFF2-40B4-BE49-F238E27FC236}">
                <a16:creationId xmlns:a16="http://schemas.microsoft.com/office/drawing/2014/main" id="{76A0D163-A6A8-50B8-419D-CB35CDE90011}"/>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400" dirty="0"/>
              <a:t>CPE 778, Lect. 31</a:t>
            </a:r>
          </a:p>
        </p:txBody>
      </p:sp>
      <p:sp>
        <p:nvSpPr>
          <p:cNvPr id="203781" name="Text Box 5">
            <a:extLst>
              <a:ext uri="{FF2B5EF4-FFF2-40B4-BE49-F238E27FC236}">
                <a16:creationId xmlns:a16="http://schemas.microsoft.com/office/drawing/2014/main" id="{D2F0D763-7E1B-6F0A-D6A6-0BE97D1E5D9F}"/>
              </a:ext>
            </a:extLst>
          </p:cNvPr>
          <p:cNvSpPr txBox="1">
            <a:spLocks noChangeArrowheads="1"/>
          </p:cNvSpPr>
          <p:nvPr/>
        </p:nvSpPr>
        <p:spPr bwMode="auto">
          <a:xfrm>
            <a:off x="495300" y="1143000"/>
            <a:ext cx="8153400" cy="36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buFontTx/>
              <a:buChar char="•"/>
            </a:pPr>
            <a:r>
              <a:rPr lang="en-US" altLang="en-US" sz="3300"/>
              <a:t>We need to add some information to each edge to represent many engineering problems</a:t>
            </a:r>
          </a:p>
          <a:p>
            <a:pPr>
              <a:buFontTx/>
              <a:buChar char="•"/>
            </a:pPr>
            <a:r>
              <a:rPr lang="en-US" altLang="en-US" sz="3300"/>
              <a:t>A graph is </a:t>
            </a:r>
            <a:r>
              <a:rPr lang="en-US" altLang="en-US" sz="3300" u="sng"/>
              <a:t>directed</a:t>
            </a:r>
            <a:r>
              <a:rPr lang="en-US" altLang="en-US" sz="3300"/>
              <a:t> if we specify a direction for each edge</a:t>
            </a:r>
          </a:p>
          <a:p>
            <a:pPr>
              <a:buFontTx/>
              <a:buChar char="•"/>
            </a:pPr>
            <a:r>
              <a:rPr lang="en-US" altLang="en-US" sz="3300"/>
              <a:t>Each edge can also be assigned a </a:t>
            </a:r>
            <a:r>
              <a:rPr lang="en-US" altLang="en-US" sz="3300" u="sng"/>
              <a:t>weight</a:t>
            </a:r>
            <a:r>
              <a:rPr lang="en-US" altLang="en-US" sz="3300"/>
              <a:t>, for example a flow capacity</a:t>
            </a:r>
            <a:endParaRPr lang="en-US" altLang="en-US" sz="3300" u="sng"/>
          </a:p>
        </p:txBody>
      </p:sp>
      <p:grpSp>
        <p:nvGrpSpPr>
          <p:cNvPr id="2" name="Group 37">
            <a:extLst>
              <a:ext uri="{FF2B5EF4-FFF2-40B4-BE49-F238E27FC236}">
                <a16:creationId xmlns:a16="http://schemas.microsoft.com/office/drawing/2014/main" id="{59622939-9892-98FF-5548-8E34DB75E1E1}"/>
              </a:ext>
            </a:extLst>
          </p:cNvPr>
          <p:cNvGrpSpPr>
            <a:grpSpLocks/>
          </p:cNvGrpSpPr>
          <p:nvPr/>
        </p:nvGrpSpPr>
        <p:grpSpPr bwMode="auto">
          <a:xfrm>
            <a:off x="3048000" y="4800600"/>
            <a:ext cx="2660650" cy="1509713"/>
            <a:chOff x="1920" y="3024"/>
            <a:chExt cx="1676" cy="951"/>
          </a:xfrm>
        </p:grpSpPr>
        <p:sp>
          <p:nvSpPr>
            <p:cNvPr id="9223" name="Text Box 32">
              <a:extLst>
                <a:ext uri="{FF2B5EF4-FFF2-40B4-BE49-F238E27FC236}">
                  <a16:creationId xmlns:a16="http://schemas.microsoft.com/office/drawing/2014/main" id="{17E0C5D6-B76F-F658-1425-E86B5337A111}"/>
                </a:ext>
              </a:extLst>
            </p:cNvPr>
            <p:cNvSpPr txBox="1">
              <a:spLocks noChangeArrowheads="1"/>
            </p:cNvSpPr>
            <p:nvPr/>
          </p:nvSpPr>
          <p:spPr bwMode="auto">
            <a:xfrm>
              <a:off x="2112" y="3024"/>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200"/>
                <a:t>18</a:t>
              </a:r>
            </a:p>
          </p:txBody>
        </p:sp>
        <p:grpSp>
          <p:nvGrpSpPr>
            <p:cNvPr id="9224" name="Group 36">
              <a:extLst>
                <a:ext uri="{FF2B5EF4-FFF2-40B4-BE49-F238E27FC236}">
                  <a16:creationId xmlns:a16="http://schemas.microsoft.com/office/drawing/2014/main" id="{151232FC-C9BD-74C0-FECE-FA4B4BB61471}"/>
                </a:ext>
              </a:extLst>
            </p:cNvPr>
            <p:cNvGrpSpPr>
              <a:grpSpLocks/>
            </p:cNvGrpSpPr>
            <p:nvPr/>
          </p:nvGrpSpPr>
          <p:grpSpPr bwMode="auto">
            <a:xfrm>
              <a:off x="1920" y="3161"/>
              <a:ext cx="1676" cy="814"/>
              <a:chOff x="1920" y="3161"/>
              <a:chExt cx="1676" cy="814"/>
            </a:xfrm>
          </p:grpSpPr>
          <p:sp>
            <p:nvSpPr>
              <p:cNvPr id="9225" name="Oval 10">
                <a:extLst>
                  <a:ext uri="{FF2B5EF4-FFF2-40B4-BE49-F238E27FC236}">
                    <a16:creationId xmlns:a16="http://schemas.microsoft.com/office/drawing/2014/main" id="{72901C2F-57FD-B919-7FB3-C913AFABDA7D}"/>
                  </a:ext>
                </a:extLst>
              </p:cNvPr>
              <p:cNvSpPr>
                <a:spLocks noChangeArrowheads="1"/>
              </p:cNvSpPr>
              <p:nvPr/>
            </p:nvSpPr>
            <p:spPr bwMode="auto">
              <a:xfrm>
                <a:off x="1920" y="3216"/>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9226" name="Oval 11">
                <a:extLst>
                  <a:ext uri="{FF2B5EF4-FFF2-40B4-BE49-F238E27FC236}">
                    <a16:creationId xmlns:a16="http://schemas.microsoft.com/office/drawing/2014/main" id="{E839E4C0-25F6-F84F-1840-797EDC3B8549}"/>
                  </a:ext>
                </a:extLst>
              </p:cNvPr>
              <p:cNvSpPr>
                <a:spLocks noChangeArrowheads="1"/>
              </p:cNvSpPr>
              <p:nvPr/>
            </p:nvSpPr>
            <p:spPr bwMode="auto">
              <a:xfrm>
                <a:off x="2400" y="3264"/>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9227" name="Oval 12">
                <a:extLst>
                  <a:ext uri="{FF2B5EF4-FFF2-40B4-BE49-F238E27FC236}">
                    <a16:creationId xmlns:a16="http://schemas.microsoft.com/office/drawing/2014/main" id="{4F80717C-4734-0202-7CCE-D4F0CAB592D0}"/>
                  </a:ext>
                </a:extLst>
              </p:cNvPr>
              <p:cNvSpPr>
                <a:spLocks noChangeArrowheads="1"/>
              </p:cNvSpPr>
              <p:nvPr/>
            </p:nvSpPr>
            <p:spPr bwMode="auto">
              <a:xfrm>
                <a:off x="2736" y="3600"/>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9228" name="Oval 13">
                <a:extLst>
                  <a:ext uri="{FF2B5EF4-FFF2-40B4-BE49-F238E27FC236}">
                    <a16:creationId xmlns:a16="http://schemas.microsoft.com/office/drawing/2014/main" id="{7B92C566-7177-3610-6940-94286F5E9A19}"/>
                  </a:ext>
                </a:extLst>
              </p:cNvPr>
              <p:cNvSpPr>
                <a:spLocks noChangeArrowheads="1"/>
              </p:cNvSpPr>
              <p:nvPr/>
            </p:nvSpPr>
            <p:spPr bwMode="auto">
              <a:xfrm>
                <a:off x="3408" y="3408"/>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9229" name="Oval 14">
                <a:extLst>
                  <a:ext uri="{FF2B5EF4-FFF2-40B4-BE49-F238E27FC236}">
                    <a16:creationId xmlns:a16="http://schemas.microsoft.com/office/drawing/2014/main" id="{907D3B5A-FF15-5DEB-F072-42519AEA9DCE}"/>
                  </a:ext>
                </a:extLst>
              </p:cNvPr>
              <p:cNvSpPr>
                <a:spLocks noChangeArrowheads="1"/>
              </p:cNvSpPr>
              <p:nvPr/>
            </p:nvSpPr>
            <p:spPr bwMode="auto">
              <a:xfrm>
                <a:off x="1920" y="3792"/>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9230" name="Text Box 15">
                <a:extLst>
                  <a:ext uri="{FF2B5EF4-FFF2-40B4-BE49-F238E27FC236}">
                    <a16:creationId xmlns:a16="http://schemas.microsoft.com/office/drawing/2014/main" id="{5C359DB1-4792-EC8F-B845-343B1414FF51}"/>
                  </a:ext>
                </a:extLst>
              </p:cNvPr>
              <p:cNvSpPr txBox="1">
                <a:spLocks noChangeArrowheads="1"/>
              </p:cNvSpPr>
              <p:nvPr/>
            </p:nvSpPr>
            <p:spPr bwMode="auto">
              <a:xfrm>
                <a:off x="1920" y="316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1</a:t>
                </a:r>
              </a:p>
            </p:txBody>
          </p:sp>
          <p:sp>
            <p:nvSpPr>
              <p:cNvPr id="9231" name="Text Box 16">
                <a:extLst>
                  <a:ext uri="{FF2B5EF4-FFF2-40B4-BE49-F238E27FC236}">
                    <a16:creationId xmlns:a16="http://schemas.microsoft.com/office/drawing/2014/main" id="{69706FF3-E777-D0B4-2760-2C6668597593}"/>
                  </a:ext>
                </a:extLst>
              </p:cNvPr>
              <p:cNvSpPr txBox="1">
                <a:spLocks noChangeArrowheads="1"/>
              </p:cNvSpPr>
              <p:nvPr/>
            </p:nvSpPr>
            <p:spPr bwMode="auto">
              <a:xfrm>
                <a:off x="2400" y="321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2</a:t>
                </a:r>
              </a:p>
            </p:txBody>
          </p:sp>
          <p:sp>
            <p:nvSpPr>
              <p:cNvPr id="9232" name="Text Box 17">
                <a:extLst>
                  <a:ext uri="{FF2B5EF4-FFF2-40B4-BE49-F238E27FC236}">
                    <a16:creationId xmlns:a16="http://schemas.microsoft.com/office/drawing/2014/main" id="{8A277CEF-7982-BFD6-60D3-A45E601386F5}"/>
                  </a:ext>
                </a:extLst>
              </p:cNvPr>
              <p:cNvSpPr txBox="1">
                <a:spLocks noChangeArrowheads="1"/>
              </p:cNvSpPr>
              <p:nvPr/>
            </p:nvSpPr>
            <p:spPr bwMode="auto">
              <a:xfrm>
                <a:off x="2736" y="355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3</a:t>
                </a:r>
              </a:p>
            </p:txBody>
          </p:sp>
          <p:sp>
            <p:nvSpPr>
              <p:cNvPr id="9233" name="Text Box 18">
                <a:extLst>
                  <a:ext uri="{FF2B5EF4-FFF2-40B4-BE49-F238E27FC236}">
                    <a16:creationId xmlns:a16="http://schemas.microsoft.com/office/drawing/2014/main" id="{B7A3C0FD-6851-C49B-D626-789034A5B1E1}"/>
                  </a:ext>
                </a:extLst>
              </p:cNvPr>
              <p:cNvSpPr txBox="1">
                <a:spLocks noChangeArrowheads="1"/>
              </p:cNvSpPr>
              <p:nvPr/>
            </p:nvSpPr>
            <p:spPr bwMode="auto">
              <a:xfrm>
                <a:off x="3408" y="336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4</a:t>
                </a:r>
              </a:p>
            </p:txBody>
          </p:sp>
          <p:sp>
            <p:nvSpPr>
              <p:cNvPr id="9234" name="Text Box 19">
                <a:extLst>
                  <a:ext uri="{FF2B5EF4-FFF2-40B4-BE49-F238E27FC236}">
                    <a16:creationId xmlns:a16="http://schemas.microsoft.com/office/drawing/2014/main" id="{4D0F93DA-8EAC-9D60-E334-D2DDAEE4D48C}"/>
                  </a:ext>
                </a:extLst>
              </p:cNvPr>
              <p:cNvSpPr txBox="1">
                <a:spLocks noChangeArrowheads="1"/>
              </p:cNvSpPr>
              <p:nvPr/>
            </p:nvSpPr>
            <p:spPr bwMode="auto">
              <a:xfrm>
                <a:off x="1920" y="374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5</a:t>
                </a:r>
              </a:p>
            </p:txBody>
          </p:sp>
          <p:sp>
            <p:nvSpPr>
              <p:cNvPr id="9235" name="Line 26">
                <a:extLst>
                  <a:ext uri="{FF2B5EF4-FFF2-40B4-BE49-F238E27FC236}">
                    <a16:creationId xmlns:a16="http://schemas.microsoft.com/office/drawing/2014/main" id="{BF16B49D-113C-4786-0398-828B7948F4E3}"/>
                  </a:ext>
                </a:extLst>
              </p:cNvPr>
              <p:cNvSpPr>
                <a:spLocks noChangeShapeType="1"/>
              </p:cNvSpPr>
              <p:nvPr/>
            </p:nvSpPr>
            <p:spPr bwMode="auto">
              <a:xfrm>
                <a:off x="2064" y="3264"/>
                <a:ext cx="336" cy="4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36" name="Line 27">
                <a:extLst>
                  <a:ext uri="{FF2B5EF4-FFF2-40B4-BE49-F238E27FC236}">
                    <a16:creationId xmlns:a16="http://schemas.microsoft.com/office/drawing/2014/main" id="{1BE0CE40-4379-C30E-629B-AF736DBA4ED0}"/>
                  </a:ext>
                </a:extLst>
              </p:cNvPr>
              <p:cNvSpPr>
                <a:spLocks noChangeShapeType="1"/>
              </p:cNvSpPr>
              <p:nvPr/>
            </p:nvSpPr>
            <p:spPr bwMode="auto">
              <a:xfrm flipH="1" flipV="1">
                <a:off x="2064" y="3312"/>
                <a:ext cx="672" cy="38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37" name="Line 28">
                <a:extLst>
                  <a:ext uri="{FF2B5EF4-FFF2-40B4-BE49-F238E27FC236}">
                    <a16:creationId xmlns:a16="http://schemas.microsoft.com/office/drawing/2014/main" id="{84A652CC-F738-BF58-A7A7-EAF87815E9A1}"/>
                  </a:ext>
                </a:extLst>
              </p:cNvPr>
              <p:cNvSpPr>
                <a:spLocks noChangeShapeType="1"/>
              </p:cNvSpPr>
              <p:nvPr/>
            </p:nvSpPr>
            <p:spPr bwMode="auto">
              <a:xfrm>
                <a:off x="2544" y="3360"/>
                <a:ext cx="864" cy="14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38" name="Line 30">
                <a:extLst>
                  <a:ext uri="{FF2B5EF4-FFF2-40B4-BE49-F238E27FC236}">
                    <a16:creationId xmlns:a16="http://schemas.microsoft.com/office/drawing/2014/main" id="{0BF9EDD9-41EF-0693-130A-83979A05D5B0}"/>
                  </a:ext>
                </a:extLst>
              </p:cNvPr>
              <p:cNvSpPr>
                <a:spLocks noChangeShapeType="1"/>
              </p:cNvSpPr>
              <p:nvPr/>
            </p:nvSpPr>
            <p:spPr bwMode="auto">
              <a:xfrm flipH="1" flipV="1">
                <a:off x="2496" y="3408"/>
                <a:ext cx="288"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39" name="Text Box 31">
                <a:extLst>
                  <a:ext uri="{FF2B5EF4-FFF2-40B4-BE49-F238E27FC236}">
                    <a16:creationId xmlns:a16="http://schemas.microsoft.com/office/drawing/2014/main" id="{2F2CACC7-731B-DB18-993D-4F03B7570089}"/>
                  </a:ext>
                </a:extLst>
              </p:cNvPr>
              <p:cNvSpPr txBox="1">
                <a:spLocks noChangeArrowheads="1"/>
              </p:cNvSpPr>
              <p:nvPr/>
            </p:nvSpPr>
            <p:spPr bwMode="auto">
              <a:xfrm>
                <a:off x="2822" y="3161"/>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200"/>
                  <a:t>24</a:t>
                </a:r>
              </a:p>
            </p:txBody>
          </p:sp>
          <p:sp>
            <p:nvSpPr>
              <p:cNvPr id="9240" name="Text Box 33">
                <a:extLst>
                  <a:ext uri="{FF2B5EF4-FFF2-40B4-BE49-F238E27FC236}">
                    <a16:creationId xmlns:a16="http://schemas.microsoft.com/office/drawing/2014/main" id="{56BBC0AE-7C23-2E96-B1E8-558D6950EA87}"/>
                  </a:ext>
                </a:extLst>
              </p:cNvPr>
              <p:cNvSpPr txBox="1">
                <a:spLocks noChangeArrowheads="1"/>
              </p:cNvSpPr>
              <p:nvPr/>
            </p:nvSpPr>
            <p:spPr bwMode="auto">
              <a:xfrm>
                <a:off x="3072" y="3648"/>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200"/>
                  <a:t>6</a:t>
                </a:r>
              </a:p>
            </p:txBody>
          </p:sp>
          <p:sp>
            <p:nvSpPr>
              <p:cNvPr id="9241" name="Text Box 34">
                <a:extLst>
                  <a:ext uri="{FF2B5EF4-FFF2-40B4-BE49-F238E27FC236}">
                    <a16:creationId xmlns:a16="http://schemas.microsoft.com/office/drawing/2014/main" id="{64A91855-A4F9-A7E9-896C-3ED542238C33}"/>
                  </a:ext>
                </a:extLst>
              </p:cNvPr>
              <p:cNvSpPr txBox="1">
                <a:spLocks noChangeArrowheads="1"/>
              </p:cNvSpPr>
              <p:nvPr/>
            </p:nvSpPr>
            <p:spPr bwMode="auto">
              <a:xfrm>
                <a:off x="2208" y="3456"/>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200"/>
                  <a:t>15</a:t>
                </a:r>
              </a:p>
            </p:txBody>
          </p:sp>
          <p:sp>
            <p:nvSpPr>
              <p:cNvPr id="9242" name="Freeform 35">
                <a:extLst>
                  <a:ext uri="{FF2B5EF4-FFF2-40B4-BE49-F238E27FC236}">
                    <a16:creationId xmlns:a16="http://schemas.microsoft.com/office/drawing/2014/main" id="{4289CBD5-761C-BC5E-EECA-A0FE9F5BA7BF}"/>
                  </a:ext>
                </a:extLst>
              </p:cNvPr>
              <p:cNvSpPr>
                <a:spLocks/>
              </p:cNvSpPr>
              <p:nvPr/>
            </p:nvSpPr>
            <p:spPr bwMode="auto">
              <a:xfrm>
                <a:off x="2688" y="3504"/>
                <a:ext cx="480" cy="192"/>
              </a:xfrm>
              <a:custGeom>
                <a:avLst/>
                <a:gdLst>
                  <a:gd name="T0" fmla="*/ 480 w 480"/>
                  <a:gd name="T1" fmla="*/ 192 h 192"/>
                  <a:gd name="T2" fmla="*/ 336 w 480"/>
                  <a:gd name="T3" fmla="*/ 48 h 192"/>
                  <a:gd name="T4" fmla="*/ 0 w 480"/>
                  <a:gd name="T5" fmla="*/ 0 h 192"/>
                  <a:gd name="T6" fmla="*/ 0 60000 65536"/>
                  <a:gd name="T7" fmla="*/ 0 60000 65536"/>
                  <a:gd name="T8" fmla="*/ 0 60000 65536"/>
                  <a:gd name="T9" fmla="*/ 0 w 480"/>
                  <a:gd name="T10" fmla="*/ 0 h 192"/>
                  <a:gd name="T11" fmla="*/ 480 w 480"/>
                  <a:gd name="T12" fmla="*/ 192 h 192"/>
                </a:gdLst>
                <a:ahLst/>
                <a:cxnLst>
                  <a:cxn ang="T6">
                    <a:pos x="T0" y="T1"/>
                  </a:cxn>
                  <a:cxn ang="T7">
                    <a:pos x="T2" y="T3"/>
                  </a:cxn>
                  <a:cxn ang="T8">
                    <a:pos x="T4" y="T5"/>
                  </a:cxn>
                </a:cxnLst>
                <a:rect l="T9" t="T10" r="T11" b="T12"/>
                <a:pathLst>
                  <a:path w="480" h="192">
                    <a:moveTo>
                      <a:pt x="480" y="192"/>
                    </a:moveTo>
                    <a:cubicBezTo>
                      <a:pt x="448" y="136"/>
                      <a:pt x="416" y="80"/>
                      <a:pt x="336" y="48"/>
                    </a:cubicBezTo>
                    <a:cubicBezTo>
                      <a:pt x="256" y="16"/>
                      <a:pt x="56" y="8"/>
                      <a:pt x="0" y="0"/>
                    </a:cubicBezTo>
                  </a:path>
                </a:pathLst>
              </a:custGeom>
              <a:noFill/>
              <a:ln w="9525">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3781">
                                            <p:txEl>
                                              <p:pRg st="0" end="0"/>
                                            </p:txEl>
                                          </p:spTgt>
                                        </p:tgtEl>
                                        <p:attrNameLst>
                                          <p:attrName>style.visibility</p:attrName>
                                        </p:attrNameLst>
                                      </p:cBhvr>
                                      <p:to>
                                        <p:strVal val="visible"/>
                                      </p:to>
                                    </p:set>
                                    <p:anim calcmode="lin" valueType="num">
                                      <p:cBhvr additive="base">
                                        <p:cTn id="7" dur="500" fill="hold"/>
                                        <p:tgtEl>
                                          <p:spTgt spid="20378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378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3781">
                                            <p:txEl>
                                              <p:pRg st="1" end="1"/>
                                            </p:txEl>
                                          </p:spTgt>
                                        </p:tgtEl>
                                        <p:attrNameLst>
                                          <p:attrName>style.visibility</p:attrName>
                                        </p:attrNameLst>
                                      </p:cBhvr>
                                      <p:to>
                                        <p:strVal val="visible"/>
                                      </p:to>
                                    </p:set>
                                    <p:anim calcmode="lin" valueType="num">
                                      <p:cBhvr additive="base">
                                        <p:cTn id="13" dur="500" fill="hold"/>
                                        <p:tgtEl>
                                          <p:spTgt spid="20378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378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03781">
                                            <p:txEl>
                                              <p:pRg st="2" end="2"/>
                                            </p:txEl>
                                          </p:spTgt>
                                        </p:tgtEl>
                                        <p:attrNameLst>
                                          <p:attrName>style.visibility</p:attrName>
                                        </p:attrNameLst>
                                      </p:cBhvr>
                                      <p:to>
                                        <p:strVal val="visible"/>
                                      </p:to>
                                    </p:set>
                                    <p:anim calcmode="lin" valueType="num">
                                      <p:cBhvr additive="base">
                                        <p:cTn id="19" dur="500" fill="hold"/>
                                        <p:tgtEl>
                                          <p:spTgt spid="20378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378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0-#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1" grpId="0" build="p"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94F2696-0364-30C8-F21E-960A89D98EE7}"/>
              </a:ext>
            </a:extLst>
          </p:cNvPr>
          <p:cNvSpPr>
            <a:spLocks noGrp="1" noChangeArrowheads="1"/>
          </p:cNvSpPr>
          <p:nvPr>
            <p:ph type="title"/>
          </p:nvPr>
        </p:nvSpPr>
        <p:spPr>
          <a:xfrm>
            <a:off x="304800" y="76200"/>
            <a:ext cx="8382000" cy="1143000"/>
          </a:xfrm>
        </p:spPr>
        <p:txBody>
          <a:bodyPr/>
          <a:lstStyle/>
          <a:p>
            <a:pPr>
              <a:lnSpc>
                <a:spcPct val="80000"/>
              </a:lnSpc>
            </a:pPr>
            <a:r>
              <a:rPr lang="en-US" altLang="en-US" sz="4600"/>
              <a:t>Capacity Matrix</a:t>
            </a:r>
          </a:p>
        </p:txBody>
      </p:sp>
      <p:sp>
        <p:nvSpPr>
          <p:cNvPr id="10243" name="Rectangle 3">
            <a:extLst>
              <a:ext uri="{FF2B5EF4-FFF2-40B4-BE49-F238E27FC236}">
                <a16:creationId xmlns:a16="http://schemas.microsoft.com/office/drawing/2014/main" id="{AF7F7819-778E-8FAC-6742-DE6CCC4290AE}"/>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10244" name="Rectangle 4">
            <a:extLst>
              <a:ext uri="{FF2B5EF4-FFF2-40B4-BE49-F238E27FC236}">
                <a16:creationId xmlns:a16="http://schemas.microsoft.com/office/drawing/2014/main" id="{D0D42D00-D345-BC6F-F33E-97063E9EA1C4}"/>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400" dirty="0"/>
              <a:t>CPE 778, Lect. 31</a:t>
            </a:r>
          </a:p>
        </p:txBody>
      </p:sp>
      <p:sp>
        <p:nvSpPr>
          <p:cNvPr id="188421" name="Text Box 5">
            <a:extLst>
              <a:ext uri="{FF2B5EF4-FFF2-40B4-BE49-F238E27FC236}">
                <a16:creationId xmlns:a16="http://schemas.microsoft.com/office/drawing/2014/main" id="{1C32C574-1021-4E0F-1FBE-56DD585D7D93}"/>
              </a:ext>
            </a:extLst>
          </p:cNvPr>
          <p:cNvSpPr txBox="1">
            <a:spLocks noChangeArrowheads="1"/>
          </p:cNvSpPr>
          <p:nvPr/>
        </p:nvSpPr>
        <p:spPr bwMode="auto">
          <a:xfrm>
            <a:off x="304800" y="990600"/>
            <a:ext cx="8534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buFontTx/>
              <a:buChar char="•"/>
            </a:pPr>
            <a:r>
              <a:rPr lang="en-US" altLang="en-US" sz="3000"/>
              <a:t>  Note the adjacency matrix is no longer symmetric:</a:t>
            </a:r>
          </a:p>
        </p:txBody>
      </p:sp>
      <p:grpSp>
        <p:nvGrpSpPr>
          <p:cNvPr id="2" name="Group 8">
            <a:extLst>
              <a:ext uri="{FF2B5EF4-FFF2-40B4-BE49-F238E27FC236}">
                <a16:creationId xmlns:a16="http://schemas.microsoft.com/office/drawing/2014/main" id="{6531775C-69D4-7526-60A5-08809CC14A44}"/>
              </a:ext>
            </a:extLst>
          </p:cNvPr>
          <p:cNvGrpSpPr>
            <a:grpSpLocks/>
          </p:cNvGrpSpPr>
          <p:nvPr/>
        </p:nvGrpSpPr>
        <p:grpSpPr bwMode="auto">
          <a:xfrm>
            <a:off x="609600" y="2133600"/>
            <a:ext cx="2660650" cy="1509713"/>
            <a:chOff x="1920" y="3024"/>
            <a:chExt cx="1676" cy="951"/>
          </a:xfrm>
        </p:grpSpPr>
        <p:sp>
          <p:nvSpPr>
            <p:cNvPr id="10250" name="Text Box 9">
              <a:extLst>
                <a:ext uri="{FF2B5EF4-FFF2-40B4-BE49-F238E27FC236}">
                  <a16:creationId xmlns:a16="http://schemas.microsoft.com/office/drawing/2014/main" id="{8AB7253B-4F02-20AB-A6AE-E623F07537F8}"/>
                </a:ext>
              </a:extLst>
            </p:cNvPr>
            <p:cNvSpPr txBox="1">
              <a:spLocks noChangeArrowheads="1"/>
            </p:cNvSpPr>
            <p:nvPr/>
          </p:nvSpPr>
          <p:spPr bwMode="auto">
            <a:xfrm>
              <a:off x="2112" y="3024"/>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200"/>
                <a:t>18</a:t>
              </a:r>
            </a:p>
          </p:txBody>
        </p:sp>
        <p:grpSp>
          <p:nvGrpSpPr>
            <p:cNvPr id="10251" name="Group 10">
              <a:extLst>
                <a:ext uri="{FF2B5EF4-FFF2-40B4-BE49-F238E27FC236}">
                  <a16:creationId xmlns:a16="http://schemas.microsoft.com/office/drawing/2014/main" id="{61352F94-A5E9-F83A-A14D-F81457291EA8}"/>
                </a:ext>
              </a:extLst>
            </p:cNvPr>
            <p:cNvGrpSpPr>
              <a:grpSpLocks/>
            </p:cNvGrpSpPr>
            <p:nvPr/>
          </p:nvGrpSpPr>
          <p:grpSpPr bwMode="auto">
            <a:xfrm>
              <a:off x="1920" y="3161"/>
              <a:ext cx="1676" cy="814"/>
              <a:chOff x="1920" y="3161"/>
              <a:chExt cx="1676" cy="814"/>
            </a:xfrm>
          </p:grpSpPr>
          <p:sp>
            <p:nvSpPr>
              <p:cNvPr id="10252" name="Oval 11">
                <a:extLst>
                  <a:ext uri="{FF2B5EF4-FFF2-40B4-BE49-F238E27FC236}">
                    <a16:creationId xmlns:a16="http://schemas.microsoft.com/office/drawing/2014/main" id="{69B96510-A845-2BD1-B2CE-A5EED3FDA9F4}"/>
                  </a:ext>
                </a:extLst>
              </p:cNvPr>
              <p:cNvSpPr>
                <a:spLocks noChangeArrowheads="1"/>
              </p:cNvSpPr>
              <p:nvPr/>
            </p:nvSpPr>
            <p:spPr bwMode="auto">
              <a:xfrm>
                <a:off x="1920" y="3216"/>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10253" name="Oval 12">
                <a:extLst>
                  <a:ext uri="{FF2B5EF4-FFF2-40B4-BE49-F238E27FC236}">
                    <a16:creationId xmlns:a16="http://schemas.microsoft.com/office/drawing/2014/main" id="{743225D8-FBFC-C833-0C64-F7B67EA5299D}"/>
                  </a:ext>
                </a:extLst>
              </p:cNvPr>
              <p:cNvSpPr>
                <a:spLocks noChangeArrowheads="1"/>
              </p:cNvSpPr>
              <p:nvPr/>
            </p:nvSpPr>
            <p:spPr bwMode="auto">
              <a:xfrm>
                <a:off x="2400" y="3264"/>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10254" name="Oval 13">
                <a:extLst>
                  <a:ext uri="{FF2B5EF4-FFF2-40B4-BE49-F238E27FC236}">
                    <a16:creationId xmlns:a16="http://schemas.microsoft.com/office/drawing/2014/main" id="{12DCB885-75F0-BDCB-4B2B-53C5720401E5}"/>
                  </a:ext>
                </a:extLst>
              </p:cNvPr>
              <p:cNvSpPr>
                <a:spLocks noChangeArrowheads="1"/>
              </p:cNvSpPr>
              <p:nvPr/>
            </p:nvSpPr>
            <p:spPr bwMode="auto">
              <a:xfrm>
                <a:off x="2736" y="3600"/>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10255" name="Oval 14">
                <a:extLst>
                  <a:ext uri="{FF2B5EF4-FFF2-40B4-BE49-F238E27FC236}">
                    <a16:creationId xmlns:a16="http://schemas.microsoft.com/office/drawing/2014/main" id="{D7BA98DD-E673-CE5D-2F59-D6A48C0176FC}"/>
                  </a:ext>
                </a:extLst>
              </p:cNvPr>
              <p:cNvSpPr>
                <a:spLocks noChangeArrowheads="1"/>
              </p:cNvSpPr>
              <p:nvPr/>
            </p:nvSpPr>
            <p:spPr bwMode="auto">
              <a:xfrm>
                <a:off x="3408" y="3408"/>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10256" name="Oval 15">
                <a:extLst>
                  <a:ext uri="{FF2B5EF4-FFF2-40B4-BE49-F238E27FC236}">
                    <a16:creationId xmlns:a16="http://schemas.microsoft.com/office/drawing/2014/main" id="{91E309D6-F088-9097-034D-AA6F31075C07}"/>
                  </a:ext>
                </a:extLst>
              </p:cNvPr>
              <p:cNvSpPr>
                <a:spLocks noChangeArrowheads="1"/>
              </p:cNvSpPr>
              <p:nvPr/>
            </p:nvSpPr>
            <p:spPr bwMode="auto">
              <a:xfrm>
                <a:off x="1920" y="3792"/>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10257" name="Text Box 16">
                <a:extLst>
                  <a:ext uri="{FF2B5EF4-FFF2-40B4-BE49-F238E27FC236}">
                    <a16:creationId xmlns:a16="http://schemas.microsoft.com/office/drawing/2014/main" id="{8BAADCFF-FE1A-7A8D-0360-2945134083FE}"/>
                  </a:ext>
                </a:extLst>
              </p:cNvPr>
              <p:cNvSpPr txBox="1">
                <a:spLocks noChangeArrowheads="1"/>
              </p:cNvSpPr>
              <p:nvPr/>
            </p:nvSpPr>
            <p:spPr bwMode="auto">
              <a:xfrm>
                <a:off x="1920" y="316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1</a:t>
                </a:r>
              </a:p>
            </p:txBody>
          </p:sp>
          <p:sp>
            <p:nvSpPr>
              <p:cNvPr id="10258" name="Text Box 17">
                <a:extLst>
                  <a:ext uri="{FF2B5EF4-FFF2-40B4-BE49-F238E27FC236}">
                    <a16:creationId xmlns:a16="http://schemas.microsoft.com/office/drawing/2014/main" id="{59E88D72-A6F0-982A-3FA6-567E5462273B}"/>
                  </a:ext>
                </a:extLst>
              </p:cNvPr>
              <p:cNvSpPr txBox="1">
                <a:spLocks noChangeArrowheads="1"/>
              </p:cNvSpPr>
              <p:nvPr/>
            </p:nvSpPr>
            <p:spPr bwMode="auto">
              <a:xfrm>
                <a:off x="2400" y="321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2</a:t>
                </a:r>
              </a:p>
            </p:txBody>
          </p:sp>
          <p:sp>
            <p:nvSpPr>
              <p:cNvPr id="10259" name="Text Box 18">
                <a:extLst>
                  <a:ext uri="{FF2B5EF4-FFF2-40B4-BE49-F238E27FC236}">
                    <a16:creationId xmlns:a16="http://schemas.microsoft.com/office/drawing/2014/main" id="{45982C02-9115-8345-D446-6560B2E242D2}"/>
                  </a:ext>
                </a:extLst>
              </p:cNvPr>
              <p:cNvSpPr txBox="1">
                <a:spLocks noChangeArrowheads="1"/>
              </p:cNvSpPr>
              <p:nvPr/>
            </p:nvSpPr>
            <p:spPr bwMode="auto">
              <a:xfrm>
                <a:off x="2736" y="355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3</a:t>
                </a:r>
              </a:p>
            </p:txBody>
          </p:sp>
          <p:sp>
            <p:nvSpPr>
              <p:cNvPr id="10260" name="Text Box 19">
                <a:extLst>
                  <a:ext uri="{FF2B5EF4-FFF2-40B4-BE49-F238E27FC236}">
                    <a16:creationId xmlns:a16="http://schemas.microsoft.com/office/drawing/2014/main" id="{DA259B34-1778-45F1-9A59-6CB83F3106BD}"/>
                  </a:ext>
                </a:extLst>
              </p:cNvPr>
              <p:cNvSpPr txBox="1">
                <a:spLocks noChangeArrowheads="1"/>
              </p:cNvSpPr>
              <p:nvPr/>
            </p:nvSpPr>
            <p:spPr bwMode="auto">
              <a:xfrm>
                <a:off x="3408" y="336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4</a:t>
                </a:r>
              </a:p>
            </p:txBody>
          </p:sp>
          <p:sp>
            <p:nvSpPr>
              <p:cNvPr id="10261" name="Text Box 20">
                <a:extLst>
                  <a:ext uri="{FF2B5EF4-FFF2-40B4-BE49-F238E27FC236}">
                    <a16:creationId xmlns:a16="http://schemas.microsoft.com/office/drawing/2014/main" id="{48106664-8A7E-FD0C-E631-B30DE8A5A70B}"/>
                  </a:ext>
                </a:extLst>
              </p:cNvPr>
              <p:cNvSpPr txBox="1">
                <a:spLocks noChangeArrowheads="1"/>
              </p:cNvSpPr>
              <p:nvPr/>
            </p:nvSpPr>
            <p:spPr bwMode="auto">
              <a:xfrm>
                <a:off x="1920" y="374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1800"/>
                  <a:t>5</a:t>
                </a:r>
              </a:p>
            </p:txBody>
          </p:sp>
          <p:sp>
            <p:nvSpPr>
              <p:cNvPr id="10262" name="Line 21">
                <a:extLst>
                  <a:ext uri="{FF2B5EF4-FFF2-40B4-BE49-F238E27FC236}">
                    <a16:creationId xmlns:a16="http://schemas.microsoft.com/office/drawing/2014/main" id="{E4CD44B3-281E-2E7E-83F4-6E5DCBB215CB}"/>
                  </a:ext>
                </a:extLst>
              </p:cNvPr>
              <p:cNvSpPr>
                <a:spLocks noChangeShapeType="1"/>
              </p:cNvSpPr>
              <p:nvPr/>
            </p:nvSpPr>
            <p:spPr bwMode="auto">
              <a:xfrm>
                <a:off x="2064" y="3264"/>
                <a:ext cx="336" cy="4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3" name="Line 22">
                <a:extLst>
                  <a:ext uri="{FF2B5EF4-FFF2-40B4-BE49-F238E27FC236}">
                    <a16:creationId xmlns:a16="http://schemas.microsoft.com/office/drawing/2014/main" id="{F2D4382B-EF34-B815-2D5F-D084C6D272A7}"/>
                  </a:ext>
                </a:extLst>
              </p:cNvPr>
              <p:cNvSpPr>
                <a:spLocks noChangeShapeType="1"/>
              </p:cNvSpPr>
              <p:nvPr/>
            </p:nvSpPr>
            <p:spPr bwMode="auto">
              <a:xfrm flipH="1" flipV="1">
                <a:off x="2064" y="3312"/>
                <a:ext cx="672" cy="38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4" name="Line 23">
                <a:extLst>
                  <a:ext uri="{FF2B5EF4-FFF2-40B4-BE49-F238E27FC236}">
                    <a16:creationId xmlns:a16="http://schemas.microsoft.com/office/drawing/2014/main" id="{603772E6-5B51-8D50-A87E-209230872CB1}"/>
                  </a:ext>
                </a:extLst>
              </p:cNvPr>
              <p:cNvSpPr>
                <a:spLocks noChangeShapeType="1"/>
              </p:cNvSpPr>
              <p:nvPr/>
            </p:nvSpPr>
            <p:spPr bwMode="auto">
              <a:xfrm>
                <a:off x="2544" y="3360"/>
                <a:ext cx="864" cy="14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5" name="Line 24">
                <a:extLst>
                  <a:ext uri="{FF2B5EF4-FFF2-40B4-BE49-F238E27FC236}">
                    <a16:creationId xmlns:a16="http://schemas.microsoft.com/office/drawing/2014/main" id="{D77831DA-B243-F3A5-FDAA-CD68DC905682}"/>
                  </a:ext>
                </a:extLst>
              </p:cNvPr>
              <p:cNvSpPr>
                <a:spLocks noChangeShapeType="1"/>
              </p:cNvSpPr>
              <p:nvPr/>
            </p:nvSpPr>
            <p:spPr bwMode="auto">
              <a:xfrm flipH="1" flipV="1">
                <a:off x="2496" y="3408"/>
                <a:ext cx="288"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6" name="Text Box 25">
                <a:extLst>
                  <a:ext uri="{FF2B5EF4-FFF2-40B4-BE49-F238E27FC236}">
                    <a16:creationId xmlns:a16="http://schemas.microsoft.com/office/drawing/2014/main" id="{B4BCA32E-A7EE-39A1-9A69-C91E2E435B05}"/>
                  </a:ext>
                </a:extLst>
              </p:cNvPr>
              <p:cNvSpPr txBox="1">
                <a:spLocks noChangeArrowheads="1"/>
              </p:cNvSpPr>
              <p:nvPr/>
            </p:nvSpPr>
            <p:spPr bwMode="auto">
              <a:xfrm>
                <a:off x="2822" y="3161"/>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200"/>
                  <a:t>24</a:t>
                </a:r>
              </a:p>
            </p:txBody>
          </p:sp>
          <p:sp>
            <p:nvSpPr>
              <p:cNvPr id="10267" name="Text Box 26">
                <a:extLst>
                  <a:ext uri="{FF2B5EF4-FFF2-40B4-BE49-F238E27FC236}">
                    <a16:creationId xmlns:a16="http://schemas.microsoft.com/office/drawing/2014/main" id="{D1B0AF61-2E3C-1F6A-84BE-F980F301001A}"/>
                  </a:ext>
                </a:extLst>
              </p:cNvPr>
              <p:cNvSpPr txBox="1">
                <a:spLocks noChangeArrowheads="1"/>
              </p:cNvSpPr>
              <p:nvPr/>
            </p:nvSpPr>
            <p:spPr bwMode="auto">
              <a:xfrm>
                <a:off x="3072" y="3648"/>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200"/>
                  <a:t>6</a:t>
                </a:r>
              </a:p>
            </p:txBody>
          </p:sp>
          <p:sp>
            <p:nvSpPr>
              <p:cNvPr id="10268" name="Text Box 27">
                <a:extLst>
                  <a:ext uri="{FF2B5EF4-FFF2-40B4-BE49-F238E27FC236}">
                    <a16:creationId xmlns:a16="http://schemas.microsoft.com/office/drawing/2014/main" id="{3E586F8F-87A7-A5BA-CE23-DBC65A9405B8}"/>
                  </a:ext>
                </a:extLst>
              </p:cNvPr>
              <p:cNvSpPr txBox="1">
                <a:spLocks noChangeArrowheads="1"/>
              </p:cNvSpPr>
              <p:nvPr/>
            </p:nvSpPr>
            <p:spPr bwMode="auto">
              <a:xfrm>
                <a:off x="2208" y="3456"/>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200"/>
                  <a:t>15</a:t>
                </a:r>
              </a:p>
            </p:txBody>
          </p:sp>
          <p:sp>
            <p:nvSpPr>
              <p:cNvPr id="10269" name="Freeform 28">
                <a:extLst>
                  <a:ext uri="{FF2B5EF4-FFF2-40B4-BE49-F238E27FC236}">
                    <a16:creationId xmlns:a16="http://schemas.microsoft.com/office/drawing/2014/main" id="{AD27C64D-8783-920C-7E1E-11CA4568F4CF}"/>
                  </a:ext>
                </a:extLst>
              </p:cNvPr>
              <p:cNvSpPr>
                <a:spLocks/>
              </p:cNvSpPr>
              <p:nvPr/>
            </p:nvSpPr>
            <p:spPr bwMode="auto">
              <a:xfrm>
                <a:off x="2688" y="3504"/>
                <a:ext cx="480" cy="192"/>
              </a:xfrm>
              <a:custGeom>
                <a:avLst/>
                <a:gdLst>
                  <a:gd name="T0" fmla="*/ 480 w 480"/>
                  <a:gd name="T1" fmla="*/ 192 h 192"/>
                  <a:gd name="T2" fmla="*/ 336 w 480"/>
                  <a:gd name="T3" fmla="*/ 48 h 192"/>
                  <a:gd name="T4" fmla="*/ 0 w 480"/>
                  <a:gd name="T5" fmla="*/ 0 h 192"/>
                  <a:gd name="T6" fmla="*/ 0 60000 65536"/>
                  <a:gd name="T7" fmla="*/ 0 60000 65536"/>
                  <a:gd name="T8" fmla="*/ 0 60000 65536"/>
                  <a:gd name="T9" fmla="*/ 0 w 480"/>
                  <a:gd name="T10" fmla="*/ 0 h 192"/>
                  <a:gd name="T11" fmla="*/ 480 w 480"/>
                  <a:gd name="T12" fmla="*/ 192 h 192"/>
                </a:gdLst>
                <a:ahLst/>
                <a:cxnLst>
                  <a:cxn ang="T6">
                    <a:pos x="T0" y="T1"/>
                  </a:cxn>
                  <a:cxn ang="T7">
                    <a:pos x="T2" y="T3"/>
                  </a:cxn>
                  <a:cxn ang="T8">
                    <a:pos x="T4" y="T5"/>
                  </a:cxn>
                </a:cxnLst>
                <a:rect l="T9" t="T10" r="T11" b="T12"/>
                <a:pathLst>
                  <a:path w="480" h="192">
                    <a:moveTo>
                      <a:pt x="480" y="192"/>
                    </a:moveTo>
                    <a:cubicBezTo>
                      <a:pt x="448" y="136"/>
                      <a:pt x="416" y="80"/>
                      <a:pt x="336" y="48"/>
                    </a:cubicBezTo>
                    <a:cubicBezTo>
                      <a:pt x="256" y="16"/>
                      <a:pt x="56" y="8"/>
                      <a:pt x="0" y="0"/>
                    </a:cubicBezTo>
                  </a:path>
                </a:pathLst>
              </a:custGeom>
              <a:noFill/>
              <a:ln w="9525">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grpSp>
      <p:graphicFrame>
        <p:nvGraphicFramePr>
          <p:cNvPr id="188445" name="Object 29">
            <a:extLst>
              <a:ext uri="{FF2B5EF4-FFF2-40B4-BE49-F238E27FC236}">
                <a16:creationId xmlns:a16="http://schemas.microsoft.com/office/drawing/2014/main" id="{CF0D57A6-942F-AEB5-E30C-1977F5B745E8}"/>
              </a:ext>
            </a:extLst>
          </p:cNvPr>
          <p:cNvGraphicFramePr>
            <a:graphicFrameLocks noChangeAspect="1"/>
          </p:cNvGraphicFramePr>
          <p:nvPr/>
        </p:nvGraphicFramePr>
        <p:xfrm>
          <a:off x="3733800" y="1600200"/>
          <a:ext cx="4876800" cy="2227263"/>
        </p:xfrm>
        <a:graphic>
          <a:graphicData uri="http://schemas.openxmlformats.org/presentationml/2006/ole">
            <mc:AlternateContent xmlns:mc="http://schemas.openxmlformats.org/markup-compatibility/2006">
              <mc:Choice xmlns:v="urn:schemas-microsoft-com:vml" Requires="v">
                <p:oleObj name="Equation" r:id="rId2" imgW="2946400" imgH="1346200" progId="Equation.3">
                  <p:embed/>
                </p:oleObj>
              </mc:Choice>
              <mc:Fallback>
                <p:oleObj name="Equation" r:id="rId2" imgW="2946400" imgH="1346200" progId="Equation.3">
                  <p:embed/>
                  <p:pic>
                    <p:nvPicPr>
                      <p:cNvPr id="188445" name="Object 29">
                        <a:extLst>
                          <a:ext uri="{FF2B5EF4-FFF2-40B4-BE49-F238E27FC236}">
                            <a16:creationId xmlns:a16="http://schemas.microsoft.com/office/drawing/2014/main" id="{CF0D57A6-942F-AEB5-E30C-1977F5B745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1600200"/>
                        <a:ext cx="4876800" cy="222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8447" name="Text Box 31">
            <a:extLst>
              <a:ext uri="{FF2B5EF4-FFF2-40B4-BE49-F238E27FC236}">
                <a16:creationId xmlns:a16="http://schemas.microsoft.com/office/drawing/2014/main" id="{77B4741E-CB1B-A709-6D9D-96A97EDFD63F}"/>
              </a:ext>
            </a:extLst>
          </p:cNvPr>
          <p:cNvSpPr txBox="1">
            <a:spLocks noChangeArrowheads="1"/>
          </p:cNvSpPr>
          <p:nvPr/>
        </p:nvSpPr>
        <p:spPr bwMode="auto">
          <a:xfrm>
            <a:off x="457200" y="4343400"/>
            <a:ext cx="28194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buFontTx/>
              <a:buChar char="•"/>
            </a:pPr>
            <a:r>
              <a:rPr lang="en-US" altLang="en-US" sz="3000"/>
              <a:t>  We can also put the capacities in a matrix:</a:t>
            </a:r>
          </a:p>
        </p:txBody>
      </p:sp>
      <p:graphicFrame>
        <p:nvGraphicFramePr>
          <p:cNvPr id="188448" name="Object 32">
            <a:extLst>
              <a:ext uri="{FF2B5EF4-FFF2-40B4-BE49-F238E27FC236}">
                <a16:creationId xmlns:a16="http://schemas.microsoft.com/office/drawing/2014/main" id="{E6860CBD-FD08-56F1-9AAA-00F96F5DAEF9}"/>
              </a:ext>
            </a:extLst>
          </p:cNvPr>
          <p:cNvGraphicFramePr>
            <a:graphicFrameLocks noChangeAspect="1"/>
          </p:cNvGraphicFramePr>
          <p:nvPr/>
        </p:nvGraphicFramePr>
        <p:xfrm>
          <a:off x="3657600" y="3886200"/>
          <a:ext cx="5241925" cy="2276475"/>
        </p:xfrm>
        <a:graphic>
          <a:graphicData uri="http://schemas.openxmlformats.org/presentationml/2006/ole">
            <mc:AlternateContent xmlns:mc="http://schemas.openxmlformats.org/markup-compatibility/2006">
              <mc:Choice xmlns:v="urn:schemas-microsoft-com:vml" Requires="v">
                <p:oleObj name="Equation" r:id="rId4" imgW="3098800" imgH="1346200" progId="Equation.3">
                  <p:embed/>
                </p:oleObj>
              </mc:Choice>
              <mc:Fallback>
                <p:oleObj name="Equation" r:id="rId4" imgW="3098800" imgH="1346200" progId="Equation.3">
                  <p:embed/>
                  <p:pic>
                    <p:nvPicPr>
                      <p:cNvPr id="188448" name="Object 32">
                        <a:extLst>
                          <a:ext uri="{FF2B5EF4-FFF2-40B4-BE49-F238E27FC236}">
                            <a16:creationId xmlns:a16="http://schemas.microsoft.com/office/drawing/2014/main" id="{E6860CBD-FD08-56F1-9AAA-00F96F5DA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3886200"/>
                        <a:ext cx="5241925" cy="227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8421">
                                            <p:txEl>
                                              <p:pRg st="0" end="0"/>
                                            </p:txEl>
                                          </p:spTgt>
                                        </p:tgtEl>
                                        <p:attrNameLst>
                                          <p:attrName>style.visibility</p:attrName>
                                        </p:attrNameLst>
                                      </p:cBhvr>
                                      <p:to>
                                        <p:strVal val="visible"/>
                                      </p:to>
                                    </p:set>
                                    <p:anim calcmode="lin" valueType="num">
                                      <p:cBhvr additive="base">
                                        <p:cTn id="7" dur="500" fill="hold"/>
                                        <p:tgtEl>
                                          <p:spTgt spid="18842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84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8445"/>
                                        </p:tgtEl>
                                        <p:attrNameLst>
                                          <p:attrName>style.visibility</p:attrName>
                                        </p:attrNameLst>
                                      </p:cBhvr>
                                      <p:to>
                                        <p:strVal val="visible"/>
                                      </p:to>
                                    </p:set>
                                    <p:anim calcmode="lin" valueType="num">
                                      <p:cBhvr additive="base">
                                        <p:cTn id="19" dur="500" fill="hold"/>
                                        <p:tgtEl>
                                          <p:spTgt spid="188445"/>
                                        </p:tgtEl>
                                        <p:attrNameLst>
                                          <p:attrName>ppt_x</p:attrName>
                                        </p:attrNameLst>
                                      </p:cBhvr>
                                      <p:tavLst>
                                        <p:tav tm="0">
                                          <p:val>
                                            <p:strVal val="0-#ppt_w/2"/>
                                          </p:val>
                                        </p:tav>
                                        <p:tav tm="100000">
                                          <p:val>
                                            <p:strVal val="#ppt_x"/>
                                          </p:val>
                                        </p:tav>
                                      </p:tavLst>
                                    </p:anim>
                                    <p:anim calcmode="lin" valueType="num">
                                      <p:cBhvr additive="base">
                                        <p:cTn id="20" dur="500" fill="hold"/>
                                        <p:tgtEl>
                                          <p:spTgt spid="18844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8447"/>
                                        </p:tgtEl>
                                        <p:attrNameLst>
                                          <p:attrName>style.visibility</p:attrName>
                                        </p:attrNameLst>
                                      </p:cBhvr>
                                      <p:to>
                                        <p:strVal val="visible"/>
                                      </p:to>
                                    </p:set>
                                    <p:anim calcmode="lin" valueType="num">
                                      <p:cBhvr additive="base">
                                        <p:cTn id="25" dur="500" fill="hold"/>
                                        <p:tgtEl>
                                          <p:spTgt spid="188447"/>
                                        </p:tgtEl>
                                        <p:attrNameLst>
                                          <p:attrName>ppt_x</p:attrName>
                                        </p:attrNameLst>
                                      </p:cBhvr>
                                      <p:tavLst>
                                        <p:tav tm="0">
                                          <p:val>
                                            <p:strVal val="0-#ppt_w/2"/>
                                          </p:val>
                                        </p:tav>
                                        <p:tav tm="100000">
                                          <p:val>
                                            <p:strVal val="#ppt_x"/>
                                          </p:val>
                                        </p:tav>
                                      </p:tavLst>
                                    </p:anim>
                                    <p:anim calcmode="lin" valueType="num">
                                      <p:cBhvr additive="base">
                                        <p:cTn id="26" dur="500" fill="hold"/>
                                        <p:tgtEl>
                                          <p:spTgt spid="18844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88448"/>
                                        </p:tgtEl>
                                        <p:attrNameLst>
                                          <p:attrName>style.visibility</p:attrName>
                                        </p:attrNameLst>
                                      </p:cBhvr>
                                      <p:to>
                                        <p:strVal val="visible"/>
                                      </p:to>
                                    </p:set>
                                    <p:anim calcmode="lin" valueType="num">
                                      <p:cBhvr additive="base">
                                        <p:cTn id="31" dur="500" fill="hold"/>
                                        <p:tgtEl>
                                          <p:spTgt spid="188448"/>
                                        </p:tgtEl>
                                        <p:attrNameLst>
                                          <p:attrName>ppt_x</p:attrName>
                                        </p:attrNameLst>
                                      </p:cBhvr>
                                      <p:tavLst>
                                        <p:tav tm="0">
                                          <p:val>
                                            <p:strVal val="0-#ppt_w/2"/>
                                          </p:val>
                                        </p:tav>
                                        <p:tav tm="100000">
                                          <p:val>
                                            <p:strVal val="#ppt_x"/>
                                          </p:val>
                                        </p:tav>
                                      </p:tavLst>
                                    </p:anim>
                                    <p:anim calcmode="lin" valueType="num">
                                      <p:cBhvr additive="base">
                                        <p:cTn id="32" dur="500" fill="hold"/>
                                        <p:tgtEl>
                                          <p:spTgt spid="1884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1" grpId="0" build="p" bldLvl="2" autoUpdateAnimBg="0"/>
      <p:bldP spid="188447" grpId="0"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B684B-8FD8-7CC6-4D70-D7A7E7D1BE20}"/>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35D30055-37ED-6720-C105-F85563D970E6}"/>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dirty="0"/>
              <a:t>More Details about Vertices</a:t>
            </a:r>
          </a:p>
        </p:txBody>
      </p:sp>
      <p:sp>
        <p:nvSpPr>
          <p:cNvPr id="9219" name="Rectangle 3">
            <a:extLst>
              <a:ext uri="{FF2B5EF4-FFF2-40B4-BE49-F238E27FC236}">
                <a16:creationId xmlns:a16="http://schemas.microsoft.com/office/drawing/2014/main" id="{E78823D2-12B8-3D90-4203-796E93B94833}"/>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9220" name="Rectangle 4">
            <a:extLst>
              <a:ext uri="{FF2B5EF4-FFF2-40B4-BE49-F238E27FC236}">
                <a16:creationId xmlns:a16="http://schemas.microsoft.com/office/drawing/2014/main" id="{8C6D7A02-5BF8-1BD3-690D-150225D1E412}"/>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400" dirty="0"/>
              <a:t>CPE 778, Lect. 31</a:t>
            </a:r>
          </a:p>
        </p:txBody>
      </p:sp>
      <p:sp>
        <p:nvSpPr>
          <p:cNvPr id="203781" name="Text Box 5">
            <a:extLst>
              <a:ext uri="{FF2B5EF4-FFF2-40B4-BE49-F238E27FC236}">
                <a16:creationId xmlns:a16="http://schemas.microsoft.com/office/drawing/2014/main" id="{D6DE01BC-D0F9-A482-1371-BADC08B29153}"/>
              </a:ext>
            </a:extLst>
          </p:cNvPr>
          <p:cNvSpPr txBox="1">
            <a:spLocks noChangeArrowheads="1"/>
          </p:cNvSpPr>
          <p:nvPr/>
        </p:nvSpPr>
        <p:spPr bwMode="auto">
          <a:xfrm>
            <a:off x="292100" y="843761"/>
            <a:ext cx="8153400"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buFontTx/>
              <a:buChar char="•"/>
            </a:pPr>
            <a:r>
              <a:rPr lang="en-US" altLang="en-US" sz="3300" dirty="0"/>
              <a:t>The </a:t>
            </a:r>
            <a:r>
              <a:rPr lang="en-US" altLang="en-US" sz="3300" u="sng" dirty="0"/>
              <a:t>degree</a:t>
            </a:r>
            <a:r>
              <a:rPr lang="en-US" altLang="en-US" sz="3300" dirty="0"/>
              <a:t> of a vertex is equal to the number of edges which emanate from it.</a:t>
            </a:r>
          </a:p>
          <a:p>
            <a:pPr>
              <a:buFontTx/>
              <a:buChar char="•"/>
            </a:pPr>
            <a:r>
              <a:rPr lang="en-US" altLang="en-US" sz="3300" dirty="0"/>
              <a:t>A vertex can also be given a numerical weight (like an importance, or a capacity), or a classification, which is often called a </a:t>
            </a:r>
            <a:r>
              <a:rPr lang="en-US" altLang="en-US" sz="3300" u="sng" dirty="0"/>
              <a:t>color</a:t>
            </a:r>
            <a:endParaRPr lang="en-US" altLang="en-US" sz="3300" dirty="0"/>
          </a:p>
          <a:p>
            <a:pPr>
              <a:buFontTx/>
              <a:buChar char="•"/>
            </a:pPr>
            <a:r>
              <a:rPr lang="en-US" altLang="en-US" sz="3300" dirty="0"/>
              <a:t>Thus we can define problems which try to minimize the connections between different types of edges (partitioning) or find paths to minimize the distance between all vertices of the same color (clustering)</a:t>
            </a:r>
            <a:endParaRPr lang="en-US" altLang="en-US" sz="3300" u="sng" dirty="0"/>
          </a:p>
        </p:txBody>
      </p:sp>
    </p:spTree>
    <p:extLst>
      <p:ext uri="{BB962C8B-B14F-4D97-AF65-F5344CB8AC3E}">
        <p14:creationId xmlns:p14="http://schemas.microsoft.com/office/powerpoint/2010/main" val="36411378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3781">
                                            <p:txEl>
                                              <p:pRg st="1" end="1"/>
                                            </p:txEl>
                                          </p:spTgt>
                                        </p:tgtEl>
                                        <p:attrNameLst>
                                          <p:attrName>style.visibility</p:attrName>
                                        </p:attrNameLst>
                                      </p:cBhvr>
                                      <p:to>
                                        <p:strVal val="visible"/>
                                      </p:to>
                                    </p:set>
                                    <p:anim calcmode="lin" valueType="num">
                                      <p:cBhvr additive="base">
                                        <p:cTn id="7" dur="500" fill="hold"/>
                                        <p:tgtEl>
                                          <p:spTgt spid="203781">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378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3781">
                                            <p:txEl>
                                              <p:pRg st="2" end="2"/>
                                            </p:txEl>
                                          </p:spTgt>
                                        </p:tgtEl>
                                        <p:attrNameLst>
                                          <p:attrName>style.visibility</p:attrName>
                                        </p:attrNameLst>
                                      </p:cBhvr>
                                      <p:to>
                                        <p:strVal val="visible"/>
                                      </p:to>
                                    </p:set>
                                    <p:anim calcmode="lin" valueType="num">
                                      <p:cBhvr additive="base">
                                        <p:cTn id="13" dur="500" fill="hold"/>
                                        <p:tgtEl>
                                          <p:spTgt spid="20378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378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03781">
                                            <p:txEl>
                                              <p:pRg st="0" end="0"/>
                                            </p:txEl>
                                          </p:spTgt>
                                        </p:tgtEl>
                                        <p:attrNameLst>
                                          <p:attrName>style.visibility</p:attrName>
                                        </p:attrNameLst>
                                      </p:cBhvr>
                                      <p:to>
                                        <p:strVal val="visible"/>
                                      </p:to>
                                    </p:set>
                                    <p:anim calcmode="lin" valueType="num">
                                      <p:cBhvr additive="base">
                                        <p:cTn id="19" dur="500" fill="hold"/>
                                        <p:tgtEl>
                                          <p:spTgt spid="203781">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378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1" grpId="0" build="p"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84DC5A5-7F5F-A1E7-1664-89A7CBFE9375}"/>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Networks</a:t>
            </a:r>
          </a:p>
        </p:txBody>
      </p:sp>
      <p:sp>
        <p:nvSpPr>
          <p:cNvPr id="11267" name="Rectangle 3">
            <a:extLst>
              <a:ext uri="{FF2B5EF4-FFF2-40B4-BE49-F238E27FC236}">
                <a16:creationId xmlns:a16="http://schemas.microsoft.com/office/drawing/2014/main" id="{CDA8F145-55CE-15B5-1E44-CA0FB628F802}"/>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11268" name="Rectangle 4">
            <a:extLst>
              <a:ext uri="{FF2B5EF4-FFF2-40B4-BE49-F238E27FC236}">
                <a16:creationId xmlns:a16="http://schemas.microsoft.com/office/drawing/2014/main" id="{47BBB91F-0E35-C598-60A9-4E1A48466AC6}"/>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400" dirty="0"/>
              <a:t>CPE 778, Lect. 31</a:t>
            </a:r>
          </a:p>
        </p:txBody>
      </p:sp>
      <p:sp>
        <p:nvSpPr>
          <p:cNvPr id="218117" name="Text Box 5">
            <a:extLst>
              <a:ext uri="{FF2B5EF4-FFF2-40B4-BE49-F238E27FC236}">
                <a16:creationId xmlns:a16="http://schemas.microsoft.com/office/drawing/2014/main" id="{B8D50DDF-D72A-6C3D-401F-0998540B8E81}"/>
              </a:ext>
            </a:extLst>
          </p:cNvPr>
          <p:cNvSpPr txBox="1">
            <a:spLocks noChangeArrowheads="1"/>
          </p:cNvSpPr>
          <p:nvPr/>
        </p:nvSpPr>
        <p:spPr bwMode="auto">
          <a:xfrm>
            <a:off x="342900" y="1201738"/>
            <a:ext cx="8458200"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600">
                <a:solidFill>
                  <a:schemeClr val="tx1"/>
                </a:solidFill>
                <a:latin typeface="Times New Roman" panose="02020603050405020304" pitchFamily="18" charset="0"/>
              </a:defRPr>
            </a:lvl1pPr>
            <a:lvl2pPr marL="914400" indent="-45720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lnSpc>
                <a:spcPct val="110000"/>
              </a:lnSpc>
              <a:buFontTx/>
              <a:buChar char="•"/>
            </a:pPr>
            <a:r>
              <a:rPr lang="en-US" altLang="en-US" sz="3400"/>
              <a:t>A </a:t>
            </a:r>
            <a:r>
              <a:rPr lang="en-US" altLang="en-US" sz="3400" u="sng"/>
              <a:t>network</a:t>
            </a:r>
            <a:r>
              <a:rPr lang="en-US" altLang="en-US" sz="3400"/>
              <a:t> is a connected graph with all edges directed and weighted</a:t>
            </a:r>
            <a:endParaRPr lang="en-US" altLang="en-US" sz="3400" u="sng"/>
          </a:p>
          <a:p>
            <a:pPr>
              <a:lnSpc>
                <a:spcPct val="110000"/>
              </a:lnSpc>
              <a:buFontTx/>
              <a:buChar char="•"/>
            </a:pPr>
            <a:r>
              <a:rPr lang="en-US" altLang="en-US" sz="3400"/>
              <a:t>Many chemical/petroleum engineering problems are network design problems:</a:t>
            </a:r>
          </a:p>
          <a:p>
            <a:pPr lvl="1">
              <a:lnSpc>
                <a:spcPct val="110000"/>
              </a:lnSpc>
              <a:buFontTx/>
              <a:buChar char="–"/>
            </a:pPr>
            <a:r>
              <a:rPr lang="en-US" altLang="en-US" sz="3100"/>
              <a:t>Heat exchanger network synthesis</a:t>
            </a:r>
          </a:p>
          <a:p>
            <a:pPr lvl="1">
              <a:lnSpc>
                <a:spcPct val="110000"/>
              </a:lnSpc>
              <a:buFontTx/>
              <a:buChar char="–"/>
            </a:pPr>
            <a:r>
              <a:rPr lang="en-US" altLang="en-US" sz="3100"/>
              <a:t>Reactor network synthesis</a:t>
            </a:r>
          </a:p>
          <a:p>
            <a:pPr lvl="1">
              <a:lnSpc>
                <a:spcPct val="110000"/>
              </a:lnSpc>
              <a:buFontTx/>
              <a:buChar char="–"/>
            </a:pPr>
            <a:r>
              <a:rPr lang="en-US" altLang="en-US" sz="3100"/>
              <a:t>Piping and layout problems</a:t>
            </a:r>
          </a:p>
          <a:p>
            <a:pPr lvl="1">
              <a:lnSpc>
                <a:spcPct val="110000"/>
              </a:lnSpc>
              <a:buFontTx/>
              <a:buChar char="–"/>
            </a:pPr>
            <a:r>
              <a:rPr lang="en-US" altLang="en-US" sz="3100"/>
              <a:t>Scheduling and planning issues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8117">
                                            <p:txEl>
                                              <p:pRg st="0" end="0"/>
                                            </p:txEl>
                                          </p:spTgt>
                                        </p:tgtEl>
                                        <p:attrNameLst>
                                          <p:attrName>style.visibility</p:attrName>
                                        </p:attrNameLst>
                                      </p:cBhvr>
                                      <p:to>
                                        <p:strVal val="visible"/>
                                      </p:to>
                                    </p:set>
                                    <p:anim calcmode="lin" valueType="num">
                                      <p:cBhvr additive="base">
                                        <p:cTn id="7" dur="500" fill="hold"/>
                                        <p:tgtEl>
                                          <p:spTgt spid="21811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81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18117">
                                            <p:txEl>
                                              <p:pRg st="1" end="1"/>
                                            </p:txEl>
                                          </p:spTgt>
                                        </p:tgtEl>
                                        <p:attrNameLst>
                                          <p:attrName>style.visibility</p:attrName>
                                        </p:attrNameLst>
                                      </p:cBhvr>
                                      <p:to>
                                        <p:strVal val="visible"/>
                                      </p:to>
                                    </p:set>
                                    <p:anim calcmode="lin" valueType="num">
                                      <p:cBhvr additive="base">
                                        <p:cTn id="13" dur="500" fill="hold"/>
                                        <p:tgtEl>
                                          <p:spTgt spid="21811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811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18117">
                                            <p:txEl>
                                              <p:pRg st="2" end="2"/>
                                            </p:txEl>
                                          </p:spTgt>
                                        </p:tgtEl>
                                        <p:attrNameLst>
                                          <p:attrName>style.visibility</p:attrName>
                                        </p:attrNameLst>
                                      </p:cBhvr>
                                      <p:to>
                                        <p:strVal val="visible"/>
                                      </p:to>
                                    </p:set>
                                    <p:anim calcmode="lin" valueType="num">
                                      <p:cBhvr additive="base">
                                        <p:cTn id="19" dur="500" fill="hold"/>
                                        <p:tgtEl>
                                          <p:spTgt spid="21811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811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18117">
                                            <p:txEl>
                                              <p:pRg st="3" end="3"/>
                                            </p:txEl>
                                          </p:spTgt>
                                        </p:tgtEl>
                                        <p:attrNameLst>
                                          <p:attrName>style.visibility</p:attrName>
                                        </p:attrNameLst>
                                      </p:cBhvr>
                                      <p:to>
                                        <p:strVal val="visible"/>
                                      </p:to>
                                    </p:set>
                                    <p:anim calcmode="lin" valueType="num">
                                      <p:cBhvr additive="base">
                                        <p:cTn id="25" dur="500" fill="hold"/>
                                        <p:tgtEl>
                                          <p:spTgt spid="21811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811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18117">
                                            <p:txEl>
                                              <p:pRg st="4" end="4"/>
                                            </p:txEl>
                                          </p:spTgt>
                                        </p:tgtEl>
                                        <p:attrNameLst>
                                          <p:attrName>style.visibility</p:attrName>
                                        </p:attrNameLst>
                                      </p:cBhvr>
                                      <p:to>
                                        <p:strVal val="visible"/>
                                      </p:to>
                                    </p:set>
                                    <p:anim calcmode="lin" valueType="num">
                                      <p:cBhvr additive="base">
                                        <p:cTn id="31" dur="500" fill="hold"/>
                                        <p:tgtEl>
                                          <p:spTgt spid="21811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1811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18117">
                                            <p:txEl>
                                              <p:pRg st="5" end="5"/>
                                            </p:txEl>
                                          </p:spTgt>
                                        </p:tgtEl>
                                        <p:attrNameLst>
                                          <p:attrName>style.visibility</p:attrName>
                                        </p:attrNameLst>
                                      </p:cBhvr>
                                      <p:to>
                                        <p:strVal val="visible"/>
                                      </p:to>
                                    </p:set>
                                    <p:anim calcmode="lin" valueType="num">
                                      <p:cBhvr additive="base">
                                        <p:cTn id="37" dur="500" fill="hold"/>
                                        <p:tgtEl>
                                          <p:spTgt spid="21811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1811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7" grpId="0" build="p" bldLvl="2"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14FDDB0-0EB2-651D-FEE3-B3079985E273}"/>
              </a:ext>
            </a:extLst>
          </p:cNvPr>
          <p:cNvSpPr>
            <a:spLocks noGrp="1" noChangeArrowheads="1"/>
          </p:cNvSpPr>
          <p:nvPr>
            <p:ph type="title"/>
          </p:nvPr>
        </p:nvSpPr>
        <p:spPr>
          <a:xfrm>
            <a:off x="381000" y="304800"/>
            <a:ext cx="8382000" cy="1143000"/>
          </a:xfrm>
        </p:spPr>
        <p:txBody>
          <a:bodyPr>
            <a:normAutofit fontScale="90000"/>
          </a:bodyPr>
          <a:lstStyle/>
          <a:p>
            <a:pPr>
              <a:lnSpc>
                <a:spcPct val="80000"/>
              </a:lnSpc>
            </a:pPr>
            <a:r>
              <a:rPr lang="en-US" altLang="en-US" sz="4600"/>
              <a:t>Oil Field Piping Problem: Formulation</a:t>
            </a:r>
          </a:p>
        </p:txBody>
      </p:sp>
      <p:sp>
        <p:nvSpPr>
          <p:cNvPr id="12291" name="Rectangle 3">
            <a:extLst>
              <a:ext uri="{FF2B5EF4-FFF2-40B4-BE49-F238E27FC236}">
                <a16:creationId xmlns:a16="http://schemas.microsoft.com/office/drawing/2014/main" id="{7143BB91-4E1E-7FEA-6391-A4F358A24E9A}"/>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12292" name="Rectangle 4">
            <a:extLst>
              <a:ext uri="{FF2B5EF4-FFF2-40B4-BE49-F238E27FC236}">
                <a16:creationId xmlns:a16="http://schemas.microsoft.com/office/drawing/2014/main" id="{EF381C44-B931-3710-B65C-71912F9A2CD9}"/>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400" dirty="0"/>
              <a:t>CPE 778, Lect. 31</a:t>
            </a:r>
          </a:p>
        </p:txBody>
      </p:sp>
      <p:sp>
        <p:nvSpPr>
          <p:cNvPr id="205829" name="Text Box 5">
            <a:extLst>
              <a:ext uri="{FF2B5EF4-FFF2-40B4-BE49-F238E27FC236}">
                <a16:creationId xmlns:a16="http://schemas.microsoft.com/office/drawing/2014/main" id="{58EBC47F-3CA7-621E-0554-6AABEFE08938}"/>
              </a:ext>
            </a:extLst>
          </p:cNvPr>
          <p:cNvSpPr txBox="1">
            <a:spLocks noChangeArrowheads="1"/>
          </p:cNvSpPr>
          <p:nvPr/>
        </p:nvSpPr>
        <p:spPr bwMode="auto">
          <a:xfrm>
            <a:off x="495300" y="1828800"/>
            <a:ext cx="815340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buFontTx/>
              <a:buChar char="•"/>
            </a:pPr>
            <a:r>
              <a:rPr lang="en-US" altLang="en-US" sz="3400"/>
              <a:t>Assume the production amounts from each well and all distances are known</a:t>
            </a:r>
          </a:p>
          <a:p>
            <a:pPr>
              <a:buFontTx/>
              <a:buChar char="•"/>
            </a:pPr>
            <a:r>
              <a:rPr lang="en-US" altLang="en-US" sz="3400"/>
              <a:t>The cost to build each pipe is</a:t>
            </a:r>
          </a:p>
        </p:txBody>
      </p:sp>
      <p:graphicFrame>
        <p:nvGraphicFramePr>
          <p:cNvPr id="205834" name="Object 10">
            <a:extLst>
              <a:ext uri="{FF2B5EF4-FFF2-40B4-BE49-F238E27FC236}">
                <a16:creationId xmlns:a16="http://schemas.microsoft.com/office/drawing/2014/main" id="{41811FC6-56D2-9CDA-0970-5A436EACC670}"/>
              </a:ext>
            </a:extLst>
          </p:cNvPr>
          <p:cNvGraphicFramePr>
            <a:graphicFrameLocks noChangeAspect="1"/>
          </p:cNvGraphicFramePr>
          <p:nvPr/>
        </p:nvGraphicFramePr>
        <p:xfrm>
          <a:off x="2678113" y="3581400"/>
          <a:ext cx="3408362" cy="666750"/>
        </p:xfrm>
        <a:graphic>
          <a:graphicData uri="http://schemas.openxmlformats.org/presentationml/2006/ole">
            <mc:AlternateContent xmlns:mc="http://schemas.openxmlformats.org/markup-compatibility/2006">
              <mc:Choice xmlns:v="urn:schemas-microsoft-com:vml" Requires="v">
                <p:oleObj name="Equation" r:id="rId2" imgW="1168400" imgH="228600" progId="Equation.3">
                  <p:embed/>
                </p:oleObj>
              </mc:Choice>
              <mc:Fallback>
                <p:oleObj name="Equation" r:id="rId2" imgW="1168400" imgH="228600" progId="Equation.3">
                  <p:embed/>
                  <p:pic>
                    <p:nvPicPr>
                      <p:cNvPr id="205834" name="Object 10">
                        <a:extLst>
                          <a:ext uri="{FF2B5EF4-FFF2-40B4-BE49-F238E27FC236}">
                            <a16:creationId xmlns:a16="http://schemas.microsoft.com/office/drawing/2014/main" id="{41811FC6-56D2-9CDA-0970-5A436EACC6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8113" y="3581400"/>
                        <a:ext cx="3408362"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835" name="Text Box 11">
            <a:extLst>
              <a:ext uri="{FF2B5EF4-FFF2-40B4-BE49-F238E27FC236}">
                <a16:creationId xmlns:a16="http://schemas.microsoft.com/office/drawing/2014/main" id="{AE35BA0E-6921-56B9-16E4-17489F112E6B}"/>
              </a:ext>
            </a:extLst>
          </p:cNvPr>
          <p:cNvSpPr txBox="1">
            <a:spLocks noChangeArrowheads="1"/>
          </p:cNvSpPr>
          <p:nvPr/>
        </p:nvSpPr>
        <p:spPr bwMode="auto">
          <a:xfrm>
            <a:off x="525463" y="4419600"/>
            <a:ext cx="8093075"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buFontTx/>
              <a:buChar char="•"/>
            </a:pPr>
            <a:r>
              <a:rPr lang="en-US" altLang="en-US" sz="3400"/>
              <a:t>   Formulate a network flow problem to build the network at minimum cost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5829">
                                            <p:txEl>
                                              <p:pRg st="0" end="0"/>
                                            </p:txEl>
                                          </p:spTgt>
                                        </p:tgtEl>
                                        <p:attrNameLst>
                                          <p:attrName>style.visibility</p:attrName>
                                        </p:attrNameLst>
                                      </p:cBhvr>
                                      <p:to>
                                        <p:strVal val="visible"/>
                                      </p:to>
                                    </p:set>
                                    <p:anim calcmode="lin" valueType="num">
                                      <p:cBhvr additive="base">
                                        <p:cTn id="7" dur="500" fill="hold"/>
                                        <p:tgtEl>
                                          <p:spTgt spid="20582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582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5829">
                                            <p:txEl>
                                              <p:pRg st="1" end="1"/>
                                            </p:txEl>
                                          </p:spTgt>
                                        </p:tgtEl>
                                        <p:attrNameLst>
                                          <p:attrName>style.visibility</p:attrName>
                                        </p:attrNameLst>
                                      </p:cBhvr>
                                      <p:to>
                                        <p:strVal val="visible"/>
                                      </p:to>
                                    </p:set>
                                    <p:anim calcmode="lin" valueType="num">
                                      <p:cBhvr additive="base">
                                        <p:cTn id="13" dur="500" fill="hold"/>
                                        <p:tgtEl>
                                          <p:spTgt spid="20582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582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05834"/>
                                        </p:tgtEl>
                                        <p:attrNameLst>
                                          <p:attrName>style.visibility</p:attrName>
                                        </p:attrNameLst>
                                      </p:cBhvr>
                                      <p:to>
                                        <p:strVal val="visible"/>
                                      </p:to>
                                    </p:set>
                                    <p:anim calcmode="lin" valueType="num">
                                      <p:cBhvr additive="base">
                                        <p:cTn id="19" dur="500" fill="hold"/>
                                        <p:tgtEl>
                                          <p:spTgt spid="205834"/>
                                        </p:tgtEl>
                                        <p:attrNameLst>
                                          <p:attrName>ppt_x</p:attrName>
                                        </p:attrNameLst>
                                      </p:cBhvr>
                                      <p:tavLst>
                                        <p:tav tm="0">
                                          <p:val>
                                            <p:strVal val="0-#ppt_w/2"/>
                                          </p:val>
                                        </p:tav>
                                        <p:tav tm="100000">
                                          <p:val>
                                            <p:strVal val="#ppt_x"/>
                                          </p:val>
                                        </p:tav>
                                      </p:tavLst>
                                    </p:anim>
                                    <p:anim calcmode="lin" valueType="num">
                                      <p:cBhvr additive="base">
                                        <p:cTn id="20" dur="500" fill="hold"/>
                                        <p:tgtEl>
                                          <p:spTgt spid="20583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05835"/>
                                        </p:tgtEl>
                                        <p:attrNameLst>
                                          <p:attrName>style.visibility</p:attrName>
                                        </p:attrNameLst>
                                      </p:cBhvr>
                                      <p:to>
                                        <p:strVal val="visible"/>
                                      </p:to>
                                    </p:set>
                                    <p:anim calcmode="lin" valueType="num">
                                      <p:cBhvr additive="base">
                                        <p:cTn id="25" dur="500" fill="hold"/>
                                        <p:tgtEl>
                                          <p:spTgt spid="205835"/>
                                        </p:tgtEl>
                                        <p:attrNameLst>
                                          <p:attrName>ppt_x</p:attrName>
                                        </p:attrNameLst>
                                      </p:cBhvr>
                                      <p:tavLst>
                                        <p:tav tm="0">
                                          <p:val>
                                            <p:strVal val="0-#ppt_w/2"/>
                                          </p:val>
                                        </p:tav>
                                        <p:tav tm="100000">
                                          <p:val>
                                            <p:strVal val="#ppt_x"/>
                                          </p:val>
                                        </p:tav>
                                      </p:tavLst>
                                    </p:anim>
                                    <p:anim calcmode="lin" valueType="num">
                                      <p:cBhvr additive="base">
                                        <p:cTn id="26" dur="500" fill="hold"/>
                                        <p:tgtEl>
                                          <p:spTgt spid="2058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9" grpId="0" build="p" autoUpdateAnimBg="0"/>
      <p:bldP spid="205835" grpId="0"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757D7D5-D7B0-0987-8A98-5AEB895CCD70}"/>
              </a:ext>
            </a:extLst>
          </p:cNvPr>
          <p:cNvSpPr>
            <a:spLocks noGrp="1" noChangeArrowheads="1"/>
          </p:cNvSpPr>
          <p:nvPr>
            <p:ph type="title"/>
          </p:nvPr>
        </p:nvSpPr>
        <p:spPr>
          <a:xfrm>
            <a:off x="381000" y="0"/>
            <a:ext cx="8382000" cy="1143000"/>
          </a:xfrm>
        </p:spPr>
        <p:txBody>
          <a:bodyPr/>
          <a:lstStyle/>
          <a:p>
            <a:pPr>
              <a:lnSpc>
                <a:spcPct val="80000"/>
              </a:lnSpc>
            </a:pPr>
            <a:r>
              <a:rPr lang="en-US" altLang="en-US"/>
              <a:t>One Possible Formulation</a:t>
            </a:r>
            <a:endParaRPr lang="en-US" altLang="en-US" sz="4600"/>
          </a:p>
        </p:txBody>
      </p:sp>
      <p:sp>
        <p:nvSpPr>
          <p:cNvPr id="13315" name="Rectangle 3">
            <a:extLst>
              <a:ext uri="{FF2B5EF4-FFF2-40B4-BE49-F238E27FC236}">
                <a16:creationId xmlns:a16="http://schemas.microsoft.com/office/drawing/2014/main" id="{99604C80-E77A-C0AD-1408-296FFE5FB94D}"/>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endParaRPr lang="en-US" altLang="en-US"/>
          </a:p>
        </p:txBody>
      </p:sp>
      <p:sp>
        <p:nvSpPr>
          <p:cNvPr id="13316" name="Rectangle 4">
            <a:extLst>
              <a:ext uri="{FF2B5EF4-FFF2-40B4-BE49-F238E27FC236}">
                <a16:creationId xmlns:a16="http://schemas.microsoft.com/office/drawing/2014/main" id="{B44F31FC-8745-8EB0-639D-52871F706CFE}"/>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r>
              <a:rPr lang="en-US" altLang="en-US" sz="2400" dirty="0"/>
              <a:t>CPE 778, Lect. 31</a:t>
            </a:r>
          </a:p>
        </p:txBody>
      </p:sp>
      <p:graphicFrame>
        <p:nvGraphicFramePr>
          <p:cNvPr id="206862" name="Object 14">
            <a:extLst>
              <a:ext uri="{FF2B5EF4-FFF2-40B4-BE49-F238E27FC236}">
                <a16:creationId xmlns:a16="http://schemas.microsoft.com/office/drawing/2014/main" id="{09AA54F5-C83D-3177-26EE-9B39E51E2C15}"/>
              </a:ext>
            </a:extLst>
          </p:cNvPr>
          <p:cNvGraphicFramePr>
            <a:graphicFrameLocks noChangeAspect="1"/>
          </p:cNvGraphicFramePr>
          <p:nvPr/>
        </p:nvGraphicFramePr>
        <p:xfrm>
          <a:off x="381000" y="822325"/>
          <a:ext cx="6473825" cy="5688013"/>
        </p:xfrm>
        <a:graphic>
          <a:graphicData uri="http://schemas.openxmlformats.org/presentationml/2006/ole">
            <mc:AlternateContent xmlns:mc="http://schemas.openxmlformats.org/markup-compatibility/2006">
              <mc:Choice xmlns:v="urn:schemas-microsoft-com:vml" Requires="v">
                <p:oleObj name="Equation" r:id="rId2" imgW="3035300" imgH="2667000" progId="Equation.3">
                  <p:embed/>
                </p:oleObj>
              </mc:Choice>
              <mc:Fallback>
                <p:oleObj name="Equation" r:id="rId2" imgW="3035300" imgH="2667000" progId="Equation.3">
                  <p:embed/>
                  <p:pic>
                    <p:nvPicPr>
                      <p:cNvPr id="206862" name="Object 14">
                        <a:extLst>
                          <a:ext uri="{FF2B5EF4-FFF2-40B4-BE49-F238E27FC236}">
                            <a16:creationId xmlns:a16="http://schemas.microsoft.com/office/drawing/2014/main" id="{09AA54F5-C83D-3177-26EE-9B39E51E2C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822325"/>
                        <a:ext cx="6473825" cy="568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863" name="Text Box 15">
            <a:extLst>
              <a:ext uri="{FF2B5EF4-FFF2-40B4-BE49-F238E27FC236}">
                <a16:creationId xmlns:a16="http://schemas.microsoft.com/office/drawing/2014/main" id="{591B87E7-B7FA-6BA0-DA97-FB5CD1C3A20E}"/>
              </a:ext>
            </a:extLst>
          </p:cNvPr>
          <p:cNvSpPr txBox="1">
            <a:spLocks noChangeArrowheads="1"/>
          </p:cNvSpPr>
          <p:nvPr/>
        </p:nvSpPr>
        <p:spPr bwMode="auto">
          <a:xfrm>
            <a:off x="5943600" y="990600"/>
            <a:ext cx="274320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defRPr>
            </a:lvl9pPr>
          </a:lstStyle>
          <a:p>
            <a:pPr>
              <a:buFontTx/>
              <a:buChar char="•"/>
            </a:pPr>
            <a:r>
              <a:rPr lang="en-US" altLang="en-US" sz="3000"/>
              <a:t>  What type of optimization problem is this? </a:t>
            </a:r>
          </a:p>
          <a:p>
            <a:pPr>
              <a:buFontTx/>
              <a:buChar char="•"/>
            </a:pPr>
            <a:r>
              <a:rPr lang="en-US" altLang="en-US" sz="3000"/>
              <a:t>   A convex MINLP – solve via DICOPT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6862"/>
                                        </p:tgtEl>
                                        <p:attrNameLst>
                                          <p:attrName>style.visibility</p:attrName>
                                        </p:attrNameLst>
                                      </p:cBhvr>
                                      <p:to>
                                        <p:strVal val="visible"/>
                                      </p:to>
                                    </p:set>
                                    <p:anim calcmode="lin" valueType="num">
                                      <p:cBhvr additive="base">
                                        <p:cTn id="7" dur="500" fill="hold"/>
                                        <p:tgtEl>
                                          <p:spTgt spid="206862"/>
                                        </p:tgtEl>
                                        <p:attrNameLst>
                                          <p:attrName>ppt_x</p:attrName>
                                        </p:attrNameLst>
                                      </p:cBhvr>
                                      <p:tavLst>
                                        <p:tav tm="0">
                                          <p:val>
                                            <p:strVal val="0-#ppt_w/2"/>
                                          </p:val>
                                        </p:tav>
                                        <p:tav tm="100000">
                                          <p:val>
                                            <p:strVal val="#ppt_x"/>
                                          </p:val>
                                        </p:tav>
                                      </p:tavLst>
                                    </p:anim>
                                    <p:anim calcmode="lin" valueType="num">
                                      <p:cBhvr additive="base">
                                        <p:cTn id="8" dur="500" fill="hold"/>
                                        <p:tgtEl>
                                          <p:spTgt spid="20686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6863">
                                            <p:txEl>
                                              <p:pRg st="0" end="0"/>
                                            </p:txEl>
                                          </p:spTgt>
                                        </p:tgtEl>
                                        <p:attrNameLst>
                                          <p:attrName>style.visibility</p:attrName>
                                        </p:attrNameLst>
                                      </p:cBhvr>
                                      <p:to>
                                        <p:strVal val="visible"/>
                                      </p:to>
                                    </p:set>
                                    <p:anim calcmode="lin" valueType="num">
                                      <p:cBhvr additive="base">
                                        <p:cTn id="13" dur="500" fill="hold"/>
                                        <p:tgtEl>
                                          <p:spTgt spid="20686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68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06863">
                                            <p:txEl>
                                              <p:pRg st="1" end="1"/>
                                            </p:txEl>
                                          </p:spTgt>
                                        </p:tgtEl>
                                        <p:attrNameLst>
                                          <p:attrName>style.visibility</p:attrName>
                                        </p:attrNameLst>
                                      </p:cBhvr>
                                      <p:to>
                                        <p:strVal val="visible"/>
                                      </p:to>
                                    </p:set>
                                    <p:anim calcmode="lin" valueType="num">
                                      <p:cBhvr additive="base">
                                        <p:cTn id="19" dur="500" fill="hold"/>
                                        <p:tgtEl>
                                          <p:spTgt spid="20686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686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63" grpId="0" build="p"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6794F27-AA53-648A-F2EA-3645E442D837}"/>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Network Problems in C&amp;PE</a:t>
            </a:r>
          </a:p>
        </p:txBody>
      </p:sp>
      <p:sp>
        <p:nvSpPr>
          <p:cNvPr id="4099" name="Rectangle 3">
            <a:extLst>
              <a:ext uri="{FF2B5EF4-FFF2-40B4-BE49-F238E27FC236}">
                <a16:creationId xmlns:a16="http://schemas.microsoft.com/office/drawing/2014/main" id="{99476381-75AC-355F-8EF7-B2DBF7FD7C86}"/>
              </a:ext>
            </a:extLst>
          </p:cNvPr>
          <p:cNvSpPr>
            <a:spLocks noChangeArrowheads="1"/>
          </p:cNvSpPr>
          <p:nvPr/>
        </p:nvSpPr>
        <p:spPr bwMode="auto">
          <a:xfrm>
            <a:off x="152400" y="152400"/>
            <a:ext cx="8839200" cy="67056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0" name="Rectangle 4">
            <a:extLst>
              <a:ext uri="{FF2B5EF4-FFF2-40B4-BE49-F238E27FC236}">
                <a16:creationId xmlns:a16="http://schemas.microsoft.com/office/drawing/2014/main" id="{FF2A76C4-88FA-F633-A966-1F89FB6FE5CB}"/>
              </a:ext>
            </a:extLst>
          </p:cNvPr>
          <p:cNvSpPr>
            <a:spLocks noChangeArrowheads="1"/>
          </p:cNvSpPr>
          <p:nvPr/>
        </p:nvSpPr>
        <p:spPr bwMode="auto">
          <a:xfrm>
            <a:off x="6477000" y="64008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32</a:t>
            </a:r>
          </a:p>
        </p:txBody>
      </p:sp>
      <p:sp>
        <p:nvSpPr>
          <p:cNvPr id="4101" name="Text Box 5">
            <a:extLst>
              <a:ext uri="{FF2B5EF4-FFF2-40B4-BE49-F238E27FC236}">
                <a16:creationId xmlns:a16="http://schemas.microsoft.com/office/drawing/2014/main" id="{CC27EC64-EE34-2748-3689-0E28257AF832}"/>
              </a:ext>
            </a:extLst>
          </p:cNvPr>
          <p:cNvSpPr txBox="1">
            <a:spLocks noChangeArrowheads="1"/>
          </p:cNvSpPr>
          <p:nvPr/>
        </p:nvSpPr>
        <p:spPr bwMode="auto">
          <a:xfrm>
            <a:off x="342900" y="990600"/>
            <a:ext cx="8458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a:t>Many classic network optimization problems have direct application in C&amp;PE:</a:t>
            </a:r>
            <a:endParaRPr lang="en-US" altLang="en-US" i="1"/>
          </a:p>
        </p:txBody>
      </p:sp>
      <p:grpSp>
        <p:nvGrpSpPr>
          <p:cNvPr id="4102" name="Group 39">
            <a:extLst>
              <a:ext uri="{FF2B5EF4-FFF2-40B4-BE49-F238E27FC236}">
                <a16:creationId xmlns:a16="http://schemas.microsoft.com/office/drawing/2014/main" id="{96862229-5FDC-0C9A-3A4E-B3C72DB50A45}"/>
              </a:ext>
            </a:extLst>
          </p:cNvPr>
          <p:cNvGrpSpPr>
            <a:grpSpLocks/>
          </p:cNvGrpSpPr>
          <p:nvPr/>
        </p:nvGrpSpPr>
        <p:grpSpPr bwMode="auto">
          <a:xfrm>
            <a:off x="3051175" y="2133600"/>
            <a:ext cx="3041650" cy="1639888"/>
            <a:chOff x="1968" y="1684"/>
            <a:chExt cx="1916" cy="1033"/>
          </a:xfrm>
        </p:grpSpPr>
        <p:sp>
          <p:nvSpPr>
            <p:cNvPr id="4104" name="Text Box 8">
              <a:extLst>
                <a:ext uri="{FF2B5EF4-FFF2-40B4-BE49-F238E27FC236}">
                  <a16:creationId xmlns:a16="http://schemas.microsoft.com/office/drawing/2014/main" id="{9C48D945-3C5D-0E17-362B-D09D749CCB95}"/>
                </a:ext>
              </a:extLst>
            </p:cNvPr>
            <p:cNvSpPr txBox="1">
              <a:spLocks noChangeArrowheads="1"/>
            </p:cNvSpPr>
            <p:nvPr/>
          </p:nvSpPr>
          <p:spPr bwMode="auto">
            <a:xfrm>
              <a:off x="2400" y="1684"/>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18</a:t>
              </a:r>
            </a:p>
          </p:txBody>
        </p:sp>
        <p:sp>
          <p:nvSpPr>
            <p:cNvPr id="4105" name="Oval 10">
              <a:extLst>
                <a:ext uri="{FF2B5EF4-FFF2-40B4-BE49-F238E27FC236}">
                  <a16:creationId xmlns:a16="http://schemas.microsoft.com/office/drawing/2014/main" id="{67828E2D-D138-609D-0A75-4670C0DFB587}"/>
                </a:ext>
              </a:extLst>
            </p:cNvPr>
            <p:cNvSpPr>
              <a:spLocks noChangeArrowheads="1"/>
            </p:cNvSpPr>
            <p:nvPr/>
          </p:nvSpPr>
          <p:spPr bwMode="auto">
            <a:xfrm>
              <a:off x="2208" y="1876"/>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6" name="Oval 11">
              <a:extLst>
                <a:ext uri="{FF2B5EF4-FFF2-40B4-BE49-F238E27FC236}">
                  <a16:creationId xmlns:a16="http://schemas.microsoft.com/office/drawing/2014/main" id="{22DD0366-7AE0-2607-D3C5-A25F14799F19}"/>
                </a:ext>
              </a:extLst>
            </p:cNvPr>
            <p:cNvSpPr>
              <a:spLocks noChangeArrowheads="1"/>
            </p:cNvSpPr>
            <p:nvPr/>
          </p:nvSpPr>
          <p:spPr bwMode="auto">
            <a:xfrm>
              <a:off x="2688" y="1924"/>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7" name="Oval 12">
              <a:extLst>
                <a:ext uri="{FF2B5EF4-FFF2-40B4-BE49-F238E27FC236}">
                  <a16:creationId xmlns:a16="http://schemas.microsoft.com/office/drawing/2014/main" id="{0D1D5CEF-6608-F6AB-EFA5-B8F4160825BA}"/>
                </a:ext>
              </a:extLst>
            </p:cNvPr>
            <p:cNvSpPr>
              <a:spLocks noChangeArrowheads="1"/>
            </p:cNvSpPr>
            <p:nvPr/>
          </p:nvSpPr>
          <p:spPr bwMode="auto">
            <a:xfrm>
              <a:off x="3024" y="2260"/>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8" name="Oval 13">
              <a:extLst>
                <a:ext uri="{FF2B5EF4-FFF2-40B4-BE49-F238E27FC236}">
                  <a16:creationId xmlns:a16="http://schemas.microsoft.com/office/drawing/2014/main" id="{9D444B61-C216-5B6B-F90F-F1904BA63447}"/>
                </a:ext>
              </a:extLst>
            </p:cNvPr>
            <p:cNvSpPr>
              <a:spLocks noChangeArrowheads="1"/>
            </p:cNvSpPr>
            <p:nvPr/>
          </p:nvSpPr>
          <p:spPr bwMode="auto">
            <a:xfrm>
              <a:off x="3696" y="2068"/>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09" name="Oval 14">
              <a:extLst>
                <a:ext uri="{FF2B5EF4-FFF2-40B4-BE49-F238E27FC236}">
                  <a16:creationId xmlns:a16="http://schemas.microsoft.com/office/drawing/2014/main" id="{6878748A-CC73-4067-0585-5A2E1F828E3E}"/>
                </a:ext>
              </a:extLst>
            </p:cNvPr>
            <p:cNvSpPr>
              <a:spLocks noChangeArrowheads="1"/>
            </p:cNvSpPr>
            <p:nvPr/>
          </p:nvSpPr>
          <p:spPr bwMode="auto">
            <a:xfrm>
              <a:off x="2208" y="2452"/>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4110" name="Text Box 15">
              <a:extLst>
                <a:ext uri="{FF2B5EF4-FFF2-40B4-BE49-F238E27FC236}">
                  <a16:creationId xmlns:a16="http://schemas.microsoft.com/office/drawing/2014/main" id="{A2AAADC5-5FA1-49DC-8F3B-C0ED164D139A}"/>
                </a:ext>
              </a:extLst>
            </p:cNvPr>
            <p:cNvSpPr txBox="1">
              <a:spLocks noChangeArrowheads="1"/>
            </p:cNvSpPr>
            <p:nvPr/>
          </p:nvSpPr>
          <p:spPr bwMode="auto">
            <a:xfrm>
              <a:off x="2208" y="182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1</a:t>
              </a:r>
            </a:p>
          </p:txBody>
        </p:sp>
        <p:sp>
          <p:nvSpPr>
            <p:cNvPr id="4111" name="Text Box 16">
              <a:extLst>
                <a:ext uri="{FF2B5EF4-FFF2-40B4-BE49-F238E27FC236}">
                  <a16:creationId xmlns:a16="http://schemas.microsoft.com/office/drawing/2014/main" id="{7DBBFAFE-A82A-2FA3-6A11-CA2DABC62409}"/>
                </a:ext>
              </a:extLst>
            </p:cNvPr>
            <p:cNvSpPr txBox="1">
              <a:spLocks noChangeArrowheads="1"/>
            </p:cNvSpPr>
            <p:nvPr/>
          </p:nvSpPr>
          <p:spPr bwMode="auto">
            <a:xfrm>
              <a:off x="2688" y="187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2</a:t>
              </a:r>
            </a:p>
          </p:txBody>
        </p:sp>
        <p:sp>
          <p:nvSpPr>
            <p:cNvPr id="4112" name="Text Box 17">
              <a:extLst>
                <a:ext uri="{FF2B5EF4-FFF2-40B4-BE49-F238E27FC236}">
                  <a16:creationId xmlns:a16="http://schemas.microsoft.com/office/drawing/2014/main" id="{71DD16EF-9BEF-48B8-9D2D-17C4FE97B159}"/>
                </a:ext>
              </a:extLst>
            </p:cNvPr>
            <p:cNvSpPr txBox="1">
              <a:spLocks noChangeArrowheads="1"/>
            </p:cNvSpPr>
            <p:nvPr/>
          </p:nvSpPr>
          <p:spPr bwMode="auto">
            <a:xfrm>
              <a:off x="3024" y="221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3</a:t>
              </a:r>
            </a:p>
          </p:txBody>
        </p:sp>
        <p:sp>
          <p:nvSpPr>
            <p:cNvPr id="4113" name="Text Box 18">
              <a:extLst>
                <a:ext uri="{FF2B5EF4-FFF2-40B4-BE49-F238E27FC236}">
                  <a16:creationId xmlns:a16="http://schemas.microsoft.com/office/drawing/2014/main" id="{445416C9-D598-9F93-A5E9-A174A3DC31AB}"/>
                </a:ext>
              </a:extLst>
            </p:cNvPr>
            <p:cNvSpPr txBox="1">
              <a:spLocks noChangeArrowheads="1"/>
            </p:cNvSpPr>
            <p:nvPr/>
          </p:nvSpPr>
          <p:spPr bwMode="auto">
            <a:xfrm>
              <a:off x="3696" y="202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4</a:t>
              </a:r>
            </a:p>
          </p:txBody>
        </p:sp>
        <p:sp>
          <p:nvSpPr>
            <p:cNvPr id="4114" name="Text Box 19">
              <a:extLst>
                <a:ext uri="{FF2B5EF4-FFF2-40B4-BE49-F238E27FC236}">
                  <a16:creationId xmlns:a16="http://schemas.microsoft.com/office/drawing/2014/main" id="{253830BF-4549-A174-8B7F-C433F167E587}"/>
                </a:ext>
              </a:extLst>
            </p:cNvPr>
            <p:cNvSpPr txBox="1">
              <a:spLocks noChangeArrowheads="1"/>
            </p:cNvSpPr>
            <p:nvPr/>
          </p:nvSpPr>
          <p:spPr bwMode="auto">
            <a:xfrm>
              <a:off x="2208" y="240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t>5</a:t>
              </a:r>
            </a:p>
          </p:txBody>
        </p:sp>
        <p:sp>
          <p:nvSpPr>
            <p:cNvPr id="4115" name="Line 20">
              <a:extLst>
                <a:ext uri="{FF2B5EF4-FFF2-40B4-BE49-F238E27FC236}">
                  <a16:creationId xmlns:a16="http://schemas.microsoft.com/office/drawing/2014/main" id="{DC56D08B-F854-5184-DECD-19BB2E90DFF4}"/>
                </a:ext>
              </a:extLst>
            </p:cNvPr>
            <p:cNvSpPr>
              <a:spLocks noChangeShapeType="1"/>
            </p:cNvSpPr>
            <p:nvPr/>
          </p:nvSpPr>
          <p:spPr bwMode="auto">
            <a:xfrm>
              <a:off x="2352" y="1924"/>
              <a:ext cx="336" cy="4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16" name="Line 22">
              <a:extLst>
                <a:ext uri="{FF2B5EF4-FFF2-40B4-BE49-F238E27FC236}">
                  <a16:creationId xmlns:a16="http://schemas.microsoft.com/office/drawing/2014/main" id="{DAFF3530-CEDC-BFE8-9006-8442DEE2040B}"/>
                </a:ext>
              </a:extLst>
            </p:cNvPr>
            <p:cNvSpPr>
              <a:spLocks noChangeShapeType="1"/>
            </p:cNvSpPr>
            <p:nvPr/>
          </p:nvSpPr>
          <p:spPr bwMode="auto">
            <a:xfrm>
              <a:off x="2832" y="2020"/>
              <a:ext cx="864" cy="14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17" name="Text Box 24">
              <a:extLst>
                <a:ext uri="{FF2B5EF4-FFF2-40B4-BE49-F238E27FC236}">
                  <a16:creationId xmlns:a16="http://schemas.microsoft.com/office/drawing/2014/main" id="{534405B4-B8C4-BCD6-51F9-31907F3A4714}"/>
                </a:ext>
              </a:extLst>
            </p:cNvPr>
            <p:cNvSpPr txBox="1">
              <a:spLocks noChangeArrowheads="1"/>
            </p:cNvSpPr>
            <p:nvPr/>
          </p:nvSpPr>
          <p:spPr bwMode="auto">
            <a:xfrm>
              <a:off x="3110" y="1821"/>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24</a:t>
              </a:r>
            </a:p>
          </p:txBody>
        </p:sp>
        <p:sp>
          <p:nvSpPr>
            <p:cNvPr id="4118" name="Text Box 26">
              <a:extLst>
                <a:ext uri="{FF2B5EF4-FFF2-40B4-BE49-F238E27FC236}">
                  <a16:creationId xmlns:a16="http://schemas.microsoft.com/office/drawing/2014/main" id="{5643BB9B-FC6F-F440-FDA6-9F0C7A0EA421}"/>
                </a:ext>
              </a:extLst>
            </p:cNvPr>
            <p:cNvSpPr txBox="1">
              <a:spLocks noChangeArrowheads="1"/>
            </p:cNvSpPr>
            <p:nvPr/>
          </p:nvSpPr>
          <p:spPr bwMode="auto">
            <a:xfrm>
              <a:off x="1968" y="2025"/>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15</a:t>
              </a:r>
            </a:p>
          </p:txBody>
        </p:sp>
        <p:sp>
          <p:nvSpPr>
            <p:cNvPr id="4119" name="Line 28">
              <a:extLst>
                <a:ext uri="{FF2B5EF4-FFF2-40B4-BE49-F238E27FC236}">
                  <a16:creationId xmlns:a16="http://schemas.microsoft.com/office/drawing/2014/main" id="{8B0A993B-3652-389C-A0B1-88D73F41DC1D}"/>
                </a:ext>
              </a:extLst>
            </p:cNvPr>
            <p:cNvSpPr>
              <a:spLocks noChangeShapeType="1"/>
            </p:cNvSpPr>
            <p:nvPr/>
          </p:nvSpPr>
          <p:spPr bwMode="auto">
            <a:xfrm>
              <a:off x="2304" y="2016"/>
              <a:ext cx="0" cy="43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20" name="Line 29">
              <a:extLst>
                <a:ext uri="{FF2B5EF4-FFF2-40B4-BE49-F238E27FC236}">
                  <a16:creationId xmlns:a16="http://schemas.microsoft.com/office/drawing/2014/main" id="{DE837A25-FF1F-DA11-891B-3E56E3CB6304}"/>
                </a:ext>
              </a:extLst>
            </p:cNvPr>
            <p:cNvSpPr>
              <a:spLocks noChangeShapeType="1"/>
            </p:cNvSpPr>
            <p:nvPr/>
          </p:nvSpPr>
          <p:spPr bwMode="auto">
            <a:xfrm flipV="1">
              <a:off x="2352" y="2352"/>
              <a:ext cx="672" cy="19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21" name="Line 31">
              <a:extLst>
                <a:ext uri="{FF2B5EF4-FFF2-40B4-BE49-F238E27FC236}">
                  <a16:creationId xmlns:a16="http://schemas.microsoft.com/office/drawing/2014/main" id="{E6E0DFAE-2CB2-676C-9589-D9374C9E2959}"/>
                </a:ext>
              </a:extLst>
            </p:cNvPr>
            <p:cNvSpPr>
              <a:spLocks noChangeShapeType="1"/>
            </p:cNvSpPr>
            <p:nvPr/>
          </p:nvSpPr>
          <p:spPr bwMode="auto">
            <a:xfrm>
              <a:off x="2352" y="1968"/>
              <a:ext cx="672" cy="33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22" name="Line 35">
              <a:extLst>
                <a:ext uri="{FF2B5EF4-FFF2-40B4-BE49-F238E27FC236}">
                  <a16:creationId xmlns:a16="http://schemas.microsoft.com/office/drawing/2014/main" id="{1F0F828D-2675-3CFC-1B3F-06C437E4AF81}"/>
                </a:ext>
              </a:extLst>
            </p:cNvPr>
            <p:cNvSpPr>
              <a:spLocks noChangeShapeType="1"/>
            </p:cNvSpPr>
            <p:nvPr/>
          </p:nvSpPr>
          <p:spPr bwMode="auto">
            <a:xfrm flipV="1">
              <a:off x="3168" y="2160"/>
              <a:ext cx="480" cy="14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23" name="Text Box 36">
              <a:extLst>
                <a:ext uri="{FF2B5EF4-FFF2-40B4-BE49-F238E27FC236}">
                  <a16:creationId xmlns:a16="http://schemas.microsoft.com/office/drawing/2014/main" id="{65994377-4D37-18B9-33DE-8DD3E78C1D40}"/>
                </a:ext>
              </a:extLst>
            </p:cNvPr>
            <p:cNvSpPr txBox="1">
              <a:spLocks noChangeArrowheads="1"/>
            </p:cNvSpPr>
            <p:nvPr/>
          </p:nvSpPr>
          <p:spPr bwMode="auto">
            <a:xfrm>
              <a:off x="2400" y="2025"/>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21</a:t>
              </a:r>
            </a:p>
          </p:txBody>
        </p:sp>
        <p:sp>
          <p:nvSpPr>
            <p:cNvPr id="4124" name="Text Box 37">
              <a:extLst>
                <a:ext uri="{FF2B5EF4-FFF2-40B4-BE49-F238E27FC236}">
                  <a16:creationId xmlns:a16="http://schemas.microsoft.com/office/drawing/2014/main" id="{17B5A9EC-A6CF-627F-42AE-4DDE7FC51ABE}"/>
                </a:ext>
              </a:extLst>
            </p:cNvPr>
            <p:cNvSpPr txBox="1">
              <a:spLocks noChangeArrowheads="1"/>
            </p:cNvSpPr>
            <p:nvPr/>
          </p:nvSpPr>
          <p:spPr bwMode="auto">
            <a:xfrm>
              <a:off x="2588" y="2448"/>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12</a:t>
              </a:r>
            </a:p>
          </p:txBody>
        </p:sp>
        <p:sp>
          <p:nvSpPr>
            <p:cNvPr id="4125" name="Text Box 38">
              <a:extLst>
                <a:ext uri="{FF2B5EF4-FFF2-40B4-BE49-F238E27FC236}">
                  <a16:creationId xmlns:a16="http://schemas.microsoft.com/office/drawing/2014/main" id="{7C6C1276-3146-CF49-8828-29343FDC06B4}"/>
                </a:ext>
              </a:extLst>
            </p:cNvPr>
            <p:cNvSpPr txBox="1">
              <a:spLocks noChangeArrowheads="1"/>
            </p:cNvSpPr>
            <p:nvPr/>
          </p:nvSpPr>
          <p:spPr bwMode="auto">
            <a:xfrm>
              <a:off x="3360" y="2160"/>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8</a:t>
              </a:r>
            </a:p>
          </p:txBody>
        </p:sp>
      </p:grpSp>
      <p:sp>
        <p:nvSpPr>
          <p:cNvPr id="4103" name="Text Box 40">
            <a:extLst>
              <a:ext uri="{FF2B5EF4-FFF2-40B4-BE49-F238E27FC236}">
                <a16:creationId xmlns:a16="http://schemas.microsoft.com/office/drawing/2014/main" id="{7D602525-F5F1-41AB-26E5-05FCE3BBF554}"/>
              </a:ext>
            </a:extLst>
          </p:cNvPr>
          <p:cNvSpPr txBox="1">
            <a:spLocks noChangeArrowheads="1"/>
          </p:cNvSpPr>
          <p:nvPr/>
        </p:nvSpPr>
        <p:spPr bwMode="auto">
          <a:xfrm>
            <a:off x="373063" y="3657600"/>
            <a:ext cx="8397875"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2800"/>
              <a:t>  The shortest path problem:  given a network where the weights are distances, find a path between two nodes which is the shortest</a:t>
            </a:r>
          </a:p>
          <a:p>
            <a:pPr>
              <a:spcBef>
                <a:spcPct val="0"/>
              </a:spcBef>
            </a:pPr>
            <a:r>
              <a:rPr lang="en-US" altLang="en-US" sz="2800"/>
              <a:t>  The maximal flow problem: given a network where the weights are maximum flowrates, find the path which allows the maximum flow between two specified nodes </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227304D-8D31-B55E-1260-F1A7BF55039F}"/>
              </a:ext>
            </a:extLst>
          </p:cNvPr>
          <p:cNvSpPr>
            <a:spLocks noGrp="1" noChangeArrowheads="1"/>
          </p:cNvSpPr>
          <p:nvPr>
            <p:ph type="title"/>
          </p:nvPr>
        </p:nvSpPr>
        <p:spPr>
          <a:xfrm>
            <a:off x="381000" y="152400"/>
            <a:ext cx="8382000" cy="1143000"/>
          </a:xfrm>
        </p:spPr>
        <p:txBody>
          <a:bodyPr/>
          <a:lstStyle/>
          <a:p>
            <a:pPr>
              <a:lnSpc>
                <a:spcPct val="80000"/>
              </a:lnSpc>
            </a:pPr>
            <a:r>
              <a:rPr lang="en-US" altLang="en-US" sz="4600"/>
              <a:t>Equipment Replacement Data</a:t>
            </a:r>
          </a:p>
        </p:txBody>
      </p:sp>
      <p:sp>
        <p:nvSpPr>
          <p:cNvPr id="6147" name="Rectangle 3">
            <a:extLst>
              <a:ext uri="{FF2B5EF4-FFF2-40B4-BE49-F238E27FC236}">
                <a16:creationId xmlns:a16="http://schemas.microsoft.com/office/drawing/2014/main" id="{E3CC45C5-71BD-AA60-5FBF-4ACBB09375E7}"/>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6148" name="Rectangle 4">
            <a:extLst>
              <a:ext uri="{FF2B5EF4-FFF2-40B4-BE49-F238E27FC236}">
                <a16:creationId xmlns:a16="http://schemas.microsoft.com/office/drawing/2014/main" id="{E709F66A-D13F-9F2E-7BC5-274694454AC5}"/>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32</a:t>
            </a:r>
          </a:p>
        </p:txBody>
      </p:sp>
      <p:sp>
        <p:nvSpPr>
          <p:cNvPr id="6149" name="Text Box 5">
            <a:extLst>
              <a:ext uri="{FF2B5EF4-FFF2-40B4-BE49-F238E27FC236}">
                <a16:creationId xmlns:a16="http://schemas.microsoft.com/office/drawing/2014/main" id="{E5CEDADE-11DA-9D95-53E8-73356E34FAC0}"/>
              </a:ext>
            </a:extLst>
          </p:cNvPr>
          <p:cNvSpPr txBox="1">
            <a:spLocks noChangeArrowheads="1"/>
          </p:cNvSpPr>
          <p:nvPr/>
        </p:nvSpPr>
        <p:spPr bwMode="auto">
          <a:xfrm>
            <a:off x="342900" y="1371600"/>
            <a:ext cx="845820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10000"/>
              </a:lnSpc>
              <a:spcBef>
                <a:spcPct val="0"/>
              </a:spcBef>
            </a:pPr>
            <a:r>
              <a:rPr lang="en-US" altLang="en-US" sz="3400"/>
              <a:t>Prices for new equipment rise with time:</a:t>
            </a:r>
          </a:p>
        </p:txBody>
      </p:sp>
      <p:graphicFrame>
        <p:nvGraphicFramePr>
          <p:cNvPr id="6150" name="Object 7">
            <a:extLst>
              <a:ext uri="{FF2B5EF4-FFF2-40B4-BE49-F238E27FC236}">
                <a16:creationId xmlns:a16="http://schemas.microsoft.com/office/drawing/2014/main" id="{BC45A3D2-860C-BAAB-E756-A65C48085AC5}"/>
              </a:ext>
            </a:extLst>
          </p:cNvPr>
          <p:cNvGraphicFramePr>
            <a:graphicFrameLocks noChangeAspect="1"/>
          </p:cNvGraphicFramePr>
          <p:nvPr/>
        </p:nvGraphicFramePr>
        <p:xfrm>
          <a:off x="1562100" y="2133600"/>
          <a:ext cx="6019800" cy="1606550"/>
        </p:xfrm>
        <a:graphic>
          <a:graphicData uri="http://schemas.openxmlformats.org/presentationml/2006/ole">
            <mc:AlternateContent xmlns:mc="http://schemas.openxmlformats.org/markup-compatibility/2006">
              <mc:Choice xmlns:v="urn:schemas-microsoft-com:vml" Requires="v">
                <p:oleObj name="Equation" r:id="rId2" imgW="2476500" imgH="660400" progId="Equation.3">
                  <p:embed/>
                </p:oleObj>
              </mc:Choice>
              <mc:Fallback>
                <p:oleObj name="Equation" r:id="rId2" imgW="2476500" imgH="660400" progId="Equation.3">
                  <p:embed/>
                  <p:pic>
                    <p:nvPicPr>
                      <p:cNvPr id="6150" name="Object 7">
                        <a:extLst>
                          <a:ext uri="{FF2B5EF4-FFF2-40B4-BE49-F238E27FC236}">
                            <a16:creationId xmlns:a16="http://schemas.microsoft.com/office/drawing/2014/main" id="{BC45A3D2-860C-BAAB-E756-A65C48085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0" y="2133600"/>
                        <a:ext cx="6019800" cy="160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1" name="Text Box 8">
            <a:extLst>
              <a:ext uri="{FF2B5EF4-FFF2-40B4-BE49-F238E27FC236}">
                <a16:creationId xmlns:a16="http://schemas.microsoft.com/office/drawing/2014/main" id="{5494F44E-D780-FFD8-A2D5-2330ECB9BF29}"/>
              </a:ext>
            </a:extLst>
          </p:cNvPr>
          <p:cNvSpPr txBox="1">
            <a:spLocks noChangeArrowheads="1"/>
          </p:cNvSpPr>
          <p:nvPr/>
        </p:nvSpPr>
        <p:spPr bwMode="auto">
          <a:xfrm>
            <a:off x="342900" y="4038600"/>
            <a:ext cx="845820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10000"/>
              </a:lnSpc>
              <a:spcBef>
                <a:spcPct val="0"/>
              </a:spcBef>
            </a:pPr>
            <a:r>
              <a:rPr lang="en-US" altLang="en-US" sz="3400"/>
              <a:t>But so do maintenance costs:</a:t>
            </a:r>
          </a:p>
        </p:txBody>
      </p:sp>
      <p:graphicFrame>
        <p:nvGraphicFramePr>
          <p:cNvPr id="6152" name="Object 9">
            <a:extLst>
              <a:ext uri="{FF2B5EF4-FFF2-40B4-BE49-F238E27FC236}">
                <a16:creationId xmlns:a16="http://schemas.microsoft.com/office/drawing/2014/main" id="{726860A4-CF87-59D3-06B7-366F9123102C}"/>
              </a:ext>
            </a:extLst>
          </p:cNvPr>
          <p:cNvGraphicFramePr>
            <a:graphicFrameLocks noChangeAspect="1"/>
          </p:cNvGraphicFramePr>
          <p:nvPr/>
        </p:nvGraphicFramePr>
        <p:xfrm>
          <a:off x="1022350" y="4800600"/>
          <a:ext cx="7099300" cy="1606550"/>
        </p:xfrm>
        <a:graphic>
          <a:graphicData uri="http://schemas.openxmlformats.org/presentationml/2006/ole">
            <mc:AlternateContent xmlns:mc="http://schemas.openxmlformats.org/markup-compatibility/2006">
              <mc:Choice xmlns:v="urn:schemas-microsoft-com:vml" Requires="v">
                <p:oleObj name="Equation" r:id="rId4" imgW="2921000" imgH="660400" progId="Equation.3">
                  <p:embed/>
                </p:oleObj>
              </mc:Choice>
              <mc:Fallback>
                <p:oleObj name="Equation" r:id="rId4" imgW="2921000" imgH="660400" progId="Equation.3">
                  <p:embed/>
                  <p:pic>
                    <p:nvPicPr>
                      <p:cNvPr id="6152" name="Object 9">
                        <a:extLst>
                          <a:ext uri="{FF2B5EF4-FFF2-40B4-BE49-F238E27FC236}">
                            <a16:creationId xmlns:a16="http://schemas.microsoft.com/office/drawing/2014/main" id="{726860A4-CF87-59D3-06B7-366F912310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2350" y="4800600"/>
                        <a:ext cx="7099300" cy="160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0A325244-779F-6DE2-785C-0B9A8D7D6C64}"/>
              </a:ext>
            </a:extLst>
          </p:cNvPr>
          <p:cNvSpPr>
            <a:spLocks noGrp="1" noChangeArrowheads="1"/>
          </p:cNvSpPr>
          <p:nvPr>
            <p:ph type="title"/>
          </p:nvPr>
        </p:nvSpPr>
        <p:spPr>
          <a:xfrm>
            <a:off x="381000" y="76200"/>
            <a:ext cx="8382000" cy="1143000"/>
          </a:xfrm>
        </p:spPr>
        <p:txBody>
          <a:bodyPr/>
          <a:lstStyle/>
          <a:p>
            <a:pPr>
              <a:lnSpc>
                <a:spcPct val="80000"/>
              </a:lnSpc>
            </a:pPr>
            <a:r>
              <a:rPr lang="en-US" altLang="en-US" sz="4600"/>
              <a:t>Example – Shortest Path Problem</a:t>
            </a:r>
          </a:p>
        </p:txBody>
      </p:sp>
      <p:sp>
        <p:nvSpPr>
          <p:cNvPr id="9219" name="Rectangle 3">
            <a:extLst>
              <a:ext uri="{FF2B5EF4-FFF2-40B4-BE49-F238E27FC236}">
                <a16:creationId xmlns:a16="http://schemas.microsoft.com/office/drawing/2014/main" id="{14B72D58-1141-6FEE-BCEB-44BF74440A0C}"/>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20" name="Rectangle 4">
            <a:extLst>
              <a:ext uri="{FF2B5EF4-FFF2-40B4-BE49-F238E27FC236}">
                <a16:creationId xmlns:a16="http://schemas.microsoft.com/office/drawing/2014/main" id="{B34C687B-868D-44E3-6D20-2BE687FC27E9}"/>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32</a:t>
            </a:r>
          </a:p>
        </p:txBody>
      </p:sp>
      <p:sp>
        <p:nvSpPr>
          <p:cNvPr id="219141" name="Text Box 5">
            <a:extLst>
              <a:ext uri="{FF2B5EF4-FFF2-40B4-BE49-F238E27FC236}">
                <a16:creationId xmlns:a16="http://schemas.microsoft.com/office/drawing/2014/main" id="{AA950E07-7B66-EDCB-92FF-38746DD73C79}"/>
              </a:ext>
            </a:extLst>
          </p:cNvPr>
          <p:cNvSpPr txBox="1">
            <a:spLocks noChangeArrowheads="1"/>
          </p:cNvSpPr>
          <p:nvPr/>
        </p:nvSpPr>
        <p:spPr bwMode="auto">
          <a:xfrm>
            <a:off x="304800" y="1066800"/>
            <a:ext cx="84582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10000"/>
              </a:lnSpc>
              <a:spcBef>
                <a:spcPct val="0"/>
              </a:spcBef>
            </a:pPr>
            <a:r>
              <a:rPr lang="en-US" altLang="en-US" sz="3000"/>
              <a:t>Now put these weights on the graph:</a:t>
            </a:r>
          </a:p>
        </p:txBody>
      </p:sp>
      <p:grpSp>
        <p:nvGrpSpPr>
          <p:cNvPr id="9222" name="Group 6">
            <a:extLst>
              <a:ext uri="{FF2B5EF4-FFF2-40B4-BE49-F238E27FC236}">
                <a16:creationId xmlns:a16="http://schemas.microsoft.com/office/drawing/2014/main" id="{EE9DE1BF-AC89-81EE-156D-93DCABF2FC57}"/>
              </a:ext>
            </a:extLst>
          </p:cNvPr>
          <p:cNvGrpSpPr>
            <a:grpSpLocks/>
          </p:cNvGrpSpPr>
          <p:nvPr/>
        </p:nvGrpSpPr>
        <p:grpSpPr bwMode="auto">
          <a:xfrm>
            <a:off x="1066800" y="3657600"/>
            <a:ext cx="7620000" cy="2590800"/>
            <a:chOff x="672" y="2304"/>
            <a:chExt cx="4800" cy="1632"/>
          </a:xfrm>
        </p:grpSpPr>
        <p:grpSp>
          <p:nvGrpSpPr>
            <p:cNvPr id="9240" name="Group 7">
              <a:extLst>
                <a:ext uri="{FF2B5EF4-FFF2-40B4-BE49-F238E27FC236}">
                  <a16:creationId xmlns:a16="http://schemas.microsoft.com/office/drawing/2014/main" id="{6AE46C65-83B4-96D6-DC53-52A7CCD01D1D}"/>
                </a:ext>
              </a:extLst>
            </p:cNvPr>
            <p:cNvGrpSpPr>
              <a:grpSpLocks/>
            </p:cNvGrpSpPr>
            <p:nvPr/>
          </p:nvGrpSpPr>
          <p:grpSpPr bwMode="auto">
            <a:xfrm>
              <a:off x="672" y="2880"/>
              <a:ext cx="480" cy="384"/>
              <a:chOff x="672" y="2880"/>
              <a:chExt cx="480" cy="384"/>
            </a:xfrm>
          </p:grpSpPr>
          <p:sp>
            <p:nvSpPr>
              <p:cNvPr id="9271" name="Oval 8">
                <a:extLst>
                  <a:ext uri="{FF2B5EF4-FFF2-40B4-BE49-F238E27FC236}">
                    <a16:creationId xmlns:a16="http://schemas.microsoft.com/office/drawing/2014/main" id="{D671CBA5-3BDD-3BB9-E1D3-20AD46F73B14}"/>
                  </a:ext>
                </a:extLst>
              </p:cNvPr>
              <p:cNvSpPr>
                <a:spLocks noChangeArrowheads="1"/>
              </p:cNvSpPr>
              <p:nvPr/>
            </p:nvSpPr>
            <p:spPr bwMode="auto">
              <a:xfrm>
                <a:off x="672" y="2880"/>
                <a:ext cx="480" cy="38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72" name="Text Box 9">
                <a:extLst>
                  <a:ext uri="{FF2B5EF4-FFF2-40B4-BE49-F238E27FC236}">
                    <a16:creationId xmlns:a16="http://schemas.microsoft.com/office/drawing/2014/main" id="{19185CAC-0206-49C2-70EB-56CA4F3D8BDA}"/>
                  </a:ext>
                </a:extLst>
              </p:cNvPr>
              <p:cNvSpPr txBox="1">
                <a:spLocks noChangeArrowheads="1"/>
              </p:cNvSpPr>
              <p:nvPr/>
            </p:nvSpPr>
            <p:spPr bwMode="auto">
              <a:xfrm>
                <a:off x="816" y="288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1</a:t>
                </a:r>
              </a:p>
            </p:txBody>
          </p:sp>
        </p:grpSp>
        <p:grpSp>
          <p:nvGrpSpPr>
            <p:cNvPr id="9241" name="Group 10">
              <a:extLst>
                <a:ext uri="{FF2B5EF4-FFF2-40B4-BE49-F238E27FC236}">
                  <a16:creationId xmlns:a16="http://schemas.microsoft.com/office/drawing/2014/main" id="{4B9BE060-10B9-6CF6-FF1B-EC61A236578D}"/>
                </a:ext>
              </a:extLst>
            </p:cNvPr>
            <p:cNvGrpSpPr>
              <a:grpSpLocks/>
            </p:cNvGrpSpPr>
            <p:nvPr/>
          </p:nvGrpSpPr>
          <p:grpSpPr bwMode="auto">
            <a:xfrm>
              <a:off x="1536" y="2880"/>
              <a:ext cx="480" cy="384"/>
              <a:chOff x="672" y="2880"/>
              <a:chExt cx="480" cy="384"/>
            </a:xfrm>
          </p:grpSpPr>
          <p:sp>
            <p:nvSpPr>
              <p:cNvPr id="9269" name="Oval 11">
                <a:extLst>
                  <a:ext uri="{FF2B5EF4-FFF2-40B4-BE49-F238E27FC236}">
                    <a16:creationId xmlns:a16="http://schemas.microsoft.com/office/drawing/2014/main" id="{BE3BC8AD-C31D-BA04-0ED7-B965BD8A9ACF}"/>
                  </a:ext>
                </a:extLst>
              </p:cNvPr>
              <p:cNvSpPr>
                <a:spLocks noChangeArrowheads="1"/>
              </p:cNvSpPr>
              <p:nvPr/>
            </p:nvSpPr>
            <p:spPr bwMode="auto">
              <a:xfrm>
                <a:off x="672" y="2880"/>
                <a:ext cx="480" cy="38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70" name="Text Box 12">
                <a:extLst>
                  <a:ext uri="{FF2B5EF4-FFF2-40B4-BE49-F238E27FC236}">
                    <a16:creationId xmlns:a16="http://schemas.microsoft.com/office/drawing/2014/main" id="{E1879B32-3890-C3EF-464A-354902D09C18}"/>
                  </a:ext>
                </a:extLst>
              </p:cNvPr>
              <p:cNvSpPr txBox="1">
                <a:spLocks noChangeArrowheads="1"/>
              </p:cNvSpPr>
              <p:nvPr/>
            </p:nvSpPr>
            <p:spPr bwMode="auto">
              <a:xfrm>
                <a:off x="816" y="288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2</a:t>
                </a:r>
              </a:p>
            </p:txBody>
          </p:sp>
        </p:grpSp>
        <p:grpSp>
          <p:nvGrpSpPr>
            <p:cNvPr id="9242" name="Group 13">
              <a:extLst>
                <a:ext uri="{FF2B5EF4-FFF2-40B4-BE49-F238E27FC236}">
                  <a16:creationId xmlns:a16="http://schemas.microsoft.com/office/drawing/2014/main" id="{33D6EC2B-FDC3-BB37-1EA9-2DD3201F9B1C}"/>
                </a:ext>
              </a:extLst>
            </p:cNvPr>
            <p:cNvGrpSpPr>
              <a:grpSpLocks/>
            </p:cNvGrpSpPr>
            <p:nvPr/>
          </p:nvGrpSpPr>
          <p:grpSpPr bwMode="auto">
            <a:xfrm>
              <a:off x="2400" y="2880"/>
              <a:ext cx="480" cy="384"/>
              <a:chOff x="672" y="2880"/>
              <a:chExt cx="480" cy="384"/>
            </a:xfrm>
          </p:grpSpPr>
          <p:sp>
            <p:nvSpPr>
              <p:cNvPr id="9267" name="Oval 14">
                <a:extLst>
                  <a:ext uri="{FF2B5EF4-FFF2-40B4-BE49-F238E27FC236}">
                    <a16:creationId xmlns:a16="http://schemas.microsoft.com/office/drawing/2014/main" id="{D6A1576F-3D0C-0DE6-A2B1-C6FD5B804874}"/>
                  </a:ext>
                </a:extLst>
              </p:cNvPr>
              <p:cNvSpPr>
                <a:spLocks noChangeArrowheads="1"/>
              </p:cNvSpPr>
              <p:nvPr/>
            </p:nvSpPr>
            <p:spPr bwMode="auto">
              <a:xfrm>
                <a:off x="672" y="2880"/>
                <a:ext cx="480" cy="38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68" name="Text Box 15">
                <a:extLst>
                  <a:ext uri="{FF2B5EF4-FFF2-40B4-BE49-F238E27FC236}">
                    <a16:creationId xmlns:a16="http://schemas.microsoft.com/office/drawing/2014/main" id="{2D316706-3692-EA0E-2A9A-4982C03B266A}"/>
                  </a:ext>
                </a:extLst>
              </p:cNvPr>
              <p:cNvSpPr txBox="1">
                <a:spLocks noChangeArrowheads="1"/>
              </p:cNvSpPr>
              <p:nvPr/>
            </p:nvSpPr>
            <p:spPr bwMode="auto">
              <a:xfrm>
                <a:off x="816" y="288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3</a:t>
                </a:r>
              </a:p>
            </p:txBody>
          </p:sp>
        </p:grpSp>
        <p:grpSp>
          <p:nvGrpSpPr>
            <p:cNvPr id="9243" name="Group 16">
              <a:extLst>
                <a:ext uri="{FF2B5EF4-FFF2-40B4-BE49-F238E27FC236}">
                  <a16:creationId xmlns:a16="http://schemas.microsoft.com/office/drawing/2014/main" id="{99FC869C-9429-3423-5368-40BBEFC9CDF2}"/>
                </a:ext>
              </a:extLst>
            </p:cNvPr>
            <p:cNvGrpSpPr>
              <a:grpSpLocks/>
            </p:cNvGrpSpPr>
            <p:nvPr/>
          </p:nvGrpSpPr>
          <p:grpSpPr bwMode="auto">
            <a:xfrm>
              <a:off x="3408" y="2880"/>
              <a:ext cx="480" cy="384"/>
              <a:chOff x="672" y="2880"/>
              <a:chExt cx="480" cy="384"/>
            </a:xfrm>
          </p:grpSpPr>
          <p:sp>
            <p:nvSpPr>
              <p:cNvPr id="9265" name="Oval 17">
                <a:extLst>
                  <a:ext uri="{FF2B5EF4-FFF2-40B4-BE49-F238E27FC236}">
                    <a16:creationId xmlns:a16="http://schemas.microsoft.com/office/drawing/2014/main" id="{73C0ABD5-11F9-9C68-66DE-02B00809D8EB}"/>
                  </a:ext>
                </a:extLst>
              </p:cNvPr>
              <p:cNvSpPr>
                <a:spLocks noChangeArrowheads="1"/>
              </p:cNvSpPr>
              <p:nvPr/>
            </p:nvSpPr>
            <p:spPr bwMode="auto">
              <a:xfrm>
                <a:off x="672" y="2880"/>
                <a:ext cx="480" cy="38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66" name="Text Box 18">
                <a:extLst>
                  <a:ext uri="{FF2B5EF4-FFF2-40B4-BE49-F238E27FC236}">
                    <a16:creationId xmlns:a16="http://schemas.microsoft.com/office/drawing/2014/main" id="{330DA081-2918-D313-CE72-603B890178C5}"/>
                  </a:ext>
                </a:extLst>
              </p:cNvPr>
              <p:cNvSpPr txBox="1">
                <a:spLocks noChangeArrowheads="1"/>
              </p:cNvSpPr>
              <p:nvPr/>
            </p:nvSpPr>
            <p:spPr bwMode="auto">
              <a:xfrm>
                <a:off x="816" y="288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4</a:t>
                </a:r>
              </a:p>
            </p:txBody>
          </p:sp>
        </p:grpSp>
        <p:grpSp>
          <p:nvGrpSpPr>
            <p:cNvPr id="9244" name="Group 19">
              <a:extLst>
                <a:ext uri="{FF2B5EF4-FFF2-40B4-BE49-F238E27FC236}">
                  <a16:creationId xmlns:a16="http://schemas.microsoft.com/office/drawing/2014/main" id="{F63641A9-F184-C5C3-8CB2-01B126D23B87}"/>
                </a:ext>
              </a:extLst>
            </p:cNvPr>
            <p:cNvGrpSpPr>
              <a:grpSpLocks/>
            </p:cNvGrpSpPr>
            <p:nvPr/>
          </p:nvGrpSpPr>
          <p:grpSpPr bwMode="auto">
            <a:xfrm>
              <a:off x="4272" y="2880"/>
              <a:ext cx="480" cy="384"/>
              <a:chOff x="672" y="2880"/>
              <a:chExt cx="480" cy="384"/>
            </a:xfrm>
          </p:grpSpPr>
          <p:sp>
            <p:nvSpPr>
              <p:cNvPr id="9263" name="Oval 20">
                <a:extLst>
                  <a:ext uri="{FF2B5EF4-FFF2-40B4-BE49-F238E27FC236}">
                    <a16:creationId xmlns:a16="http://schemas.microsoft.com/office/drawing/2014/main" id="{A2028C65-AD82-883F-9531-D657FBA1696F}"/>
                  </a:ext>
                </a:extLst>
              </p:cNvPr>
              <p:cNvSpPr>
                <a:spLocks noChangeArrowheads="1"/>
              </p:cNvSpPr>
              <p:nvPr/>
            </p:nvSpPr>
            <p:spPr bwMode="auto">
              <a:xfrm>
                <a:off x="672" y="2880"/>
                <a:ext cx="480" cy="38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64" name="Text Box 21">
                <a:extLst>
                  <a:ext uri="{FF2B5EF4-FFF2-40B4-BE49-F238E27FC236}">
                    <a16:creationId xmlns:a16="http://schemas.microsoft.com/office/drawing/2014/main" id="{4C6DC5AA-6D31-3357-0E44-E499579E6FA3}"/>
                  </a:ext>
                </a:extLst>
              </p:cNvPr>
              <p:cNvSpPr txBox="1">
                <a:spLocks noChangeArrowheads="1"/>
              </p:cNvSpPr>
              <p:nvPr/>
            </p:nvSpPr>
            <p:spPr bwMode="auto">
              <a:xfrm>
                <a:off x="816" y="288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5</a:t>
                </a:r>
              </a:p>
            </p:txBody>
          </p:sp>
        </p:grpSp>
        <p:grpSp>
          <p:nvGrpSpPr>
            <p:cNvPr id="9245" name="Group 22">
              <a:extLst>
                <a:ext uri="{FF2B5EF4-FFF2-40B4-BE49-F238E27FC236}">
                  <a16:creationId xmlns:a16="http://schemas.microsoft.com/office/drawing/2014/main" id="{A64B94B2-7BD1-CEBC-8C02-260042CBB2BE}"/>
                </a:ext>
              </a:extLst>
            </p:cNvPr>
            <p:cNvGrpSpPr>
              <a:grpSpLocks/>
            </p:cNvGrpSpPr>
            <p:nvPr/>
          </p:nvGrpSpPr>
          <p:grpSpPr bwMode="auto">
            <a:xfrm>
              <a:off x="4992" y="2880"/>
              <a:ext cx="480" cy="384"/>
              <a:chOff x="672" y="2880"/>
              <a:chExt cx="480" cy="384"/>
            </a:xfrm>
          </p:grpSpPr>
          <p:sp>
            <p:nvSpPr>
              <p:cNvPr id="9261" name="Oval 23">
                <a:extLst>
                  <a:ext uri="{FF2B5EF4-FFF2-40B4-BE49-F238E27FC236}">
                    <a16:creationId xmlns:a16="http://schemas.microsoft.com/office/drawing/2014/main" id="{1AFEBDCC-9311-2B3D-79DE-CF50D1CF2E5D}"/>
                  </a:ext>
                </a:extLst>
              </p:cNvPr>
              <p:cNvSpPr>
                <a:spLocks noChangeArrowheads="1"/>
              </p:cNvSpPr>
              <p:nvPr/>
            </p:nvSpPr>
            <p:spPr bwMode="auto">
              <a:xfrm>
                <a:off x="672" y="2880"/>
                <a:ext cx="480" cy="38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9262" name="Text Box 24">
                <a:extLst>
                  <a:ext uri="{FF2B5EF4-FFF2-40B4-BE49-F238E27FC236}">
                    <a16:creationId xmlns:a16="http://schemas.microsoft.com/office/drawing/2014/main" id="{51142C83-108D-8D5D-7CEA-7860F39D3AA3}"/>
                  </a:ext>
                </a:extLst>
              </p:cNvPr>
              <p:cNvSpPr txBox="1">
                <a:spLocks noChangeArrowheads="1"/>
              </p:cNvSpPr>
              <p:nvPr/>
            </p:nvSpPr>
            <p:spPr bwMode="auto">
              <a:xfrm>
                <a:off x="816" y="288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t>6</a:t>
                </a:r>
              </a:p>
            </p:txBody>
          </p:sp>
        </p:grpSp>
        <p:sp>
          <p:nvSpPr>
            <p:cNvPr id="9246" name="Freeform 25">
              <a:extLst>
                <a:ext uri="{FF2B5EF4-FFF2-40B4-BE49-F238E27FC236}">
                  <a16:creationId xmlns:a16="http://schemas.microsoft.com/office/drawing/2014/main" id="{D3E18E66-29AA-3CD1-AACF-79888520A131}"/>
                </a:ext>
              </a:extLst>
            </p:cNvPr>
            <p:cNvSpPr>
              <a:spLocks/>
            </p:cNvSpPr>
            <p:nvPr/>
          </p:nvSpPr>
          <p:spPr bwMode="auto">
            <a:xfrm>
              <a:off x="960" y="2304"/>
              <a:ext cx="4128" cy="576"/>
            </a:xfrm>
            <a:custGeom>
              <a:avLst/>
              <a:gdLst>
                <a:gd name="T0" fmla="*/ 0 w 4128"/>
                <a:gd name="T1" fmla="*/ 576 h 576"/>
                <a:gd name="T2" fmla="*/ 2544 w 4128"/>
                <a:gd name="T3" fmla="*/ 0 h 576"/>
                <a:gd name="T4" fmla="*/ 4128 w 4128"/>
                <a:gd name="T5" fmla="*/ 576 h 576"/>
                <a:gd name="T6" fmla="*/ 0 60000 65536"/>
                <a:gd name="T7" fmla="*/ 0 60000 65536"/>
                <a:gd name="T8" fmla="*/ 0 60000 65536"/>
                <a:gd name="T9" fmla="*/ 0 w 4128"/>
                <a:gd name="T10" fmla="*/ 0 h 576"/>
                <a:gd name="T11" fmla="*/ 4128 w 4128"/>
                <a:gd name="T12" fmla="*/ 576 h 576"/>
              </a:gdLst>
              <a:ahLst/>
              <a:cxnLst>
                <a:cxn ang="T6">
                  <a:pos x="T0" y="T1"/>
                </a:cxn>
                <a:cxn ang="T7">
                  <a:pos x="T2" y="T3"/>
                </a:cxn>
                <a:cxn ang="T8">
                  <a:pos x="T4" y="T5"/>
                </a:cxn>
              </a:cxnLst>
              <a:rect l="T9" t="T10" r="T11" b="T12"/>
              <a:pathLst>
                <a:path w="4128" h="576">
                  <a:moveTo>
                    <a:pt x="0" y="576"/>
                  </a:moveTo>
                  <a:cubicBezTo>
                    <a:pt x="928" y="288"/>
                    <a:pt x="1856" y="0"/>
                    <a:pt x="2544" y="0"/>
                  </a:cubicBezTo>
                  <a:cubicBezTo>
                    <a:pt x="3232" y="0"/>
                    <a:pt x="3680" y="288"/>
                    <a:pt x="4128" y="576"/>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47" name="Freeform 26">
              <a:extLst>
                <a:ext uri="{FF2B5EF4-FFF2-40B4-BE49-F238E27FC236}">
                  <a16:creationId xmlns:a16="http://schemas.microsoft.com/office/drawing/2014/main" id="{C890CBD8-3E0A-A721-9658-9B718957282A}"/>
                </a:ext>
              </a:extLst>
            </p:cNvPr>
            <p:cNvSpPr>
              <a:spLocks/>
            </p:cNvSpPr>
            <p:nvPr/>
          </p:nvSpPr>
          <p:spPr bwMode="auto">
            <a:xfrm>
              <a:off x="1008" y="2488"/>
              <a:ext cx="3456" cy="440"/>
            </a:xfrm>
            <a:custGeom>
              <a:avLst/>
              <a:gdLst>
                <a:gd name="T0" fmla="*/ 0 w 3456"/>
                <a:gd name="T1" fmla="*/ 440 h 440"/>
                <a:gd name="T2" fmla="*/ 2352 w 3456"/>
                <a:gd name="T3" fmla="*/ 8 h 440"/>
                <a:gd name="T4" fmla="*/ 3456 w 3456"/>
                <a:gd name="T5" fmla="*/ 392 h 440"/>
                <a:gd name="T6" fmla="*/ 0 60000 65536"/>
                <a:gd name="T7" fmla="*/ 0 60000 65536"/>
                <a:gd name="T8" fmla="*/ 0 60000 65536"/>
                <a:gd name="T9" fmla="*/ 0 w 3456"/>
                <a:gd name="T10" fmla="*/ 0 h 440"/>
                <a:gd name="T11" fmla="*/ 3456 w 3456"/>
                <a:gd name="T12" fmla="*/ 440 h 440"/>
              </a:gdLst>
              <a:ahLst/>
              <a:cxnLst>
                <a:cxn ang="T6">
                  <a:pos x="T0" y="T1"/>
                </a:cxn>
                <a:cxn ang="T7">
                  <a:pos x="T2" y="T3"/>
                </a:cxn>
                <a:cxn ang="T8">
                  <a:pos x="T4" y="T5"/>
                </a:cxn>
              </a:cxnLst>
              <a:rect l="T9" t="T10" r="T11" b="T12"/>
              <a:pathLst>
                <a:path w="3456" h="440">
                  <a:moveTo>
                    <a:pt x="0" y="440"/>
                  </a:moveTo>
                  <a:cubicBezTo>
                    <a:pt x="888" y="228"/>
                    <a:pt x="1776" y="16"/>
                    <a:pt x="2352" y="8"/>
                  </a:cubicBezTo>
                  <a:cubicBezTo>
                    <a:pt x="2928" y="0"/>
                    <a:pt x="3192" y="196"/>
                    <a:pt x="3456" y="392"/>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48" name="Freeform 27">
              <a:extLst>
                <a:ext uri="{FF2B5EF4-FFF2-40B4-BE49-F238E27FC236}">
                  <a16:creationId xmlns:a16="http://schemas.microsoft.com/office/drawing/2014/main" id="{573C473C-6034-DE64-8CA8-1B2B1B2413DC}"/>
                </a:ext>
              </a:extLst>
            </p:cNvPr>
            <p:cNvSpPr>
              <a:spLocks/>
            </p:cNvSpPr>
            <p:nvPr/>
          </p:nvSpPr>
          <p:spPr bwMode="auto">
            <a:xfrm>
              <a:off x="1104" y="2624"/>
              <a:ext cx="2448" cy="352"/>
            </a:xfrm>
            <a:custGeom>
              <a:avLst/>
              <a:gdLst>
                <a:gd name="T0" fmla="*/ 0 w 2448"/>
                <a:gd name="T1" fmla="*/ 352 h 352"/>
                <a:gd name="T2" fmla="*/ 1920 w 2448"/>
                <a:gd name="T3" fmla="*/ 16 h 352"/>
                <a:gd name="T4" fmla="*/ 2448 w 2448"/>
                <a:gd name="T5" fmla="*/ 256 h 352"/>
                <a:gd name="T6" fmla="*/ 0 60000 65536"/>
                <a:gd name="T7" fmla="*/ 0 60000 65536"/>
                <a:gd name="T8" fmla="*/ 0 60000 65536"/>
                <a:gd name="T9" fmla="*/ 0 w 2448"/>
                <a:gd name="T10" fmla="*/ 0 h 352"/>
                <a:gd name="T11" fmla="*/ 2448 w 2448"/>
                <a:gd name="T12" fmla="*/ 352 h 352"/>
              </a:gdLst>
              <a:ahLst/>
              <a:cxnLst>
                <a:cxn ang="T6">
                  <a:pos x="T0" y="T1"/>
                </a:cxn>
                <a:cxn ang="T7">
                  <a:pos x="T2" y="T3"/>
                </a:cxn>
                <a:cxn ang="T8">
                  <a:pos x="T4" y="T5"/>
                </a:cxn>
              </a:cxnLst>
              <a:rect l="T9" t="T10" r="T11" b="T12"/>
              <a:pathLst>
                <a:path w="2448" h="352">
                  <a:moveTo>
                    <a:pt x="0" y="352"/>
                  </a:moveTo>
                  <a:cubicBezTo>
                    <a:pt x="756" y="192"/>
                    <a:pt x="1512" y="32"/>
                    <a:pt x="1920" y="16"/>
                  </a:cubicBezTo>
                  <a:cubicBezTo>
                    <a:pt x="2328" y="0"/>
                    <a:pt x="2360" y="216"/>
                    <a:pt x="2448" y="256"/>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49" name="Freeform 28">
              <a:extLst>
                <a:ext uri="{FF2B5EF4-FFF2-40B4-BE49-F238E27FC236}">
                  <a16:creationId xmlns:a16="http://schemas.microsoft.com/office/drawing/2014/main" id="{C612596B-CF49-FDF5-0A35-2E3D2390B50F}"/>
                </a:ext>
              </a:extLst>
            </p:cNvPr>
            <p:cNvSpPr>
              <a:spLocks/>
            </p:cNvSpPr>
            <p:nvPr/>
          </p:nvSpPr>
          <p:spPr bwMode="auto">
            <a:xfrm>
              <a:off x="1152" y="2776"/>
              <a:ext cx="1344" cy="200"/>
            </a:xfrm>
            <a:custGeom>
              <a:avLst/>
              <a:gdLst>
                <a:gd name="T0" fmla="*/ 0 w 1344"/>
                <a:gd name="T1" fmla="*/ 200 h 200"/>
                <a:gd name="T2" fmla="*/ 960 w 1344"/>
                <a:gd name="T3" fmla="*/ 8 h 200"/>
                <a:gd name="T4" fmla="*/ 1344 w 1344"/>
                <a:gd name="T5" fmla="*/ 152 h 200"/>
                <a:gd name="T6" fmla="*/ 0 60000 65536"/>
                <a:gd name="T7" fmla="*/ 0 60000 65536"/>
                <a:gd name="T8" fmla="*/ 0 60000 65536"/>
                <a:gd name="T9" fmla="*/ 0 w 1344"/>
                <a:gd name="T10" fmla="*/ 0 h 200"/>
                <a:gd name="T11" fmla="*/ 1344 w 1344"/>
                <a:gd name="T12" fmla="*/ 200 h 200"/>
              </a:gdLst>
              <a:ahLst/>
              <a:cxnLst>
                <a:cxn ang="T6">
                  <a:pos x="T0" y="T1"/>
                </a:cxn>
                <a:cxn ang="T7">
                  <a:pos x="T2" y="T3"/>
                </a:cxn>
                <a:cxn ang="T8">
                  <a:pos x="T4" y="T5"/>
                </a:cxn>
              </a:cxnLst>
              <a:rect l="T9" t="T10" r="T11" b="T12"/>
              <a:pathLst>
                <a:path w="1344" h="200">
                  <a:moveTo>
                    <a:pt x="0" y="200"/>
                  </a:moveTo>
                  <a:cubicBezTo>
                    <a:pt x="368" y="108"/>
                    <a:pt x="736" y="16"/>
                    <a:pt x="960" y="8"/>
                  </a:cubicBezTo>
                  <a:cubicBezTo>
                    <a:pt x="1184" y="0"/>
                    <a:pt x="1280" y="128"/>
                    <a:pt x="1344" y="152"/>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50" name="Line 29">
              <a:extLst>
                <a:ext uri="{FF2B5EF4-FFF2-40B4-BE49-F238E27FC236}">
                  <a16:creationId xmlns:a16="http://schemas.microsoft.com/office/drawing/2014/main" id="{333136AF-D0CE-D2B2-24F7-197AF4571606}"/>
                </a:ext>
              </a:extLst>
            </p:cNvPr>
            <p:cNvSpPr>
              <a:spLocks noChangeShapeType="1"/>
            </p:cNvSpPr>
            <p:nvPr/>
          </p:nvSpPr>
          <p:spPr bwMode="auto">
            <a:xfrm>
              <a:off x="1152" y="3072"/>
              <a:ext cx="38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1" name="Line 30">
              <a:extLst>
                <a:ext uri="{FF2B5EF4-FFF2-40B4-BE49-F238E27FC236}">
                  <a16:creationId xmlns:a16="http://schemas.microsoft.com/office/drawing/2014/main" id="{43EBC469-FC0B-94A1-9D9E-E7AB3FA7120A}"/>
                </a:ext>
              </a:extLst>
            </p:cNvPr>
            <p:cNvSpPr>
              <a:spLocks noChangeShapeType="1"/>
            </p:cNvSpPr>
            <p:nvPr/>
          </p:nvSpPr>
          <p:spPr bwMode="auto">
            <a:xfrm>
              <a:off x="2016" y="3072"/>
              <a:ext cx="38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2" name="Line 31">
              <a:extLst>
                <a:ext uri="{FF2B5EF4-FFF2-40B4-BE49-F238E27FC236}">
                  <a16:creationId xmlns:a16="http://schemas.microsoft.com/office/drawing/2014/main" id="{5991CB8D-2359-D689-E329-3185BB044E7A}"/>
                </a:ext>
              </a:extLst>
            </p:cNvPr>
            <p:cNvSpPr>
              <a:spLocks noChangeShapeType="1"/>
            </p:cNvSpPr>
            <p:nvPr/>
          </p:nvSpPr>
          <p:spPr bwMode="auto">
            <a:xfrm>
              <a:off x="2880" y="3072"/>
              <a:ext cx="52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3" name="Line 32">
              <a:extLst>
                <a:ext uri="{FF2B5EF4-FFF2-40B4-BE49-F238E27FC236}">
                  <a16:creationId xmlns:a16="http://schemas.microsoft.com/office/drawing/2014/main" id="{AB6EFAE0-2D00-BC18-27F8-9EF6E3007D51}"/>
                </a:ext>
              </a:extLst>
            </p:cNvPr>
            <p:cNvSpPr>
              <a:spLocks noChangeShapeType="1"/>
            </p:cNvSpPr>
            <p:nvPr/>
          </p:nvSpPr>
          <p:spPr bwMode="auto">
            <a:xfrm>
              <a:off x="3888" y="3072"/>
              <a:ext cx="38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4" name="Line 33">
              <a:extLst>
                <a:ext uri="{FF2B5EF4-FFF2-40B4-BE49-F238E27FC236}">
                  <a16:creationId xmlns:a16="http://schemas.microsoft.com/office/drawing/2014/main" id="{1D522C50-2D7C-3195-3E25-4BC20D430915}"/>
                </a:ext>
              </a:extLst>
            </p:cNvPr>
            <p:cNvSpPr>
              <a:spLocks noChangeShapeType="1"/>
            </p:cNvSpPr>
            <p:nvPr/>
          </p:nvSpPr>
          <p:spPr bwMode="auto">
            <a:xfrm>
              <a:off x="4752" y="3072"/>
              <a:ext cx="24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5" name="Freeform 34">
              <a:extLst>
                <a:ext uri="{FF2B5EF4-FFF2-40B4-BE49-F238E27FC236}">
                  <a16:creationId xmlns:a16="http://schemas.microsoft.com/office/drawing/2014/main" id="{45661BBB-6AD5-26A2-2870-82E040016EF7}"/>
                </a:ext>
              </a:extLst>
            </p:cNvPr>
            <p:cNvSpPr>
              <a:spLocks/>
            </p:cNvSpPr>
            <p:nvPr/>
          </p:nvSpPr>
          <p:spPr bwMode="auto">
            <a:xfrm>
              <a:off x="1824" y="3264"/>
              <a:ext cx="3360" cy="672"/>
            </a:xfrm>
            <a:custGeom>
              <a:avLst/>
              <a:gdLst>
                <a:gd name="T0" fmla="*/ 0 w 3360"/>
                <a:gd name="T1" fmla="*/ 0 h 672"/>
                <a:gd name="T2" fmla="*/ 2160 w 3360"/>
                <a:gd name="T3" fmla="*/ 672 h 672"/>
                <a:gd name="T4" fmla="*/ 3360 w 3360"/>
                <a:gd name="T5" fmla="*/ 0 h 672"/>
                <a:gd name="T6" fmla="*/ 0 60000 65536"/>
                <a:gd name="T7" fmla="*/ 0 60000 65536"/>
                <a:gd name="T8" fmla="*/ 0 60000 65536"/>
                <a:gd name="T9" fmla="*/ 0 w 3360"/>
                <a:gd name="T10" fmla="*/ 0 h 672"/>
                <a:gd name="T11" fmla="*/ 3360 w 3360"/>
                <a:gd name="T12" fmla="*/ 672 h 672"/>
              </a:gdLst>
              <a:ahLst/>
              <a:cxnLst>
                <a:cxn ang="T6">
                  <a:pos x="T0" y="T1"/>
                </a:cxn>
                <a:cxn ang="T7">
                  <a:pos x="T2" y="T3"/>
                </a:cxn>
                <a:cxn ang="T8">
                  <a:pos x="T4" y="T5"/>
                </a:cxn>
              </a:cxnLst>
              <a:rect l="T9" t="T10" r="T11" b="T12"/>
              <a:pathLst>
                <a:path w="3360" h="672">
                  <a:moveTo>
                    <a:pt x="0" y="0"/>
                  </a:moveTo>
                  <a:cubicBezTo>
                    <a:pt x="800" y="336"/>
                    <a:pt x="1600" y="672"/>
                    <a:pt x="2160" y="672"/>
                  </a:cubicBezTo>
                  <a:cubicBezTo>
                    <a:pt x="2720" y="672"/>
                    <a:pt x="3160" y="112"/>
                    <a:pt x="3360" y="0"/>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56" name="Freeform 35">
              <a:extLst>
                <a:ext uri="{FF2B5EF4-FFF2-40B4-BE49-F238E27FC236}">
                  <a16:creationId xmlns:a16="http://schemas.microsoft.com/office/drawing/2014/main" id="{AF1D07D3-4F90-A5C4-56BD-D5084EAA7E0F}"/>
                </a:ext>
              </a:extLst>
            </p:cNvPr>
            <p:cNvSpPr>
              <a:spLocks/>
            </p:cNvSpPr>
            <p:nvPr/>
          </p:nvSpPr>
          <p:spPr bwMode="auto">
            <a:xfrm>
              <a:off x="1920" y="3216"/>
              <a:ext cx="2688" cy="392"/>
            </a:xfrm>
            <a:custGeom>
              <a:avLst/>
              <a:gdLst>
                <a:gd name="T0" fmla="*/ 0 w 2688"/>
                <a:gd name="T1" fmla="*/ 0 h 392"/>
                <a:gd name="T2" fmla="*/ 1680 w 2688"/>
                <a:gd name="T3" fmla="*/ 384 h 392"/>
                <a:gd name="T4" fmla="*/ 2688 w 2688"/>
                <a:gd name="T5" fmla="*/ 48 h 392"/>
                <a:gd name="T6" fmla="*/ 0 60000 65536"/>
                <a:gd name="T7" fmla="*/ 0 60000 65536"/>
                <a:gd name="T8" fmla="*/ 0 60000 65536"/>
                <a:gd name="T9" fmla="*/ 0 w 2688"/>
                <a:gd name="T10" fmla="*/ 0 h 392"/>
                <a:gd name="T11" fmla="*/ 2688 w 2688"/>
                <a:gd name="T12" fmla="*/ 392 h 392"/>
              </a:gdLst>
              <a:ahLst/>
              <a:cxnLst>
                <a:cxn ang="T6">
                  <a:pos x="T0" y="T1"/>
                </a:cxn>
                <a:cxn ang="T7">
                  <a:pos x="T2" y="T3"/>
                </a:cxn>
                <a:cxn ang="T8">
                  <a:pos x="T4" y="T5"/>
                </a:cxn>
              </a:cxnLst>
              <a:rect l="T9" t="T10" r="T11" b="T12"/>
              <a:pathLst>
                <a:path w="2688" h="392">
                  <a:moveTo>
                    <a:pt x="0" y="0"/>
                  </a:moveTo>
                  <a:cubicBezTo>
                    <a:pt x="616" y="188"/>
                    <a:pt x="1232" y="376"/>
                    <a:pt x="1680" y="384"/>
                  </a:cubicBezTo>
                  <a:cubicBezTo>
                    <a:pt x="2128" y="392"/>
                    <a:pt x="2408" y="220"/>
                    <a:pt x="2688" y="48"/>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57" name="Freeform 36">
              <a:extLst>
                <a:ext uri="{FF2B5EF4-FFF2-40B4-BE49-F238E27FC236}">
                  <a16:creationId xmlns:a16="http://schemas.microsoft.com/office/drawing/2014/main" id="{98298D44-2144-5680-DDBF-C18AC25455F6}"/>
                </a:ext>
              </a:extLst>
            </p:cNvPr>
            <p:cNvSpPr>
              <a:spLocks/>
            </p:cNvSpPr>
            <p:nvPr/>
          </p:nvSpPr>
          <p:spPr bwMode="auto">
            <a:xfrm>
              <a:off x="1968" y="3168"/>
              <a:ext cx="1632" cy="304"/>
            </a:xfrm>
            <a:custGeom>
              <a:avLst/>
              <a:gdLst>
                <a:gd name="T0" fmla="*/ 0 w 1632"/>
                <a:gd name="T1" fmla="*/ 0 h 304"/>
                <a:gd name="T2" fmla="*/ 1104 w 1632"/>
                <a:gd name="T3" fmla="*/ 288 h 304"/>
                <a:gd name="T4" fmla="*/ 1632 w 1632"/>
                <a:gd name="T5" fmla="*/ 96 h 304"/>
                <a:gd name="T6" fmla="*/ 0 60000 65536"/>
                <a:gd name="T7" fmla="*/ 0 60000 65536"/>
                <a:gd name="T8" fmla="*/ 0 60000 65536"/>
                <a:gd name="T9" fmla="*/ 0 w 1632"/>
                <a:gd name="T10" fmla="*/ 0 h 304"/>
                <a:gd name="T11" fmla="*/ 1632 w 1632"/>
                <a:gd name="T12" fmla="*/ 304 h 304"/>
              </a:gdLst>
              <a:ahLst/>
              <a:cxnLst>
                <a:cxn ang="T6">
                  <a:pos x="T0" y="T1"/>
                </a:cxn>
                <a:cxn ang="T7">
                  <a:pos x="T2" y="T3"/>
                </a:cxn>
                <a:cxn ang="T8">
                  <a:pos x="T4" y="T5"/>
                </a:cxn>
              </a:cxnLst>
              <a:rect l="T9" t="T10" r="T11" b="T12"/>
              <a:pathLst>
                <a:path w="1632" h="304">
                  <a:moveTo>
                    <a:pt x="0" y="0"/>
                  </a:moveTo>
                  <a:cubicBezTo>
                    <a:pt x="416" y="136"/>
                    <a:pt x="832" y="272"/>
                    <a:pt x="1104" y="288"/>
                  </a:cubicBezTo>
                  <a:cubicBezTo>
                    <a:pt x="1376" y="304"/>
                    <a:pt x="1544" y="128"/>
                    <a:pt x="1632" y="96"/>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58" name="Freeform 37">
              <a:extLst>
                <a:ext uri="{FF2B5EF4-FFF2-40B4-BE49-F238E27FC236}">
                  <a16:creationId xmlns:a16="http://schemas.microsoft.com/office/drawing/2014/main" id="{CBB9D2AF-3AA9-0DCD-56FF-07CB5767F31E}"/>
                </a:ext>
              </a:extLst>
            </p:cNvPr>
            <p:cNvSpPr>
              <a:spLocks/>
            </p:cNvSpPr>
            <p:nvPr/>
          </p:nvSpPr>
          <p:spPr bwMode="auto">
            <a:xfrm>
              <a:off x="2688" y="3216"/>
              <a:ext cx="2400" cy="488"/>
            </a:xfrm>
            <a:custGeom>
              <a:avLst/>
              <a:gdLst>
                <a:gd name="T0" fmla="*/ 0 w 2400"/>
                <a:gd name="T1" fmla="*/ 48 h 488"/>
                <a:gd name="T2" fmla="*/ 1536 w 2400"/>
                <a:gd name="T3" fmla="*/ 480 h 488"/>
                <a:gd name="T4" fmla="*/ 2400 w 2400"/>
                <a:gd name="T5" fmla="*/ 0 h 488"/>
                <a:gd name="T6" fmla="*/ 0 60000 65536"/>
                <a:gd name="T7" fmla="*/ 0 60000 65536"/>
                <a:gd name="T8" fmla="*/ 0 60000 65536"/>
                <a:gd name="T9" fmla="*/ 0 w 2400"/>
                <a:gd name="T10" fmla="*/ 0 h 488"/>
                <a:gd name="T11" fmla="*/ 2400 w 2400"/>
                <a:gd name="T12" fmla="*/ 488 h 488"/>
              </a:gdLst>
              <a:ahLst/>
              <a:cxnLst>
                <a:cxn ang="T6">
                  <a:pos x="T0" y="T1"/>
                </a:cxn>
                <a:cxn ang="T7">
                  <a:pos x="T2" y="T3"/>
                </a:cxn>
                <a:cxn ang="T8">
                  <a:pos x="T4" y="T5"/>
                </a:cxn>
              </a:cxnLst>
              <a:rect l="T9" t="T10" r="T11" b="T12"/>
              <a:pathLst>
                <a:path w="2400" h="488">
                  <a:moveTo>
                    <a:pt x="0" y="48"/>
                  </a:moveTo>
                  <a:cubicBezTo>
                    <a:pt x="568" y="268"/>
                    <a:pt x="1136" y="488"/>
                    <a:pt x="1536" y="480"/>
                  </a:cubicBezTo>
                  <a:cubicBezTo>
                    <a:pt x="1936" y="472"/>
                    <a:pt x="2168" y="236"/>
                    <a:pt x="2400" y="0"/>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59" name="Freeform 38">
              <a:extLst>
                <a:ext uri="{FF2B5EF4-FFF2-40B4-BE49-F238E27FC236}">
                  <a16:creationId xmlns:a16="http://schemas.microsoft.com/office/drawing/2014/main" id="{59F59391-59D4-7385-B624-5617286AC7A1}"/>
                </a:ext>
              </a:extLst>
            </p:cNvPr>
            <p:cNvSpPr>
              <a:spLocks/>
            </p:cNvSpPr>
            <p:nvPr/>
          </p:nvSpPr>
          <p:spPr bwMode="auto">
            <a:xfrm>
              <a:off x="2784" y="3216"/>
              <a:ext cx="1584" cy="200"/>
            </a:xfrm>
            <a:custGeom>
              <a:avLst/>
              <a:gdLst>
                <a:gd name="T0" fmla="*/ 0 w 1584"/>
                <a:gd name="T1" fmla="*/ 0 h 200"/>
                <a:gd name="T2" fmla="*/ 1056 w 1584"/>
                <a:gd name="T3" fmla="*/ 192 h 200"/>
                <a:gd name="T4" fmla="*/ 1584 w 1584"/>
                <a:gd name="T5" fmla="*/ 48 h 200"/>
                <a:gd name="T6" fmla="*/ 0 60000 65536"/>
                <a:gd name="T7" fmla="*/ 0 60000 65536"/>
                <a:gd name="T8" fmla="*/ 0 60000 65536"/>
                <a:gd name="T9" fmla="*/ 0 w 1584"/>
                <a:gd name="T10" fmla="*/ 0 h 200"/>
                <a:gd name="T11" fmla="*/ 1584 w 1584"/>
                <a:gd name="T12" fmla="*/ 200 h 200"/>
              </a:gdLst>
              <a:ahLst/>
              <a:cxnLst>
                <a:cxn ang="T6">
                  <a:pos x="T0" y="T1"/>
                </a:cxn>
                <a:cxn ang="T7">
                  <a:pos x="T2" y="T3"/>
                </a:cxn>
                <a:cxn ang="T8">
                  <a:pos x="T4" y="T5"/>
                </a:cxn>
              </a:cxnLst>
              <a:rect l="T9" t="T10" r="T11" b="T12"/>
              <a:pathLst>
                <a:path w="1584" h="200">
                  <a:moveTo>
                    <a:pt x="0" y="0"/>
                  </a:moveTo>
                  <a:cubicBezTo>
                    <a:pt x="396" y="92"/>
                    <a:pt x="792" y="184"/>
                    <a:pt x="1056" y="192"/>
                  </a:cubicBezTo>
                  <a:cubicBezTo>
                    <a:pt x="1320" y="200"/>
                    <a:pt x="1452" y="124"/>
                    <a:pt x="1584" y="48"/>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60" name="Freeform 39">
              <a:extLst>
                <a:ext uri="{FF2B5EF4-FFF2-40B4-BE49-F238E27FC236}">
                  <a16:creationId xmlns:a16="http://schemas.microsoft.com/office/drawing/2014/main" id="{1254FAC9-0A56-BA9B-E218-B4AE11EFF70F}"/>
                </a:ext>
              </a:extLst>
            </p:cNvPr>
            <p:cNvSpPr>
              <a:spLocks/>
            </p:cNvSpPr>
            <p:nvPr/>
          </p:nvSpPr>
          <p:spPr bwMode="auto">
            <a:xfrm>
              <a:off x="3840" y="2680"/>
              <a:ext cx="1200" cy="296"/>
            </a:xfrm>
            <a:custGeom>
              <a:avLst/>
              <a:gdLst>
                <a:gd name="T0" fmla="*/ 0 w 1200"/>
                <a:gd name="T1" fmla="*/ 248 h 296"/>
                <a:gd name="T2" fmla="*/ 576 w 1200"/>
                <a:gd name="T3" fmla="*/ 8 h 296"/>
                <a:gd name="T4" fmla="*/ 1200 w 1200"/>
                <a:gd name="T5" fmla="*/ 296 h 296"/>
                <a:gd name="T6" fmla="*/ 0 60000 65536"/>
                <a:gd name="T7" fmla="*/ 0 60000 65536"/>
                <a:gd name="T8" fmla="*/ 0 60000 65536"/>
                <a:gd name="T9" fmla="*/ 0 w 1200"/>
                <a:gd name="T10" fmla="*/ 0 h 296"/>
                <a:gd name="T11" fmla="*/ 1200 w 1200"/>
                <a:gd name="T12" fmla="*/ 296 h 296"/>
              </a:gdLst>
              <a:ahLst/>
              <a:cxnLst>
                <a:cxn ang="T6">
                  <a:pos x="T0" y="T1"/>
                </a:cxn>
                <a:cxn ang="T7">
                  <a:pos x="T2" y="T3"/>
                </a:cxn>
                <a:cxn ang="T8">
                  <a:pos x="T4" y="T5"/>
                </a:cxn>
              </a:cxnLst>
              <a:rect l="T9" t="T10" r="T11" b="T12"/>
              <a:pathLst>
                <a:path w="1200" h="296">
                  <a:moveTo>
                    <a:pt x="0" y="248"/>
                  </a:moveTo>
                  <a:cubicBezTo>
                    <a:pt x="188" y="124"/>
                    <a:pt x="376" y="0"/>
                    <a:pt x="576" y="8"/>
                  </a:cubicBezTo>
                  <a:cubicBezTo>
                    <a:pt x="776" y="16"/>
                    <a:pt x="988" y="156"/>
                    <a:pt x="1200" y="296"/>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19177" name="Text Box 41">
            <a:extLst>
              <a:ext uri="{FF2B5EF4-FFF2-40B4-BE49-F238E27FC236}">
                <a16:creationId xmlns:a16="http://schemas.microsoft.com/office/drawing/2014/main" id="{F1164F67-C148-5CD3-3C75-D1C0ED84CB06}"/>
              </a:ext>
            </a:extLst>
          </p:cNvPr>
          <p:cNvSpPr txBox="1">
            <a:spLocks noChangeArrowheads="1"/>
          </p:cNvSpPr>
          <p:nvPr/>
        </p:nvSpPr>
        <p:spPr bwMode="auto">
          <a:xfrm>
            <a:off x="304800" y="1676400"/>
            <a:ext cx="86106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pPr>
            <a:r>
              <a:rPr lang="en-US" altLang="en-US" sz="3000"/>
              <a:t>The shortest path from 1 to 6 is the minimum cost strategy</a:t>
            </a:r>
          </a:p>
          <a:p>
            <a:pPr>
              <a:lnSpc>
                <a:spcPct val="90000"/>
              </a:lnSpc>
              <a:spcBef>
                <a:spcPct val="0"/>
              </a:spcBef>
            </a:pPr>
            <a:r>
              <a:rPr lang="en-US" altLang="en-US" sz="3000"/>
              <a:t>How would we store this information algebraically?</a:t>
            </a:r>
          </a:p>
          <a:p>
            <a:pPr>
              <a:lnSpc>
                <a:spcPct val="90000"/>
              </a:lnSpc>
              <a:spcBef>
                <a:spcPct val="0"/>
              </a:spcBef>
            </a:pPr>
            <a:r>
              <a:rPr lang="en-US" altLang="en-US" sz="3000"/>
              <a:t>Put all values in a cost matrix</a:t>
            </a:r>
          </a:p>
        </p:txBody>
      </p:sp>
      <p:grpSp>
        <p:nvGrpSpPr>
          <p:cNvPr id="9" name="Group 57">
            <a:extLst>
              <a:ext uri="{FF2B5EF4-FFF2-40B4-BE49-F238E27FC236}">
                <a16:creationId xmlns:a16="http://schemas.microsoft.com/office/drawing/2014/main" id="{C84873AF-22DA-6F27-1CC0-407ED22B1053}"/>
              </a:ext>
            </a:extLst>
          </p:cNvPr>
          <p:cNvGrpSpPr>
            <a:grpSpLocks/>
          </p:cNvGrpSpPr>
          <p:nvPr/>
        </p:nvGrpSpPr>
        <p:grpSpPr bwMode="auto">
          <a:xfrm>
            <a:off x="1752600" y="3657600"/>
            <a:ext cx="6311900" cy="2484438"/>
            <a:chOff x="1104" y="2304"/>
            <a:chExt cx="3976" cy="1565"/>
          </a:xfrm>
        </p:grpSpPr>
        <p:sp>
          <p:nvSpPr>
            <p:cNvPr id="9225" name="Text Box 42">
              <a:extLst>
                <a:ext uri="{FF2B5EF4-FFF2-40B4-BE49-F238E27FC236}">
                  <a16:creationId xmlns:a16="http://schemas.microsoft.com/office/drawing/2014/main" id="{53C72CA8-540D-2A12-2F9C-79A344F4D41A}"/>
                </a:ext>
              </a:extLst>
            </p:cNvPr>
            <p:cNvSpPr txBox="1">
              <a:spLocks noChangeArrowheads="1"/>
            </p:cNvSpPr>
            <p:nvPr/>
          </p:nvSpPr>
          <p:spPr bwMode="auto">
            <a:xfrm>
              <a:off x="1344" y="2400"/>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84.1</a:t>
              </a:r>
            </a:p>
          </p:txBody>
        </p:sp>
        <p:sp>
          <p:nvSpPr>
            <p:cNvPr id="9226" name="Text Box 43">
              <a:extLst>
                <a:ext uri="{FF2B5EF4-FFF2-40B4-BE49-F238E27FC236}">
                  <a16:creationId xmlns:a16="http://schemas.microsoft.com/office/drawing/2014/main" id="{3660DBB8-BAA9-62E5-69D8-214EC3721BCE}"/>
                </a:ext>
              </a:extLst>
            </p:cNvPr>
            <p:cNvSpPr txBox="1">
              <a:spLocks noChangeArrowheads="1"/>
            </p:cNvSpPr>
            <p:nvPr/>
          </p:nvSpPr>
          <p:spPr bwMode="auto">
            <a:xfrm>
              <a:off x="3456" y="2304"/>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53.7</a:t>
              </a:r>
            </a:p>
          </p:txBody>
        </p:sp>
        <p:sp>
          <p:nvSpPr>
            <p:cNvPr id="9227" name="Text Box 44">
              <a:extLst>
                <a:ext uri="{FF2B5EF4-FFF2-40B4-BE49-F238E27FC236}">
                  <a16:creationId xmlns:a16="http://schemas.microsoft.com/office/drawing/2014/main" id="{A3E38CCC-A1C5-4233-8362-075C88D0FAF7}"/>
                </a:ext>
              </a:extLst>
            </p:cNvPr>
            <p:cNvSpPr txBox="1">
              <a:spLocks noChangeArrowheads="1"/>
            </p:cNvSpPr>
            <p:nvPr/>
          </p:nvSpPr>
          <p:spPr bwMode="auto">
            <a:xfrm>
              <a:off x="3360" y="2544"/>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35.5</a:t>
              </a:r>
            </a:p>
          </p:txBody>
        </p:sp>
        <p:sp>
          <p:nvSpPr>
            <p:cNvPr id="9228" name="Text Box 45">
              <a:extLst>
                <a:ext uri="{FF2B5EF4-FFF2-40B4-BE49-F238E27FC236}">
                  <a16:creationId xmlns:a16="http://schemas.microsoft.com/office/drawing/2014/main" id="{9F358F32-5037-797D-ABA7-255189588D6A}"/>
                </a:ext>
              </a:extLst>
            </p:cNvPr>
            <p:cNvSpPr txBox="1">
              <a:spLocks noChangeArrowheads="1"/>
            </p:cNvSpPr>
            <p:nvPr/>
          </p:nvSpPr>
          <p:spPr bwMode="auto">
            <a:xfrm>
              <a:off x="2352" y="2640"/>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25.8</a:t>
              </a:r>
            </a:p>
          </p:txBody>
        </p:sp>
        <p:sp>
          <p:nvSpPr>
            <p:cNvPr id="9229" name="Text Box 46">
              <a:extLst>
                <a:ext uri="{FF2B5EF4-FFF2-40B4-BE49-F238E27FC236}">
                  <a16:creationId xmlns:a16="http://schemas.microsoft.com/office/drawing/2014/main" id="{218FE627-6F31-EC3A-E5E5-FE85C0C3C11B}"/>
                </a:ext>
              </a:extLst>
            </p:cNvPr>
            <p:cNvSpPr txBox="1">
              <a:spLocks noChangeArrowheads="1"/>
            </p:cNvSpPr>
            <p:nvPr/>
          </p:nvSpPr>
          <p:spPr bwMode="auto">
            <a:xfrm>
              <a:off x="1104" y="3120"/>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20.8</a:t>
              </a:r>
            </a:p>
          </p:txBody>
        </p:sp>
        <p:sp>
          <p:nvSpPr>
            <p:cNvPr id="9230" name="Text Box 47">
              <a:extLst>
                <a:ext uri="{FF2B5EF4-FFF2-40B4-BE49-F238E27FC236}">
                  <a16:creationId xmlns:a16="http://schemas.microsoft.com/office/drawing/2014/main" id="{BE436E06-E746-0A35-3480-2D224704100D}"/>
                </a:ext>
              </a:extLst>
            </p:cNvPr>
            <p:cNvSpPr txBox="1">
              <a:spLocks noChangeArrowheads="1"/>
            </p:cNvSpPr>
            <p:nvPr/>
          </p:nvSpPr>
          <p:spPr bwMode="auto">
            <a:xfrm>
              <a:off x="1968" y="2832"/>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22.8</a:t>
              </a:r>
            </a:p>
          </p:txBody>
        </p:sp>
        <p:sp>
          <p:nvSpPr>
            <p:cNvPr id="9231" name="Text Box 48">
              <a:extLst>
                <a:ext uri="{FF2B5EF4-FFF2-40B4-BE49-F238E27FC236}">
                  <a16:creationId xmlns:a16="http://schemas.microsoft.com/office/drawing/2014/main" id="{42E6D9B6-E9E7-CF2B-1A3B-6ABF54165248}"/>
                </a:ext>
              </a:extLst>
            </p:cNvPr>
            <p:cNvSpPr txBox="1">
              <a:spLocks noChangeArrowheads="1"/>
            </p:cNvSpPr>
            <p:nvPr/>
          </p:nvSpPr>
          <p:spPr bwMode="auto">
            <a:xfrm>
              <a:off x="2832" y="2832"/>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24.8</a:t>
              </a:r>
            </a:p>
          </p:txBody>
        </p:sp>
        <p:sp>
          <p:nvSpPr>
            <p:cNvPr id="9232" name="Text Box 49">
              <a:extLst>
                <a:ext uri="{FF2B5EF4-FFF2-40B4-BE49-F238E27FC236}">
                  <a16:creationId xmlns:a16="http://schemas.microsoft.com/office/drawing/2014/main" id="{7A847050-1397-A47B-DFE8-D5EA3365D38C}"/>
                </a:ext>
              </a:extLst>
            </p:cNvPr>
            <p:cNvSpPr txBox="1">
              <a:spLocks noChangeArrowheads="1"/>
            </p:cNvSpPr>
            <p:nvPr/>
          </p:nvSpPr>
          <p:spPr bwMode="auto">
            <a:xfrm>
              <a:off x="3888" y="2832"/>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28.8</a:t>
              </a:r>
            </a:p>
          </p:txBody>
        </p:sp>
        <p:sp>
          <p:nvSpPr>
            <p:cNvPr id="9233" name="Text Box 50">
              <a:extLst>
                <a:ext uri="{FF2B5EF4-FFF2-40B4-BE49-F238E27FC236}">
                  <a16:creationId xmlns:a16="http://schemas.microsoft.com/office/drawing/2014/main" id="{7FEE1EB0-321E-825A-2198-106AEB6364F2}"/>
                </a:ext>
              </a:extLst>
            </p:cNvPr>
            <p:cNvSpPr txBox="1">
              <a:spLocks noChangeArrowheads="1"/>
            </p:cNvSpPr>
            <p:nvPr/>
          </p:nvSpPr>
          <p:spPr bwMode="auto">
            <a:xfrm>
              <a:off x="4656" y="3072"/>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33.8</a:t>
              </a:r>
            </a:p>
          </p:txBody>
        </p:sp>
        <p:sp>
          <p:nvSpPr>
            <p:cNvPr id="9234" name="Text Box 51">
              <a:extLst>
                <a:ext uri="{FF2B5EF4-FFF2-40B4-BE49-F238E27FC236}">
                  <a16:creationId xmlns:a16="http://schemas.microsoft.com/office/drawing/2014/main" id="{1C1689D6-D6B5-5763-A203-CF253DD6522A}"/>
                </a:ext>
              </a:extLst>
            </p:cNvPr>
            <p:cNvSpPr txBox="1">
              <a:spLocks noChangeArrowheads="1"/>
            </p:cNvSpPr>
            <p:nvPr/>
          </p:nvSpPr>
          <p:spPr bwMode="auto">
            <a:xfrm>
              <a:off x="4080" y="2448"/>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33.8</a:t>
              </a:r>
            </a:p>
          </p:txBody>
        </p:sp>
        <p:sp>
          <p:nvSpPr>
            <p:cNvPr id="9235" name="Text Box 52">
              <a:extLst>
                <a:ext uri="{FF2B5EF4-FFF2-40B4-BE49-F238E27FC236}">
                  <a16:creationId xmlns:a16="http://schemas.microsoft.com/office/drawing/2014/main" id="{3AB12BFE-F6BC-594B-49B8-7520AE11958C}"/>
                </a:ext>
              </a:extLst>
            </p:cNvPr>
            <p:cNvSpPr txBox="1">
              <a:spLocks noChangeArrowheads="1"/>
            </p:cNvSpPr>
            <p:nvPr/>
          </p:nvSpPr>
          <p:spPr bwMode="auto">
            <a:xfrm>
              <a:off x="2496" y="3600"/>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55.7</a:t>
              </a:r>
            </a:p>
          </p:txBody>
        </p:sp>
        <p:sp>
          <p:nvSpPr>
            <p:cNvPr id="9236" name="Text Box 53">
              <a:extLst>
                <a:ext uri="{FF2B5EF4-FFF2-40B4-BE49-F238E27FC236}">
                  <a16:creationId xmlns:a16="http://schemas.microsoft.com/office/drawing/2014/main" id="{87FA09D6-797F-002A-E033-E7099467C7BA}"/>
                </a:ext>
              </a:extLst>
            </p:cNvPr>
            <p:cNvSpPr txBox="1">
              <a:spLocks noChangeArrowheads="1"/>
            </p:cNvSpPr>
            <p:nvPr/>
          </p:nvSpPr>
          <p:spPr bwMode="auto">
            <a:xfrm>
              <a:off x="3120" y="3552"/>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37.5</a:t>
              </a:r>
            </a:p>
          </p:txBody>
        </p:sp>
        <p:sp>
          <p:nvSpPr>
            <p:cNvPr id="9237" name="Text Box 54">
              <a:extLst>
                <a:ext uri="{FF2B5EF4-FFF2-40B4-BE49-F238E27FC236}">
                  <a16:creationId xmlns:a16="http://schemas.microsoft.com/office/drawing/2014/main" id="{0E98FF6D-3A38-6786-A882-205CB938A303}"/>
                </a:ext>
              </a:extLst>
            </p:cNvPr>
            <p:cNvSpPr txBox="1">
              <a:spLocks noChangeArrowheads="1"/>
            </p:cNvSpPr>
            <p:nvPr/>
          </p:nvSpPr>
          <p:spPr bwMode="auto">
            <a:xfrm>
              <a:off x="2112" y="3072"/>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27.8</a:t>
              </a:r>
            </a:p>
          </p:txBody>
        </p:sp>
        <p:sp>
          <p:nvSpPr>
            <p:cNvPr id="9238" name="Text Box 55">
              <a:extLst>
                <a:ext uri="{FF2B5EF4-FFF2-40B4-BE49-F238E27FC236}">
                  <a16:creationId xmlns:a16="http://schemas.microsoft.com/office/drawing/2014/main" id="{3C93ED43-F109-1ED5-35F5-F39D69409AB5}"/>
                </a:ext>
              </a:extLst>
            </p:cNvPr>
            <p:cNvSpPr txBox="1">
              <a:spLocks noChangeArrowheads="1"/>
            </p:cNvSpPr>
            <p:nvPr/>
          </p:nvSpPr>
          <p:spPr bwMode="auto">
            <a:xfrm>
              <a:off x="4224" y="3408"/>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39.5</a:t>
              </a:r>
            </a:p>
          </p:txBody>
        </p:sp>
        <p:sp>
          <p:nvSpPr>
            <p:cNvPr id="9239" name="Text Box 56">
              <a:extLst>
                <a:ext uri="{FF2B5EF4-FFF2-40B4-BE49-F238E27FC236}">
                  <a16:creationId xmlns:a16="http://schemas.microsoft.com/office/drawing/2014/main" id="{178789E6-EF72-D526-61ED-EA6D52BAA423}"/>
                </a:ext>
              </a:extLst>
            </p:cNvPr>
            <p:cNvSpPr txBox="1">
              <a:spLocks noChangeArrowheads="1"/>
            </p:cNvSpPr>
            <p:nvPr/>
          </p:nvSpPr>
          <p:spPr bwMode="auto">
            <a:xfrm>
              <a:off x="3792" y="3168"/>
              <a:ext cx="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t>29.8</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9141">
                                            <p:txEl>
                                              <p:pRg st="0" end="0"/>
                                            </p:txEl>
                                          </p:spTgt>
                                        </p:tgtEl>
                                        <p:attrNameLst>
                                          <p:attrName>style.visibility</p:attrName>
                                        </p:attrNameLst>
                                      </p:cBhvr>
                                      <p:to>
                                        <p:strVal val="visible"/>
                                      </p:to>
                                    </p:set>
                                    <p:anim calcmode="lin" valueType="num">
                                      <p:cBhvr additive="base">
                                        <p:cTn id="7" dur="500" fill="hold"/>
                                        <p:tgtEl>
                                          <p:spTgt spid="21914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914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19177">
                                            <p:txEl>
                                              <p:pRg st="0" end="0"/>
                                            </p:txEl>
                                          </p:spTgt>
                                        </p:tgtEl>
                                        <p:attrNameLst>
                                          <p:attrName>style.visibility</p:attrName>
                                        </p:attrNameLst>
                                      </p:cBhvr>
                                      <p:to>
                                        <p:strVal val="visible"/>
                                      </p:to>
                                    </p:set>
                                    <p:anim calcmode="lin" valueType="num">
                                      <p:cBhvr additive="base">
                                        <p:cTn id="19" dur="500" fill="hold"/>
                                        <p:tgtEl>
                                          <p:spTgt spid="21917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917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19177">
                                            <p:txEl>
                                              <p:pRg st="1" end="1"/>
                                            </p:txEl>
                                          </p:spTgt>
                                        </p:tgtEl>
                                        <p:attrNameLst>
                                          <p:attrName>style.visibility</p:attrName>
                                        </p:attrNameLst>
                                      </p:cBhvr>
                                      <p:to>
                                        <p:strVal val="visible"/>
                                      </p:to>
                                    </p:set>
                                    <p:anim calcmode="lin" valueType="num">
                                      <p:cBhvr additive="base">
                                        <p:cTn id="25" dur="500" fill="hold"/>
                                        <p:tgtEl>
                                          <p:spTgt spid="219177">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917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19177">
                                            <p:txEl>
                                              <p:pRg st="2" end="2"/>
                                            </p:txEl>
                                          </p:spTgt>
                                        </p:tgtEl>
                                        <p:attrNameLst>
                                          <p:attrName>style.visibility</p:attrName>
                                        </p:attrNameLst>
                                      </p:cBhvr>
                                      <p:to>
                                        <p:strVal val="visible"/>
                                      </p:to>
                                    </p:set>
                                    <p:anim calcmode="lin" valueType="num">
                                      <p:cBhvr additive="base">
                                        <p:cTn id="31" dur="500" fill="hold"/>
                                        <p:tgtEl>
                                          <p:spTgt spid="219177">
                                            <p:txEl>
                                              <p:pRg st="2" end="2"/>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1917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1" grpId="0" build="p" autoUpdateAnimBg="0"/>
      <p:bldP spid="219177" grpId="0" build="p"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F3671F6-31A1-49C1-B4F7-B3A6AD540F6C}"/>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Cost Matrix</a:t>
            </a:r>
          </a:p>
        </p:txBody>
      </p:sp>
      <p:sp>
        <p:nvSpPr>
          <p:cNvPr id="10243" name="Rectangle 3">
            <a:extLst>
              <a:ext uri="{FF2B5EF4-FFF2-40B4-BE49-F238E27FC236}">
                <a16:creationId xmlns:a16="http://schemas.microsoft.com/office/drawing/2014/main" id="{48D0A265-EE88-00F4-3F56-377F6EAE806D}"/>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0244" name="Rectangle 4">
            <a:extLst>
              <a:ext uri="{FF2B5EF4-FFF2-40B4-BE49-F238E27FC236}">
                <a16:creationId xmlns:a16="http://schemas.microsoft.com/office/drawing/2014/main" id="{7495BBD4-3479-7E2C-5E45-F56019549E87}"/>
              </a:ext>
            </a:extLst>
          </p:cNvPr>
          <p:cNvSpPr>
            <a:spLocks noChangeArrowheads="1"/>
          </p:cNvSpPr>
          <p:nvPr/>
        </p:nvSpPr>
        <p:spPr bwMode="auto">
          <a:xfrm>
            <a:off x="6477000" y="6248400"/>
            <a:ext cx="242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32</a:t>
            </a:r>
          </a:p>
        </p:txBody>
      </p:sp>
      <p:sp>
        <p:nvSpPr>
          <p:cNvPr id="220165" name="Text Box 5">
            <a:extLst>
              <a:ext uri="{FF2B5EF4-FFF2-40B4-BE49-F238E27FC236}">
                <a16:creationId xmlns:a16="http://schemas.microsoft.com/office/drawing/2014/main" id="{79E10D87-9C03-59ED-57FF-FC47B4DC8C0B}"/>
              </a:ext>
            </a:extLst>
          </p:cNvPr>
          <p:cNvSpPr txBox="1">
            <a:spLocks noChangeArrowheads="1"/>
          </p:cNvSpPr>
          <p:nvPr/>
        </p:nvSpPr>
        <p:spPr bwMode="auto">
          <a:xfrm>
            <a:off x="342900" y="990600"/>
            <a:ext cx="845820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Define </a:t>
            </a:r>
            <a:r>
              <a:rPr lang="en-US" altLang="en-US" sz="3000" i="1"/>
              <a:t>x</a:t>
            </a:r>
            <a:r>
              <a:rPr lang="en-US" altLang="en-US" sz="3000" i="1" baseline="-25000"/>
              <a:t>ij</a:t>
            </a:r>
            <a:r>
              <a:rPr lang="en-US" altLang="en-US" sz="3000"/>
              <a:t> as 1 if the edge between years </a:t>
            </a:r>
            <a:r>
              <a:rPr lang="en-US" altLang="en-US" sz="3000" i="1"/>
              <a:t>i</a:t>
            </a:r>
            <a:r>
              <a:rPr lang="en-US" altLang="en-US" sz="3000"/>
              <a:t> and </a:t>
            </a:r>
            <a:r>
              <a:rPr lang="en-US" altLang="en-US" sz="3000" i="1"/>
              <a:t>j</a:t>
            </a:r>
            <a:r>
              <a:rPr lang="en-US" altLang="en-US" sz="3000"/>
              <a:t> is followed, 0 otherwise</a:t>
            </a:r>
          </a:p>
          <a:p>
            <a:pPr>
              <a:spcBef>
                <a:spcPct val="0"/>
              </a:spcBef>
            </a:pPr>
            <a:r>
              <a:rPr lang="en-US" altLang="en-US" sz="3000"/>
              <a:t>Then </a:t>
            </a:r>
            <a:r>
              <a:rPr lang="en-US" altLang="en-US" sz="3000" i="1"/>
              <a:t>C</a:t>
            </a:r>
            <a:r>
              <a:rPr lang="en-US" altLang="en-US" sz="3000" i="1" baseline="-25000"/>
              <a:t>ij</a:t>
            </a:r>
            <a:r>
              <a:rPr lang="en-US" altLang="en-US" sz="3000"/>
              <a:t> is the cost of buying the equipment in year </a:t>
            </a:r>
            <a:r>
              <a:rPr lang="en-US" altLang="en-US" sz="3000" i="1"/>
              <a:t>i</a:t>
            </a:r>
            <a:r>
              <a:rPr lang="en-US" altLang="en-US" sz="3000"/>
              <a:t> and replacing it in year </a:t>
            </a:r>
            <a:r>
              <a:rPr lang="en-US" altLang="en-US" sz="3000" i="1"/>
              <a:t>j</a:t>
            </a:r>
            <a:endParaRPr lang="en-US" altLang="en-US" sz="3000"/>
          </a:p>
          <a:p>
            <a:pPr>
              <a:spcBef>
                <a:spcPct val="0"/>
              </a:spcBef>
            </a:pPr>
            <a:r>
              <a:rPr lang="en-US" altLang="en-US" sz="3000"/>
              <a:t>We can put these values in a cost matrix:</a:t>
            </a:r>
          </a:p>
        </p:txBody>
      </p:sp>
      <p:graphicFrame>
        <p:nvGraphicFramePr>
          <p:cNvPr id="220166" name="Object 6">
            <a:extLst>
              <a:ext uri="{FF2B5EF4-FFF2-40B4-BE49-F238E27FC236}">
                <a16:creationId xmlns:a16="http://schemas.microsoft.com/office/drawing/2014/main" id="{457AA749-4267-66B7-46F6-54E0CB527615}"/>
              </a:ext>
            </a:extLst>
          </p:cNvPr>
          <p:cNvGraphicFramePr>
            <a:graphicFrameLocks noChangeAspect="1"/>
          </p:cNvGraphicFramePr>
          <p:nvPr/>
        </p:nvGraphicFramePr>
        <p:xfrm>
          <a:off x="685800" y="3429000"/>
          <a:ext cx="5867400" cy="3070225"/>
        </p:xfrm>
        <a:graphic>
          <a:graphicData uri="http://schemas.openxmlformats.org/presentationml/2006/ole">
            <mc:AlternateContent xmlns:mc="http://schemas.openxmlformats.org/markup-compatibility/2006">
              <mc:Choice xmlns:v="urn:schemas-microsoft-com:vml" Requires="v">
                <p:oleObj name="Equation" r:id="rId2" imgW="3009900" imgH="1574800" progId="Equation.3">
                  <p:embed/>
                </p:oleObj>
              </mc:Choice>
              <mc:Fallback>
                <p:oleObj name="Equation" r:id="rId2" imgW="3009900" imgH="1574800" progId="Equation.3">
                  <p:embed/>
                  <p:pic>
                    <p:nvPicPr>
                      <p:cNvPr id="220166" name="Object 6">
                        <a:extLst>
                          <a:ext uri="{FF2B5EF4-FFF2-40B4-BE49-F238E27FC236}">
                            <a16:creationId xmlns:a16="http://schemas.microsoft.com/office/drawing/2014/main" id="{457AA749-4267-66B7-46F6-54E0CB527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429000"/>
                        <a:ext cx="5867400" cy="307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0165">
                                            <p:txEl>
                                              <p:pRg st="0" end="0"/>
                                            </p:txEl>
                                          </p:spTgt>
                                        </p:tgtEl>
                                        <p:attrNameLst>
                                          <p:attrName>style.visibility</p:attrName>
                                        </p:attrNameLst>
                                      </p:cBhvr>
                                      <p:to>
                                        <p:strVal val="visible"/>
                                      </p:to>
                                    </p:set>
                                    <p:anim calcmode="lin" valueType="num">
                                      <p:cBhvr additive="base">
                                        <p:cTn id="7" dur="500" fill="hold"/>
                                        <p:tgtEl>
                                          <p:spTgt spid="22016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016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0165">
                                            <p:txEl>
                                              <p:pRg st="1" end="1"/>
                                            </p:txEl>
                                          </p:spTgt>
                                        </p:tgtEl>
                                        <p:attrNameLst>
                                          <p:attrName>style.visibility</p:attrName>
                                        </p:attrNameLst>
                                      </p:cBhvr>
                                      <p:to>
                                        <p:strVal val="visible"/>
                                      </p:to>
                                    </p:set>
                                    <p:anim calcmode="lin" valueType="num">
                                      <p:cBhvr additive="base">
                                        <p:cTn id="13" dur="500" fill="hold"/>
                                        <p:tgtEl>
                                          <p:spTgt spid="22016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016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20165">
                                            <p:txEl>
                                              <p:pRg st="2" end="2"/>
                                            </p:txEl>
                                          </p:spTgt>
                                        </p:tgtEl>
                                        <p:attrNameLst>
                                          <p:attrName>style.visibility</p:attrName>
                                        </p:attrNameLst>
                                      </p:cBhvr>
                                      <p:to>
                                        <p:strVal val="visible"/>
                                      </p:to>
                                    </p:set>
                                    <p:anim calcmode="lin" valueType="num">
                                      <p:cBhvr additive="base">
                                        <p:cTn id="19" dur="500" fill="hold"/>
                                        <p:tgtEl>
                                          <p:spTgt spid="22016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016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20166"/>
                                        </p:tgtEl>
                                        <p:attrNameLst>
                                          <p:attrName>style.visibility</p:attrName>
                                        </p:attrNameLst>
                                      </p:cBhvr>
                                      <p:to>
                                        <p:strVal val="visible"/>
                                      </p:to>
                                    </p:set>
                                    <p:anim calcmode="lin" valueType="num">
                                      <p:cBhvr additive="base">
                                        <p:cTn id="25" dur="500" fill="hold"/>
                                        <p:tgtEl>
                                          <p:spTgt spid="220166"/>
                                        </p:tgtEl>
                                        <p:attrNameLst>
                                          <p:attrName>ppt_x</p:attrName>
                                        </p:attrNameLst>
                                      </p:cBhvr>
                                      <p:tavLst>
                                        <p:tav tm="0">
                                          <p:val>
                                            <p:strVal val="0-#ppt_w/2"/>
                                          </p:val>
                                        </p:tav>
                                        <p:tav tm="100000">
                                          <p:val>
                                            <p:strVal val="#ppt_x"/>
                                          </p:val>
                                        </p:tav>
                                      </p:tavLst>
                                    </p:anim>
                                    <p:anim calcmode="lin" valueType="num">
                                      <p:cBhvr additive="base">
                                        <p:cTn id="26" dur="500" fill="hold"/>
                                        <p:tgtEl>
                                          <p:spTgt spid="2201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5" grpId="0" build="p" autoUpdateAnimBg="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B302B151-4A38-CB8A-47B3-7631CB362DDE}"/>
              </a:ext>
            </a:extLst>
          </p:cNvPr>
          <p:cNvSpPr>
            <a:spLocks noGrp="1" noChangeArrowheads="1"/>
          </p:cNvSpPr>
          <p:nvPr>
            <p:ph type="title"/>
          </p:nvPr>
        </p:nvSpPr>
        <p:spPr>
          <a:xfrm>
            <a:off x="381000" y="0"/>
            <a:ext cx="8382000" cy="1143000"/>
          </a:xfrm>
        </p:spPr>
        <p:txBody>
          <a:bodyPr/>
          <a:lstStyle/>
          <a:p>
            <a:pPr>
              <a:lnSpc>
                <a:spcPct val="80000"/>
              </a:lnSpc>
            </a:pPr>
            <a:r>
              <a:rPr lang="en-US" altLang="en-US" sz="4600"/>
              <a:t>Mathematical Formulation</a:t>
            </a:r>
          </a:p>
        </p:txBody>
      </p:sp>
      <p:sp>
        <p:nvSpPr>
          <p:cNvPr id="11267" name="Rectangle 3">
            <a:extLst>
              <a:ext uri="{FF2B5EF4-FFF2-40B4-BE49-F238E27FC236}">
                <a16:creationId xmlns:a16="http://schemas.microsoft.com/office/drawing/2014/main" id="{97394C1A-D698-A851-D498-5D44EB208404}"/>
              </a:ext>
            </a:extLst>
          </p:cNvPr>
          <p:cNvSpPr>
            <a:spLocks noChangeArrowheads="1"/>
          </p:cNvSpPr>
          <p:nvPr/>
        </p:nvSpPr>
        <p:spPr bwMode="auto">
          <a:xfrm>
            <a:off x="152400" y="152400"/>
            <a:ext cx="8839200" cy="6553200"/>
          </a:xfrm>
          <a:prstGeom prst="rect">
            <a:avLst/>
          </a:prstGeom>
          <a:noFill/>
          <a:ln w="9525">
            <a:solidFill>
              <a:schemeClr val="tx1"/>
            </a:solidFill>
            <a:miter lim="800000"/>
            <a:headEnd/>
            <a:tailEnd/>
          </a:ln>
          <a:effectLst>
            <a:outerShdw dist="107763" dir="135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3600"/>
          </a:p>
        </p:txBody>
      </p:sp>
      <p:sp>
        <p:nvSpPr>
          <p:cNvPr id="11268" name="Rectangle 4">
            <a:extLst>
              <a:ext uri="{FF2B5EF4-FFF2-40B4-BE49-F238E27FC236}">
                <a16:creationId xmlns:a16="http://schemas.microsoft.com/office/drawing/2014/main" id="{2364B6B7-247D-0593-054C-34DAA2230664}"/>
              </a:ext>
            </a:extLst>
          </p:cNvPr>
          <p:cNvSpPr>
            <a:spLocks noChangeArrowheads="1"/>
          </p:cNvSpPr>
          <p:nvPr/>
        </p:nvSpPr>
        <p:spPr bwMode="auto">
          <a:xfrm>
            <a:off x="6477000" y="6248400"/>
            <a:ext cx="2525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t>CPE 778, Lect. 32</a:t>
            </a:r>
          </a:p>
        </p:txBody>
      </p:sp>
      <p:sp>
        <p:nvSpPr>
          <p:cNvPr id="221189" name="Text Box 5">
            <a:extLst>
              <a:ext uri="{FF2B5EF4-FFF2-40B4-BE49-F238E27FC236}">
                <a16:creationId xmlns:a16="http://schemas.microsoft.com/office/drawing/2014/main" id="{8FB1C227-108A-0BEA-70E1-2BDA1828481C}"/>
              </a:ext>
            </a:extLst>
          </p:cNvPr>
          <p:cNvSpPr txBox="1">
            <a:spLocks noChangeArrowheads="1"/>
          </p:cNvSpPr>
          <p:nvPr/>
        </p:nvSpPr>
        <p:spPr bwMode="auto">
          <a:xfrm>
            <a:off x="342900" y="990600"/>
            <a:ext cx="8458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Given the data structures </a:t>
            </a:r>
            <a:r>
              <a:rPr lang="en-US" altLang="en-US" sz="3000" i="1"/>
              <a:t>x</a:t>
            </a:r>
            <a:r>
              <a:rPr lang="en-US" altLang="en-US" sz="3000" i="1" baseline="-25000"/>
              <a:t>ij</a:t>
            </a:r>
            <a:r>
              <a:rPr lang="en-US" altLang="en-US" sz="3000"/>
              <a:t> and </a:t>
            </a:r>
            <a:r>
              <a:rPr lang="en-US" altLang="en-US" sz="3000" i="1"/>
              <a:t>C</a:t>
            </a:r>
            <a:r>
              <a:rPr lang="en-US" altLang="en-US" sz="3000" i="1" baseline="-25000"/>
              <a:t>ij</a:t>
            </a:r>
            <a:r>
              <a:rPr lang="en-US" altLang="en-US" sz="3000"/>
              <a:t> , we formulate this as an optimization problem:</a:t>
            </a:r>
          </a:p>
        </p:txBody>
      </p:sp>
      <p:graphicFrame>
        <p:nvGraphicFramePr>
          <p:cNvPr id="221191" name="Object 7">
            <a:extLst>
              <a:ext uri="{FF2B5EF4-FFF2-40B4-BE49-F238E27FC236}">
                <a16:creationId xmlns:a16="http://schemas.microsoft.com/office/drawing/2014/main" id="{6515AC19-E8A0-0BC2-40B9-3E7C862FDC43}"/>
              </a:ext>
            </a:extLst>
          </p:cNvPr>
          <p:cNvGraphicFramePr>
            <a:graphicFrameLocks noChangeAspect="1"/>
          </p:cNvGraphicFramePr>
          <p:nvPr/>
        </p:nvGraphicFramePr>
        <p:xfrm>
          <a:off x="509588" y="2201863"/>
          <a:ext cx="8124825" cy="2452687"/>
        </p:xfrm>
        <a:graphic>
          <a:graphicData uri="http://schemas.openxmlformats.org/presentationml/2006/ole">
            <mc:AlternateContent xmlns:mc="http://schemas.openxmlformats.org/markup-compatibility/2006">
              <mc:Choice xmlns:v="urn:schemas-microsoft-com:vml" Requires="v">
                <p:oleObj name="Equation" r:id="rId2" imgW="3657600" imgH="1104900" progId="Equation.3">
                  <p:embed/>
                </p:oleObj>
              </mc:Choice>
              <mc:Fallback>
                <p:oleObj name="Equation" r:id="rId2" imgW="3657600" imgH="1104900" progId="Equation.3">
                  <p:embed/>
                  <p:pic>
                    <p:nvPicPr>
                      <p:cNvPr id="221191" name="Object 7">
                        <a:extLst>
                          <a:ext uri="{FF2B5EF4-FFF2-40B4-BE49-F238E27FC236}">
                            <a16:creationId xmlns:a16="http://schemas.microsoft.com/office/drawing/2014/main" id="{6515AC19-E8A0-0BC2-40B9-3E7C862FDC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8" y="2201863"/>
                        <a:ext cx="8124825" cy="2452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1192" name="Text Box 8">
            <a:extLst>
              <a:ext uri="{FF2B5EF4-FFF2-40B4-BE49-F238E27FC236}">
                <a16:creationId xmlns:a16="http://schemas.microsoft.com/office/drawing/2014/main" id="{DC54A4F0-B845-9DBC-8EB7-760274174CEA}"/>
              </a:ext>
            </a:extLst>
          </p:cNvPr>
          <p:cNvSpPr txBox="1">
            <a:spLocks noChangeArrowheads="1"/>
          </p:cNvSpPr>
          <p:nvPr/>
        </p:nvSpPr>
        <p:spPr bwMode="auto">
          <a:xfrm>
            <a:off x="393700" y="4643438"/>
            <a:ext cx="824547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n-US" altLang="en-US" sz="3000"/>
              <a:t>  You could certainly code this in GAMS and solve it.  But there is a specialty algorithm, which is faster, and we’ll work on using that method by hand next time.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1189">
                                            <p:txEl>
                                              <p:pRg st="0" end="0"/>
                                            </p:txEl>
                                          </p:spTgt>
                                        </p:tgtEl>
                                        <p:attrNameLst>
                                          <p:attrName>style.visibility</p:attrName>
                                        </p:attrNameLst>
                                      </p:cBhvr>
                                      <p:to>
                                        <p:strVal val="visible"/>
                                      </p:to>
                                    </p:set>
                                    <p:anim calcmode="lin" valueType="num">
                                      <p:cBhvr additive="base">
                                        <p:cTn id="7" dur="500" fill="hold"/>
                                        <p:tgtEl>
                                          <p:spTgt spid="22118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118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1191"/>
                                        </p:tgtEl>
                                        <p:attrNameLst>
                                          <p:attrName>style.visibility</p:attrName>
                                        </p:attrNameLst>
                                      </p:cBhvr>
                                      <p:to>
                                        <p:strVal val="visible"/>
                                      </p:to>
                                    </p:set>
                                    <p:anim calcmode="lin" valueType="num">
                                      <p:cBhvr additive="base">
                                        <p:cTn id="13" dur="500" fill="hold"/>
                                        <p:tgtEl>
                                          <p:spTgt spid="221191"/>
                                        </p:tgtEl>
                                        <p:attrNameLst>
                                          <p:attrName>ppt_x</p:attrName>
                                        </p:attrNameLst>
                                      </p:cBhvr>
                                      <p:tavLst>
                                        <p:tav tm="0">
                                          <p:val>
                                            <p:strVal val="0-#ppt_w/2"/>
                                          </p:val>
                                        </p:tav>
                                        <p:tav tm="100000">
                                          <p:val>
                                            <p:strVal val="#ppt_x"/>
                                          </p:val>
                                        </p:tav>
                                      </p:tavLst>
                                    </p:anim>
                                    <p:anim calcmode="lin" valueType="num">
                                      <p:cBhvr additive="base">
                                        <p:cTn id="14" dur="500" fill="hold"/>
                                        <p:tgtEl>
                                          <p:spTgt spid="22119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21192">
                                            <p:txEl>
                                              <p:pRg st="0" end="0"/>
                                            </p:txEl>
                                          </p:spTgt>
                                        </p:tgtEl>
                                        <p:attrNameLst>
                                          <p:attrName>style.visibility</p:attrName>
                                        </p:attrNameLst>
                                      </p:cBhvr>
                                      <p:to>
                                        <p:strVal val="visible"/>
                                      </p:to>
                                    </p:set>
                                    <p:anim calcmode="lin" valueType="num">
                                      <p:cBhvr additive="base">
                                        <p:cTn id="19" dur="500" fill="hold"/>
                                        <p:tgtEl>
                                          <p:spTgt spid="221192">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119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9" grpId="0" build="p" autoUpdateAnimBg="0"/>
      <p:bldP spid="221192" grpId="0" build="p" autoUpdateAnimBg="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95</TotalTime>
  <Words>8219</Words>
  <Application>Microsoft Office PowerPoint</Application>
  <PresentationFormat>On-screen Show (4:3)</PresentationFormat>
  <Paragraphs>995</Paragraphs>
  <Slides>127</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127</vt:i4>
      </vt:variant>
    </vt:vector>
  </HeadingPairs>
  <TitlesOfParts>
    <vt:vector size="134" baseType="lpstr">
      <vt:lpstr>Arial</vt:lpstr>
      <vt:lpstr>Calibri</vt:lpstr>
      <vt:lpstr>Calibri Light</vt:lpstr>
      <vt:lpstr>Times New Roman</vt:lpstr>
      <vt:lpstr>Wingdings</vt:lpstr>
      <vt:lpstr>Office Theme</vt:lpstr>
      <vt:lpstr>Equation</vt:lpstr>
      <vt:lpstr>Penalty Methods – General Idea</vt:lpstr>
      <vt:lpstr>Another Idea – the L1 Penalty Function</vt:lpstr>
      <vt:lpstr>The L1 Penalty Function</vt:lpstr>
      <vt:lpstr>Infeasible Intermediate Solutions</vt:lpstr>
      <vt:lpstr>Barrier Methods – General Idea</vt:lpstr>
      <vt:lpstr>Example</vt:lpstr>
      <vt:lpstr>Example</vt:lpstr>
      <vt:lpstr>Example, continued</vt:lpstr>
      <vt:lpstr>Problems with Barrier Functions</vt:lpstr>
      <vt:lpstr>Successive Linear Programming: A method which really works!</vt:lpstr>
      <vt:lpstr>Another Example</vt:lpstr>
      <vt:lpstr>Performing the Linearizations</vt:lpstr>
      <vt:lpstr>Setting up an LP subproblem</vt:lpstr>
      <vt:lpstr>Setting up an LP subproblem</vt:lpstr>
      <vt:lpstr>Setting up an LP subproblem</vt:lpstr>
      <vt:lpstr>LP subproblem #1</vt:lpstr>
      <vt:lpstr>LP subproblem #2</vt:lpstr>
      <vt:lpstr>Further Iterations</vt:lpstr>
      <vt:lpstr>Conclusions</vt:lpstr>
      <vt:lpstr>GRG: The Generalized Reduced Gradient Method</vt:lpstr>
      <vt:lpstr>GRG: Ideas</vt:lpstr>
      <vt:lpstr>GRG: Dealing with Constraints</vt:lpstr>
      <vt:lpstr>Basic Variables for GRG</vt:lpstr>
      <vt:lpstr>Substituting In</vt:lpstr>
      <vt:lpstr>Using Steepest Descent</vt:lpstr>
      <vt:lpstr>More Steepest Descent</vt:lpstr>
      <vt:lpstr>Performing the Line Search</vt:lpstr>
      <vt:lpstr>GRG: Details</vt:lpstr>
      <vt:lpstr>Superbasic Variables</vt:lpstr>
      <vt:lpstr>Basic Algorithm</vt:lpstr>
      <vt:lpstr>Tabu Search: Basic Ideas</vt:lpstr>
      <vt:lpstr>More Uses of the Tabu List</vt:lpstr>
      <vt:lpstr>Adaptive Memory </vt:lpstr>
      <vt:lpstr>Adjustable Parameters</vt:lpstr>
      <vt:lpstr>Integer Programs in Engineering</vt:lpstr>
      <vt:lpstr>Feasible Region: MILP</vt:lpstr>
      <vt:lpstr>Classification of Integer Programs</vt:lpstr>
      <vt:lpstr>Example: Chemical Engineering</vt:lpstr>
      <vt:lpstr>Example: Economics</vt:lpstr>
      <vt:lpstr>Assignment problems and TSP’s</vt:lpstr>
      <vt:lpstr>TSP’s in Chemical Engineering</vt:lpstr>
      <vt:lpstr>Bounding the Solution </vt:lpstr>
      <vt:lpstr>Conclusions</vt:lpstr>
      <vt:lpstr>Review:  MILP Bounding  </vt:lpstr>
      <vt:lpstr>Branch and Bound: A Small Binary Example  </vt:lpstr>
      <vt:lpstr>LP-relaxation: Binary Example  </vt:lpstr>
      <vt:lpstr>Binary Trees  </vt:lpstr>
      <vt:lpstr>Binary Trees, continued </vt:lpstr>
      <vt:lpstr>Complexity Issues </vt:lpstr>
      <vt:lpstr>Large Binary Example  </vt:lpstr>
      <vt:lpstr>Binary Tree – Large Example</vt:lpstr>
      <vt:lpstr>Binary Tree – Large Example</vt:lpstr>
      <vt:lpstr>Explicit and Implicit Fathoming </vt:lpstr>
      <vt:lpstr>Further Ideas – Branch and Bound </vt:lpstr>
      <vt:lpstr>Branch and Bound: Integer Example  </vt:lpstr>
      <vt:lpstr>LP-relaxation: Integer Example  </vt:lpstr>
      <vt:lpstr>Binary Tree </vt:lpstr>
      <vt:lpstr>Binary Tree, continued </vt:lpstr>
      <vt:lpstr>Binary Tree, continued </vt:lpstr>
      <vt:lpstr>Binary Tree, continued </vt:lpstr>
      <vt:lpstr>Complexity Issues </vt:lpstr>
      <vt:lpstr>NP-Completeness</vt:lpstr>
      <vt:lpstr>Hints: Computer Solution of MILP’s </vt:lpstr>
      <vt:lpstr>More Hints: Computer Solution of MILP’s </vt:lpstr>
      <vt:lpstr>More Hints: Computer Solution of MILP’s </vt:lpstr>
      <vt:lpstr>Production Sizing with Batch Processes </vt:lpstr>
      <vt:lpstr>Batch Sizing </vt:lpstr>
      <vt:lpstr>One Possible Formulation</vt:lpstr>
      <vt:lpstr>Batch Size Constraint</vt:lpstr>
      <vt:lpstr>The Complete MILP</vt:lpstr>
      <vt:lpstr>Solution Methods</vt:lpstr>
      <vt:lpstr>Branch and Bound Solution </vt:lpstr>
      <vt:lpstr>Minimizing Manufacturing Costs</vt:lpstr>
      <vt:lpstr>A Discontinuous Formulation</vt:lpstr>
      <vt:lpstr>Big-M Constraints</vt:lpstr>
      <vt:lpstr>Big-M Constraints, continued</vt:lpstr>
      <vt:lpstr>Solving MILP’s via CPLEX</vt:lpstr>
      <vt:lpstr>Network Flow Problems</vt:lpstr>
      <vt:lpstr>MINLP’s – a tough class of problems</vt:lpstr>
      <vt:lpstr>Potential MINLP Solution Methods   </vt:lpstr>
      <vt:lpstr>Plant Design MINLP: General Structure</vt:lpstr>
      <vt:lpstr>Solving the Plant Design MINLP: Branch and Bound</vt:lpstr>
      <vt:lpstr>Branch and Bound for MINLP’s</vt:lpstr>
      <vt:lpstr>Solving the NLP relaxations</vt:lpstr>
      <vt:lpstr>Dealing with the Limitations</vt:lpstr>
      <vt:lpstr>Outer Approximation</vt:lpstr>
      <vt:lpstr>Outer Approximation – Basic Overview   </vt:lpstr>
      <vt:lpstr>Outer Approximation – Basic Overview   </vt:lpstr>
      <vt:lpstr>Solving the Subproblems </vt:lpstr>
      <vt:lpstr>General Structure: OA subproblems</vt:lpstr>
      <vt:lpstr>“Linearizing” the Objective</vt:lpstr>
      <vt:lpstr>Conclusions</vt:lpstr>
      <vt:lpstr>Bender’s Decomposition - Subproblems </vt:lpstr>
      <vt:lpstr>Bender’s Decomposition - Subproblems </vt:lpstr>
      <vt:lpstr>Bender’s Decomposition – Lower Bound</vt:lpstr>
      <vt:lpstr>Bender’s Decomposition - Implementation</vt:lpstr>
      <vt:lpstr>Iterative Solving in GAMS</vt:lpstr>
      <vt:lpstr>Stochastic Algorithms</vt:lpstr>
      <vt:lpstr>Stochastic Algorithms - Advantages</vt:lpstr>
      <vt:lpstr>Stochastic Algorithms - Examples</vt:lpstr>
      <vt:lpstr>Stochastic Algorithms - Examples</vt:lpstr>
      <vt:lpstr>Example: Monte Carlo</vt:lpstr>
      <vt:lpstr>Simulated Annealing</vt:lpstr>
      <vt:lpstr>Moves</vt:lpstr>
      <vt:lpstr>Beating Steepest Descent</vt:lpstr>
      <vt:lpstr>The Metropolis Algorithm </vt:lpstr>
      <vt:lpstr>Temperature Deprogramming</vt:lpstr>
      <vt:lpstr>Basic Algorithm</vt:lpstr>
      <vt:lpstr>Genetic Algorithms </vt:lpstr>
      <vt:lpstr>Genetic Algorithms </vt:lpstr>
      <vt:lpstr>Genetic Algorithms - Example</vt:lpstr>
      <vt:lpstr>Genetic Algorithms:  Crossover &amp; Mutation</vt:lpstr>
      <vt:lpstr>Genetic Algorithms: Recombination </vt:lpstr>
      <vt:lpstr>Graphs and Networks – Basic Concepts</vt:lpstr>
      <vt:lpstr>Adjacency</vt:lpstr>
      <vt:lpstr>Adjacency Matrix</vt:lpstr>
      <vt:lpstr>More Details about Edges</vt:lpstr>
      <vt:lpstr>Capacity Matrix</vt:lpstr>
      <vt:lpstr>More Details about Vertices</vt:lpstr>
      <vt:lpstr>Networks</vt:lpstr>
      <vt:lpstr>Oil Field Piping Problem: Formulation</vt:lpstr>
      <vt:lpstr>One Possible Formulation</vt:lpstr>
      <vt:lpstr>Network Problems in C&amp;PE</vt:lpstr>
      <vt:lpstr>Equipment Replacement Data</vt:lpstr>
      <vt:lpstr>Example – Shortest Path Problem</vt:lpstr>
      <vt:lpstr>Cost Matrix</vt:lpstr>
      <vt:lpstr>Mathematical Formulation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Solution Techniques</dc:title>
  <dc:creator>Powers, William Francis</dc:creator>
  <cp:lastModifiedBy>Powers, William Francis</cp:lastModifiedBy>
  <cp:revision>8</cp:revision>
  <cp:lastPrinted>2025-11-13T13:20:38Z</cp:lastPrinted>
  <dcterms:created xsi:type="dcterms:W3CDTF">2025-09-28T22:36:15Z</dcterms:created>
  <dcterms:modified xsi:type="dcterms:W3CDTF">2025-11-13T13:21:29Z</dcterms:modified>
</cp:coreProperties>
</file>