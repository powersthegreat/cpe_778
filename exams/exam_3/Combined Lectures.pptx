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7" r:id="rId2"/>
    <p:sldId id="425" r:id="rId3"/>
    <p:sldId id="413" r:id="rId4"/>
    <p:sldId id="426" r:id="rId5"/>
    <p:sldId id="414" r:id="rId6"/>
    <p:sldId id="423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1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70E3CA-0AF7-43F6-9CBB-4F1926E8AF3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06EDED-862E-417F-86DA-4B3FB6CBF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247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F6ED3-D46A-499B-8CAA-E8F59FE1720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0561-6D6E-45BC-B9F2-C0025C319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1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F6ED3-D46A-499B-8CAA-E8F59FE1720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0561-6D6E-45BC-B9F2-C0025C319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79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F6ED3-D46A-499B-8CAA-E8F59FE1720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0561-6D6E-45BC-B9F2-C0025C319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44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F6ED3-D46A-499B-8CAA-E8F59FE1720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0561-6D6E-45BC-B9F2-C0025C319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66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F6ED3-D46A-499B-8CAA-E8F59FE1720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0561-6D6E-45BC-B9F2-C0025C319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46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F6ED3-D46A-499B-8CAA-E8F59FE1720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0561-6D6E-45BC-B9F2-C0025C319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492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F6ED3-D46A-499B-8CAA-E8F59FE1720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0561-6D6E-45BC-B9F2-C0025C319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759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F6ED3-D46A-499B-8CAA-E8F59FE1720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0561-6D6E-45BC-B9F2-C0025C319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281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F6ED3-D46A-499B-8CAA-E8F59FE1720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0561-6D6E-45BC-B9F2-C0025C319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580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F6ED3-D46A-499B-8CAA-E8F59FE1720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0561-6D6E-45BC-B9F2-C0025C319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37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F6ED3-D46A-499B-8CAA-E8F59FE1720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0561-6D6E-45BC-B9F2-C0025C319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870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F6ED3-D46A-499B-8CAA-E8F59FE1720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F30561-6D6E-45BC-B9F2-C0025C319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03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33400"/>
            <a:ext cx="8077200" cy="1143000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altLang="en-US" sz="4800" dirty="0"/>
              <a:t>Multi-Objective Optimization: Solution Algorithms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900" y="2286000"/>
            <a:ext cx="8458200" cy="41148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sz="4000" dirty="0"/>
              <a:t>Genetic algorithms and MOO </a:t>
            </a:r>
          </a:p>
          <a:p>
            <a:pPr>
              <a:lnSpc>
                <a:spcPct val="120000"/>
              </a:lnSpc>
            </a:pPr>
            <a:r>
              <a:rPr lang="en-US" altLang="en-US" sz="4000" dirty="0"/>
              <a:t>Pareto-filtering and Niche techniques</a:t>
            </a:r>
          </a:p>
          <a:p>
            <a:pPr>
              <a:lnSpc>
                <a:spcPct val="120000"/>
              </a:lnSpc>
            </a:pPr>
            <a:endParaRPr lang="en-US" altLang="en-US" sz="4200" dirty="0"/>
          </a:p>
          <a:p>
            <a:pPr>
              <a:lnSpc>
                <a:spcPct val="120000"/>
              </a:lnSpc>
            </a:pPr>
            <a:endParaRPr lang="en-US" altLang="en-US" sz="4200" dirty="0"/>
          </a:p>
          <a:p>
            <a:pPr>
              <a:lnSpc>
                <a:spcPct val="120000"/>
              </a:lnSpc>
              <a:buFontTx/>
              <a:buNone/>
            </a:pPr>
            <a:endParaRPr lang="en-US" altLang="en-US" sz="4200" dirty="0"/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228600" y="228600"/>
            <a:ext cx="8686800" cy="6400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35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600"/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6400800" y="6172200"/>
            <a:ext cx="2425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CPE 778, Lect. 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77200" cy="1143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4200" dirty="0"/>
              <a:t>The Pareto-Frontier</a:t>
            </a:r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228600" y="152400"/>
            <a:ext cx="8686800" cy="6553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35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600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6400800" y="6248400"/>
            <a:ext cx="2425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CPE 778, Lect. 35</a:t>
            </a:r>
          </a:p>
        </p:txBody>
      </p:sp>
      <p:sp>
        <p:nvSpPr>
          <p:cNvPr id="12595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81000" y="977734"/>
            <a:ext cx="8534400" cy="698665"/>
          </a:xfrm>
        </p:spPr>
        <p:txBody>
          <a:bodyPr>
            <a:normAutofit fontScale="85000" lnSpcReduction="20000"/>
          </a:bodyPr>
          <a:lstStyle/>
          <a:p>
            <a:pPr>
              <a:tabLst>
                <a:tab pos="2741613" algn="l"/>
              </a:tabLst>
            </a:pPr>
            <a:r>
              <a:rPr lang="en-US" altLang="en-US" sz="3000" dirty="0"/>
              <a:t>Remember last time we were searching for feasible points within the Pareto-frontier:</a:t>
            </a: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 bwMode="auto">
          <a:xfrm>
            <a:off x="366156" y="5483925"/>
            <a:ext cx="8534400" cy="698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tabLst>
                <a:tab pos="2741613" algn="l"/>
              </a:tabLst>
            </a:pPr>
            <a:r>
              <a:rPr lang="en-US" altLang="en-US" sz="3000" kern="0" dirty="0"/>
              <a:t>A population method, such as a genetic algorithm, is particularly suited to this problem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72" t="32927" r="36351" b="39024"/>
          <a:stretch/>
        </p:blipFill>
        <p:spPr>
          <a:xfrm>
            <a:off x="2514600" y="2209800"/>
            <a:ext cx="4572000" cy="33921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5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5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7" grpId="0" build="p" bldLvl="3" autoUpdateAnimBg="0"/>
      <p:bldP spid="6" grpId="0" build="p" bldLvl="3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29540" y="34636"/>
            <a:ext cx="8382000" cy="1143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4600" dirty="0"/>
              <a:t>Why GA’s?</a:t>
            </a: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152400" y="152400"/>
            <a:ext cx="8839200" cy="647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35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600"/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6477000" y="6172200"/>
            <a:ext cx="2425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CPE 778, Lect. 35</a:t>
            </a:r>
          </a:p>
        </p:txBody>
      </p:sp>
      <p:sp>
        <p:nvSpPr>
          <p:cNvPr id="173061" name="Text Box 5"/>
          <p:cNvSpPr txBox="1">
            <a:spLocks noChangeArrowheads="1"/>
          </p:cNvSpPr>
          <p:nvPr/>
        </p:nvSpPr>
        <p:spPr bwMode="auto">
          <a:xfrm>
            <a:off x="329540" y="904929"/>
            <a:ext cx="8153400" cy="5539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400" dirty="0"/>
              <a:t>  </a:t>
            </a:r>
            <a:r>
              <a:rPr lang="en-US" altLang="en-US" dirty="0"/>
              <a:t>When we use a GA, we have a large population of feasible solutions.  We can always compute  which ones are dominated, and give them a low (but nonzero) fitness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  Infeasible solutions are removed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  We can tune the mutation rate to be higher for dominated solutions, or for the “extreme” solutions in which one objective is very poor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  We also select partners for crossover non-randomly, to mix the best characteristics of non-dominated solutions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3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3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30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30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30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30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30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30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1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29540" y="34636"/>
            <a:ext cx="8382000" cy="1143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4600" dirty="0"/>
              <a:t>The Pareto Filter</a:t>
            </a: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152400" y="152400"/>
            <a:ext cx="8839200" cy="647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35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600"/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6477000" y="6172200"/>
            <a:ext cx="2425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CPE 778, Lect. 35</a:t>
            </a:r>
          </a:p>
        </p:txBody>
      </p:sp>
      <p:sp>
        <p:nvSpPr>
          <p:cNvPr id="173061" name="Text Box 5"/>
          <p:cNvSpPr txBox="1">
            <a:spLocks noChangeArrowheads="1"/>
          </p:cNvSpPr>
          <p:nvPr/>
        </p:nvSpPr>
        <p:spPr bwMode="auto">
          <a:xfrm>
            <a:off x="359228" y="1084118"/>
            <a:ext cx="8153400" cy="5232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000" dirty="0"/>
              <a:t>  Another trick to find good </a:t>
            </a:r>
            <a:r>
              <a:rPr lang="en-US" altLang="en-US" sz="3000" dirty="0" err="1"/>
              <a:t>multiobjective</a:t>
            </a:r>
            <a:r>
              <a:rPr lang="en-US" altLang="en-US" sz="3000" dirty="0"/>
              <a:t> solutions with a GA is to save the best (non-dominated) solutions on a separate list, and then don’t let them reoccur in the next generation</a:t>
            </a:r>
          </a:p>
          <a:p>
            <a:pPr>
              <a:spcBef>
                <a:spcPct val="0"/>
              </a:spcBef>
            </a:pPr>
            <a:r>
              <a:rPr lang="en-US" altLang="en-US" sz="3000" dirty="0"/>
              <a:t>  If one solution on the list becomes dominated, remove it</a:t>
            </a:r>
          </a:p>
          <a:p>
            <a:pPr>
              <a:spcBef>
                <a:spcPct val="0"/>
              </a:spcBef>
            </a:pPr>
            <a:r>
              <a:rPr lang="en-US" altLang="en-US" sz="3000" dirty="0"/>
              <a:t>  This forces more diversity in the population, while always saving a set of solutions which evolves into the </a:t>
            </a:r>
            <a:r>
              <a:rPr lang="en-US" altLang="en-US" sz="3000" dirty="0" err="1"/>
              <a:t>pareto</a:t>
            </a:r>
            <a:r>
              <a:rPr lang="en-US" altLang="en-US" sz="3000" dirty="0"/>
              <a:t>-frontier</a:t>
            </a:r>
          </a:p>
          <a:p>
            <a:pPr>
              <a:spcBef>
                <a:spcPct val="0"/>
              </a:spcBef>
            </a:pPr>
            <a:r>
              <a:rPr lang="en-US" altLang="en-US" sz="3000" dirty="0"/>
              <a:t> What algorithm does this remind you of?</a:t>
            </a:r>
          </a:p>
          <a:p>
            <a:pPr>
              <a:spcBef>
                <a:spcPct val="0"/>
              </a:spcBef>
            </a:pPr>
            <a:r>
              <a:rPr lang="en-US" altLang="en-US" sz="3000" dirty="0"/>
              <a:t>  It’s just like </a:t>
            </a:r>
            <a:r>
              <a:rPr lang="en-US" altLang="en-US" sz="3000" dirty="0" err="1"/>
              <a:t>Tabu</a:t>
            </a:r>
            <a:r>
              <a:rPr lang="en-US" altLang="en-US" sz="3000" dirty="0"/>
              <a:t> search…</a:t>
            </a:r>
          </a:p>
        </p:txBody>
      </p:sp>
    </p:spTree>
    <p:extLst>
      <p:ext uri="{BB962C8B-B14F-4D97-AF65-F5344CB8AC3E}">
        <p14:creationId xmlns:p14="http://schemas.microsoft.com/office/powerpoint/2010/main" val="3667836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3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3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30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30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30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30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30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30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30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30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1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382000" cy="1143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4600" dirty="0"/>
              <a:t>Avoiding Clustering  </a:t>
            </a: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152400" y="152400"/>
            <a:ext cx="8839200" cy="647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35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600"/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6477000" y="6172200"/>
            <a:ext cx="2425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CPE 778, Lect. 35</a:t>
            </a:r>
          </a:p>
        </p:txBody>
      </p:sp>
      <p:sp>
        <p:nvSpPr>
          <p:cNvPr id="174085" name="Text Box 5"/>
          <p:cNvSpPr txBox="1">
            <a:spLocks noChangeArrowheads="1"/>
          </p:cNvSpPr>
          <p:nvPr/>
        </p:nvSpPr>
        <p:spPr bwMode="auto">
          <a:xfrm>
            <a:off x="495300" y="1143000"/>
            <a:ext cx="81534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dirty="0"/>
              <a:t>  </a:t>
            </a:r>
            <a:r>
              <a:rPr lang="en-US" altLang="en-US" sz="2800" dirty="0"/>
              <a:t>One issue we commonly see with GA’s for multi-objective optimization is clustering (or forming a “niche”</a:t>
            </a:r>
          </a:p>
          <a:p>
            <a:pPr>
              <a:spcBef>
                <a:spcPct val="0"/>
              </a:spcBef>
            </a:pPr>
            <a:r>
              <a:rPr lang="en-US" altLang="en-US" sz="2800" dirty="0"/>
              <a:t>  Many solutions lie near each other, and we don’t get a broad set of Pareto-optimal points.</a:t>
            </a:r>
          </a:p>
          <a:p>
            <a:pPr>
              <a:spcBef>
                <a:spcPct val="0"/>
              </a:spcBef>
            </a:pPr>
            <a:r>
              <a:rPr lang="en-US" altLang="en-US" sz="2800" dirty="0"/>
              <a:t>  One way to avoid this is to decrease the fitness of all non-dominated solutions which have too many solutions nearby</a:t>
            </a:r>
          </a:p>
          <a:p>
            <a:pPr>
              <a:spcBef>
                <a:spcPct val="0"/>
              </a:spcBef>
            </a:pPr>
            <a:r>
              <a:rPr lang="en-US" altLang="en-US" sz="2800" dirty="0"/>
              <a:t>  Another is to use an </a:t>
            </a:r>
            <a:r>
              <a:rPr lang="en-US" altLang="en-US" sz="2800" u="sng" dirty="0"/>
              <a:t>adaptive GA</a:t>
            </a:r>
            <a:r>
              <a:rPr lang="en-US" altLang="en-US" sz="2800" dirty="0"/>
              <a:t>: change the mutation rate and crossover rate dynamically, based on clustering or other parameters, during the search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0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0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40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40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5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382000" cy="1143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4600" dirty="0"/>
              <a:t>Conclusions 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152400" y="152400"/>
            <a:ext cx="8839200" cy="647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35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600"/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6477000" y="6172200"/>
            <a:ext cx="2425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CPE 778, Lect. 35</a:t>
            </a:r>
          </a:p>
        </p:txBody>
      </p:sp>
      <p:sp>
        <p:nvSpPr>
          <p:cNvPr id="183301" name="Text Box 5"/>
          <p:cNvSpPr txBox="1">
            <a:spLocks noChangeArrowheads="1"/>
          </p:cNvSpPr>
          <p:nvPr/>
        </p:nvSpPr>
        <p:spPr bwMode="auto">
          <a:xfrm>
            <a:off x="495300" y="1066800"/>
            <a:ext cx="8153400" cy="50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600" dirty="0"/>
              <a:t>  </a:t>
            </a:r>
            <a:r>
              <a:rPr lang="en-US" altLang="en-US" dirty="0" err="1"/>
              <a:t>Multiobjective</a:t>
            </a:r>
            <a:r>
              <a:rPr lang="en-US" altLang="en-US" dirty="0"/>
              <a:t> optimization allows us to properly handle cases in which trade-offs between competing objectives are unclear.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  We often use genetic algorithms to compute a Pareto-frontier, with some modifications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  Using a Pareto-filter allows the storage of potential Pareto-optimal points, and guides the search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  Niche techniques avoid clustering of solutions in small areas of the search space.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100</TotalTime>
  <Words>409</Words>
  <Application>Microsoft Office PowerPoint</Application>
  <PresentationFormat>On-screen Show (4:3)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Multi-Objective Optimization: Solution Algorithms</vt:lpstr>
      <vt:lpstr>The Pareto-Frontier</vt:lpstr>
      <vt:lpstr>Why GA’s?</vt:lpstr>
      <vt:lpstr>The Pareto Filter</vt:lpstr>
      <vt:lpstr>Avoiding Clustering  </vt:lpstr>
      <vt:lpstr>Conclusions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Solution Techniques</dc:title>
  <dc:creator>Powers, William Francis</dc:creator>
  <cp:lastModifiedBy>Powers, William Francis</cp:lastModifiedBy>
  <cp:revision>9</cp:revision>
  <cp:lastPrinted>2025-11-13T13:20:38Z</cp:lastPrinted>
  <dcterms:created xsi:type="dcterms:W3CDTF">2025-09-28T22:36:15Z</dcterms:created>
  <dcterms:modified xsi:type="dcterms:W3CDTF">2025-11-30T20:09:10Z</dcterms:modified>
</cp:coreProperties>
</file>